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987" r:id="rId3"/>
    <p:sldId id="988" r:id="rId4"/>
    <p:sldId id="990" r:id="rId5"/>
    <p:sldId id="991" r:id="rId6"/>
    <p:sldId id="992" r:id="rId7"/>
    <p:sldId id="993" r:id="rId8"/>
    <p:sldId id="994" r:id="rId9"/>
    <p:sldId id="995" r:id="rId10"/>
    <p:sldId id="996" r:id="rId11"/>
    <p:sldId id="997" r:id="rId12"/>
    <p:sldId id="998" r:id="rId13"/>
    <p:sldId id="999" r:id="rId14"/>
    <p:sldId id="1000" r:id="rId15"/>
    <p:sldId id="1003" r:id="rId16"/>
    <p:sldId id="1001" r:id="rId17"/>
    <p:sldId id="1002" r:id="rId18"/>
    <p:sldId id="1004" r:id="rId19"/>
    <p:sldId id="1006" r:id="rId20"/>
    <p:sldId id="1007" r:id="rId21"/>
    <p:sldId id="1008" r:id="rId22"/>
    <p:sldId id="1015" r:id="rId23"/>
    <p:sldId id="1011" r:id="rId24"/>
    <p:sldId id="1016" r:id="rId25"/>
    <p:sldId id="1012" r:id="rId26"/>
    <p:sldId id="1021" r:id="rId27"/>
    <p:sldId id="1024" r:id="rId28"/>
    <p:sldId id="1025" r:id="rId29"/>
    <p:sldId id="1022" r:id="rId30"/>
    <p:sldId id="1023" r:id="rId31"/>
    <p:sldId id="1026" r:id="rId32"/>
    <p:sldId id="1027" r:id="rId33"/>
    <p:sldId id="1028" r:id="rId34"/>
    <p:sldId id="1029" r:id="rId35"/>
    <p:sldId id="1030" r:id="rId36"/>
    <p:sldId id="1031" r:id="rId37"/>
    <p:sldId id="257" r:id="rId38"/>
    <p:sldId id="291" r:id="rId39"/>
    <p:sldId id="292" r:id="rId40"/>
    <p:sldId id="319" r:id="rId41"/>
  </p:sldIdLst>
  <p:sldSz cx="12192000" cy="6858000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等线" panose="02010600030101010101" pitchFamily="2" charset="-122"/>
      <p:regular r:id="rId48"/>
      <p:bold r:id="rId49"/>
    </p:embeddedFont>
    <p:embeddedFont>
      <p:font typeface="等线 Light" panose="02010600030101010101" pitchFamily="2" charset="-122"/>
      <p:regular r:id="rId50"/>
    </p:embeddedFont>
    <p:embeddedFont>
      <p:font typeface="微软雅黑" panose="020B0503020204020204" pitchFamily="34" charset="-122"/>
      <p:regular r:id="rId51"/>
      <p:bold r:id="rId5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A"/>
    <a:srgbClr val="F19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25" autoAdjust="0"/>
    <p:restoredTop sz="96311" autoAdjust="0"/>
  </p:normalViewPr>
  <p:slideViewPr>
    <p:cSldViewPr snapToGrid="0">
      <p:cViewPr varScale="1">
        <p:scale>
          <a:sx n="98" d="100"/>
          <a:sy n="98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7" Type="http://schemas.openxmlformats.org/officeDocument/2006/relationships/image" Target="../media/image37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F0FED-17ED-F141-AA72-5E00DC8D6F33}" type="datetimeFigureOut">
              <a:rPr kumimoji="1" lang="zh-CN" altLang="en-US" smtClean="0"/>
              <a:t>2026/9/28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C7F5C-9C2A-7147-BFA3-4F07D0DF7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传统的 </a:t>
            </a:r>
            <a:r>
              <a:rPr lang="en-US" altLang="zh-CN" dirty="0"/>
              <a:t>Scaling Law </a:t>
            </a:r>
            <a:r>
              <a:rPr lang="zh-CN" altLang="en-US" dirty="0"/>
              <a:t>主要解决资源分配问题：给定一定的计算资源（</a:t>
            </a:r>
            <a:r>
              <a:rPr lang="en-US" altLang="zh-CN" dirty="0"/>
              <a:t>FLOPs</a:t>
            </a:r>
            <a:r>
              <a:rPr lang="zh-CN" altLang="en-US" dirty="0"/>
              <a:t>），该建多大的模型（</a:t>
            </a:r>
            <a:r>
              <a:rPr lang="en-US" altLang="zh-CN" dirty="0">
                <a:effectLst/>
                <a:latin typeface="Google Sans Text"/>
              </a:rPr>
              <a:t>N</a:t>
            </a:r>
            <a:r>
              <a:rPr lang="zh-CN" altLang="en-US" dirty="0"/>
              <a:t>），喂多少数据（</a:t>
            </a:r>
            <a:r>
              <a:rPr lang="en-US" altLang="zh-CN" dirty="0">
                <a:effectLst/>
                <a:latin typeface="Google Sans Text"/>
              </a:rPr>
              <a:t>D</a:t>
            </a:r>
            <a:r>
              <a:rPr lang="zh-CN" altLang="en-US" dirty="0"/>
              <a:t>），才能让损失函数（</a:t>
            </a:r>
            <a:r>
              <a:rPr lang="en-US" altLang="zh-CN" dirty="0"/>
              <a:t>Loss</a:t>
            </a:r>
            <a:r>
              <a:rPr lang="zh-CN" altLang="en-US" dirty="0"/>
              <a:t>）降到最低。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本页链接可点击。Qwen2.5、Qwen3 与 Qwen3.8-Next 为 </a:t>
            </a:r>
            <a:r>
              <a:rPr dirty="0" err="1"/>
              <a:t>arXiv</a:t>
            </a:r>
            <a:r>
              <a:rPr dirty="0"/>
              <a:t> 技术报告；Qwen3-Next 与 Qwen3.5 </a:t>
            </a:r>
            <a:r>
              <a:rPr dirty="0" err="1"/>
              <a:t>对应官方模型卡和发布资料。阅读时以具体版本的报告和配置为准。核查日期为</a:t>
            </a:r>
            <a:r>
              <a:rPr dirty="0"/>
              <a:t> 2026 年 9 月 10 日。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/>
              <a:t>本页参考来源</a:t>
            </a:r>
            <a:r>
              <a:rPr dirty="0"/>
              <a:t>：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/>
              <a:t>报告组织与研究建议</a:t>
            </a:r>
            <a:r>
              <a:rPr dirty="0"/>
              <a:t>。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Qwen2.5 Technical Report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https://arxiv.org/abs/2412.15115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Qwen3 Technical Report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https://arxiv.org/abs/2505.09388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Qwen3: Think Deeper, Act Faster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https://qwenlm.github.io/blog/qwen3/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Qwen3-Next-80B-A3B-Instruct </a:t>
            </a:r>
            <a:r>
              <a:rPr dirty="0" err="1"/>
              <a:t>模型卡</a:t>
            </a: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https://huggingface.co/Qwen/Qwen3-Next-80B-A3B-Instruct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Qwen3.5: Towards Native Multimodal Agents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https://qwen.ai/blog?id=qwen3.5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Qwen3.5-397B-A17B </a:t>
            </a:r>
            <a:r>
              <a:rPr dirty="0" err="1"/>
              <a:t>模型卡</a:t>
            </a: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https://huggingface.co/Qwen/Qwen3.5-397B-A17B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On the Design of Qwen3.8-Next Architecture: Evaluation, Efficiency, and Training Stability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https://arxiv.org/abs/2608.30320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Qwen3.8-Flash-Next </a:t>
            </a:r>
            <a:r>
              <a:rPr dirty="0" err="1"/>
              <a:t>模型卡</a:t>
            </a: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https://huggingface.co/Qwen/Qwen3.8-Flash-Next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分支阅读建议优先匹配研究问题。Qwen3-VL </a:t>
            </a:r>
            <a:r>
              <a:rPr dirty="0" err="1"/>
              <a:t>支持视觉机制和消融讨论，SAPO</a:t>
            </a:r>
            <a:r>
              <a:rPr dirty="0"/>
              <a:t> </a:t>
            </a:r>
            <a:r>
              <a:rPr dirty="0" err="1"/>
              <a:t>支持稳定策略优化的算法讨论，Coder-Next</a:t>
            </a:r>
            <a:r>
              <a:rPr dirty="0"/>
              <a:t> </a:t>
            </a:r>
            <a:r>
              <a:rPr dirty="0" err="1"/>
              <a:t>支持可执行环境反馈，Omni</a:t>
            </a:r>
            <a:r>
              <a:rPr dirty="0"/>
              <a:t> </a:t>
            </a:r>
            <a:r>
              <a:rPr dirty="0" err="1"/>
              <a:t>支持音视频实时交互。这些均按论文或技术报告引用，不统一标记顶会录用</a:t>
            </a:r>
            <a:r>
              <a:rPr dirty="0"/>
              <a:t>。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/>
              <a:t>本页参考来源</a:t>
            </a:r>
            <a:r>
              <a:rPr dirty="0"/>
              <a:t>：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/>
              <a:t>报告组织与研究建议</a:t>
            </a:r>
            <a:r>
              <a:rPr dirty="0"/>
              <a:t>。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Qwen2.5-VL Technical Report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https://arxiv.org/abs/2502.13923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Qwen3-VL Technical Report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https://arxiv.org/abs/2511.21631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DeepSeek-R1: Incentivizing Reasoning Capability in LLMs via Reinforcement Learning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https://arxiv.org/abs/2501.12948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Group Sequence Policy Optimization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https://arxiv.org/abs/2507.18071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Soft Adaptive Policy Optimization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https://arxiv.org/abs/2511.20347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Qwen3-Coder-Next Technical Report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https://arxiv.org/abs/2603.00729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Qwen3.5-Omni Technical Report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https://arxiv.org/abs/2604.15804</a:t>
            </a:r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/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 userDrawn="1"/>
        </p:nvPicPr>
        <p:blipFill>
          <a:blip r:embed="rId2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sp>
        <p:nvSpPr>
          <p:cNvPr id="3" name="矩形 6"/>
          <p:cNvSpPr/>
          <p:nvPr userDrawn="1"/>
        </p:nvSpPr>
        <p:spPr>
          <a:xfrm>
            <a:off x="0" y="0"/>
            <a:ext cx="12192000" cy="108182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矩形 9"/>
          <p:cNvSpPr/>
          <p:nvPr userDrawn="1"/>
        </p:nvSpPr>
        <p:spPr>
          <a:xfrm>
            <a:off x="0" y="6580089"/>
            <a:ext cx="12192000" cy="27791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33D70"/>
            </a:solidFill>
            <a:miter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图片 2" descr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52334" y="261620"/>
            <a:ext cx="4593591" cy="6616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199572" y="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199571" y="1587183"/>
            <a:ext cx="1164635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4" name="文本占位符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600"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zh-CN" altLang="en-US"/>
              <a:t>单击图标添加图片</a:t>
            </a:r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hf hdr="0" ftr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 Light" panose="02010600030101010101" charset="-122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2pPr>
      <a:lvl3pPr marL="1234440" marR="0" indent="-32004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4.bin"/><Relationship Id="rId3" Type="http://schemas.openxmlformats.org/officeDocument/2006/relationships/image" Target="../media/image4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17.png"/><Relationship Id="rId15" Type="http://schemas.openxmlformats.org/officeDocument/2006/relationships/oleObject" Target="../embeddings/oleObject5.bin"/><Relationship Id="rId10" Type="http://schemas.openxmlformats.org/officeDocument/2006/relationships/image" Target="../media/image12.emf"/><Relationship Id="rId4" Type="http://schemas.openxmlformats.org/officeDocument/2006/relationships/image" Target="../media/image16.png"/><Relationship Id="rId9" Type="http://schemas.openxmlformats.org/officeDocument/2006/relationships/oleObject" Target="../embeddings/oleObject2.bin"/><Relationship Id="rId1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4.png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.png"/><Relationship Id="rId5" Type="http://schemas.openxmlformats.org/officeDocument/2006/relationships/image" Target="../media/image27.emf"/><Relationship Id="rId4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37.e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34.emf"/><Relationship Id="rId1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6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33.emf"/><Relationship Id="rId4" Type="http://schemas.openxmlformats.org/officeDocument/2006/relationships/image" Target="../media/image38.png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3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1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microsoft.com/office/2007/relationships/media" Target="../media/media2.mp4"/><Relationship Id="rId7" Type="http://schemas.openxmlformats.org/officeDocument/2006/relationships/image" Target="../media/image4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Relationship Id="rId9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wenLM/qwen-code" TargetMode="External"/><Relationship Id="rId3" Type="http://schemas.microsoft.com/office/2007/relationships/media" Target="../media/media4.mp4"/><Relationship Id="rId7" Type="http://schemas.openxmlformats.org/officeDocument/2006/relationships/image" Target="../media/image52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9.png"/><Relationship Id="rId4" Type="http://schemas.openxmlformats.org/officeDocument/2006/relationships/video" Target="../media/media4.mp4"/><Relationship Id="rId9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qwen.ai/blog?id=qwen3.5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huggingface.co/Qwen/Qwen3-Next-80B-A3B-Instruc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qwenlm.github.io/blog/qwen3/" TargetMode="External"/><Relationship Id="rId11" Type="http://schemas.openxmlformats.org/officeDocument/2006/relationships/hyperlink" Target="https://huggingface.co/Qwen/Qwen3.8-Flash-Next" TargetMode="External"/><Relationship Id="rId5" Type="http://schemas.openxmlformats.org/officeDocument/2006/relationships/hyperlink" Target="https://arxiv.org/abs/2505.09388" TargetMode="External"/><Relationship Id="rId10" Type="http://schemas.openxmlformats.org/officeDocument/2006/relationships/hyperlink" Target="https://arxiv.org/abs/2608.30320" TargetMode="External"/><Relationship Id="rId4" Type="http://schemas.openxmlformats.org/officeDocument/2006/relationships/hyperlink" Target="https://arxiv.org/abs/2412.15115" TargetMode="External"/><Relationship Id="rId9" Type="http://schemas.openxmlformats.org/officeDocument/2006/relationships/hyperlink" Target="https://huggingface.co/Qwen/Qwen3.5-397B-A17B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11.20347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arxiv.org/abs/2507.1807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arxiv.org/abs/2501.12948" TargetMode="External"/><Relationship Id="rId5" Type="http://schemas.openxmlformats.org/officeDocument/2006/relationships/hyperlink" Target="https://arxiv.org/abs/2511.21631" TargetMode="External"/><Relationship Id="rId10" Type="http://schemas.openxmlformats.org/officeDocument/2006/relationships/hyperlink" Target="https://arxiv.org/abs/2604.15804" TargetMode="External"/><Relationship Id="rId4" Type="http://schemas.openxmlformats.org/officeDocument/2006/relationships/hyperlink" Target="https://arxiv.org/abs/2502.13923" TargetMode="External"/><Relationship Id="rId9" Type="http://schemas.openxmlformats.org/officeDocument/2006/relationships/hyperlink" Target="https://arxiv.org/abs/2603.00729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文本框 3"/>
          <p:cNvSpPr txBox="1"/>
          <p:nvPr/>
        </p:nvSpPr>
        <p:spPr>
          <a:xfrm>
            <a:off x="339030" y="1706047"/>
            <a:ext cx="11052176" cy="34461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sz="36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大模型报告</a:t>
            </a:r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altLang="zh-CN" sz="32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altLang="zh-CN" sz="32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Presenter: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陈一鸣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/>
              <a:t>Date: 2026/9/29</a:t>
            </a:r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2" name="灯片编号占位符 2"/>
          <p:cNvSpPr txBox="1">
            <a:spLocks noGrp="1"/>
          </p:cNvSpPr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/>
        </p:nvPicPr>
        <p:blipFill>
          <a:blip r:embed="rId3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pic>
        <p:nvPicPr>
          <p:cNvPr id="3" name="图片 2" descr="吉大logo-蓝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971" y="224424"/>
            <a:ext cx="4049022" cy="11950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282" y="-1"/>
            <a:ext cx="2117444" cy="141951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 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大模型技术演进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是阿里云通义千问团队推出的模型家族，主要方向包括</a:t>
            </a:r>
          </a:p>
          <a:p>
            <a:pPr lvl="1">
              <a:lnSpc>
                <a:spcPct val="110000"/>
              </a:lnSpc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通用大语言模型</a:t>
            </a:r>
          </a:p>
          <a:p>
            <a:pPr lvl="1">
              <a:lnSpc>
                <a:spcPct val="110000"/>
              </a:lnSpc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推理模型</a:t>
            </a:r>
          </a:p>
          <a:p>
            <a:pPr lvl="1">
              <a:lnSpc>
                <a:spcPct val="110000"/>
              </a:lnSpc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视觉语言模型</a:t>
            </a:r>
          </a:p>
          <a:p>
            <a:pPr lvl="1">
              <a:lnSpc>
                <a:spcPct val="110000"/>
              </a:lnSpc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代码与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Agent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模型</a:t>
            </a:r>
          </a:p>
          <a:p>
            <a:pPr lvl="1">
              <a:lnSpc>
                <a:spcPct val="110000"/>
              </a:lnSpc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语音、视频和实时多模态模型</a:t>
            </a:r>
          </a:p>
          <a:p>
            <a:pPr marL="457200" lvl="1" indent="0">
              <a:lnSpc>
                <a:spcPct val="110000"/>
              </a:lnSpc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290" y="1503336"/>
            <a:ext cx="4185285" cy="3190240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461328" y="4211492"/>
          <a:ext cx="6739255" cy="2461260"/>
        </p:xfrm>
        <a:graphic>
          <a:graphicData uri="http://schemas.openxmlformats.org/drawingml/2006/table">
            <a:tbl>
              <a:tblPr/>
              <a:tblGrid>
                <a:gridCol w="2795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6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75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方向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75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代表能力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500" b="1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Qwen</a:t>
                      </a:r>
                      <a:r>
                        <a:rPr lang="en-US" altLang="zh-CN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 </a:t>
                      </a:r>
                      <a:r>
                        <a:rPr lang="zh-CN" altLang="en-US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文本模型</a:t>
                      </a:r>
                      <a:endParaRPr sz="15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对话、写作、知识问答、推理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Qwen</a:t>
                      </a:r>
                      <a:r>
                        <a:rPr lang="en-US" altLang="zh-CN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-Coder</a:t>
                      </a:r>
                      <a:endParaRPr sz="15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代码生成、代码理解、程序调试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Qwen3-VL</a:t>
                      </a:r>
                      <a:endParaRPr sz="15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图像、视频、</a:t>
                      </a:r>
                      <a:r>
                        <a:rPr lang="en-US" altLang="zh-CN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OCR</a:t>
                      </a:r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、文档和空间理解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Agent </a:t>
                      </a:r>
                      <a:r>
                        <a:rPr lang="zh-CN" altLang="en-US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能力</a:t>
                      </a:r>
                      <a:endParaRPr sz="15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工具调用、</a:t>
                      </a:r>
                      <a:r>
                        <a:rPr lang="en-US" altLang="zh-CN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GUI </a:t>
                      </a:r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操作、任务规划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 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系列模型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435165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  <a:sym typeface="+mn-ea"/>
              </a:rPr>
              <a:t>Qwen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  <a:sym typeface="+mn-ea"/>
              </a:rPr>
              <a:t>不是一个单一模型，而是一整个模型家族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  <a:sym typeface="+mn-ea"/>
              </a:rPr>
              <a:t>不同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  <a:sym typeface="+mn-ea"/>
              </a:rPr>
              <a:t>Qwen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  <a:sym typeface="+mn-ea"/>
              </a:rPr>
              <a:t>模型可能在以下方面不同：输入模态不同、架构不同、训练阶段不同、是否支持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  <a:sym typeface="+mn-ea"/>
              </a:rPr>
              <a:t>Thinking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  <a:sym typeface="+mn-ea"/>
              </a:rPr>
              <a:t>、是否适合部署或研究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594995" y="3117850"/>
          <a:ext cx="10452735" cy="311848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7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1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690">
                <a:tc>
                  <a:txBody>
                    <a:bodyPr/>
                    <a:lstStyle/>
                    <a:p>
                      <a:pPr algn="ctr"/>
                      <a:r>
                        <a:rPr 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时间节点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主要变化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75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重点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Qwen2.5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2024-09 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成熟 Dense 模型与完整训练配方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大量后续研究的背景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Qwen3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2025-05 </a:t>
                      </a:r>
                      <a:r>
                        <a:rPr sz="1500" b="0" dirty="0" err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报告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Dense + MoE、混合思考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后训练与推理预算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Qwen3-Next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2025-09 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GDN + Attention、稀疏 MoE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理解高效混合架构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Qwen3.5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2026-02 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早期图文融合、原生 VLM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连接视觉与 Agent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Qwen3.8-Next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2026-08-31 报告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QSA、GR、N-gram、Muon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最新架构与消融分析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-134172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基础概念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graphicFrame>
        <p:nvGraphicFramePr>
          <p:cNvPr id="22" name="表格 21"/>
          <p:cNvGraphicFramePr/>
          <p:nvPr/>
        </p:nvGraphicFramePr>
        <p:xfrm>
          <a:off x="186690" y="4712970"/>
          <a:ext cx="9266555" cy="21209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390">
                <a:tc>
                  <a:txBody>
                    <a:bodyPr/>
                    <a:lstStyle/>
                    <a:p>
                      <a:pPr algn="ctr"/>
                      <a:r>
                        <a:rPr 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全称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核心特点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Base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预训练模型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在海量文本上预训练，学会语言规律和知识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Instruct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经过指令微调的模型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经过指令微调，学会理解并遵循用户要求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Thinking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训练了复杂推理能力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重点训练复杂推理，可能生成较长中间推理过程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186690" y="1005205"/>
          <a:ext cx="9266555" cy="35877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390">
                <a:tc>
                  <a:txBody>
                    <a:bodyPr/>
                    <a:lstStyle/>
                    <a:p>
                      <a:pPr algn="ctr"/>
                      <a:r>
                        <a:rPr 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对比项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Dense</a:t>
                      </a:r>
                      <a:r>
                        <a:rPr lang="zh-CN" altLang="en-US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MoE</a:t>
                      </a:r>
                      <a:r>
                        <a:rPr lang="zh-CN" altLang="en-US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定义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每个 </a:t>
                      </a:r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 </a:t>
                      </a: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都会经过所有主要参数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有多个专家网络，路由器判断每个 </a:t>
                      </a:r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 </a:t>
                      </a: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激活哪些专家，只使用一部分参数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计算方式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经过指令微调的模型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经过指令微调，学会理解并遵循用户要求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举例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训练了复杂推理能力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重点训练复杂推理，可能生成较长中间推理过程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优点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结构简单、训练和部署容易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计算效率高、推理成本低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缺点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每个 </a:t>
                      </a:r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 </a:t>
                      </a: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计算量大，模型变大后推理成本很高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显存占用大、训练不稳定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609215" y="794385"/>
            <a:ext cx="6311900" cy="76644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4155" y="5230495"/>
            <a:ext cx="1879600" cy="1563370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529445" y="1654810"/>
            <a:ext cx="3672840" cy="2626995"/>
            <a:chOff x="15007" y="2606"/>
            <a:chExt cx="5784" cy="4137"/>
          </a:xfrm>
        </p:grpSpPr>
        <p:sp>
          <p:nvSpPr>
            <p:cNvPr id="8" name="文本框 7"/>
            <p:cNvSpPr txBox="1"/>
            <p:nvPr/>
          </p:nvSpPr>
          <p:spPr>
            <a:xfrm>
              <a:off x="15102" y="2606"/>
              <a:ext cx="5073" cy="34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solidFill>
                    <a:srgbClr val="162A4A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Qwen3-30B-A3B-Instruct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5007" y="4417"/>
              <a:ext cx="5784" cy="232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1600" b="0" i="0" u="none" strike="noStrike" cap="none" spc="0" normalizeH="0" baseline="0" dirty="0">
                  <a:solidFill>
                    <a:srgbClr val="045499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等线" panose="02010600030101010101" charset="-122"/>
                </a:rPr>
                <a:t>Qwen3：模型系列</a:t>
              </a:r>
            </a:p>
            <a:p>
              <a:pPr marL="0" marR="0" indent="0" algn="l" defTabSz="91440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1600" b="0" i="0" u="none" strike="noStrike" cap="none" spc="0" normalizeH="0" baseline="0" dirty="0">
                  <a:solidFill>
                    <a:srgbClr val="045499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等线" panose="02010600030101010101" charset="-122"/>
                </a:rPr>
                <a:t>30B：总参数规模</a:t>
              </a:r>
            </a:p>
            <a:p>
              <a:pPr marL="0" marR="0" indent="0" algn="l" defTabSz="91440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1600" b="0" i="0" u="none" strike="noStrike" cap="none" spc="0" normalizeH="0" baseline="0" dirty="0">
                  <a:solidFill>
                    <a:srgbClr val="045499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等线" panose="02010600030101010101" charset="-122"/>
                </a:rPr>
                <a:t>A3B：每token激活参数规模</a:t>
              </a:r>
            </a:p>
            <a:p>
              <a:pPr marL="0" marR="0" indent="0" algn="l" defTabSz="91440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1600" b="0" i="0" u="none" strike="noStrike" cap="none" spc="0" normalizeH="0" baseline="0" dirty="0">
                  <a:solidFill>
                    <a:srgbClr val="045499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等线" panose="02010600030101010101" charset="-122"/>
                </a:rPr>
                <a:t>Instruct：指令微调版本</a:t>
              </a:r>
            </a:p>
          </p:txBody>
        </p:sp>
        <p:sp>
          <p:nvSpPr>
            <p:cNvPr id="14" name="下箭头 13"/>
            <p:cNvSpPr/>
            <p:nvPr/>
          </p:nvSpPr>
          <p:spPr>
            <a:xfrm>
              <a:off x="16375" y="3197"/>
              <a:ext cx="340" cy="1220"/>
            </a:xfrm>
            <a:prstGeom prst="downArrow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7" grpId="0" bldLvl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Qwen2.5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306324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Qwen2.5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在模型规模、训练数据和易用性上进行了全面优化</a:t>
            </a:r>
          </a:p>
          <a:p>
            <a:pPr marL="0" indent="0"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840" y="2054860"/>
            <a:ext cx="7377430" cy="25634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5590" y="4565015"/>
            <a:ext cx="11724005" cy="2013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en-US" altLang="zh-CN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Better In Size</a:t>
            </a:r>
            <a:r>
              <a:rPr kumimoji="1" lang="en-US" altLang="zh-CN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—</a:t>
            </a:r>
            <a:r>
              <a:rPr kumimoji="1" lang="zh-CN" altLang="en-US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新增了 3B、14B 和 32B 参数模型，为资源受限场景提供了更高性价比的选择</a:t>
            </a: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en-US" altLang="zh-CN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Better In Data</a:t>
            </a:r>
            <a:r>
              <a:rPr kumimoji="1" lang="en-US" altLang="zh-CN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—</a:t>
            </a:r>
            <a:r>
              <a:rPr kumimoji="1" lang="zh-CN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预训练阶段数据量增大、后训练阶段利用数据和一些方法进行优化</a:t>
            </a: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en-US" altLang="zh-CN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Better In Use</a:t>
            </a:r>
            <a:r>
              <a:rPr kumimoji="1" lang="en-US" altLang="zh-CN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—</a:t>
            </a:r>
            <a:r>
              <a:rPr kumimoji="1" lang="zh-CN" altLang="en-US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最大生成长度从 2</a:t>
            </a:r>
            <a:r>
              <a:rPr kumimoji="1" lang="en-US" altLang="zh-CN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K </a:t>
            </a:r>
            <a:r>
              <a:rPr kumimoji="1" lang="zh-CN" altLang="en-US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放宽至 8</a:t>
            </a:r>
            <a:r>
              <a:rPr kumimoji="1" lang="en-US" altLang="zh-CN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K tokens</a:t>
            </a:r>
            <a:r>
              <a:rPr kumimoji="1" lang="zh-CN" altLang="en-US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，显著提升了对结构化输入输出的解析能力以及工具调用的便捷性</a:t>
            </a:r>
          </a:p>
          <a:p>
            <a:pPr marL="0" marR="0" indent="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2000" b="0" i="0" u="none" strike="noStrike" cap="none" spc="0" normalizeH="0" baseline="0" dirty="0">
              <a:solidFill>
                <a:srgbClr val="045499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等线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890" y="1299845"/>
            <a:ext cx="2056765" cy="8102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Qwen2.5-Architecture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3180" y="2112645"/>
            <a:ext cx="12092940" cy="4351655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底层神经网络结构设计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—Qwen2.5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的标准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Transformer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组件</a:t>
            </a:r>
          </a:p>
          <a:p>
            <a:pPr marL="0" indent="0"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42595" y="2943225"/>
          <a:ext cx="10972800" cy="3390900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algn="ctr"/>
                      <a:r>
                        <a:rPr sz="1575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组件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在模型中的作用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Decoder-only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根据已有 token 预测下一个 token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自回归生成与因果掩码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GQA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多组 Query 共享 Key / Value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cache、带宽和推理成本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RoPE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把位置信息编码到注意力计算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训练长度与长上下文扩展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SwiGLU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门控前馈网络变换 token 表示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FFN 参数量与计算量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Pre-RMSNorm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在子层前归一化隐藏状态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训练稳定性与残差路径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180" y="1496060"/>
            <a:ext cx="11981815" cy="3073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en-US" altLang="zh-CN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Qwen2.5 系列模型起初为 </a:t>
            </a:r>
            <a:r>
              <a:rPr kumimoji="1" lang="en-US" altLang="zh-CN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Dense 架构</a:t>
            </a:r>
            <a:r>
              <a:rPr kumimoji="1" lang="en-US" altLang="zh-CN" sz="2000" b="0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，团队在 Dense 架构的基础上扩展出了 </a:t>
            </a:r>
            <a:r>
              <a:rPr kumimoji="1" lang="en-US" altLang="zh-CN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MoE 架构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180" y="737870"/>
            <a:ext cx="4632960" cy="2558415"/>
          </a:xfrm>
          <a:prstGeom prst="rect">
            <a:avLst/>
          </a:prstGeom>
        </p:spPr>
      </p:pic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4972050" y="971550"/>
            <a:ext cx="5004435" cy="232473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082675" y="288925"/>
            <a:ext cx="2687955" cy="3073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1" lang="zh-CN" altLang="en-US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Decoder-only</a:t>
            </a:r>
            <a:r>
              <a:rPr kumimoji="1" lang="en-US" altLang="zh-CN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 </a:t>
            </a:r>
            <a:r>
              <a:rPr kumimoji="1" lang="zh-CN" altLang="en-US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组件</a:t>
            </a: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583680" y="340360"/>
            <a:ext cx="1704975" cy="3429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1" lang="en-US" altLang="zh-CN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GQA </a:t>
            </a:r>
            <a:r>
              <a:rPr kumimoji="1" lang="zh-CN" altLang="en-US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组件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4305" y="4147185"/>
            <a:ext cx="7878445" cy="25514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751705" y="3729990"/>
            <a:ext cx="2687955" cy="6153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RoPE组件</a:t>
            </a:r>
            <a:endParaRPr kumimoji="1" lang="zh-CN" altLang="en-US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endParaRPr kumimoji="1" lang="zh-CN" altLang="en-US" sz="2000" b="1" i="0" u="none" strike="noStrike" cap="none" spc="0" normalizeH="0" baseline="0" dirty="0">
              <a:solidFill>
                <a:srgbClr val="045499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3136" y="934376"/>
            <a:ext cx="5155565" cy="23431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002" y="1907853"/>
            <a:ext cx="6134100" cy="2414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2002" y="4500212"/>
            <a:ext cx="6261100" cy="103937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54100" y="280500"/>
            <a:ext cx="2993390" cy="5524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342900" indent="-342900" algn="l">
              <a:buFont typeface="Wingdings" panose="05000000000000000000" charset="0"/>
              <a:buChar char="Ø"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SwiGLU组件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231974" y="1242315"/>
            <a:ext cx="3900805" cy="3905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342900" indent="-342900" algn="l">
              <a:buFont typeface="Wingdings" panose="05000000000000000000" charset="0"/>
              <a:buChar char="Ø"/>
            </a:pP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Pre-RMSNorm</a:t>
            </a: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组件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083363" y="3751925"/>
          <a:ext cx="2981326" cy="468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Equation" r:id="rId7" imgW="1303655" imgH="208915" progId="Equation.DSMT4">
                  <p:embed/>
                </p:oleObj>
              </mc:Choice>
              <mc:Fallback>
                <p:oleObj name="Equation" r:id="rId7" imgW="1303655" imgH="208915" progId="Equation.DSMT4">
                  <p:embed/>
                  <p:pic>
                    <p:nvPicPr>
                      <p:cNvPr id="0" name="图片 1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83363" y="3751925"/>
                        <a:ext cx="2981326" cy="4689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89159" y="4323885"/>
          <a:ext cx="3429216" cy="468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Equation" r:id="rId9" imgW="1682750" imgH="233680" progId="Equation.DSMT4">
                  <p:embed/>
                </p:oleObj>
              </mc:Choice>
              <mc:Fallback>
                <p:oleObj name="Equation" r:id="rId9" imgW="1682750" imgH="233680" progId="Equation.DSMT4">
                  <p:embed/>
                  <p:pic>
                    <p:nvPicPr>
                      <p:cNvPr id="0" name="图片 10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9159" y="4323885"/>
                        <a:ext cx="3429216" cy="4689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0" y="4797357"/>
          <a:ext cx="578002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name="Equation" r:id="rId11" imgW="2349500" imgH="248285" progId="Equation.DSMT4">
                  <p:embed/>
                </p:oleObj>
              </mc:Choice>
              <mc:Fallback>
                <p:oleObj name="Equation" r:id="rId11" imgW="2349500" imgH="248285" progId="Equation.DSMT4">
                  <p:embed/>
                  <p:pic>
                    <p:nvPicPr>
                      <p:cNvPr id="0" name="图片 10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4797357"/>
                        <a:ext cx="5780023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806013" y="5704375"/>
          <a:ext cx="2752725" cy="43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Equation" r:id="rId13" imgW="1468755" imgH="233680" progId="Equation.DSMT4">
                  <p:embed/>
                </p:oleObj>
              </mc:Choice>
              <mc:Fallback>
                <p:oleObj name="Equation" r:id="rId13" imgW="1468755" imgH="233680" progId="Equation.DSMT4">
                  <p:embed/>
                  <p:pic>
                    <p:nvPicPr>
                      <p:cNvPr id="0" name="图片 110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06013" y="5704375"/>
                        <a:ext cx="2752725" cy="432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851774" y="6301275"/>
          <a:ext cx="2752725" cy="43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name="Equation" r:id="rId15" imgW="1468755" imgH="233680" progId="Equation.DSMT4">
                  <p:embed/>
                </p:oleObj>
              </mc:Choice>
              <mc:Fallback>
                <p:oleObj name="Equation" r:id="rId15" imgW="1468755" imgH="233680" progId="Equation.DSMT4">
                  <p:embed/>
                  <p:pic>
                    <p:nvPicPr>
                      <p:cNvPr id="0" name="图片 110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51774" y="6301275"/>
                        <a:ext cx="2752725" cy="432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Qwen2.5 Pre-training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02173"/>
            <a:ext cx="6095999" cy="2721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000" b="1" dirty="0">
                <a:solidFill>
                  <a:srgbClr val="045499"/>
                </a:solidFill>
                <a:highlight>
                  <a:srgbClr val="C0C0C0"/>
                </a:highlight>
                <a:cs typeface="Times New Roman" panose="02020603050405020304" pitchFamily="18" charset="0"/>
              </a:rPr>
              <a:t>预训练数据</a:t>
            </a:r>
            <a:endParaRPr kumimoji="1" lang="en-US" altLang="zh-CN" sz="2000" b="1" kern="0" dirty="0">
              <a:solidFill>
                <a:srgbClr val="045499"/>
              </a:solidFill>
              <a:highlight>
                <a:srgbClr val="C0C0C0"/>
              </a:highlight>
              <a:uFillTx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8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Better data filtering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：利用</a:t>
            </a:r>
            <a:r>
              <a:rPr lang="zh-CN" altLang="en-US" sz="1800" dirty="0"/>
              <a:t>前代 </a:t>
            </a:r>
            <a:r>
              <a:rPr lang="en-US" altLang="zh-CN" sz="1800" dirty="0"/>
              <a:t>Qwen2-Instruct </a:t>
            </a:r>
            <a:r>
              <a:rPr lang="zh-CN" altLang="en-US" sz="1800" dirty="0"/>
              <a:t>模型对收集到的训练样本进行多维度的质量评估和打分，精准剔除低质量内容</a:t>
            </a:r>
            <a:endParaRPr kumimoji="1" lang="en-US" altLang="zh-CN" sz="18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8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Better math and code data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：整合了来自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Qwen2.5-Math and Qwen2.5-Coder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的训练数据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94424" y="1572229"/>
            <a:ext cx="5812365" cy="30264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28600" indent="-228600" hangingPunct="1">
              <a:lnSpc>
                <a:spcPct val="150000"/>
              </a:lnSpc>
              <a:spcBef>
                <a:spcPts val="1000"/>
              </a:spcBef>
              <a:buSzPct val="100000"/>
              <a:buFont typeface="Arial" panose="020B0604020202020204"/>
              <a:buChar char="•"/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Better synthetic data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：利用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Qwen2-72B-Instruct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和专属数学模型生成了大量数学、代码和知识类的合成数据，并经过特定的奖励模型进行严格清洗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hangingPunct="1">
              <a:lnSpc>
                <a:spcPct val="150000"/>
              </a:lnSpc>
              <a:spcBef>
                <a:spcPts val="1000"/>
              </a:spcBef>
              <a:buSzPct val="100000"/>
              <a:buFont typeface="Arial" panose="020B0604020202020204"/>
              <a:buChar char="•"/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Better data mixture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：下调了互联网上冗余度高的领域（电子商务等）的数据比重，同时上调了高信息密度领域（学术研究等）的语料占比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8" name="内容占位符 5"/>
          <p:cNvSpPr txBox="1"/>
          <p:nvPr/>
        </p:nvSpPr>
        <p:spPr>
          <a:xfrm>
            <a:off x="185211" y="4085460"/>
            <a:ext cx="6095999" cy="272142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2pPr>
            <a:lvl3pPr marL="1234440" marR="0" indent="-32004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9pPr>
          </a:lstStyle>
          <a:p>
            <a:pPr marL="0" indent="0">
              <a:buFont typeface="Arial" panose="020B0604020202020204"/>
              <a:buNone/>
            </a:pPr>
            <a:endParaRPr kumimoji="1" lang="en-US" altLang="zh-CN" sz="18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425" y="4404229"/>
            <a:ext cx="5997575" cy="2701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</a:lstStyle>
          <a:p>
            <a:pPr hangingPunct="1">
              <a:lnSpc>
                <a:spcPct val="90000"/>
              </a:lnSpc>
              <a:spcBef>
                <a:spcPts val="1000"/>
              </a:spcBef>
              <a:buSzPct val="100000"/>
            </a:pPr>
            <a:r>
              <a:rPr kumimoji="1" lang="en-US" altLang="zh-CN" sz="2000" b="1" dirty="0">
                <a:solidFill>
                  <a:srgbClr val="045499"/>
                </a:solidFill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Scaling Law </a:t>
            </a:r>
            <a:r>
              <a:rPr kumimoji="1" lang="zh-CN" altLang="en-US" sz="2000" b="1" dirty="0">
                <a:solidFill>
                  <a:srgbClr val="045499"/>
                </a:solidFill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对超参数的应用</a:t>
            </a:r>
            <a:endParaRPr kumimoji="1" lang="en-US" altLang="zh-CN" sz="2000" b="1" dirty="0">
              <a:solidFill>
                <a:srgbClr val="045499"/>
              </a:solidFill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hangingPunct="1">
              <a:lnSpc>
                <a:spcPct val="150000"/>
              </a:lnSpc>
              <a:spcBef>
                <a:spcPts val="1000"/>
              </a:spcBef>
              <a:buSzPct val="100000"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通过在不同规模（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44M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14B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参数）和不同数据量下的大量实验，有助于确定不同大小的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Dense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模型和 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模型的关键训练参数，例如批量大小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和学习率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</a:p>
          <a:p>
            <a:pPr hangingPunct="1">
              <a:lnSpc>
                <a:spcPct val="90000"/>
              </a:lnSpc>
              <a:spcBef>
                <a:spcPts val="1000"/>
              </a:spcBef>
              <a:buSzPct val="100000"/>
            </a:pPr>
            <a:endParaRPr kumimoji="1" lang="en-US" altLang="zh-CN" sz="2400" b="1" dirty="0">
              <a:solidFill>
                <a:srgbClr val="045499"/>
              </a:solidFill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00"/>
              </a:spcBef>
              <a:buSzPct val="100000"/>
            </a:pPr>
            <a:endParaRPr kumimoji="1" lang="zh-CN" altLang="en-US" sz="2400" b="1" dirty="0">
              <a:solidFill>
                <a:srgbClr val="045499"/>
              </a:solidFill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4424" y="4356300"/>
            <a:ext cx="6095999" cy="299569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fontAlgn="auto" hangingPunct="1">
              <a:lnSpc>
                <a:spcPct val="90000"/>
              </a:lnSpc>
              <a:spcBef>
                <a:spcPts val="1000"/>
              </a:spcBef>
              <a:buSzPct val="100000"/>
            </a:pPr>
            <a:r>
              <a:rPr kumimoji="1" lang="en-US" altLang="zh-CN" sz="2000" b="1" dirty="0">
                <a:solidFill>
                  <a:srgbClr val="045499"/>
                </a:solidFill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Long-context</a:t>
            </a:r>
            <a:r>
              <a:rPr kumimoji="1" lang="zh-CN" altLang="en-US" sz="2000" b="1" dirty="0">
                <a:solidFill>
                  <a:srgbClr val="045499"/>
                </a:solidFill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进阶训练</a:t>
            </a:r>
            <a:endParaRPr kumimoji="1" lang="en-US" altLang="zh-CN" sz="2000" b="1" dirty="0">
              <a:solidFill>
                <a:srgbClr val="045499"/>
              </a:solidFill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 hangingPunct="1">
              <a:lnSpc>
                <a:spcPct val="150000"/>
              </a:lnSpc>
              <a:spcBef>
                <a:spcPts val="1000"/>
              </a:spcBef>
              <a:buSzPct val="100000"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两阶段训练为了保证计算效率，绝大部分预训练时间都在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4096 tokens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的长度下进行。直到最后阶段，才将所有常规模型的上下文扩展至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32,768 tokens</a:t>
            </a:r>
          </a:p>
          <a:p>
            <a:pPr fontAlgn="auto" hangingPunct="1">
              <a:lnSpc>
                <a:spcPct val="90000"/>
              </a:lnSpc>
              <a:spcBef>
                <a:spcPts val="1000"/>
              </a:spcBef>
              <a:buSzPct val="100000"/>
            </a:pPr>
            <a:endParaRPr kumimoji="1" lang="en-US" altLang="zh-CN" sz="2000" b="1" dirty="0">
              <a:solidFill>
                <a:srgbClr val="045499"/>
              </a:solidFill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 hangingPunct="1">
              <a:lnSpc>
                <a:spcPct val="90000"/>
              </a:lnSpc>
              <a:spcBef>
                <a:spcPts val="1000"/>
              </a:spcBef>
              <a:buSzPct val="100000"/>
            </a:pPr>
            <a:endParaRPr kumimoji="1" lang="en-US" altLang="zh-CN" sz="2000" b="1" dirty="0">
              <a:solidFill>
                <a:srgbClr val="045499"/>
              </a:solidFill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 hangingPunct="1">
              <a:lnSpc>
                <a:spcPct val="90000"/>
              </a:lnSpc>
              <a:spcBef>
                <a:spcPts val="1000"/>
              </a:spcBef>
              <a:buSzPct val="100000"/>
            </a:pPr>
            <a:endParaRPr kumimoji="1" lang="en-US" altLang="zh-CN" sz="2000" b="1" dirty="0">
              <a:solidFill>
                <a:srgbClr val="045499"/>
              </a:solidFill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Qwen2.5 Post-training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228090"/>
            <a:ext cx="11995150" cy="51917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/>
              <a:t>SFT </a:t>
            </a:r>
            <a:r>
              <a:rPr lang="zh-CN" altLang="en-US" sz="1800" b="1" dirty="0"/>
              <a:t>阶段</a:t>
            </a:r>
            <a:r>
              <a:rPr lang="zh-CN" altLang="en-US" sz="1800" dirty="0"/>
              <a:t>：针对 </a:t>
            </a:r>
            <a:r>
              <a:rPr lang="en-US" altLang="zh-CN" sz="1800" dirty="0"/>
              <a:t>9 </a:t>
            </a:r>
            <a:r>
              <a:rPr lang="zh-CN" altLang="en-US" sz="1800" dirty="0"/>
              <a:t>个核心维度（长序列生成、数学、编码、遵循指令、系统指令结构化数据理解、逻辑推理、跨语言迁移、强大的系统指令遵循、过滤机制）构建了超过 </a:t>
            </a:r>
            <a:r>
              <a:rPr lang="en-US" altLang="zh-CN" sz="1800" dirty="0"/>
              <a:t>100 </a:t>
            </a:r>
            <a:r>
              <a:rPr lang="zh-CN" altLang="en-US" sz="1800" dirty="0"/>
              <a:t>万条的高质量数据集进行微调操作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89" y="4031859"/>
            <a:ext cx="5416549" cy="174463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5044" y="2091159"/>
            <a:ext cx="4976556" cy="193899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Offline RL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：复用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SFT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阶段的代码执行反馈和答案匹配流水线，让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SFT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模型对新查询重新采样，跑通测试用例的设为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Positive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，报错的设为负样本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Negative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，采用 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DPO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14838" y="2091159"/>
            <a:ext cx="6092115" cy="193899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Online RL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：利用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Reward Model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来微调模型的输出语气、格式和价值观。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的打分严格围绕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个维度：真实性、有用性、简洁性、相关性、无害性和去偏见，并采用 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GRPO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策略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100" y="4081051"/>
            <a:ext cx="5080000" cy="2695884"/>
          </a:xfrm>
          <a:prstGeom prst="rect">
            <a:avLst/>
          </a:prstGeom>
        </p:spPr>
      </p:pic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264657" y="3459577"/>
          <a:ext cx="49037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6" imgW="3759835" imgH="515620" progId="Equation.DSMT4">
                  <p:embed/>
                </p:oleObj>
              </mc:Choice>
              <mc:Fallback>
                <p:oleObj name="Equation" r:id="rId6" imgW="3759835" imgH="515620" progId="Equation.DSMT4">
                  <p:embed/>
                  <p:pic>
                    <p:nvPicPr>
                      <p:cNvPr id="0" name="图片 1639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64657" y="3459577"/>
                        <a:ext cx="4903787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57250" y="5945451"/>
          <a:ext cx="41894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Equation" r:id="rId8" imgW="3215005" imgH="515620" progId="Equation.DSMT4">
                  <p:embed/>
                </p:oleObj>
              </mc:Choice>
              <mc:Fallback>
                <p:oleObj name="Equation" r:id="rId8" imgW="3215005" imgH="515620" progId="Equation.DSMT4">
                  <p:embed/>
                  <p:pic>
                    <p:nvPicPr>
                      <p:cNvPr id="0" name="图片 1639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7250" y="5945451"/>
                        <a:ext cx="4189413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Qwen2.5 Post-training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4" y="1666240"/>
            <a:ext cx="12093575" cy="435165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Long Context Fine-tuning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：这一过程专门针对于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Qwen2.5-Turbo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版本，目的是让它在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100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万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token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级别的输入下依然能听懂复杂指令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SFT 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的两阶段混合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：第一阶段仅使用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32,768 tokens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以内的短指令训练以保住基础性能；第二阶段将短指令与高达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262,144 tokens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的超长指令混合进行微调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RL 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阶段的算力妥协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：由于在十几万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token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上跑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RL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的显存开销极大，且目前业界极度缺乏靠谱的长文本奖励模型，因此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Turbo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版本的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RL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阶段仅使用短指令进行训练。但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实验证明，即使只在短指令上做 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RL 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偏好对齐，依然能显著提升模型在超长上下文任务中的人类偏好表现</a:t>
            </a:r>
            <a:endParaRPr kumimoji="1" lang="en-US" altLang="zh-CN" sz="2000" b="1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0888" y="1369668"/>
            <a:ext cx="12092940" cy="435165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Qwen3</a:t>
            </a:r>
            <a:r>
              <a:rPr lang="zh-CN" altLang="en-US" dirty="0"/>
              <a:t>：全面进化的新一代大语言模型家族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模型架构多样性：全面涵盖</a:t>
            </a:r>
            <a:r>
              <a:rPr kumimoji="1" lang="en-US" altLang="zh-CN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Dense</a:t>
            </a:r>
            <a:r>
              <a:rPr kumimoji="1" lang="zh-CN" altLang="en-US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与 </a:t>
            </a:r>
            <a:r>
              <a:rPr kumimoji="1" lang="en-US" altLang="zh-CN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MoE</a:t>
            </a:r>
            <a:r>
              <a:rPr kumimoji="1" lang="zh-CN" altLang="en-US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两种主流架构</a:t>
            </a:r>
            <a:endParaRPr kumimoji="1" lang="en-US" altLang="zh-CN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全参数矩阵：模型规模跨度极大，参数量从 </a:t>
            </a:r>
            <a:r>
              <a:rPr kumimoji="1" lang="en-US" altLang="zh-CN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0.6B </a:t>
            </a: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到 </a:t>
            </a:r>
            <a:r>
              <a:rPr kumimoji="1" lang="en-US" altLang="zh-CN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235B </a:t>
            </a: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不等，满足从端侧部署到云端超算的各类算力需求</a:t>
            </a:r>
            <a:endParaRPr kumimoji="1" lang="en-US" altLang="zh-CN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813" y="3694271"/>
            <a:ext cx="5836838" cy="298998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340" y="262890"/>
            <a:ext cx="2056765" cy="8102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-Architecture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与 </a:t>
            </a:r>
            <a:r>
              <a:rPr kumimoji="1" lang="en-US" altLang="zh-CN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Qwen2.5 </a:t>
            </a: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进行对比</a:t>
            </a:r>
            <a:r>
              <a:rPr kumimoji="1" lang="en-US" altLang="zh-CN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563244" y="2339974"/>
          <a:ext cx="11247755" cy="3165475"/>
        </p:xfrm>
        <a:graphic>
          <a:graphicData uri="http://schemas.openxmlformats.org/drawingml/2006/table">
            <a:tbl>
              <a:tblPr/>
              <a:tblGrid>
                <a:gridCol w="2332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0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75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架构维度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75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Qwen2.5</a:t>
                      </a:r>
                      <a:r>
                        <a:rPr lang="zh-CN" altLang="en-US" sz="1575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系列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75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Qwen3</a:t>
                      </a:r>
                      <a:r>
                        <a:rPr lang="zh-CN" altLang="en-US" sz="1575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系列</a:t>
                      </a:r>
                      <a:endParaRPr lang="zh-CN"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基础</a:t>
                      </a:r>
                      <a:r>
                        <a:rPr lang="en-US" altLang="zh-CN" sz="1500" b="1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transformer</a:t>
                      </a:r>
                      <a:r>
                        <a:rPr lang="zh-CN" altLang="en-US" sz="1500" b="1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架构</a:t>
                      </a:r>
                      <a:endParaRPr sz="1500" b="1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GQA, </a:t>
                      </a:r>
                      <a:r>
                        <a:rPr lang="en-US" altLang="zh-CN" sz="1600" dirty="0" err="1"/>
                        <a:t>SwiGLU</a:t>
                      </a:r>
                      <a:r>
                        <a:rPr lang="en-US" altLang="zh-CN" sz="1600" dirty="0"/>
                        <a:t>, </a:t>
                      </a:r>
                      <a:r>
                        <a:rPr lang="en-US" altLang="zh-CN" sz="1600" dirty="0" err="1"/>
                        <a:t>RoPE</a:t>
                      </a:r>
                      <a:r>
                        <a:rPr lang="en-US" altLang="zh-CN" sz="1600" dirty="0"/>
                        <a:t>, Pre-</a:t>
                      </a:r>
                      <a:r>
                        <a:rPr lang="en-US" altLang="zh-CN" sz="1600" dirty="0" err="1"/>
                        <a:t>RMSNorm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GQA, </a:t>
                      </a:r>
                      <a:r>
                        <a:rPr lang="en-US" altLang="zh-CN" sz="1600" dirty="0" err="1"/>
                        <a:t>SwiGLU</a:t>
                      </a:r>
                      <a:r>
                        <a:rPr lang="en-US" altLang="zh-CN" sz="1600" dirty="0"/>
                        <a:t>, </a:t>
                      </a:r>
                      <a:r>
                        <a:rPr lang="en-US" altLang="zh-CN" sz="1600" dirty="0" err="1"/>
                        <a:t>RoPE</a:t>
                      </a:r>
                      <a:r>
                        <a:rPr lang="en-US" altLang="zh-CN" sz="1600" dirty="0"/>
                        <a:t>, Pre-</a:t>
                      </a:r>
                      <a:r>
                        <a:rPr lang="en-US" altLang="zh-CN" sz="1600" dirty="0" err="1"/>
                        <a:t>RMSNorm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95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QKV-bias</a:t>
                      </a:r>
                      <a:endParaRPr sz="15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5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保留使用</a:t>
                      </a:r>
                      <a:endParaRPr sz="15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5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移除</a:t>
                      </a:r>
                      <a:endParaRPr sz="15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095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500" b="1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MoE</a:t>
                      </a:r>
                      <a:r>
                        <a:rPr lang="en-US" altLang="zh-CN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 Shared Experts</a:t>
                      </a:r>
                      <a:endParaRPr sz="15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存在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移除</a:t>
                      </a:r>
                      <a:endParaRPr sz="150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095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500" b="1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MoE</a:t>
                      </a:r>
                      <a:r>
                        <a:rPr lang="en-US" altLang="zh-CN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 </a:t>
                      </a:r>
                      <a:r>
                        <a:rPr lang="zh-CN" altLang="en-US" sz="15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负载均衡策略</a:t>
                      </a:r>
                      <a:endParaRPr sz="15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5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常规局部负载均衡</a:t>
                      </a:r>
                      <a:endParaRPr sz="15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5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全局批次负载均衡损失</a:t>
                      </a:r>
                      <a:endParaRPr sz="15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 Pre-training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5250" y="1220154"/>
            <a:ext cx="5260975" cy="51079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zh-CN" altLang="en-US" sz="2000" b="1" dirty="0">
                <a:solidFill>
                  <a:srgbClr val="045499"/>
                </a:solidFill>
                <a:highlight>
                  <a:srgbClr val="C0C0C0"/>
                </a:highlight>
                <a:cs typeface="Times New Roman" panose="02020603050405020304" pitchFamily="18" charset="0"/>
              </a:rPr>
              <a:t>预训练数据</a:t>
            </a:r>
            <a:endParaRPr kumimoji="1" lang="en-US" altLang="zh-CN" sz="2000" b="1" dirty="0">
              <a:solidFill>
                <a:srgbClr val="045499"/>
              </a:solidFill>
              <a:highlight>
                <a:srgbClr val="C0C0C0"/>
              </a:highlight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1800" b="1" dirty="0">
                <a:solidFill>
                  <a:srgbClr val="045499"/>
                </a:solidFill>
                <a:cs typeface="Times New Roman" panose="02020603050405020304" pitchFamily="18" charset="0"/>
              </a:rPr>
              <a:t>多模态文本提取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：微调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Qwen2.5-VL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对海量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PDF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格式文档进行高质量文字与版面识别，并使用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Qwen2.5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进行文本润色与质量清洗，获取了数万亿量级的高质量文献文本</a:t>
            </a:r>
            <a:endParaRPr kumimoji="1" lang="en-US" altLang="zh-CN" sz="18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1800" b="1" dirty="0">
                <a:solidFill>
                  <a:srgbClr val="045499"/>
                </a:solidFill>
                <a:cs typeface="Times New Roman" panose="02020603050405020304" pitchFamily="18" charset="0"/>
              </a:rPr>
              <a:t>领域专家模型合成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：利用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Qwen2.5-Math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与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Qwen2.5-Coder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批量合成教材、高质量代码段、指令及问答对，覆盖数十个复杂垂直领域</a:t>
            </a:r>
            <a:endParaRPr kumimoji="1" lang="en-US" altLang="zh-CN" sz="18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1800" b="1" dirty="0">
                <a:solidFill>
                  <a:srgbClr val="045499"/>
                </a:solidFill>
                <a:cs typeface="Times New Roman" panose="02020603050405020304" pitchFamily="18" charset="0"/>
              </a:rPr>
              <a:t>实例级配比优化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：构建了多维度数据打标系统（教育价值、学科领域等），并通过小型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Proxy Model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 进行细粒度实例级消融，动态优化数据配比，取代了传统的粗粒度数据源级别配比</a:t>
            </a:r>
            <a:endParaRPr kumimoji="1" lang="en-US" altLang="zh-CN" sz="18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内容占位符 5"/>
          <p:cNvSpPr txBox="1"/>
          <p:nvPr/>
        </p:nvSpPr>
        <p:spPr>
          <a:xfrm>
            <a:off x="5448300" y="1143954"/>
            <a:ext cx="6597650" cy="51079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2pPr>
            <a:lvl3pPr marL="1234440" marR="0" indent="-32004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9pPr>
          </a:lstStyle>
          <a:p>
            <a:pPr marL="0" indent="0">
              <a:buNone/>
            </a:pPr>
            <a:r>
              <a:rPr kumimoji="1" lang="zh-CN" altLang="en-US" sz="2000" b="1" dirty="0">
                <a:solidFill>
                  <a:srgbClr val="045499"/>
                </a:solidFill>
                <a:highlight>
                  <a:srgbClr val="C0C0C0"/>
                </a:highlight>
                <a:cs typeface="Times New Roman" panose="02020603050405020304" pitchFamily="18" charset="0"/>
              </a:rPr>
              <a:t>预训练阶段</a:t>
            </a:r>
          </a:p>
          <a:p>
            <a:pPr marL="0" indent="0">
              <a:lnSpc>
                <a:spcPct val="150000"/>
              </a:lnSpc>
              <a:buFont typeface="Arial" panose="020B0604020202020204"/>
              <a:buNone/>
            </a:pPr>
            <a:r>
              <a:rPr kumimoji="1" lang="en-US" altLang="zh-CN" sz="1800" b="1" dirty="0">
                <a:solidFill>
                  <a:srgbClr val="045499"/>
                </a:solidFill>
                <a:cs typeface="Times New Roman" panose="02020603050405020304" pitchFamily="18" charset="0"/>
              </a:rPr>
              <a:t>General Stage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：在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4K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上下文窗口下训练超过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30T Tokens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，建立跨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119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种语言的基础世界知识和语言通识能力</a:t>
            </a:r>
            <a:endParaRPr kumimoji="1" lang="en-US" altLang="zh-CN" sz="1800" b="1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/>
              <a:buNone/>
            </a:pPr>
            <a:r>
              <a:rPr kumimoji="1" lang="en-US" altLang="zh-CN" sz="1800" b="1" dirty="0">
                <a:solidFill>
                  <a:srgbClr val="045499"/>
                </a:solidFill>
                <a:cs typeface="Times New Roman" panose="02020603050405020304" pitchFamily="18" charset="0"/>
              </a:rPr>
              <a:t>Reasoning Stage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：使用约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5T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高质量知识密集型数据，增加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STEM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、编码、推理和合成数据的比例来优化本阶段的预训练语料，并结合更激进的学习率衰减调度</a:t>
            </a:r>
            <a:endParaRPr kumimoji="1" lang="en-US" altLang="zh-CN" sz="18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/>
              <a:buNone/>
            </a:pPr>
            <a:r>
              <a:rPr kumimoji="1" lang="en-US" altLang="zh-CN" sz="1800" b="1" dirty="0">
                <a:solidFill>
                  <a:srgbClr val="045499"/>
                </a:solidFill>
                <a:cs typeface="Times New Roman" panose="02020603050405020304" pitchFamily="18" charset="0"/>
              </a:rPr>
              <a:t>Long Context Stage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：收集高质量的长上下文语料库来扩展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Qwen3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模型的上下文长度，在数百亿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Tokens </a:t>
            </a: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上将训练上下文扩展至 </a:t>
            </a:r>
            <a:r>
              <a:rPr kumimoji="1" lang="en-US" altLang="zh-CN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32K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 Pre-training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09600" y="2353734"/>
          <a:ext cx="10972800" cy="290512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6281"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575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阶段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575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训练重点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长度设置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形成的能力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81"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S1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超过 30T 通用数据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4K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0" dirty="0" err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语言、常识与广泛知识</a:t>
                      </a:r>
                      <a:endParaRPr sz="165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281"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S2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约 5T </a:t>
                      </a:r>
                      <a:r>
                        <a:rPr sz="1650" b="0" dirty="0" err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知识密集数据，增强</a:t>
                      </a:r>
                      <a:r>
                        <a:rPr sz="165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STEM、代码与推理</a:t>
                      </a:r>
                      <a:endParaRPr sz="165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4K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专业知识和复杂问题模式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281"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S3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高质量长上下文数据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32K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>
                      <a:lvl1pPr marL="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>
                        <a:buNone/>
                        <a:defRPr sz="18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ctr"/>
                      <a:r>
                        <a:rPr sz="1650" b="0" dirty="0" err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更长距离的信息整合</a:t>
                      </a:r>
                      <a:endParaRPr sz="1650" b="0" dirty="0">
                        <a:solidFill>
                          <a:srgbClr val="162A4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250267" y="1570857"/>
            <a:ext cx="3691466" cy="4606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fontAlgn="auto" hangingPunct="1">
              <a:lnSpc>
                <a:spcPct val="90000"/>
              </a:lnSpc>
              <a:spcBef>
                <a:spcPts val="1000"/>
              </a:spcBef>
              <a:buSzPct val="100000"/>
            </a:pPr>
            <a:r>
              <a:rPr kumimoji="1" lang="en-US" altLang="zh-CN" sz="24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Qwen3 </a:t>
            </a:r>
            <a:r>
              <a:rPr kumimoji="1" lang="zh-CN" altLang="en-US" sz="24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预训练阶段总结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 Post-training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49860" y="1116042"/>
            <a:ext cx="12092940" cy="49377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Stage1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Long-</a:t>
            </a:r>
            <a:r>
              <a:rPr kumimoji="1" lang="en-US" altLang="zh-CN" sz="2000" b="1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CoT</a:t>
            </a: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 Cold Start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构建数据集时，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筛选具有明确可验证答案的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STEM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与编程难题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使用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Qwen2.5-72B-Instruct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剔除无需复杂思考即可猜对的简单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题目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使用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QwQ-32B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生成候选思维链，经严格过滤后形成极高纯度的小规模数据集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该数据集作为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Long-</a:t>
            </a:r>
            <a:r>
              <a:rPr kumimoji="1" lang="en-US" altLang="zh-CN" sz="2000" dirty="0" err="1">
                <a:solidFill>
                  <a:srgbClr val="045499"/>
                </a:solidFill>
                <a:cs typeface="Times New Roman" panose="02020603050405020304" pitchFamily="18" charset="0"/>
              </a:rPr>
              <a:t>CoT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 训练的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Cold Start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阶段的基础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目标是在模型中灌输基础推理模式，但不过分强调即时推理性能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09800" y="3896951"/>
            <a:ext cx="7265455" cy="2877229"/>
            <a:chOff x="2209800" y="3896951"/>
            <a:chExt cx="7265455" cy="287722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3896951"/>
              <a:ext cx="7265455" cy="2877229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3873500" y="4032250"/>
              <a:ext cx="1727200" cy="730250"/>
            </a:xfrm>
            <a:prstGeom prst="rect">
              <a:avLst/>
            </a:prstGeom>
            <a:noFill/>
            <a:ln w="28575" cap="flat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 Post-training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55575" y="1419515"/>
            <a:ext cx="12092940" cy="435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Stage2</a:t>
            </a: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Reasoning RL</a:t>
            </a:r>
          </a:p>
          <a:p>
            <a:r>
              <a:rPr lang="zh-CN" altLang="en-US" sz="2000" dirty="0"/>
              <a:t>采用 </a:t>
            </a:r>
            <a:r>
              <a:rPr lang="en-US" altLang="zh-CN" sz="2000" dirty="0"/>
              <a:t>GRPO</a:t>
            </a:r>
            <a:r>
              <a:rPr lang="zh-CN" altLang="en-US" sz="2000" dirty="0"/>
              <a:t>算法，在 </a:t>
            </a:r>
            <a:r>
              <a:rPr lang="en-US" altLang="zh-CN" sz="2000" dirty="0"/>
              <a:t>3,995 </a:t>
            </a:r>
            <a:r>
              <a:rPr lang="zh-CN" altLang="en-US" sz="2000" dirty="0"/>
              <a:t>个高质量未见过的 </a:t>
            </a:r>
            <a:r>
              <a:rPr lang="en-US" altLang="zh-CN" sz="2000" dirty="0"/>
              <a:t>Query-Verifier </a:t>
            </a:r>
            <a:r>
              <a:rPr lang="zh-CN" altLang="en-US" sz="2000" dirty="0"/>
              <a:t>对上进行大规模强化学习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模型会针对某个 </a:t>
            </a:r>
            <a:r>
              <a:rPr lang="en-US" altLang="zh-CN" sz="2000" dirty="0"/>
              <a:t>Query </a:t>
            </a:r>
            <a:r>
              <a:rPr lang="zh-CN" altLang="en-US" sz="2000" dirty="0"/>
              <a:t>尝试生成多种解法，而 </a:t>
            </a:r>
            <a:r>
              <a:rPr lang="en-US" altLang="zh-CN" sz="2000" dirty="0"/>
              <a:t>Verifier </a:t>
            </a:r>
            <a:r>
              <a:rPr lang="zh-CN" altLang="en-US" sz="2000" dirty="0"/>
              <a:t>会自动对这些解法进行对错裁决，给出明确的对</a:t>
            </a:r>
            <a:r>
              <a:rPr lang="en-US" altLang="zh-CN" sz="2000" dirty="0"/>
              <a:t>/</a:t>
            </a:r>
            <a:r>
              <a:rPr lang="zh-CN" altLang="en-US" sz="2000" dirty="0"/>
              <a:t>错奖励信号，从而引导模型学会正确的推理路径</a:t>
            </a:r>
            <a:endParaRPr lang="en-US" altLang="zh-CN" sz="2000" dirty="0"/>
          </a:p>
        </p:txBody>
      </p:sp>
      <p:grpSp>
        <p:nvGrpSpPr>
          <p:cNvPr id="3" name="组合 2"/>
          <p:cNvGrpSpPr/>
          <p:nvPr/>
        </p:nvGrpSpPr>
        <p:grpSpPr>
          <a:xfrm>
            <a:off x="2209800" y="3896951"/>
            <a:ext cx="7265455" cy="2877229"/>
            <a:chOff x="2209800" y="3896951"/>
            <a:chExt cx="7265455" cy="28772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3896951"/>
              <a:ext cx="7265455" cy="2877229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5683250" y="4032250"/>
              <a:ext cx="1727200" cy="730250"/>
            </a:xfrm>
            <a:prstGeom prst="rect">
              <a:avLst/>
            </a:prstGeom>
            <a:noFill/>
            <a:ln w="28575" cap="flat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875" y="93952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 Post-training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7350" y="1181100"/>
            <a:ext cx="10617200" cy="37394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Stage3</a:t>
            </a: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Thinking Mode Fusion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阶段是将目标是将“非思维”能力融入到之前开发的“思维”模型中，即在同一模型中融合思考与非思考能力，免去了在不同应用场景之间切换不同模型的麻烦，大幅降低了维护多套独立模型的复杂度和经济成本</a:t>
            </a:r>
            <a:endParaRPr lang="en-US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 </a:t>
            </a: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SFT </a:t>
            </a: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lang="en-US" altLang="zh-CN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数据集融合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Thinking Data 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Non-Thinking Data 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这两部分</a:t>
            </a:r>
            <a:endParaRPr lang="en-US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Thinking Data—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 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训练好的模型自身，对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 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的原始复杂查询进行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Rejection Sampling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生成的</a:t>
            </a:r>
            <a:endParaRPr lang="en-US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Non-Thinking Data—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这部分数据经过精心策划，覆盖了极其广泛的常规任务，为了确保非思考回答的质量，团队使用了自动生成的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Checklists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来评估回复质量</a:t>
            </a:r>
            <a:endParaRPr lang="en-US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Chat Template Design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20" y="4591050"/>
            <a:ext cx="5388329" cy="2172998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369053" y="4102100"/>
            <a:ext cx="5556250" cy="184665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Thinking Budget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当模型的思考长度达到用户定义的阈值时，我们手动停止思考过程，并插入停止思考指令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“Considering the limited time by the user, I have to give the solution based on the thinking directly now.\n&lt;/think&gt;.\n\n”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 Post-training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384175" y="3899563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9725" y="120459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175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模式选择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9725" y="169989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9725" y="189992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75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非思考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9725" y="232854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0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 dirty="0" err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适合简短问答、改写与格式转换，强调快速响应</a:t>
            </a:r>
            <a:endParaRPr sz="1800" b="0" dirty="0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9725" y="2718463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75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 dirty="0" err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思考</a:t>
            </a:r>
            <a:endParaRPr sz="1875" b="1" dirty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9725" y="3223288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0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 dirty="0" err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适合数学、代码和多步决策，允许生成中间推理</a:t>
            </a:r>
            <a:endParaRPr sz="1800" b="0" dirty="0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07125" y="120459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175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预算选择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07125" y="169989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207125" y="189992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75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 dirty="0" err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预算较小</a:t>
            </a:r>
            <a:endParaRPr sz="1875" b="1" dirty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07125" y="232854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0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 dirty="0" err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响应更快，但复杂任务可能没有足够计算完成验证</a:t>
            </a:r>
            <a:endParaRPr sz="1800" b="0" dirty="0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07125" y="2718463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75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 dirty="0" err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预算较大</a:t>
            </a:r>
            <a:endParaRPr sz="1875" b="1" dirty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43625" y="3204238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0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 dirty="0" err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可能提高困难任务表现，同时增加</a:t>
            </a:r>
            <a:r>
              <a:rPr sz="1800" b="0" dirty="0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800" b="0" dirty="0" err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token、等待时间和成本</a:t>
            </a:r>
            <a:endParaRPr sz="1800" b="0" dirty="0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7" y="3935136"/>
            <a:ext cx="4511923" cy="2818217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4781550" y="4175181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25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 dirty="0" err="1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</a:t>
            </a:r>
            <a:r>
              <a:rPr sz="1725" b="0" dirty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Qwen3-235B-A22B，比较 1K–32K </a:t>
            </a:r>
            <a:r>
              <a:rPr sz="1725" b="0" dirty="0" err="1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思考</a:t>
            </a:r>
            <a:r>
              <a:rPr sz="1725" b="0" dirty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sz="1725" b="0" dirty="0" err="1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预算</a:t>
            </a:r>
            <a:endParaRPr sz="1725" b="0" dirty="0">
              <a:solidFill>
                <a:srgbClr val="5361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内容占位符 5"/>
          <p:cNvSpPr txBox="1"/>
          <p:nvPr/>
        </p:nvSpPr>
        <p:spPr>
          <a:xfrm>
            <a:off x="4781550" y="4852726"/>
            <a:ext cx="4488815" cy="33064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2pPr>
            <a:lvl3pPr marL="1234440" marR="0" indent="-32004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/>
              <a:t>思考模式全面碾压非思考模式</a:t>
            </a:r>
            <a:endParaRPr lang="en-US" altLang="zh-CN" sz="18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/>
              <a:t>平滑且显著的“规模效应”</a:t>
            </a:r>
            <a:endParaRPr kumimoji="1" lang="en-US" altLang="zh-CN" sz="18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 Post-training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4351655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Stage4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General RL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目的：强化 </a:t>
            </a:r>
            <a:r>
              <a:rPr lang="en-US" altLang="zh-CN" sz="2000" dirty="0"/>
              <a:t>5 </a:t>
            </a:r>
            <a:r>
              <a:rPr lang="zh-CN" altLang="en-US" sz="2000" dirty="0"/>
              <a:t>项核心能力 </a:t>
            </a:r>
            <a:r>
              <a:rPr lang="en-US" altLang="zh-CN" sz="2000" dirty="0"/>
              <a:t>— </a:t>
            </a:r>
            <a:r>
              <a:rPr lang="zh-CN" altLang="en-US" sz="2000" dirty="0"/>
              <a:t>指令遵循、格式遵循、偏好对齐、智能体能力、专业场景能力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Reward </a:t>
            </a:r>
            <a:r>
              <a:rPr lang="zh-CN" altLang="en-US" sz="2000" dirty="0"/>
              <a:t>设计：基于规则的奖励、带参考答案的基于模型奖励、不带参考答案的基于模型奖励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54250" y="3474069"/>
            <a:ext cx="7265455" cy="2877229"/>
            <a:chOff x="2209800" y="3896951"/>
            <a:chExt cx="7265455" cy="28772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3896951"/>
              <a:ext cx="7265455" cy="2877229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5683250" y="4836767"/>
              <a:ext cx="1727200" cy="730250"/>
            </a:xfrm>
            <a:prstGeom prst="rect">
              <a:avLst/>
            </a:prstGeom>
            <a:noFill/>
            <a:ln w="28575" cap="flat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 Post-training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156073"/>
            <a:ext cx="12092940" cy="435165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Strong-to-Weak Distillation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/>
              <a:t>大模型会作为“教师”，通过从强到弱</a:t>
            </a:r>
            <a:r>
              <a:rPr lang="zh-CN" altLang="en-US" sz="2000" b="1" dirty="0"/>
              <a:t>蒸馏技术</a:t>
            </a:r>
            <a:r>
              <a:rPr lang="zh-CN" altLang="en-US" sz="2000" dirty="0"/>
              <a:t>，将复杂的推理能力和双模式切换（思考</a:t>
            </a:r>
            <a:r>
              <a:rPr lang="en-US" altLang="zh-CN" sz="2000" dirty="0"/>
              <a:t>/</a:t>
            </a:r>
            <a:r>
              <a:rPr lang="zh-CN" altLang="en-US" sz="2000" dirty="0"/>
              <a:t>非思考）能力直接迁移给小模型</a:t>
            </a:r>
            <a:endParaRPr lang="en-US" altLang="zh-CN" sz="20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2091384" y="1954981"/>
            <a:ext cx="4795793" cy="780924"/>
            <a:chOff x="2733031" y="1934372"/>
            <a:chExt cx="4795793" cy="780924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2733031" y="1934373"/>
            <a:ext cx="3330778" cy="7467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Equation" r:id="rId4" imgW="2052320" imgH="466725" progId="Equation.DSMT4">
                    <p:embed/>
                  </p:oleObj>
                </mc:Choice>
                <mc:Fallback>
                  <p:oleObj name="Equation" r:id="rId4" imgW="2052320" imgH="466725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733031" y="1934373"/>
                          <a:ext cx="3330778" cy="7467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箭头: 左弧形 12"/>
            <p:cNvSpPr/>
            <p:nvPr/>
          </p:nvSpPr>
          <p:spPr>
            <a:xfrm rot="10800000">
              <a:off x="7162848" y="1934372"/>
              <a:ext cx="222202" cy="759851"/>
            </a:xfrm>
            <a:prstGeom prst="curvedRightArrow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6144895" y="2105051"/>
              <a:ext cx="345199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6161279" y="2484712"/>
              <a:ext cx="312429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8" name="文本框 17"/>
            <p:cNvSpPr txBox="1"/>
            <p:nvPr/>
          </p:nvSpPr>
          <p:spPr>
            <a:xfrm>
              <a:off x="6630675" y="2407519"/>
              <a:ext cx="891957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2000" dirty="0">
                  <a:solidFill>
                    <a:srgbClr val="0454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学生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636867" y="1956280"/>
              <a:ext cx="891957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2000" dirty="0">
                  <a:solidFill>
                    <a:srgbClr val="0454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</a:t>
              </a: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98289" y="2586040"/>
            <a:ext cx="4885855" cy="152349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Off-policy Distillation</a:t>
            </a:r>
            <a:r>
              <a:rPr kumimoji="1" lang="zh-CN" altLang="en-US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：结合教师模型在 </a:t>
            </a:r>
            <a:r>
              <a:rPr kumimoji="1" lang="en-US" altLang="zh-CN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/think </a:t>
            </a:r>
            <a:r>
              <a:rPr kumimoji="1" lang="zh-CN" altLang="en-US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kumimoji="1" lang="en-US" altLang="zh-CN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/non-think </a:t>
            </a:r>
            <a:r>
              <a:rPr kumimoji="1" lang="zh-CN" altLang="en-US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模式下生成的输出，让学生模型打下基础推理和模式切换的底子</a:t>
            </a:r>
            <a:endParaRPr kumimoji="1" lang="en-US" altLang="zh-CN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21201" y="2565457"/>
            <a:ext cx="5108608" cy="12464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1" lang="en-US" altLang="zh-CN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On-policy Distillation</a:t>
            </a:r>
            <a:r>
              <a:rPr kumimoji="1" lang="zh-CN" altLang="en-US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：让学生模型自己生成序列，并将其 </a:t>
            </a:r>
            <a:r>
              <a:rPr kumimoji="1" lang="en-US" altLang="zh-CN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Logits </a:t>
            </a:r>
            <a:r>
              <a:rPr kumimoji="1" lang="zh-CN" altLang="en-US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与教师模型对齐即最小化 </a:t>
            </a:r>
            <a:r>
              <a:rPr kumimoji="1" lang="en-US" altLang="zh-CN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KL </a:t>
            </a:r>
            <a:r>
              <a:rPr kumimoji="1" lang="zh-CN" altLang="en-US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散度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973" y="3874578"/>
            <a:ext cx="5082754" cy="2446751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302" y="3774443"/>
            <a:ext cx="6206444" cy="296615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Qwen3-Next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500405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为了提升模型在长上下文和大规模总参数下的训练和推理效率，设计了全新的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Qwen3-Next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的模型结构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该结构相比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</a:t>
            </a:r>
            <a:r>
              <a:rPr kumimoji="1" lang="en-US" altLang="zh-CN" sz="2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MoE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模型结构，进行了以下核心改进：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基于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Qwen3-Next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的模型结构，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团队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训练了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Qwen3-Next-80B-A3B-Base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模型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该模型拥有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800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亿参数仅激活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30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亿参数，实现了与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Qwen3-32B Dense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模型相近甚至略好的性能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它的训练成本（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GPU hours)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仅为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Qwen3-32B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的十分之一不到，在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32k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以上的上下文下的推理吞吐则是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Qwen3-32B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的十倍以上，实现了极致的训练和推理性价比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892" y="187706"/>
            <a:ext cx="3850258" cy="158013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44895" y="2700595"/>
            <a:ext cx="4324350" cy="145680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28600" indent="-228600" hangingPunct="1">
              <a:lnSpc>
                <a:spcPct val="15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ü"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一系列训练稳定友好的优化</a:t>
            </a:r>
            <a:endParaRPr kumimoji="1" lang="en-US" altLang="zh-CN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28600" indent="-228600" hangingPunct="1">
              <a:lnSpc>
                <a:spcPct val="15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ü"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提升推理效率的多 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token </a:t>
            </a: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预测机制</a:t>
            </a:r>
            <a:endParaRPr kumimoji="1" lang="en-US" altLang="zh-CN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22755" y="2806006"/>
            <a:ext cx="4140200" cy="145680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28600" indent="-228600" hangingPunct="1">
              <a:lnSpc>
                <a:spcPct val="15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ü"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混合注意力机制</a:t>
            </a:r>
            <a:endParaRPr kumimoji="1" lang="en-US" altLang="zh-CN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28600" indent="-228600" hangingPunct="1">
              <a:lnSpc>
                <a:spcPct val="15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ü"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高稀疏度 </a:t>
            </a:r>
            <a:r>
              <a:rPr kumimoji="1" lang="en-US" altLang="zh-CN" sz="2000" b="1" dirty="0" err="1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MoE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结构</a:t>
            </a:r>
            <a:endParaRPr kumimoji="1" lang="en-US" altLang="zh-CN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Qwen3-Next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-Architecture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3368" y="83820"/>
            <a:ext cx="2117444" cy="1419516"/>
          </a:xfrm>
          <a:prstGeom prst="rect">
            <a:avLst/>
          </a:prstGeom>
        </p:spPr>
      </p:pic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25" y="3014142"/>
            <a:ext cx="6416382" cy="3204302"/>
          </a:xfrm>
        </p:spPr>
      </p:pic>
      <p:sp>
        <p:nvSpPr>
          <p:cNvPr id="10" name="文本框 9"/>
          <p:cNvSpPr txBox="1"/>
          <p:nvPr/>
        </p:nvSpPr>
        <p:spPr>
          <a:xfrm>
            <a:off x="98425" y="1277605"/>
            <a:ext cx="617855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1" lang="zh-CN" altLang="en-US" sz="18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混合注意力机制原理</a:t>
            </a:r>
            <a:endParaRPr kumimoji="1" lang="en-US" altLang="zh-CN" sz="18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kumimoji="1" lang="en-US" altLang="zh-CN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kumimoji="1" lang="en-US" altLang="zh-CN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Gated Delta Rule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590813" y="1604801"/>
          <a:ext cx="3581025" cy="493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" name="Equation" r:id="rId5" imgW="1760855" imgH="248285" progId="Equation.DSMT4">
                  <p:embed/>
                </p:oleObj>
              </mc:Choice>
              <mc:Fallback>
                <p:oleObj name="Equation" r:id="rId5" imgW="1760855" imgH="248285" progId="Equation.DSMT4">
                  <p:embed/>
                  <p:pic>
                    <p:nvPicPr>
                      <p:cNvPr id="0" name="图片 62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90813" y="1604801"/>
                        <a:ext cx="3581025" cy="4931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8520963" y="574881"/>
            <a:ext cx="139700" cy="711496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文本框 13"/>
          <p:cNvSpPr txBox="1"/>
          <p:nvPr/>
        </p:nvSpPr>
        <p:spPr>
          <a:xfrm>
            <a:off x="7765313" y="217892"/>
            <a:ext cx="1933357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kumimoji="1" lang="zh-CN" altLang="en-US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记忆更新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771518" y="2097967"/>
            <a:ext cx="6178214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将一对新的知识           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zh-CN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存入记忆矩阵的标准方法是计算它们的外积</a:t>
            </a:r>
          </a:p>
          <a:p>
            <a:r>
              <a:rPr kumimoji="1" lang="zh-CN" altLang="en-US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243021" y="2077863"/>
          <a:ext cx="977940" cy="519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" name="Equation" r:id="rId7" imgW="437515" imgH="233680" progId="Equation.DSMT4">
                  <p:embed/>
                </p:oleObj>
              </mc:Choice>
              <mc:Fallback>
                <p:oleObj name="Equation" r:id="rId7" imgW="437515" imgH="233680" progId="Equation.DSMT4">
                  <p:embed/>
                  <p:pic>
                    <p:nvPicPr>
                      <p:cNvPr id="0" name="图片 624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43021" y="2077863"/>
                        <a:ext cx="977940" cy="5191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986769" y="2886238"/>
          <a:ext cx="1108744" cy="50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3" name="Equation" r:id="rId9" imgW="539750" imgH="248285" progId="Equation.DSMT4">
                  <p:embed/>
                </p:oleObj>
              </mc:Choice>
              <mc:Fallback>
                <p:oleObj name="Equation" r:id="rId9" imgW="539750" imgH="248285" progId="Equation.DSMT4">
                  <p:embed/>
                  <p:pic>
                    <p:nvPicPr>
                      <p:cNvPr id="0" name="图片 624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86769" y="2886238"/>
                        <a:ext cx="1108744" cy="501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683291" y="2895033"/>
          <a:ext cx="3102887" cy="499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" name="Equation" r:id="rId11" imgW="1507490" imgH="248285" progId="Equation.DSMT4">
                  <p:embed/>
                </p:oleObj>
              </mc:Choice>
              <mc:Fallback>
                <p:oleObj name="Equation" r:id="rId11" imgW="1507490" imgH="248285" progId="Equation.DSMT4">
                  <p:embed/>
                  <p:pic>
                    <p:nvPicPr>
                      <p:cNvPr id="0" name="图片 624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83291" y="2895033"/>
                        <a:ext cx="3102887" cy="499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367758" y="3749115"/>
          <a:ext cx="2025041" cy="499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" name="Equation" r:id="rId13" imgW="987425" imgH="248285" progId="Equation.DSMT4">
                  <p:embed/>
                </p:oleObj>
              </mc:Choice>
              <mc:Fallback>
                <p:oleObj name="Equation" r:id="rId13" imgW="987425" imgH="248285" progId="Equation.DSMT4">
                  <p:embed/>
                  <p:pic>
                    <p:nvPicPr>
                      <p:cNvPr id="0" name="图片 624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67758" y="3749115"/>
                        <a:ext cx="2025041" cy="499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6771518" y="3381917"/>
            <a:ext cx="6743700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消除旧知识在当前键方向上的投影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783560" y="4277739"/>
            <a:ext cx="7026274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将擦除与写入合并</a:t>
            </a: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986769" y="4745341"/>
          <a:ext cx="3347787" cy="42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6" name="Equation" r:id="rId15" imgW="1916430" imgH="248285" progId="Equation.DSMT4">
                  <p:embed/>
                </p:oleObj>
              </mc:Choice>
              <mc:Fallback>
                <p:oleObj name="Equation" r:id="rId15" imgW="1916430" imgH="248285" progId="Equation.DSMT4">
                  <p:embed/>
                  <p:pic>
                    <p:nvPicPr>
                      <p:cNvPr id="0" name="图片 624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86769" y="4745341"/>
                        <a:ext cx="3347787" cy="42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6016594" y="1101941"/>
            <a:ext cx="242426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Gated Delta Rule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721107" y="5382168"/>
            <a:ext cx="896196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Gated Delta Rule</a:t>
            </a:r>
            <a:endParaRPr kumimoji="1" lang="zh-CN" altLang="en-US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762497" y="5826719"/>
          <a:ext cx="4945053" cy="598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" name="Equation" r:id="rId17" imgW="2004060" imgH="248285" progId="Equation.DSMT4">
                  <p:embed/>
                </p:oleObj>
              </mc:Choice>
              <mc:Fallback>
                <p:oleObj name="Equation" r:id="rId17" imgW="2004060" imgH="248285" progId="Equation.DSMT4">
                  <p:embed/>
                  <p:pic>
                    <p:nvPicPr>
                      <p:cNvPr id="0" name="图片 625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62497" y="5826719"/>
                        <a:ext cx="4945053" cy="5985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思想气泡: 云 34"/>
          <p:cNvSpPr/>
          <p:nvPr/>
        </p:nvSpPr>
        <p:spPr>
          <a:xfrm>
            <a:off x="3652261" y="1077711"/>
            <a:ext cx="2151255" cy="1808527"/>
          </a:xfrm>
          <a:prstGeom prst="cloudCallou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32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942270" y="1646976"/>
            <a:ext cx="2345247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Memory</a:t>
            </a:r>
            <a:endParaRPr kumimoji="1" lang="zh-CN" altLang="en-US" sz="28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Qwen3-Next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-Architecture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202690"/>
            <a:ext cx="5556250" cy="538226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kumimoji="1" lang="zh-CN" altLang="en-US" sz="18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异构堆叠策略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：模型在宏观上摒弃了单一的同质化层，采用每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4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层为一个周期的混合配比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kumimoji="1" lang="zh-CN" altLang="en-US" sz="18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基础处理模块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：连续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3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层采用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Gated </a:t>
            </a:r>
            <a:r>
              <a:rPr kumimoji="1" lang="en-US" altLang="zh-CN" sz="18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DeltaNet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进行序列混合，随后接入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  <a:r>
              <a:rPr kumimoji="1" lang="en-US" altLang="zh-CN" sz="18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MoE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  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kumimoji="1" lang="zh-CN" altLang="en-US" sz="18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高精度模块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：第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4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层切换为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Gated Attention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进行序列混合，同样接入 </a:t>
            </a:r>
            <a:r>
              <a:rPr kumimoji="1" lang="en-US" altLang="zh-CN" sz="18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MoE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  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kumimoji="1" lang="zh-CN" altLang="en-US" sz="18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全局稳定组件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：在进入每一个核心计算模块和 </a:t>
            </a:r>
            <a:r>
              <a:rPr kumimoji="1" lang="en-US" altLang="zh-CN" sz="18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MoE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模块之前，均采用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Zero-Centered </a:t>
            </a:r>
            <a:r>
              <a:rPr kumimoji="1" lang="en-US" altLang="zh-CN" sz="18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RMSNorm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进行归一化，并全局保留了残差连接以保障深层网络梯度流的健康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275" y="1460955"/>
            <a:ext cx="5137199" cy="5364796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690544" y="166370"/>
          <a:ext cx="2541587" cy="1377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5" imgW="1750695" imgH="948690" progId="Equation.DSMT4">
                  <p:embed/>
                </p:oleObj>
              </mc:Choice>
              <mc:Fallback>
                <p:oleObj name="Equation" r:id="rId5" imgW="1750695" imgH="948690" progId="Equation.DSMT4">
                  <p:embed/>
                  <p:pic>
                    <p:nvPicPr>
                      <p:cNvPr id="0" name="图片 81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90544" y="166370"/>
                        <a:ext cx="2541587" cy="13771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Qwen3-VL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510794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定位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：</a:t>
            </a:r>
            <a:r>
              <a:rPr kumimoji="1" lang="en-US" altLang="zh-CN" sz="2000" dirty="0" err="1">
                <a:solidFill>
                  <a:srgbClr val="045499"/>
                </a:solidFill>
                <a:cs typeface="Times New Roman" panose="02020603050405020304" pitchFamily="18" charset="0"/>
              </a:rPr>
              <a:t>Qwen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系列的视觉语言模型，多模态基准全面领先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上下文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：原生支持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256K tokens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，无缝整合文本、图像与视频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版本矩阵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Dense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：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2B / 4B / 8B / 32B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kumimoji="1" lang="en-US" altLang="zh-CN" sz="2000" dirty="0" err="1">
                <a:solidFill>
                  <a:srgbClr val="045499"/>
                </a:solidFill>
                <a:cs typeface="Times New Roman" panose="02020603050405020304" pitchFamily="18" charset="0"/>
              </a:rPr>
              <a:t>MoE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：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30B-A3B / 235B-A22B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覆盖不同延迟与质量权衡需求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endParaRPr kumimoji="1" lang="zh-CN" altLang="en-US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纯文本理解显著增强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——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部分场景超越同规模纯文本主干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长上下文稳健理解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——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原生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256K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窗口，支持长文档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/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视频的忠实保留、检索与交叉引用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高级多模态推理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——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单图、多图、视频任务全面领先</a:t>
            </a:r>
          </a:p>
          <a:p>
            <a:pPr marL="0" indent="0"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436" y="2287270"/>
            <a:ext cx="2693139" cy="26390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731" y="235580"/>
            <a:ext cx="2608038" cy="251524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Qwen3-VL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-Architecture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585109" y="1714326"/>
            <a:ext cx="4790606" cy="412679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增强交错 </a:t>
            </a:r>
            <a:r>
              <a:rPr kumimoji="1" lang="en-US" altLang="zh-CN" sz="2000" b="1" dirty="0" err="1">
                <a:solidFill>
                  <a:srgbClr val="045499"/>
                </a:solidFill>
                <a:cs typeface="Times New Roman" panose="02020603050405020304" pitchFamily="18" charset="0"/>
              </a:rPr>
              <a:t>MRoPE</a:t>
            </a: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endParaRPr kumimoji="1" lang="en-US" altLang="zh-CN" sz="2000" b="1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强化图像与视频的时空建模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b="1" dirty="0" err="1">
                <a:solidFill>
                  <a:srgbClr val="045499"/>
                </a:solidFill>
                <a:cs typeface="Times New Roman" panose="02020603050405020304" pitchFamily="18" charset="0"/>
              </a:rPr>
              <a:t>DeepStack</a:t>
            </a: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集成</a:t>
            </a:r>
            <a:endParaRPr kumimoji="1" lang="en-US" altLang="zh-CN" sz="2000" b="1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利用多层级 </a:t>
            </a:r>
            <a:r>
              <a:rPr kumimoji="1" lang="en-US" altLang="zh-CN" sz="2000" dirty="0" err="1">
                <a:solidFill>
                  <a:srgbClr val="045499"/>
                </a:solidFill>
                <a:cs typeface="Times New Roman" panose="02020603050405020304" pitchFamily="18" charset="0"/>
              </a:rPr>
              <a:t>ViT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特征，收紧视觉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-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语言对齐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基于文本的时间对齐</a:t>
            </a:r>
            <a:endParaRPr kumimoji="1" lang="en-US" altLang="zh-CN" sz="2000" b="1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 sz="1575" b="0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显式标记视频时刻，帮助定位与跨片段理解</a:t>
            </a:r>
          </a:p>
          <a:p>
            <a:pPr marL="0" indent="0"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3087" y="1419515"/>
            <a:ext cx="8248650" cy="412679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585109" y="2904067"/>
            <a:ext cx="4606392" cy="108373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dashDot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7926" y="5042444"/>
            <a:ext cx="11916274" cy="17317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7926" y="2822484"/>
            <a:ext cx="11995014" cy="21236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7926" y="1238925"/>
            <a:ext cx="7467600" cy="14954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dirty="0" err="1">
                <a:solidFill>
                  <a:srgbClr val="045499"/>
                </a:solidFill>
                <a:cs typeface="Times New Roman" panose="02020603050405020304" pitchFamily="18" charset="0"/>
              </a:rPr>
              <a:t>DeepStack</a:t>
            </a:r>
            <a:r>
              <a:rPr kumimoji="1" lang="en-US" altLang="zh-CN" sz="4000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sz="4000" dirty="0">
                <a:solidFill>
                  <a:srgbClr val="045499"/>
                </a:solidFill>
                <a:cs typeface="Times New Roman" panose="02020603050405020304" pitchFamily="18" charset="0"/>
              </a:rPr>
              <a:t>机制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9060" y="2822484"/>
            <a:ext cx="12092940" cy="22199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传统：图片 → </a:t>
            </a:r>
            <a:r>
              <a:rPr lang="en-US" altLang="zh-CN" sz="2000" dirty="0" err="1"/>
              <a:t>ViT</a:t>
            </a:r>
            <a:r>
              <a:rPr lang="en-US" altLang="zh-CN" sz="2000" dirty="0"/>
              <a:t> → </a:t>
            </a:r>
            <a:r>
              <a:rPr lang="zh-CN" altLang="en-US" sz="2000" dirty="0"/>
              <a:t>最后一层视觉特征 → </a:t>
            </a:r>
            <a:r>
              <a:rPr lang="en-US" altLang="zh-CN" sz="2000" dirty="0"/>
              <a:t>Merger → LLM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如果只把视觉编码器最后一层的结果交给语言模型，模型可能得到较强的语义信息，却损失局部纹理、文字细节和空间结构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/>
              <a:t>改进：图片 → </a:t>
            </a:r>
            <a:r>
              <a:rPr lang="en-US" altLang="zh-CN" sz="2000" b="1" dirty="0" err="1"/>
              <a:t>ViT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多个中间层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高层特征 → 多个 </a:t>
            </a:r>
            <a:r>
              <a:rPr lang="en-US" altLang="zh-CN" sz="2000" b="1" dirty="0"/>
              <a:t>Merger → LLM </a:t>
            </a:r>
            <a:r>
              <a:rPr lang="zh-CN" altLang="en-US" sz="2000" b="1" dirty="0"/>
              <a:t>多层</a:t>
            </a: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150" y="244345"/>
            <a:ext cx="4514850" cy="206016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2100" y="6146800"/>
            <a:ext cx="9848850" cy="20066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97926" y="1224773"/>
            <a:ext cx="8235950" cy="1841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Vision Encoder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负责把图像或视频帧转换成视觉特征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Vision–Language Merger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把视觉特征映射到 LLM 隐藏维度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LLM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负责文本理解、推理与生成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926" y="4988669"/>
            <a:ext cx="6216650" cy="212365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DeepStack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从 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Vision Transformer 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的多个层级抽取视觉特征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为不同层级配置专用的 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Vision–Language Merger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将得到的视觉 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注入 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的对应层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2" name="箭头: 右弧形 11"/>
          <p:cNvSpPr/>
          <p:nvPr/>
        </p:nvSpPr>
        <p:spPr>
          <a:xfrm>
            <a:off x="7842250" y="2908300"/>
            <a:ext cx="609600" cy="609600"/>
          </a:xfrm>
          <a:prstGeom prst="curvedLeft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3" name="箭头: 右弧形 12"/>
          <p:cNvSpPr/>
          <p:nvPr/>
        </p:nvSpPr>
        <p:spPr>
          <a:xfrm>
            <a:off x="7842250" y="4023903"/>
            <a:ext cx="609600" cy="609600"/>
          </a:xfrm>
          <a:prstGeom prst="curvedLeft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45250" y="5356227"/>
            <a:ext cx="4362450" cy="110799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采用轻量级残差连接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不额外增加上下文中的视觉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270750" y="5031958"/>
          <a:ext cx="4498207" cy="434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Equation" r:id="rId4" imgW="2383155" imgH="233680" progId="Equation.DSMT4">
                  <p:embed/>
                </p:oleObj>
              </mc:Choice>
              <mc:Fallback>
                <p:oleObj name="Equation" r:id="rId4" imgW="2383155" imgH="233680" progId="Equation.DSMT4">
                  <p:embed/>
                  <p:pic>
                    <p:nvPicPr>
                      <p:cNvPr id="0" name="图片 1332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70750" y="5031958"/>
                        <a:ext cx="4498207" cy="434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dirty="0" err="1">
                <a:solidFill>
                  <a:srgbClr val="045499"/>
                </a:solidFill>
                <a:cs typeface="Times New Roman" panose="02020603050405020304" pitchFamily="18" charset="0"/>
              </a:rPr>
              <a:t>DeepStack</a:t>
            </a:r>
            <a:r>
              <a:rPr kumimoji="1" lang="en-US" altLang="zh-CN" sz="4000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sz="4000" dirty="0">
                <a:solidFill>
                  <a:srgbClr val="045499"/>
                </a:solidFill>
                <a:cs typeface="Times New Roman" panose="02020603050405020304" pitchFamily="18" charset="0"/>
              </a:rPr>
              <a:t>机制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7" name="内容占位符 6"/>
          <p:cNvSpPr txBox="1">
            <a:spLocks noGrp="1"/>
          </p:cNvSpPr>
          <p:nvPr>
            <p:ph idx="1"/>
          </p:nvPr>
        </p:nvSpPr>
        <p:spPr>
          <a:xfrm>
            <a:off x="2886075" y="1433169"/>
            <a:ext cx="12093575" cy="9305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1400" dirty="0"/>
              <a:t>ViT Layer k1 ──&gt; Merger 1 ──&gt; Visual Tokens ──&gt; LLM Layer 1</a:t>
            </a:r>
          </a:p>
          <a:p>
            <a:r>
              <a:rPr lang="zh-CN" altLang="en-US" sz="1400" dirty="0"/>
              <a:t>ViT Layer k2 ──&gt; Merger 2 ──&gt; Visual Tokens ──&gt; LLM Layer 2</a:t>
            </a:r>
          </a:p>
          <a:p>
            <a:r>
              <a:rPr lang="zh-CN" altLang="en-US" sz="1400" dirty="0"/>
              <a:t>ViT Layer k3 ──&gt; Merger 3 ──&gt; Visual Tokens ──&gt; LLM Layer 3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53" y="2580424"/>
            <a:ext cx="6443846" cy="287171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5" y="5395903"/>
            <a:ext cx="12192000" cy="14620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999" y="2498616"/>
            <a:ext cx="4829175" cy="303533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Qwen3-VL 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Pre-training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681345" y="2667221"/>
            <a:ext cx="5184140" cy="320622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阶段 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3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Ultra-Long-Context Adaptation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专门用于将模型的上下文窗口推向极限，重点针对长视频和长文档的理解任务进行训练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59" y="4835707"/>
            <a:ext cx="10001932" cy="193847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8425" y="968237"/>
            <a:ext cx="5400675" cy="16414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hangingPunct="1">
              <a:lnSpc>
                <a:spcPct val="150000"/>
              </a:lnSpc>
              <a:spcBef>
                <a:spcPts val="1000"/>
              </a:spcBef>
              <a:buSzPct val="100000"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 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Vision-Language Alignment</a:t>
            </a:r>
          </a:p>
          <a:p>
            <a:pPr hangingPunct="1">
              <a:lnSpc>
                <a:spcPct val="150000"/>
              </a:lnSpc>
              <a:spcBef>
                <a:spcPts val="1000"/>
              </a:spcBef>
              <a:buSzPct val="100000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此阶段冻结了视觉编码器和大型语言模型骨干，仅训练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MLP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Merger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81345" y="1007004"/>
            <a:ext cx="5184140" cy="11798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hangingPunct="1">
              <a:lnSpc>
                <a:spcPct val="150000"/>
              </a:lnSpc>
              <a:spcBef>
                <a:spcPts val="1000"/>
              </a:spcBef>
              <a:buSzPct val="100000"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 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Multimodal Pre-Training </a:t>
            </a:r>
          </a:p>
          <a:p>
            <a:pPr hangingPunct="1">
              <a:lnSpc>
                <a:spcPct val="150000"/>
              </a:lnSpc>
              <a:spcBef>
                <a:spcPts val="1000"/>
              </a:spcBef>
              <a:buSzPct val="100000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全参数解冻进行端到端联合训练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8425" y="2592565"/>
            <a:ext cx="5582920" cy="23801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hangingPunct="1">
              <a:lnSpc>
                <a:spcPct val="150000"/>
              </a:lnSpc>
              <a:spcBef>
                <a:spcPts val="1000"/>
              </a:spcBef>
              <a:buSzPct val="100000"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 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Long-Context Pre-Training </a:t>
            </a:r>
          </a:p>
          <a:p>
            <a:pPr hangingPunct="1">
              <a:lnSpc>
                <a:spcPct val="150000"/>
              </a:lnSpc>
              <a:spcBef>
                <a:spcPts val="1000"/>
              </a:spcBef>
              <a:buSzPct val="100000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维持全参数训练，增加纯文本数据以增强长文本理解，同时在多模态数据中引入更多视频和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Agent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导向的指令遵循数据 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Qwen3-VL 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Post-training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9530" y="1255066"/>
            <a:ext cx="12092940" cy="8155634"/>
          </a:xfrm>
        </p:spPr>
        <p:txBody>
          <a:bodyPr>
            <a:normAutofit/>
          </a:bodyPr>
          <a:lstStyle/>
          <a:p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Supervised Fine-Tuning, SFT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首先在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32K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长度下训练一个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epoch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，然后在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256K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长度下混合长短上下文数据进行第二个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epoch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的训练。针对不同模型版本，数据被分为标准格式（用于非思考模型）和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Long-</a:t>
            </a:r>
            <a:r>
              <a:rPr kumimoji="1" lang="en-US" altLang="zh-CN" sz="2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CoT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格式（用于需要显式推理过程的思考模型）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Strong-to-Weak Distillation</a:t>
            </a:r>
          </a:p>
          <a:p>
            <a:pPr marL="0" indent="0"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利用更强大的教师模型通过纯文本数据对轻量级学生模型的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LLM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骨干进行知识蒸馏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RL</a:t>
            </a:r>
          </a:p>
          <a:p>
            <a:pPr marL="0" indent="0">
              <a:buNone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主要分为两个阶段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Reasoning RL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和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General RL</a:t>
            </a:r>
          </a:p>
          <a:p>
            <a:pPr>
              <a:lnSpc>
                <a:spcPct val="100000"/>
              </a:lnSpc>
            </a:pP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Thinking with Images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为强化视觉代理任务（如思考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-&gt;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行动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-&gt;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分析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-&gt;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反馈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-&gt;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回答），后训练集成了多轮工具强化学习。模型在此过程中受到三个维度的奖励驱动：最终答案准确性奖励、评估相干逻辑步骤的多轮推理奖励，以及防止模型恶意刷分（单一调用作弊）的工具调用奖励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4809067"/>
            <a:ext cx="12092940" cy="196511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dashDot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Qwen3.5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4351655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Qwen3.5——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迈向原生多模态智能体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7477" y="83820"/>
            <a:ext cx="2568873" cy="1451370"/>
          </a:xfrm>
          <a:prstGeom prst="rect">
            <a:avLst/>
          </a:prstGeom>
        </p:spPr>
      </p:pic>
      <p:pic>
        <p:nvPicPr>
          <p:cNvPr id="4" name="20260921_14190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1100" y="3177794"/>
            <a:ext cx="5608955" cy="3135343"/>
          </a:xfrm>
          <a:prstGeom prst="rect">
            <a:avLst/>
          </a:prstGeom>
        </p:spPr>
      </p:pic>
      <p:pic>
        <p:nvPicPr>
          <p:cNvPr id="9" name="20260921_14210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167673" y="3177794"/>
            <a:ext cx="5540286" cy="309695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0053" y="2613160"/>
            <a:ext cx="6075947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能够结合多模态做到边思考、边搜索、边调用工具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13550" y="2613160"/>
            <a:ext cx="6260266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在构建网页和设计用户界面等前端任务方面表现出色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2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85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1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Qwen3.5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4351655"/>
          </a:xfrm>
        </p:spPr>
        <p:txBody>
          <a:bodyPr/>
          <a:lstStyle/>
          <a:p>
            <a:pPr marL="0" indent="0"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7" name="20260921_14215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87325" y="2614444"/>
            <a:ext cx="5045075" cy="28201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2803" y="2114419"/>
            <a:ext cx="6075947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可与 </a:t>
            </a:r>
            <a:r>
              <a:rPr kumimoji="1" lang="en-US" altLang="zh-CN" sz="2000" dirty="0" err="1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OpenClaw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集成，驱动编程任务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519724" y="2065844"/>
            <a:ext cx="4902200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en-US" altLang="zh-CN" sz="2000" dirty="0" err="1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8"/>
              </a:rPr>
              <a:t>Qwen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8"/>
              </a:rPr>
              <a:t> Code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支持“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vibe coding”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体验</a:t>
            </a:r>
          </a:p>
        </p:txBody>
      </p:sp>
      <p:pic>
        <p:nvPicPr>
          <p:cNvPr id="9" name="20260921_142242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76697" y="2601427"/>
            <a:ext cx="5388254" cy="301197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7477" y="83820"/>
            <a:ext cx="2568873" cy="145137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1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15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885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 3.5 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Pre-training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9060" y="1173136"/>
            <a:ext cx="12092940" cy="575286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Qwen3.5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在能力、效率与通用性三个维度上推进预训练：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Power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：在更大规模的视觉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-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文本语料上训练，并加强中英文、多语言、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STEM 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与推理数据，采用更严格的过滤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Efficiency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：基于 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Qwen3-Next 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架构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——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更高稀疏度的 </a:t>
            </a:r>
            <a:r>
              <a:rPr kumimoji="1" lang="en-US" altLang="zh-CN" sz="16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MoE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、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Gated </a:t>
            </a:r>
            <a:r>
              <a:rPr kumimoji="1" lang="en-US" altLang="zh-CN" sz="16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DeltaNet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+ Gated Attention 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混合注意力、稳定性优化与多 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token 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预测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Versatility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：通过早期文本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-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视觉融合与扩展的视觉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/STEM/</a:t>
            </a:r>
            <a:r>
              <a:rPr kumimoji="1" lang="zh-CN" altLang="en-US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视频数据实现原生多模态，在相近规模下优于 </a:t>
            </a:r>
            <a:r>
              <a:rPr kumimoji="1" lang="en-US" altLang="zh-CN" sz="16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Qwen3-VL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267" y="3672325"/>
            <a:ext cx="8013816" cy="297092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 3.5 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Post-training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503336"/>
            <a:ext cx="12092940" cy="435165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相对于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系列模型，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Qwen3.5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的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Post-training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性能提升主要来自于我们对各类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RL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任务和环境的全面扩展。更加强调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RL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环境的难度与可泛化性，而非针对特定指标或狭隘类别的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query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进行优化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下图展示了在通用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Agent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能力上，模型效果随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RL Environment scaling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带来的增益。整体性能由各模型在以下基准上的平均排名计算得出：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BFCL-V4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、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VITA-Bench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、</a:t>
            </a:r>
            <a:r>
              <a:rPr kumimoji="1" lang="en-US" altLang="zh-CN" sz="2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DeepPlanning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、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Tool-Decathlon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和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MCP-Mark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33" y="3539836"/>
            <a:ext cx="6543040" cy="346728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 3.5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5191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Data Service</a:t>
            </a:r>
          </a:p>
          <a:p>
            <a:pPr marL="0" indent="0"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     ↓ Dispatch</a:t>
            </a:r>
          </a:p>
          <a:p>
            <a:pPr marL="0" indent="0">
              <a:buNone/>
            </a:pPr>
            <a:r>
              <a:rPr kumimoji="1" lang="en-US" altLang="zh-CN" sz="2000" b="1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Qwen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-Agent</a:t>
            </a:r>
          </a:p>
          <a:p>
            <a:pPr marL="0" indent="0"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     ↓ Tool Call / Context Manager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Rollout</a:t>
            </a:r>
          </a:p>
          <a:p>
            <a:pPr marL="0" indent="0"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     ↓ Experience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Scheduler Buffers</a:t>
            </a:r>
          </a:p>
          <a:p>
            <a:pPr marL="0" indent="0"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     ↓ Form Batch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Replay Queue</a:t>
            </a:r>
          </a:p>
          <a:p>
            <a:pPr marL="0" indent="0"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Trainer</a:t>
            </a:r>
          </a:p>
          <a:p>
            <a:pPr marL="0" indent="0"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     ↓ Updated Actor Parameters</a:t>
            </a:r>
          </a:p>
          <a:p>
            <a:pPr marL="0" indent="0">
              <a:buNone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Rollout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341" y="1493204"/>
            <a:ext cx="7959234" cy="536479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52654" y="592712"/>
            <a:ext cx="5112327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Agent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强化学习的系统工程架构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 3.5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9060" y="1326803"/>
            <a:ext cx="4202776" cy="54473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高效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Rollout </a:t>
            </a:r>
            <a:r>
              <a:rPr lang="zh-CN" altLang="en-US" sz="2000" dirty="0"/>
              <a:t>与 </a:t>
            </a:r>
            <a:r>
              <a:rPr lang="en-US" altLang="zh-CN" sz="2000" dirty="0"/>
              <a:t>Trainer </a:t>
            </a:r>
            <a:r>
              <a:rPr lang="zh-CN" altLang="en-US" sz="2000" dirty="0"/>
              <a:t>并行执行，减少 </a:t>
            </a:r>
            <a:r>
              <a:rPr lang="en-US" altLang="zh-CN" sz="2000" dirty="0"/>
              <a:t>GPU </a:t>
            </a:r>
            <a:r>
              <a:rPr lang="zh-CN" altLang="en-US" sz="2000" dirty="0"/>
              <a:t>等待和空闲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稳定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Replay Queue </a:t>
            </a:r>
            <a:r>
              <a:rPr lang="zh-CN" altLang="en-US" sz="2000" dirty="0"/>
              <a:t>统一管理经验，并通过 </a:t>
            </a:r>
            <a:r>
              <a:rPr lang="en-US" altLang="zh-CN" sz="2000" dirty="0"/>
              <a:t>Reference Model </a:t>
            </a:r>
            <a:r>
              <a:rPr lang="zh-CN" altLang="en-US" sz="2000" dirty="0"/>
              <a:t>和 </a:t>
            </a:r>
            <a:r>
              <a:rPr lang="en-US" altLang="zh-CN" sz="2000" dirty="0"/>
              <a:t>Off-policy </a:t>
            </a:r>
            <a:r>
              <a:rPr lang="zh-CN" altLang="en-US" sz="2000" dirty="0"/>
              <a:t>算法控制策略漂移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可扩展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调度、负载均衡和异步参数同步支持大规模、多任务、多轮 </a:t>
            </a:r>
            <a:r>
              <a:rPr lang="en-US" altLang="zh-CN" sz="2000" dirty="0"/>
              <a:t>Agent </a:t>
            </a:r>
            <a:r>
              <a:rPr lang="zh-CN" altLang="en-US" sz="2000" dirty="0"/>
              <a:t>训练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836" y="1493204"/>
            <a:ext cx="7959234" cy="53647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Summary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4351655"/>
          </a:xfrm>
        </p:spPr>
        <p:txBody>
          <a:bodyPr/>
          <a:lstStyle/>
          <a:p>
            <a:pPr marL="0" indent="0"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152400" y="2054860"/>
          <a:ext cx="11887200" cy="3573780"/>
        </p:xfrm>
        <a:graphic>
          <a:graphicData uri="http://schemas.openxmlformats.org/drawingml/2006/table">
            <a:tbl>
              <a:tblPr/>
              <a:tblGrid>
                <a:gridCol w="1694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3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2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 algn="ctr"/>
                      <a:r>
                        <a:rPr 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定位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7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核心架构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75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核心能力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Qwen2.5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通用大语言模型基线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以标准 </a:t>
                      </a:r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Decoder-only Transformer </a:t>
                      </a: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为主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对话、知识问答、代码、数学、长文本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Qwen3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新一代通用推理模型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几乎不变，支持 </a:t>
                      </a:r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Thinking / Non-thinking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复杂推理、数学、代码、指令跟随、</a:t>
                      </a:r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Qwen3-Next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高效率架构路线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高稀疏 </a:t>
                      </a:r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MoE + Gated DeltaNet + Gated Attention + </a:t>
                      </a: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 </a:t>
                      </a:r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 </a:t>
                      </a: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长上下文建模、高吞吐、低推理成本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Qwen3-</a:t>
                      </a:r>
                      <a:r>
                        <a:rPr lang="en-US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VL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视觉语言模型分支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Vision Encoder + Vision-Language Merger + LLM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OCR、</a:t>
                      </a: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图像理解、视频理解、空间关系、图表推理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Qwen3.</a:t>
                      </a:r>
                      <a:r>
                        <a:rPr lang="en-US" sz="1500" b="1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原生多模态智能体模型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基于 </a:t>
                      </a:r>
                      <a:r>
                        <a:rPr lang="en-US" altLang="zh-CN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Qwen3-Next </a:t>
                      </a:r>
                      <a:r>
                        <a:rPr lang="zh-CN" altLang="en-US" sz="1500" b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的混合架构，并加强文本—视觉早期融合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多模态推理、代码、搜索、</a:t>
                      </a:r>
                      <a:r>
                        <a:rPr lang="en-US" altLang="zh-CN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GUI </a:t>
                      </a:r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操作、工具调用、</a:t>
                      </a:r>
                      <a:r>
                        <a:rPr lang="en-US" altLang="zh-CN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 </a:t>
                      </a:r>
                      <a:r>
                        <a:rPr lang="zh-CN" altLang="en-US" sz="1500" b="0" dirty="0">
                          <a:solidFill>
                            <a:srgbClr val="16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任务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参考文献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主线文献与官方架构资料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75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 / 38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924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57275" y="19240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Qwen2.5 Technical Report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57275" y="25241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arXiv: 2412.15115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9337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57275" y="29337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 Technical Report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57275" y="35337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5"/>
              </a:rPr>
              <a:t>arXiv: 2505.09388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39433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57275" y="39433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Qwen3: Think Deeper, Act Faster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57275" y="45434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Qwen · 官方发布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49530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57275" y="49530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Qwen3-Next-80B-A3B-Instruct 模型卡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57275" y="55530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7"/>
              </a:rPr>
              <a:t>Hugging Face · 官方模型卡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91275" y="1924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19240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Qwen3.5: Towards Native Multimodal Agents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38950" y="25241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8"/>
              </a:rPr>
              <a:t>Qwen · 官方发布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91275" y="29337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38950" y="29337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Qwen3.5-397B-A17B 模型卡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38950" y="35337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9"/>
              </a:rPr>
              <a:t>Hugging Face · 官方模型卡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91275" y="39433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38950" y="39433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 the Design of Qwen3.8-Next Architecture: Evaluation, Efficiency, and Training Stability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38950" y="45434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0"/>
              </a:rPr>
              <a:t>arXiv: 2608.30320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391275" y="49530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08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38950" y="49530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Qwen3.8-Flash-Next 模型卡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38950" y="55530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1"/>
              </a:rPr>
              <a:t>Hugging Face · 官方模型卡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09600" y="62769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点击蓝色链接阅读原文 · 参考版本及核查日期：2026-09-10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参考文献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分支与后训练方法文献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75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37 / 38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924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57275" y="19240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Qwen2.5-VL Technical Report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57275" y="25241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arXiv: 2502.13923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9337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57275" y="29337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Qwen3-VL Technical Report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57275" y="35337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5"/>
              </a:rPr>
              <a:t>arXiv: 2511.21631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39433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57275" y="39433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DeepSeek-R1: Incentivizing Reasoning Capability in LLMs via Reinforcement Learning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57275" y="45434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arXiv: 2501.12948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49530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57275" y="49530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Group Sequence Policy Optimization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57275" y="55530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7"/>
              </a:rPr>
              <a:t>arXiv: 2507.18071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91275" y="1924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19240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Soft Adaptive Policy Optimization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38950" y="25241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8"/>
              </a:rPr>
              <a:t>arXiv: 2511.20347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91275" y="29337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38950" y="29337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Qwen3-Coder-Next Technical Report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38950" y="35337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9"/>
              </a:rPr>
              <a:t>arXiv: 2603.00729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91275" y="39433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38950" y="39433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Qwen3.5-Omni Technical Report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38950" y="45434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0"/>
              </a:rPr>
              <a:t>arXiv: 2604.15804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09600" y="62769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点击蓝色链接阅读原文 · 参考版本及核查日期：2026-09-10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477617" y="2767280"/>
            <a:ext cx="9236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  <p:pic>
        <p:nvPicPr>
          <p:cNvPr id="3" name="图片 2" descr="计算机楼——西门（蓝色）=="/>
          <p:cNvPicPr>
            <a:picLocks noChangeAspect="1"/>
          </p:cNvPicPr>
          <p:nvPr/>
        </p:nvPicPr>
        <p:blipFill>
          <a:blip r:embed="rId2"/>
          <a:srcRect l="1146" b="9039"/>
          <a:stretch>
            <a:fillRect/>
          </a:stretch>
        </p:blipFill>
        <p:spPr>
          <a:xfrm>
            <a:off x="0" y="3851910"/>
            <a:ext cx="12200255" cy="3006090"/>
          </a:xfrm>
          <a:prstGeom prst="rect">
            <a:avLst/>
          </a:prstGeom>
        </p:spPr>
      </p:pic>
      <p:pic>
        <p:nvPicPr>
          <p:cNvPr id="5" name="图片 4" descr="吉大logo-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670" y="198915"/>
            <a:ext cx="3288660" cy="97066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8629921259856,&quot;left&quot;:7.75,&quot;top&quot;:123.6,&quot;width&quot;:892.250078740157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8629921259856,&quot;left&quot;:7.75,&quot;top&quot;:123.6,&quot;width&quot;:892.25007874015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8629921259856,&quot;left&quot;:7.75,&quot;top&quot;:123.6,&quot;width&quot;:892.25007874015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8629921259856,&quot;left&quot;:7.75,&quot;top&quot;:123.6,&quot;width&quot;:892.250078740157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1770</TotalTime>
  <Words>3810</Words>
  <Application>Microsoft Office PowerPoint</Application>
  <PresentationFormat>宽屏</PresentationFormat>
  <Paragraphs>496</Paragraphs>
  <Slides>40</Slides>
  <Notes>6</Notes>
  <HiddenSlides>0</HiddenSlides>
  <MMClips>4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0" baseType="lpstr">
      <vt:lpstr>微软雅黑</vt:lpstr>
      <vt:lpstr>Arial</vt:lpstr>
      <vt:lpstr>等线 Light</vt:lpstr>
      <vt:lpstr>Times New Roman</vt:lpstr>
      <vt:lpstr>Calibri</vt:lpstr>
      <vt:lpstr>等线</vt:lpstr>
      <vt:lpstr>Google Sans Text</vt:lpstr>
      <vt:lpstr>Wingdings</vt:lpstr>
      <vt:lpstr>Office 主题​​</vt:lpstr>
      <vt:lpstr>Equation</vt:lpstr>
      <vt:lpstr>PowerPoint 演示文稿</vt:lpstr>
      <vt:lpstr>Qwen 大模型技术演进</vt:lpstr>
      <vt:lpstr>Qwen 系列模型</vt:lpstr>
      <vt:lpstr>基础概念</vt:lpstr>
      <vt:lpstr>Qwen2.5</vt:lpstr>
      <vt:lpstr>Qwen2.5-Architecture</vt:lpstr>
      <vt:lpstr>PowerPoint 演示文稿</vt:lpstr>
      <vt:lpstr>PowerPoint 演示文稿</vt:lpstr>
      <vt:lpstr>Qwen2.5 Pre-training</vt:lpstr>
      <vt:lpstr>Qwen2.5 Post-training</vt:lpstr>
      <vt:lpstr>Qwen2.5 Post-training</vt:lpstr>
      <vt:lpstr>Qwen3</vt:lpstr>
      <vt:lpstr>Qwen3-Architecture</vt:lpstr>
      <vt:lpstr>Qwen3 Pre-training</vt:lpstr>
      <vt:lpstr>Qwen3 Pre-training</vt:lpstr>
      <vt:lpstr>Qwen3 Post-training</vt:lpstr>
      <vt:lpstr>Qwen3 Post-training</vt:lpstr>
      <vt:lpstr>Qwen3 Post-training</vt:lpstr>
      <vt:lpstr>Qwen3 Post-training</vt:lpstr>
      <vt:lpstr>Qwen3 Post-training</vt:lpstr>
      <vt:lpstr>Qwen3 Post-training</vt:lpstr>
      <vt:lpstr>Qwen3-Next</vt:lpstr>
      <vt:lpstr>Qwen3-Next-Architecture</vt:lpstr>
      <vt:lpstr>Qwen3-Next-Architecture</vt:lpstr>
      <vt:lpstr>Qwen3-VL</vt:lpstr>
      <vt:lpstr>Qwen3-VL-Architecture</vt:lpstr>
      <vt:lpstr>DeepStack 机制</vt:lpstr>
      <vt:lpstr>DeepStack 机制</vt:lpstr>
      <vt:lpstr>Qwen3-VL Pre-training</vt:lpstr>
      <vt:lpstr>Qwen3-VL Post-training</vt:lpstr>
      <vt:lpstr>Qwen3.5 </vt:lpstr>
      <vt:lpstr>Qwen3.5</vt:lpstr>
      <vt:lpstr>Qwen 3.5 Pre-training</vt:lpstr>
      <vt:lpstr>Qwen 3.5 Post-training</vt:lpstr>
      <vt:lpstr>Qwen 3.5</vt:lpstr>
      <vt:lpstr>Qwen 3.5</vt:lpstr>
      <vt:lpstr>Summary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1300116177@qq.com</dc:creator>
  <cp:lastModifiedBy>210384759@qq.com</cp:lastModifiedBy>
  <cp:revision>219</cp:revision>
  <dcterms:created xsi:type="dcterms:W3CDTF">2025-06-10T05:19:00Z</dcterms:created>
  <dcterms:modified xsi:type="dcterms:W3CDTF">2026-09-29T12:46:57Z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B0CAF19380264A119C888D177A1C52C8_12</vt:lpwstr>
  </property>
</Properties>
</file>