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988" r:id="rId3"/>
    <p:sldId id="989" r:id="rId4"/>
    <p:sldId id="990" r:id="rId5"/>
    <p:sldId id="991" r:id="rId6"/>
    <p:sldId id="992" r:id="rId7"/>
    <p:sldId id="993" r:id="rId8"/>
    <p:sldId id="994" r:id="rId9"/>
    <p:sldId id="319" r:id="rId1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F821DB8-F4EB-4A41-A1BA-3FCAFE7338EE}" styleName="">
    <a:wholeTbl>
      <a:tcTxStyle>
        <a:font>
          <a:latin typeface="等线"/>
          <a:ea typeface="等线"/>
          <a:cs typeface="等线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Style>
        <a:tcBdr/>
        <a:fill>
          <a:solidFill>
            <a:srgbClr val="FFFFFF"/>
          </a:solidFill>
        </a:fill>
      </a:tcStyle>
    </a:band2H>
    <a:firstCol>
      <a:tcTxStyle b="on">
        <a:font>
          <a:latin typeface="等线"/>
          <a:ea typeface="等线"/>
          <a:cs typeface="等线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>
        <a:font>
          <a:latin typeface="等线"/>
          <a:ea typeface="等线"/>
          <a:cs typeface="等线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等线"/>
          <a:ea typeface="等线"/>
          <a:cs typeface="等线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45" autoAdjust="0"/>
    <p:restoredTop sz="94572" autoAdjust="0"/>
  </p:normalViewPr>
  <p:slideViewPr>
    <p:cSldViewPr snapToGrid="0">
      <p:cViewPr>
        <p:scale>
          <a:sx n="100" d="100"/>
          <a:sy n="100" d="100"/>
        </p:scale>
        <p:origin x="37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4072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AF0FED-17ED-F141-AA72-5E00DC8D6F33}" type="datetimeFigureOut">
              <a:rPr kumimoji="1" lang="zh-CN" altLang="en-US" smtClean="0"/>
              <a:t>2026/9/28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6C7F5C-9C2A-7147-BFA3-4F07D0DF77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8" name="Shape 13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 panose="020F0502020204030204"/>
      </a:defRPr>
    </a:lvl1pPr>
    <a:lvl2pPr indent="228600" latinLnBrk="0">
      <a:defRPr sz="1200">
        <a:latin typeface="+mn-lt"/>
        <a:ea typeface="+mn-ea"/>
        <a:cs typeface="+mn-cs"/>
        <a:sym typeface="Calibri" panose="020F0502020204030204"/>
      </a:defRPr>
    </a:lvl2pPr>
    <a:lvl3pPr indent="457200" latinLnBrk="0">
      <a:defRPr sz="1200">
        <a:latin typeface="+mn-lt"/>
        <a:ea typeface="+mn-ea"/>
        <a:cs typeface="+mn-cs"/>
        <a:sym typeface="Calibri" panose="020F0502020204030204"/>
      </a:defRPr>
    </a:lvl3pPr>
    <a:lvl4pPr indent="685800" latinLnBrk="0">
      <a:defRPr sz="1200">
        <a:latin typeface="+mn-lt"/>
        <a:ea typeface="+mn-ea"/>
        <a:cs typeface="+mn-cs"/>
        <a:sym typeface="Calibri" panose="020F0502020204030204"/>
      </a:defRPr>
    </a:lvl4pPr>
    <a:lvl5pPr indent="914400" latinLnBrk="0">
      <a:defRPr sz="1200">
        <a:latin typeface="+mn-lt"/>
        <a:ea typeface="+mn-ea"/>
        <a:cs typeface="+mn-cs"/>
        <a:sym typeface="Calibri" panose="020F0502020204030204"/>
      </a:defRPr>
    </a:lvl5pPr>
    <a:lvl6pPr indent="1143000" latinLnBrk="0">
      <a:defRPr sz="1200">
        <a:latin typeface="+mn-lt"/>
        <a:ea typeface="+mn-ea"/>
        <a:cs typeface="+mn-cs"/>
        <a:sym typeface="Calibri" panose="020F0502020204030204"/>
      </a:defRPr>
    </a:lvl6pPr>
    <a:lvl7pPr indent="1371600" latinLnBrk="0">
      <a:defRPr sz="1200">
        <a:latin typeface="+mn-lt"/>
        <a:ea typeface="+mn-ea"/>
        <a:cs typeface="+mn-cs"/>
        <a:sym typeface="Calibri" panose="020F0502020204030204"/>
      </a:defRPr>
    </a:lvl7pPr>
    <a:lvl8pPr indent="1600200" latinLnBrk="0">
      <a:defRPr sz="1200">
        <a:latin typeface="+mn-lt"/>
        <a:ea typeface="+mn-ea"/>
        <a:cs typeface="+mn-cs"/>
        <a:sym typeface="Calibri" panose="020F0502020204030204"/>
      </a:defRPr>
    </a:lvl8pPr>
    <a:lvl9pPr indent="1828800" latinLnBrk="0">
      <a:defRPr sz="1200">
        <a:latin typeface="+mn-lt"/>
        <a:ea typeface="+mn-ea"/>
        <a:cs typeface="+mn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21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dirty="0"/>
          </a:p>
        </p:txBody>
      </p:sp>
      <p:sp>
        <p:nvSpPr>
          <p:cNvPr id="2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0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dirty="0"/>
          </a:p>
        </p:txBody>
      </p:sp>
      <p:sp>
        <p:nvSpPr>
          <p:cNvPr id="4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English Version</a:t>
            </a:r>
            <a:endParaRPr dirty="0"/>
          </a:p>
        </p:txBody>
      </p:sp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2" name="图片 1" descr="计算机楼——西门（蓝色）=="/>
          <p:cNvPicPr>
            <a:picLocks noChangeAspect="1"/>
          </p:cNvPicPr>
          <p:nvPr userDrawn="1"/>
        </p:nvPicPr>
        <p:blipFill>
          <a:blip r:embed="rId2"/>
          <a:srcRect l="1146" b="9039"/>
          <a:stretch>
            <a:fillRect/>
          </a:stretch>
        </p:blipFill>
        <p:spPr>
          <a:xfrm>
            <a:off x="-8255" y="3851910"/>
            <a:ext cx="12200255" cy="30060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74556" y="180658"/>
            <a:ext cx="2117444" cy="1419516"/>
          </a:xfrm>
          <a:prstGeom prst="rect">
            <a:avLst/>
          </a:prstGeom>
        </p:spPr>
      </p:pic>
      <p:sp>
        <p:nvSpPr>
          <p:cNvPr id="5" name="正文级别 1…"/>
          <p:cNvSpPr txBox="1">
            <a:spLocks noGrp="1"/>
          </p:cNvSpPr>
          <p:nvPr>
            <p:ph type="body" idx="1"/>
          </p:nvPr>
        </p:nvSpPr>
        <p:spPr>
          <a:xfrm>
            <a:off x="834072" y="1868487"/>
            <a:ext cx="1114021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dirty="0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2" name="图片 1" descr="计算机楼——西门（蓝色）=="/>
          <p:cNvPicPr>
            <a:picLocks noChangeAspect="1"/>
          </p:cNvPicPr>
          <p:nvPr userDrawn="1"/>
        </p:nvPicPr>
        <p:blipFill>
          <a:blip r:embed="rId2"/>
          <a:srcRect l="1146" b="9039"/>
          <a:stretch>
            <a:fillRect/>
          </a:stretch>
        </p:blipFill>
        <p:spPr>
          <a:xfrm>
            <a:off x="-8255" y="3851910"/>
            <a:ext cx="12200255" cy="3006090"/>
          </a:xfrm>
          <a:prstGeom prst="rect">
            <a:avLst/>
          </a:prstGeom>
        </p:spPr>
      </p:pic>
      <p:sp>
        <p:nvSpPr>
          <p:cNvPr id="3" name="矩形 6"/>
          <p:cNvSpPr/>
          <p:nvPr userDrawn="1"/>
        </p:nvSpPr>
        <p:spPr>
          <a:xfrm>
            <a:off x="0" y="0"/>
            <a:ext cx="12192000" cy="1081825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" name="矩形 9"/>
          <p:cNvSpPr/>
          <p:nvPr userDrawn="1"/>
        </p:nvSpPr>
        <p:spPr>
          <a:xfrm>
            <a:off x="0" y="6580089"/>
            <a:ext cx="12192000" cy="277911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33D70"/>
            </a:solidFill>
            <a:miter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6" name="图片 2" descr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252334" y="261620"/>
            <a:ext cx="4593591" cy="6616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" name="标题文本"/>
          <p:cNvSpPr txBox="1">
            <a:spLocks noGrp="1"/>
          </p:cNvSpPr>
          <p:nvPr>
            <p:ph type="title"/>
          </p:nvPr>
        </p:nvSpPr>
        <p:spPr>
          <a:xfrm>
            <a:off x="199572" y="0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dirty="0"/>
          </a:p>
        </p:txBody>
      </p:sp>
      <p:sp>
        <p:nvSpPr>
          <p:cNvPr id="8" name="正文级别 1…"/>
          <p:cNvSpPr txBox="1">
            <a:spLocks noGrp="1"/>
          </p:cNvSpPr>
          <p:nvPr>
            <p:ph type="body" idx="1"/>
          </p:nvPr>
        </p:nvSpPr>
        <p:spPr>
          <a:xfrm>
            <a:off x="199571" y="1587183"/>
            <a:ext cx="11646353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dirty="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文本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73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185" indent="-260985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4" name="文本占位符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lvl="0" indent="0">
              <a:buSzTx/>
              <a:buFontTx/>
              <a:buNone/>
              <a:defRPr sz="1600"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7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标题文本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3" name="图片占位符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zh-CN" altLang="en-US"/>
              <a:t>单击图标添加图片</a:t>
            </a:r>
          </a:p>
        </p:txBody>
      </p:sp>
      <p:sp>
        <p:nvSpPr>
          <p:cNvPr id="84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8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rPr dirty="0" err="1"/>
              <a:t>标题文本</a:t>
            </a:r>
            <a:endParaRPr dirty="0"/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rPr dirty="0" err="1"/>
              <a:t>正文级别</a:t>
            </a:r>
            <a:r>
              <a:rPr dirty="0"/>
              <a:t> 1</a:t>
            </a:r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ransition spd="med"/>
  <p:hf hdr="0" ftr="0"/>
  <p:txStyles>
    <p:titleStyle>
      <a:lvl1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000" b="0" i="0" u="none" strike="noStrike" cap="none" spc="0" baseline="0">
          <a:solidFill>
            <a:schemeClr val="accent1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等线 Light" panose="02010600030101010101" charset="-122"/>
        </a:defRPr>
      </a:lvl1pPr>
      <a:lvl2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2pPr>
      <a:lvl3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3pPr>
      <a:lvl4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4pPr>
      <a:lvl5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5pPr>
      <a:lvl6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6pPr>
      <a:lvl7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7pPr>
      <a:lvl8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8pPr>
      <a:lvl9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9pPr>
    </p:titleStyle>
    <p:bodyStyle>
      <a:lvl1pPr marL="228600" marR="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400" b="0" i="0" u="none" strike="noStrike" cap="none" spc="0" baseline="0">
          <a:solidFill>
            <a:schemeClr val="accent1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等线" panose="02010600030101010101" charset="-122"/>
        </a:defRPr>
      </a:lvl1pPr>
      <a:lvl2pPr marL="723900" marR="0" indent="-2667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400" b="0" i="0" u="none" strike="noStrike" cap="none" spc="0" baseline="0">
          <a:solidFill>
            <a:schemeClr val="accent1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等线" panose="02010600030101010101" charset="-122"/>
        </a:defRPr>
      </a:lvl2pPr>
      <a:lvl3pPr marL="1234440" marR="0" indent="-32004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400" b="0" i="0" u="none" strike="noStrike" cap="none" spc="0" baseline="0">
          <a:solidFill>
            <a:schemeClr val="accent1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等线" panose="02010600030101010101" charset="-122"/>
        </a:defRPr>
      </a:lvl3pPr>
      <a:lvl4pPr marL="1727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400" b="0" i="0" u="none" strike="noStrike" cap="none" spc="0" baseline="0">
          <a:solidFill>
            <a:schemeClr val="accent1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等线" panose="02010600030101010101" charset="-122"/>
        </a:defRPr>
      </a:lvl4pPr>
      <a:lvl5pPr marL="21844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400" b="0" i="0" u="none" strike="noStrike" cap="none" spc="0" baseline="0">
          <a:solidFill>
            <a:schemeClr val="accent1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等线" panose="02010600030101010101" charset="-122"/>
        </a:defRPr>
      </a:lvl5pPr>
      <a:lvl6pPr marL="26416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等线" panose="02010600030101010101" charset="-122"/>
          <a:ea typeface="等线" panose="02010600030101010101" charset="-122"/>
          <a:cs typeface="等线" panose="02010600030101010101" charset="-122"/>
          <a:sym typeface="等线" panose="02010600030101010101" charset="-122"/>
        </a:defRPr>
      </a:lvl6pPr>
      <a:lvl7pPr marL="30988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等线" panose="02010600030101010101" charset="-122"/>
          <a:ea typeface="等线" panose="02010600030101010101" charset="-122"/>
          <a:cs typeface="等线" panose="02010600030101010101" charset="-122"/>
          <a:sym typeface="等线" panose="02010600030101010101" charset="-122"/>
        </a:defRPr>
      </a:lvl7pPr>
      <a:lvl8pPr marL="35560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等线" panose="02010600030101010101" charset="-122"/>
          <a:ea typeface="等线" panose="02010600030101010101" charset="-122"/>
          <a:cs typeface="等线" panose="02010600030101010101" charset="-122"/>
          <a:sym typeface="等线" panose="02010600030101010101" charset="-122"/>
        </a:defRPr>
      </a:lvl8pPr>
      <a:lvl9pPr marL="4013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等线" panose="02010600030101010101" charset="-122"/>
          <a:ea typeface="等线" panose="02010600030101010101" charset="-122"/>
          <a:cs typeface="等线" panose="02010600030101010101" charset="-122"/>
          <a:sym typeface="等线" panose="02010600030101010101" charset="-122"/>
        </a:defRPr>
      </a:lvl9pPr>
    </p:bodyStyle>
    <p:otherStyle>
      <a:lvl1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1pPr>
      <a:lvl2pPr marL="0" marR="0" indent="457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2pPr>
      <a:lvl3pPr marL="0" marR="0" indent="914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3pPr>
      <a:lvl4pPr marL="0" marR="0" indent="1371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4pPr>
      <a:lvl5pPr marL="0" marR="0" indent="18288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5pPr>
      <a:lvl6pPr marL="0" marR="0" indent="22860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6pPr>
      <a:lvl7pPr marL="0" marR="0" indent="2743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7pPr>
      <a:lvl8pPr marL="0" marR="0" indent="3200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8pPr>
      <a:lvl9pPr marL="0" marR="0" indent="3657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2.png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3.png"/><Relationship Id="rId5" Type="http://schemas.openxmlformats.org/officeDocument/2006/relationships/image" Target="../media/image11.e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文本框 3"/>
          <p:cNvSpPr txBox="1"/>
          <p:nvPr/>
        </p:nvSpPr>
        <p:spPr>
          <a:xfrm>
            <a:off x="735905" y="1551107"/>
            <a:ext cx="11052176" cy="316928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endParaRPr lang="en-US" sz="3600" dirty="0"/>
          </a:p>
          <a:p>
            <a: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zh-CN" altLang="en-US" sz="3600" dirty="0">
                <a:sym typeface="+mn-ea"/>
              </a:rPr>
              <a:t>基于 </a:t>
            </a:r>
            <a:r>
              <a:rPr lang="en-US" altLang="zh-CN" sz="3600" dirty="0">
                <a:sym typeface="+mn-ea"/>
              </a:rPr>
              <a:t>Qwen2-VL-2B </a:t>
            </a:r>
            <a:r>
              <a:rPr lang="zh-CN" altLang="en-US" sz="3600" dirty="0">
                <a:sym typeface="+mn-ea"/>
              </a:rPr>
              <a:t>与 </a:t>
            </a:r>
            <a:r>
              <a:rPr lang="en-US" altLang="zh-CN" sz="3600" dirty="0" err="1">
                <a:sym typeface="+mn-ea"/>
              </a:rPr>
              <a:t>LoRA</a:t>
            </a:r>
            <a:r>
              <a:rPr lang="en-US" altLang="zh-CN" sz="3600" dirty="0">
                <a:sym typeface="+mn-ea"/>
              </a:rPr>
              <a:t> </a:t>
            </a:r>
            <a:r>
              <a:rPr lang="zh-CN" altLang="en-US" sz="3600" dirty="0">
                <a:sym typeface="+mn-ea"/>
              </a:rPr>
              <a:t>的 </a:t>
            </a:r>
            <a:r>
              <a:rPr lang="en-US" altLang="zh-CN" sz="3600" dirty="0">
                <a:sym typeface="+mn-ea"/>
              </a:rPr>
              <a:t>COCO </a:t>
            </a:r>
            <a:r>
              <a:rPr lang="zh-CN" altLang="en-US" sz="3600" dirty="0">
                <a:sym typeface="+mn-ea"/>
              </a:rPr>
              <a:t>图像描述微调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endParaRPr lang="en-US" altLang="zh-CN" sz="3200" dirty="0"/>
          </a:p>
          <a:p>
            <a: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endParaRPr lang="en-US" altLang="zh-CN" sz="3200" dirty="0"/>
          </a:p>
          <a:p>
            <a: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Presenter: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陈一鸣</a:t>
            </a:r>
            <a:endParaRPr 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sz="3200" dirty="0"/>
              <a:t>Date</a:t>
            </a:r>
            <a:r>
              <a:rPr lang="en-US" sz="3200"/>
              <a:t>: 2026/9/29</a:t>
            </a:r>
            <a:endParaRPr lang="zh-CN" altLang="en-US" sz="3200" dirty="0">
              <a:latin typeface="微软雅黑" panose="020B0503020204020204" pitchFamily="34" charset="-122"/>
              <a:ea typeface="宋体" panose="02010600030101010101" pitchFamily="2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2" name="灯片编号占位符 2"/>
          <p:cNvSpPr txBox="1">
            <a:spLocks noGrp="1"/>
          </p:cNvSpPr>
          <p:nvPr>
            <p:ph type="sldNum" sz="quarter" idx="2"/>
          </p:nvPr>
        </p:nvSpPr>
        <p:spPr>
          <a:xfrm>
            <a:off x="11164902" y="6404292"/>
            <a:ext cx="188898" cy="269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pic>
        <p:nvPicPr>
          <p:cNvPr id="2" name="图片 1" descr="计算机楼——西门（蓝色）=="/>
          <p:cNvPicPr>
            <a:picLocks noChangeAspect="1"/>
          </p:cNvPicPr>
          <p:nvPr/>
        </p:nvPicPr>
        <p:blipFill>
          <a:blip r:embed="rId3"/>
          <a:srcRect l="1146" b="9039"/>
          <a:stretch>
            <a:fillRect/>
          </a:stretch>
        </p:blipFill>
        <p:spPr>
          <a:xfrm>
            <a:off x="-8255" y="3851910"/>
            <a:ext cx="12200255" cy="3006090"/>
          </a:xfrm>
          <a:prstGeom prst="rect">
            <a:avLst/>
          </a:prstGeom>
        </p:spPr>
      </p:pic>
      <p:pic>
        <p:nvPicPr>
          <p:cNvPr id="3" name="图片 2" descr="吉大logo-蓝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2971" y="224424"/>
            <a:ext cx="4049022" cy="119509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0282" y="-1"/>
            <a:ext cx="2117444" cy="141951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 err="1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Qwen</a:t>
            </a: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 </a:t>
            </a:r>
            <a:r>
              <a:rPr kumimoji="1" lang="zh-CN" altLang="en-US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微调实验</a:t>
            </a:r>
            <a:endParaRPr kumimoji="1" lang="en-US" altLang="zh-CN" sz="4000" kern="0" dirty="0">
              <a:solidFill>
                <a:srgbClr val="045499"/>
              </a:solidFill>
              <a:uFillTx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425" y="1666240"/>
            <a:ext cx="12092940" cy="5107940"/>
          </a:xfrm>
        </p:spPr>
        <p:txBody>
          <a:bodyPr/>
          <a:lstStyle/>
          <a:p>
            <a:pPr marL="0" indent="0">
              <a:buNone/>
            </a:pPr>
            <a:r>
              <a:rPr kumimoji="1" lang="zh-CN" altLang="en-US" b="1" dirty="0">
                <a:solidFill>
                  <a:srgbClr val="045499"/>
                </a:solidFill>
                <a:cs typeface="Times New Roman" panose="02020603050405020304" pitchFamily="18" charset="0"/>
              </a:rPr>
              <a:t>实验：基于 </a:t>
            </a:r>
            <a:r>
              <a:rPr kumimoji="1" lang="en-US" altLang="zh-CN" b="1" dirty="0">
                <a:solidFill>
                  <a:srgbClr val="045499"/>
                </a:solidFill>
                <a:cs typeface="Times New Roman" panose="02020603050405020304" pitchFamily="18" charset="0"/>
              </a:rPr>
              <a:t>Qwen2-VL-2B </a:t>
            </a:r>
            <a:r>
              <a:rPr kumimoji="1" lang="zh-CN" altLang="en-US" b="1" dirty="0">
                <a:solidFill>
                  <a:srgbClr val="045499"/>
                </a:solidFill>
                <a:cs typeface="Times New Roman" panose="02020603050405020304" pitchFamily="18" charset="0"/>
              </a:rPr>
              <a:t>与 </a:t>
            </a:r>
            <a:r>
              <a:rPr kumimoji="1" lang="en-US" altLang="zh-CN" b="1" dirty="0" err="1">
                <a:solidFill>
                  <a:srgbClr val="045499"/>
                </a:solidFill>
                <a:cs typeface="Times New Roman" panose="02020603050405020304" pitchFamily="18" charset="0"/>
              </a:rPr>
              <a:t>LoRA</a:t>
            </a:r>
            <a:r>
              <a:rPr kumimoji="1" lang="en-US" altLang="zh-CN" b="1" dirty="0">
                <a:solidFill>
                  <a:srgbClr val="045499"/>
                </a:solidFill>
                <a:cs typeface="Times New Roman" panose="02020603050405020304" pitchFamily="18" charset="0"/>
              </a:rPr>
              <a:t> </a:t>
            </a:r>
            <a:r>
              <a:rPr kumimoji="1" lang="zh-CN" altLang="en-US" b="1" dirty="0">
                <a:solidFill>
                  <a:srgbClr val="045499"/>
                </a:solidFill>
                <a:cs typeface="Times New Roman" panose="02020603050405020304" pitchFamily="18" charset="0"/>
              </a:rPr>
              <a:t>的 </a:t>
            </a:r>
            <a:r>
              <a:rPr kumimoji="1" lang="en-US" altLang="zh-CN" b="1" dirty="0">
                <a:solidFill>
                  <a:srgbClr val="045499"/>
                </a:solidFill>
                <a:cs typeface="Times New Roman" panose="02020603050405020304" pitchFamily="18" charset="0"/>
              </a:rPr>
              <a:t>COCO </a:t>
            </a:r>
            <a:r>
              <a:rPr kumimoji="1" lang="zh-CN" altLang="en-US" b="1" dirty="0">
                <a:solidFill>
                  <a:srgbClr val="045499"/>
                </a:solidFill>
                <a:cs typeface="Times New Roman" panose="02020603050405020304" pitchFamily="18" charset="0"/>
              </a:rPr>
              <a:t>图像描述微调</a:t>
            </a:r>
            <a:endParaRPr kumimoji="1" lang="en-US" altLang="zh-CN" b="1" dirty="0">
              <a:solidFill>
                <a:srgbClr val="045499"/>
              </a:solidFill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5499"/>
                </a:solidFill>
                <a:cs typeface="Times New Roman" panose="02020603050405020304" pitchFamily="18" charset="0"/>
              </a:rPr>
              <a:t>实验目标</a:t>
            </a:r>
            <a:endParaRPr kumimoji="1" lang="en-US" altLang="zh-CN" sz="2000" b="1" dirty="0">
              <a:solidFill>
                <a:srgbClr val="045499"/>
              </a:solidFill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输入一张图片，自动生成简洁、准确的英文描述</a:t>
            </a: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分析参数高效微调在多模态图像描述任务中的作用</a:t>
            </a: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kumimoji="1" lang="zh-CN" altLang="en-US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任务介绍</a:t>
            </a:r>
            <a:endParaRPr kumimoji="1" lang="en-US" altLang="zh-CN" sz="2000" b="1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实验任务：本实验研究的是图像描述任务，即根据输入图片自动生成一条自然语言描述</a:t>
            </a:r>
            <a:endParaRPr kumimoji="1" lang="en-US" altLang="zh-CN" sz="2000" dirty="0">
              <a:solidFill>
                <a:srgbClr val="045499"/>
              </a:solidFill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输入：</a:t>
            </a:r>
            <a:r>
              <a:rPr kumimoji="1" lang="en-US" altLang="zh-CN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 </a:t>
            </a: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一张真实场景图片</a:t>
            </a:r>
            <a:r>
              <a:rPr kumimoji="1" lang="en-US" altLang="zh-CN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+ </a:t>
            </a: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固定提示词</a:t>
            </a:r>
            <a:endParaRPr kumimoji="1" lang="en-US" altLang="zh-CN" sz="2000" dirty="0">
              <a:solidFill>
                <a:srgbClr val="045499"/>
              </a:solidFill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期望输出：识别图片中的物体后进行简短描述</a:t>
            </a:r>
            <a:endParaRPr kumimoji="1" lang="en-US" altLang="zh-CN" sz="2000" dirty="0">
              <a:solidFill>
                <a:srgbClr val="045499"/>
              </a:solidFill>
              <a:cs typeface="Times New Roman" panose="02020603050405020304" pitchFamily="18" charset="0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322" y="4954668"/>
            <a:ext cx="2398478" cy="1786101"/>
          </a:xfrm>
          <a:prstGeom prst="rect">
            <a:avLst/>
          </a:prstGeom>
        </p:spPr>
      </p:pic>
      <p:sp>
        <p:nvSpPr>
          <p:cNvPr id="9" name="TextBox 17"/>
          <p:cNvSpPr txBox="1"/>
          <p:nvPr/>
        </p:nvSpPr>
        <p:spPr>
          <a:xfrm>
            <a:off x="3946358" y="5583134"/>
            <a:ext cx="7960174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 woman standing next to a suitcase in an airport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 err="1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Qwen</a:t>
            </a: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 </a:t>
            </a:r>
            <a:r>
              <a:rPr kumimoji="1" lang="zh-CN" altLang="en-US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微调实验</a:t>
            </a:r>
            <a:endParaRPr kumimoji="1" lang="en-US" altLang="zh-CN" sz="4000" kern="0" dirty="0">
              <a:solidFill>
                <a:srgbClr val="045499"/>
              </a:solidFill>
              <a:uFillTx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425" y="1666240"/>
            <a:ext cx="12092940" cy="5257934"/>
          </a:xfrm>
        </p:spPr>
        <p:txBody>
          <a:bodyPr/>
          <a:lstStyle/>
          <a:p>
            <a:pPr marL="0" indent="0">
              <a:buNone/>
            </a:pP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数据集的介绍：实验数据来源于 </a:t>
            </a:r>
            <a:r>
              <a:rPr kumimoji="1" lang="en-US" altLang="zh-CN" sz="2000" kern="0" dirty="0" err="1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ModelScope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平台上的 </a:t>
            </a:r>
            <a:r>
              <a:rPr kumimoji="1" lang="en-US" altLang="zh-CN" sz="2000" kern="0" dirty="0" err="1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modelscope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/</a:t>
            </a:r>
            <a:r>
              <a:rPr kumimoji="1" lang="en-US" altLang="zh-CN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coco_2014_caption</a:t>
            </a:r>
          </a:p>
          <a:p>
            <a:pPr marL="0" indent="0">
              <a:lnSpc>
                <a:spcPct val="150000"/>
              </a:lnSpc>
              <a:buNone/>
            </a:pPr>
            <a:r>
              <a:rPr kumimoji="1" lang="en-US" altLang="zh-CN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COCO </a:t>
            </a: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是常用的计算机视觉数据集，包含大量生活场景图片以及人工编写的英文描述，覆盖人物、动物、交通工具、运动、食物和室内场景等内容</a:t>
            </a:r>
            <a:endParaRPr kumimoji="1" lang="en-US" altLang="zh-CN" sz="2000" dirty="0">
              <a:solidFill>
                <a:srgbClr val="045499"/>
              </a:solidFill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本实验从 </a:t>
            </a:r>
            <a:r>
              <a:rPr kumimoji="1" lang="en-US" altLang="zh-CN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COCO 2014 </a:t>
            </a: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训练集中选取前 </a:t>
            </a:r>
            <a:r>
              <a:rPr kumimoji="1" lang="en-US" altLang="zh-CN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2,000 </a:t>
            </a: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个样本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图片数量：</a:t>
            </a:r>
            <a:r>
              <a:rPr kumimoji="1" lang="en-US" altLang="zh-CN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2,000 </a:t>
            </a: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张；描述数量：</a:t>
            </a:r>
            <a:r>
              <a:rPr kumimoji="1" lang="en-US" altLang="zh-CN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2,000 </a:t>
            </a: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条（每张图片使用一个参考描述）</a:t>
            </a:r>
          </a:p>
          <a:p>
            <a:pPr marL="0" indent="0">
              <a:lnSpc>
                <a:spcPct val="150000"/>
              </a:lnSpc>
              <a:buNone/>
            </a:pPr>
            <a:endParaRPr kumimoji="1" lang="en-US" altLang="zh-CN" sz="2000" dirty="0">
              <a:solidFill>
                <a:srgbClr val="045499"/>
              </a:solidFill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63" y="4320606"/>
            <a:ext cx="3037418" cy="227806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1716" y="4320607"/>
            <a:ext cx="3141133" cy="23558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7282" y="4320606"/>
            <a:ext cx="3328355" cy="235585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 err="1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Qwen</a:t>
            </a: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 </a:t>
            </a:r>
            <a:r>
              <a:rPr kumimoji="1" lang="zh-CN" altLang="en-US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微调实验</a:t>
            </a:r>
            <a:endParaRPr kumimoji="1" lang="en-US" altLang="zh-CN" sz="4000" kern="0" dirty="0">
              <a:solidFill>
                <a:srgbClr val="045499"/>
              </a:solidFill>
              <a:uFillTx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425" y="1666240"/>
            <a:ext cx="12092940" cy="4351655"/>
          </a:xfrm>
        </p:spPr>
        <p:txBody>
          <a:bodyPr/>
          <a:lstStyle/>
          <a:p>
            <a:pPr marL="0" indent="0">
              <a:buNone/>
            </a:pP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数据采集、保存、数据格式转换工作</a:t>
            </a:r>
            <a:endParaRPr kumimoji="1" lang="en-US" altLang="zh-CN" sz="2000" dirty="0">
              <a:solidFill>
                <a:srgbClr val="045499"/>
              </a:solidFill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en-US" altLang="zh-CN" sz="2000" dirty="0">
              <a:solidFill>
                <a:srgbClr val="045499"/>
              </a:solidFill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en-US" altLang="zh-CN" sz="2000" dirty="0">
              <a:solidFill>
                <a:srgbClr val="045499"/>
              </a:solidFill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en-US" altLang="zh-CN" sz="2000" dirty="0">
              <a:solidFill>
                <a:srgbClr val="045499"/>
              </a:solidFill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en-US" altLang="zh-CN" sz="2000" dirty="0">
              <a:solidFill>
                <a:srgbClr val="045499"/>
              </a:solidFill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en-US" altLang="zh-CN" sz="2000" dirty="0">
              <a:solidFill>
                <a:srgbClr val="045499"/>
              </a:solidFill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en-US" altLang="zh-CN" sz="2000" dirty="0">
              <a:solidFill>
                <a:srgbClr val="045499"/>
              </a:solidFill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en-US" altLang="zh-CN" sz="2000" dirty="0">
              <a:solidFill>
                <a:srgbClr val="045499"/>
              </a:solidFill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en-US" altLang="zh-CN" sz="2000" dirty="0">
              <a:solidFill>
                <a:srgbClr val="045499"/>
              </a:solidFill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000" dirty="0"/>
              <a:t>数据按照 </a:t>
            </a:r>
            <a:r>
              <a:rPr lang="en-US" altLang="zh-CN" sz="2000" dirty="0"/>
              <a:t>8:1:1 </a:t>
            </a:r>
            <a:r>
              <a:rPr lang="zh-CN" altLang="en-US" sz="2000" dirty="0"/>
              <a:t>的比例划分</a:t>
            </a:r>
            <a:endParaRPr kumimoji="1" lang="en-US" altLang="zh-CN" sz="2000" dirty="0">
              <a:solidFill>
                <a:srgbClr val="045499"/>
              </a:solidFill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909" y="121936"/>
            <a:ext cx="4010831" cy="495099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25" y="2378075"/>
            <a:ext cx="5454225" cy="2482850"/>
          </a:xfrm>
          <a:prstGeom prst="rect">
            <a:avLst/>
          </a:prstGeom>
        </p:spPr>
      </p:pic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3439400" y="5225415"/>
          <a:ext cx="5674521" cy="1584960"/>
        </p:xfrm>
        <a:graphic>
          <a:graphicData uri="http://schemas.openxmlformats.org/drawingml/2006/table">
            <a:tbl>
              <a:tblPr firstRow="1" firstCol="1">
                <a:tableStyleId>{CF821DB8-F4EB-4A41-A1BA-3FCAFE7338EE}</a:tableStyleId>
              </a:tblPr>
              <a:tblGrid>
                <a:gridCol w="1733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2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94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数据集合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样本数量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比例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训练集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1600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80%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验证集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10%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测试集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10%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 err="1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Qwen</a:t>
            </a:r>
            <a:r>
              <a:rPr kumimoji="1" lang="zh-CN" altLang="en-US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微调实验</a:t>
            </a:r>
            <a:endParaRPr kumimoji="1" lang="en-US" altLang="zh-CN" sz="4000" kern="0" dirty="0">
              <a:solidFill>
                <a:srgbClr val="045499"/>
              </a:solidFill>
              <a:uFillTx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425" y="1116808"/>
            <a:ext cx="12092940" cy="460851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/>
              <a:t>基座模型选用 </a:t>
            </a:r>
            <a:r>
              <a:rPr lang="en-US" altLang="zh-CN" sz="2000" b="1" dirty="0"/>
              <a:t>Qwen2-VL-2B-Instruct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/>
              <a:t>本实验采用 </a:t>
            </a:r>
            <a:r>
              <a:rPr lang="en-US" altLang="zh-CN" sz="2000" dirty="0" err="1"/>
              <a:t>LoRA</a:t>
            </a:r>
            <a:r>
              <a:rPr lang="en-US" altLang="zh-CN" sz="2000" dirty="0"/>
              <a:t> </a:t>
            </a:r>
            <a:r>
              <a:rPr lang="zh-CN" altLang="en-US" sz="2000" dirty="0"/>
              <a:t>参数高效微调方法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 err="1"/>
              <a:t>LoRA</a:t>
            </a:r>
            <a:r>
              <a:rPr lang="en-US" altLang="zh-CN" sz="2000" dirty="0"/>
              <a:t> </a:t>
            </a:r>
            <a:r>
              <a:rPr lang="zh-CN" altLang="en-US" sz="2000" dirty="0"/>
              <a:t>的基本思想是冻结原始权重，使用两个低秩矩阵表示权重增量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/>
              <a:t>损失函数的设计：实验采用因果语言模型交叉熵损失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buNone/>
            </a:pPr>
            <a:endParaRPr lang="zh-CN" altLang="en-US" sz="20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buNone/>
            </a:pP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8051383" y="1493204"/>
          <a:ext cx="1700797" cy="779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0" name="Equation" r:id="rId4" imgW="894715" imgH="413385" progId="Equation.DSMT4">
                  <p:embed/>
                </p:oleObj>
              </mc:Choice>
              <mc:Fallback>
                <p:oleObj name="Equation" r:id="rId4" imgW="894715" imgH="413385" progId="Equation.DSMT4">
                  <p:embed/>
                  <p:pic>
                    <p:nvPicPr>
                      <p:cNvPr id="0" name="图片 924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051383" y="1493204"/>
                        <a:ext cx="1700797" cy="7796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46383" y="3713640"/>
          <a:ext cx="68122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参数</a:t>
                      </a:r>
                    </a:p>
                  </a:txBody>
                  <a:tcPr>
                    <a:solidFill>
                      <a:srgbClr val="13234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设置</a:t>
                      </a:r>
                      <a:endParaRPr sz="14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13234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作用</a:t>
                      </a:r>
                      <a:endParaRPr sz="14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13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/>
                      <a:r>
                        <a:rPr sz="1400" b="1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</a:rPr>
                        <a:t>Epoch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sz="1400" b="0" dirty="0" err="1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</a:rPr>
                        <a:t>控制训练轮数</a:t>
                      </a:r>
                      <a:endParaRPr sz="1400" b="0" dirty="0">
                        <a:solidFill>
                          <a:srgbClr val="1F2937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/>
                      <a:r>
                        <a:rPr sz="1400" b="1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</a:rPr>
                        <a:t>Learning rate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</a:rPr>
                        <a:t>5e-5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</a:rPr>
                        <a:t>LoRA 参数更新步长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/>
                      <a:r>
                        <a:rPr lang="zh-CN" altLang="en-US" sz="1400" b="1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</a:rPr>
                        <a:t>单设备 </a:t>
                      </a:r>
                      <a:r>
                        <a:rPr sz="1400" b="1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</a:rPr>
                        <a:t>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sz="1400" b="0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sz="1400" b="0" dirty="0" err="1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</a:rPr>
                        <a:t>有效</a:t>
                      </a:r>
                      <a:r>
                        <a:rPr sz="1400" b="0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</a:rPr>
                        <a:t> batch size = 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2789" y="3326731"/>
            <a:ext cx="4955582" cy="3319305"/>
          </a:xfrm>
          <a:prstGeom prst="rect">
            <a:avLst/>
          </a:prstGeom>
        </p:spPr>
      </p:pic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7002666" y="2766555"/>
          <a:ext cx="4130113" cy="7259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1" name="Equation" r:id="rId7" imgW="2475865" imgH="437515" progId="Equation.DSMT4">
                  <p:embed/>
                </p:oleObj>
              </mc:Choice>
              <mc:Fallback>
                <p:oleObj name="Equation" r:id="rId7" imgW="2475865" imgH="437515" progId="Equation.DSMT4">
                  <p:embed/>
                  <p:pic>
                    <p:nvPicPr>
                      <p:cNvPr id="0" name="对象 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002666" y="2766555"/>
                        <a:ext cx="4130113" cy="7259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 err="1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Qwen</a:t>
            </a:r>
            <a:r>
              <a:rPr kumimoji="1" lang="zh-CN" altLang="en-US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微调实验</a:t>
            </a:r>
            <a:endParaRPr kumimoji="1" lang="en-US" altLang="zh-CN" sz="4000" kern="0" dirty="0">
              <a:solidFill>
                <a:srgbClr val="045499"/>
              </a:solidFill>
              <a:uFillTx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9060" y="1261674"/>
            <a:ext cx="12092940" cy="435165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600" dirty="0"/>
              <a:t>每个 </a:t>
            </a:r>
            <a:r>
              <a:rPr lang="en-US" altLang="zh-CN" sz="1600" dirty="0"/>
              <a:t>epoch </a:t>
            </a:r>
            <a:r>
              <a:rPr lang="zh-CN" altLang="en-US" sz="1600" dirty="0"/>
              <a:t>结束后，在 </a:t>
            </a:r>
            <a:r>
              <a:rPr lang="en-US" altLang="zh-CN" sz="1600" dirty="0"/>
              <a:t>200 </a:t>
            </a:r>
            <a:r>
              <a:rPr lang="zh-CN" altLang="en-US" sz="1600" dirty="0"/>
              <a:t>条验证数据上计算验证损失</a:t>
            </a: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34" y="4039801"/>
            <a:ext cx="5771148" cy="28086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817719" y="1876926"/>
            <a:ext cx="3474720" cy="19202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18887" y="2014086"/>
            <a:ext cx="3154679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500" b="1" i="0" dirty="0" err="1">
                <a:solidFill>
                  <a:srgbClr val="132340"/>
                </a:solidFill>
                <a:latin typeface="微软雅黑" panose="020B0503020204020204" pitchFamily="34" charset="-122"/>
              </a:rPr>
              <a:t>最佳模型</a:t>
            </a:r>
            <a:endParaRPr sz="1500" b="1" i="0" dirty="0">
              <a:solidFill>
                <a:srgbClr val="1323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8018887" y="2526149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479" y="2462142"/>
            <a:ext cx="2962656" cy="4328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00" b="0" i="0" dirty="0">
                <a:solidFill>
                  <a:srgbClr val="1F2937"/>
                </a:solidFill>
                <a:latin typeface="微软雅黑" panose="020B0503020204020204" pitchFamily="34" charset="-122"/>
              </a:rPr>
              <a:t>checkpoint-200</a:t>
            </a:r>
          </a:p>
        </p:txBody>
      </p:sp>
      <p:sp>
        <p:nvSpPr>
          <p:cNvPr id="15" name="Oval 14"/>
          <p:cNvSpPr/>
          <p:nvPr/>
        </p:nvSpPr>
        <p:spPr>
          <a:xfrm>
            <a:off x="8018887" y="2958965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479" y="2894957"/>
            <a:ext cx="2962656" cy="4328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00" b="0" i="0" dirty="0" err="1">
                <a:solidFill>
                  <a:srgbClr val="1F2937"/>
                </a:solidFill>
                <a:latin typeface="微软雅黑" panose="020B0503020204020204" pitchFamily="34" charset="-122"/>
              </a:rPr>
              <a:t>验证集</a:t>
            </a:r>
            <a:r>
              <a:rPr sz="1300" b="0" i="0" dirty="0">
                <a:solidFill>
                  <a:srgbClr val="1F2937"/>
                </a:solidFill>
                <a:latin typeface="微软雅黑" panose="020B0503020204020204" pitchFamily="34" charset="-122"/>
              </a:rPr>
              <a:t> loss = 1.5597</a:t>
            </a:r>
          </a:p>
        </p:txBody>
      </p:sp>
      <p:sp>
        <p:nvSpPr>
          <p:cNvPr id="17" name="Oval 16"/>
          <p:cNvSpPr/>
          <p:nvPr/>
        </p:nvSpPr>
        <p:spPr>
          <a:xfrm>
            <a:off x="8018887" y="3391782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3479" y="3327774"/>
            <a:ext cx="2962656" cy="4328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00" b="0" i="0" dirty="0" err="1">
                <a:solidFill>
                  <a:srgbClr val="1F2937"/>
                </a:solidFill>
                <a:latin typeface="微软雅黑" panose="020B0503020204020204" pitchFamily="34" charset="-122"/>
              </a:rPr>
              <a:t>对应第</a:t>
            </a:r>
            <a:r>
              <a:rPr sz="1300" b="0" i="0" dirty="0">
                <a:solidFill>
                  <a:srgbClr val="1F2937"/>
                </a:solidFill>
                <a:latin typeface="微软雅黑" panose="020B0503020204020204" pitchFamily="34" charset="-122"/>
              </a:rPr>
              <a:t> 2 个 epoch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7719" y="4071486"/>
            <a:ext cx="3474720" cy="16916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18887" y="4208646"/>
            <a:ext cx="3154679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500" b="1" i="0">
                <a:solidFill>
                  <a:srgbClr val="132340"/>
                </a:solidFill>
                <a:latin typeface="微软雅黑" panose="020B0503020204020204" pitchFamily="34" charset="-122"/>
              </a:rPr>
              <a:t>训练判断</a:t>
            </a:r>
          </a:p>
        </p:txBody>
      </p:sp>
      <p:sp>
        <p:nvSpPr>
          <p:cNvPr id="22" name="Oval 21"/>
          <p:cNvSpPr/>
          <p:nvPr/>
        </p:nvSpPr>
        <p:spPr>
          <a:xfrm>
            <a:off x="8018887" y="472071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83479" y="4656702"/>
            <a:ext cx="2962656" cy="3566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50" b="0" i="0">
                <a:solidFill>
                  <a:srgbClr val="1F2937"/>
                </a:solidFill>
                <a:latin typeface="微软雅黑" panose="020B0503020204020204" pitchFamily="34" charset="-122"/>
              </a:rPr>
              <a:t>epoch 3 后 loss 开始上升</a:t>
            </a:r>
          </a:p>
        </p:txBody>
      </p:sp>
      <p:sp>
        <p:nvSpPr>
          <p:cNvPr id="24" name="Oval 23"/>
          <p:cNvSpPr/>
          <p:nvPr/>
        </p:nvSpPr>
        <p:spPr>
          <a:xfrm>
            <a:off x="8018887" y="5077326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83479" y="5013317"/>
            <a:ext cx="2962656" cy="3566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50" b="0" i="0">
                <a:solidFill>
                  <a:srgbClr val="1F2937"/>
                </a:solidFill>
                <a:latin typeface="微软雅黑" panose="020B0503020204020204" pitchFamily="34" charset="-122"/>
              </a:rPr>
              <a:t>继续训练出现轻微过拟合</a:t>
            </a: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2546" y="1720009"/>
            <a:ext cx="3892398" cy="2234073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 err="1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Qwen</a:t>
            </a:r>
            <a:r>
              <a:rPr kumimoji="1" lang="zh-CN" altLang="en-US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微调实验</a:t>
            </a:r>
            <a:endParaRPr kumimoji="1" lang="en-US" altLang="zh-CN" sz="4000" kern="0" dirty="0">
              <a:solidFill>
                <a:srgbClr val="045499"/>
              </a:solidFill>
              <a:uFillTx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425" y="1058645"/>
            <a:ext cx="5039059" cy="5877560"/>
          </a:xfrm>
        </p:spPr>
        <p:txBody>
          <a:bodyPr>
            <a:normAutofit fontScale="925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zh-CN" altLang="en-US" sz="1600" b="1" dirty="0"/>
              <a:t>评估指标</a:t>
            </a:r>
            <a:endParaRPr lang="en-US" altLang="zh-CN" sz="1600" b="1" dirty="0"/>
          </a:p>
          <a:p>
            <a:pPr algn="just">
              <a:lnSpc>
                <a:spcPct val="120000"/>
              </a:lnSpc>
            </a:pPr>
            <a:r>
              <a:rPr lang="en-US" altLang="zh-CN" sz="1600" b="1" dirty="0"/>
              <a:t>BLEU-1</a:t>
            </a:r>
            <a:r>
              <a:rPr lang="zh-CN" altLang="en-US" sz="1600" b="1" dirty="0"/>
              <a:t>～</a:t>
            </a:r>
            <a:r>
              <a:rPr lang="en-US" altLang="zh-CN" sz="1600" b="1" dirty="0"/>
              <a:t>BLEU-4</a:t>
            </a:r>
            <a:endParaRPr lang="zh-CN" altLang="en-US" sz="1600" dirty="0"/>
          </a:p>
          <a:p>
            <a:pPr marL="0" indent="0" algn="just">
              <a:lnSpc>
                <a:spcPct val="170000"/>
              </a:lnSpc>
              <a:buNone/>
            </a:pPr>
            <a:r>
              <a:rPr lang="zh-CN" altLang="en-US" sz="1600" dirty="0"/>
              <a:t>衡量生成描述与参考描述之间连续 </a:t>
            </a:r>
            <a:r>
              <a:rPr lang="en-US" altLang="zh-CN" sz="1600" dirty="0"/>
              <a:t>1</a:t>
            </a:r>
            <a:r>
              <a:rPr lang="zh-CN" altLang="en-US" sz="1600" dirty="0"/>
              <a:t>～</a:t>
            </a:r>
            <a:r>
              <a:rPr lang="en-US" altLang="zh-CN" sz="1600" dirty="0"/>
              <a:t>4 </a:t>
            </a:r>
            <a:r>
              <a:rPr lang="zh-CN" altLang="en-US" sz="1600" dirty="0"/>
              <a:t>元词组的重合程度。</a:t>
            </a:r>
            <a:r>
              <a:rPr lang="en-US" altLang="zh-CN" sz="1600" dirty="0"/>
              <a:t>BLEU-4 </a:t>
            </a:r>
            <a:r>
              <a:rPr lang="zh-CN" altLang="en-US" sz="1600" dirty="0"/>
              <a:t>更强调完整短语和局部句法的一致性</a:t>
            </a:r>
          </a:p>
          <a:p>
            <a:pPr algn="just">
              <a:lnSpc>
                <a:spcPct val="110000"/>
              </a:lnSpc>
            </a:pPr>
            <a:r>
              <a:rPr lang="en-US" altLang="zh-CN" sz="1600" b="1" dirty="0"/>
              <a:t>ROUGE-L F1</a:t>
            </a:r>
            <a:endParaRPr lang="zh-CN" altLang="en-US" sz="1600" dirty="0"/>
          </a:p>
          <a:p>
            <a:pPr marL="0" indent="0" algn="just">
              <a:lnSpc>
                <a:spcPct val="170000"/>
              </a:lnSpc>
              <a:buNone/>
            </a:pPr>
            <a:r>
              <a:rPr lang="zh-CN" altLang="en-US" sz="1600" dirty="0"/>
              <a:t>根据生成文本和参考文本的最长公共子序列计算，综合考虑准确率与召回率</a:t>
            </a:r>
          </a:p>
          <a:p>
            <a:pPr algn="just">
              <a:lnSpc>
                <a:spcPct val="110000"/>
              </a:lnSpc>
            </a:pPr>
            <a:r>
              <a:rPr lang="en-US" altLang="zh-CN" sz="1600" b="1" dirty="0"/>
              <a:t>Token F1</a:t>
            </a:r>
            <a:endParaRPr lang="zh-CN" altLang="en-US" sz="1600" dirty="0"/>
          </a:p>
          <a:p>
            <a:pPr marL="0" indent="0" algn="just">
              <a:lnSpc>
                <a:spcPct val="170000"/>
              </a:lnSpc>
              <a:buNone/>
            </a:pPr>
            <a:r>
              <a:rPr lang="zh-CN" altLang="en-US" sz="1600" dirty="0"/>
              <a:t>忽略词序，统计生成文本和参考文本之间的 </a:t>
            </a:r>
            <a:r>
              <a:rPr lang="en-US" altLang="zh-CN" sz="1600" dirty="0"/>
              <a:t>token </a:t>
            </a:r>
            <a:r>
              <a:rPr lang="zh-CN" altLang="en-US" sz="1600" dirty="0"/>
              <a:t>重合情况，适合评价关键词和主要物体是否正确</a:t>
            </a:r>
          </a:p>
          <a:p>
            <a:pPr algn="just">
              <a:lnSpc>
                <a:spcPct val="110000"/>
              </a:lnSpc>
            </a:pPr>
            <a:r>
              <a:rPr lang="en-US" altLang="zh-CN" sz="1600" b="1" dirty="0"/>
              <a:t>Bootstrap </a:t>
            </a:r>
            <a:r>
              <a:rPr lang="zh-CN" altLang="en-US" sz="1600" b="1" dirty="0"/>
              <a:t>置信区间</a:t>
            </a:r>
            <a:endParaRPr lang="zh-CN" altLang="en-US" sz="1600" dirty="0"/>
          </a:p>
          <a:p>
            <a:pPr marL="0" indent="0" algn="just">
              <a:lnSpc>
                <a:spcPct val="170000"/>
              </a:lnSpc>
              <a:buNone/>
            </a:pPr>
            <a:r>
              <a:rPr lang="zh-CN" altLang="en-US" sz="1600" dirty="0"/>
              <a:t>对 </a:t>
            </a:r>
            <a:r>
              <a:rPr lang="en-US" altLang="zh-CN" sz="1600" dirty="0"/>
              <a:t>200 </a:t>
            </a:r>
            <a:r>
              <a:rPr lang="zh-CN" altLang="en-US" sz="1600" dirty="0"/>
              <a:t>个配对样本进行 </a:t>
            </a:r>
            <a:r>
              <a:rPr lang="en-US" altLang="zh-CN" sz="1600" dirty="0"/>
              <a:t>2,000 </a:t>
            </a:r>
            <a:r>
              <a:rPr lang="zh-CN" altLang="en-US" sz="1600" dirty="0"/>
              <a:t>次有放回抽样，计算 </a:t>
            </a:r>
            <a:r>
              <a:rPr lang="en-US" altLang="zh-CN" sz="1600" dirty="0" err="1"/>
              <a:t>LoRA</a:t>
            </a:r>
            <a:r>
              <a:rPr lang="en-US" altLang="zh-CN" sz="1600" dirty="0"/>
              <a:t> </a:t>
            </a:r>
            <a:r>
              <a:rPr lang="zh-CN" altLang="en-US" sz="1600" dirty="0"/>
              <a:t>相对 </a:t>
            </a:r>
            <a:r>
              <a:rPr lang="en-US" altLang="zh-CN" sz="1600" dirty="0"/>
              <a:t>Base </a:t>
            </a:r>
            <a:r>
              <a:rPr lang="zh-CN" altLang="en-US" sz="1600" dirty="0"/>
              <a:t>的指标提升区间，用于判断提升是否稳定</a:t>
            </a:r>
          </a:p>
          <a:p>
            <a:pPr marL="0" indent="0">
              <a:lnSpc>
                <a:spcPct val="170000"/>
              </a:lnSpc>
              <a:buNone/>
            </a:pPr>
            <a:endParaRPr kumimoji="1" lang="en-US" altLang="zh-CN" sz="16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</p:txBody>
      </p:sp>
      <p:pic>
        <p:nvPicPr>
          <p:cNvPr id="7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6840" y="-134755"/>
            <a:ext cx="6995160" cy="3337560"/>
          </a:xfrm>
          <a:prstGeom prst="rect">
            <a:avLst/>
          </a:prstGeom>
        </p:spPr>
      </p:pic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474995" y="3392881"/>
          <a:ext cx="3749040" cy="33812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0533"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指标</a:t>
                      </a:r>
                    </a:p>
                  </a:txBody>
                  <a:tcPr>
                    <a:solidFill>
                      <a:srgbClr val="13234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sz="9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Base</a:t>
                      </a:r>
                    </a:p>
                  </a:txBody>
                  <a:tcPr>
                    <a:solidFill>
                      <a:srgbClr val="13234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LoRA</a:t>
                      </a:r>
                    </a:p>
                  </a:txBody>
                  <a:tcPr>
                    <a:solidFill>
                      <a:srgbClr val="13234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提升</a:t>
                      </a:r>
                    </a:p>
                  </a:txBody>
                  <a:tcPr>
                    <a:solidFill>
                      <a:srgbClr val="13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794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/>
                      <a:r>
                        <a:rPr sz="950" b="1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</a:rPr>
                        <a:t>BLEU-1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sz="950" b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</a:rPr>
                        <a:t>13.26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sz="950" b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</a:rPr>
                        <a:t>49.56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sz="950" b="0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</a:rPr>
                        <a:t>+36.30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794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/>
                      <a:r>
                        <a:rPr sz="950" b="1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</a:rPr>
                        <a:t>BLEU-2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sz="950" b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</a:rPr>
                        <a:t>6.94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sz="950" b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</a:rPr>
                        <a:t>30.99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sz="950" b="0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</a:rPr>
                        <a:t>+24.05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794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/>
                      <a:r>
                        <a:rPr sz="950" b="1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</a:rPr>
                        <a:t>BLEU-3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sz="950" b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</a:rPr>
                        <a:t>3.89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sz="950" b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</a:rPr>
                        <a:t>21.08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sz="950" b="0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</a:rPr>
                        <a:t>+17.19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794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/>
                      <a:r>
                        <a:rPr sz="950" b="1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</a:rPr>
                        <a:t>BLEU-4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sz="950" b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</a:rPr>
                        <a:t>2.23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sz="950" b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</a:rPr>
                        <a:t>15.21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sz="950" b="0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</a:rPr>
                        <a:t>+12.98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794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/>
                      <a:r>
                        <a:rPr sz="950" b="1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</a:rPr>
                        <a:t>ROUGE-L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sz="950" b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</a:rPr>
                        <a:t>19.20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sz="950" b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</a:rPr>
                        <a:t>45.67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sz="950" b="0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</a:rPr>
                        <a:t>+26.46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796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/>
                      <a:r>
                        <a:rPr sz="950" b="1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</a:rPr>
                        <a:t>Token F1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sz="950" b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</a:rPr>
                        <a:t>22.07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sz="950" b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</a:rPr>
                        <a:t>50.05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sz="950" b="0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</a:rPr>
                        <a:t>+27.97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 err="1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Qwen</a:t>
            </a:r>
            <a:r>
              <a:rPr kumimoji="1" lang="zh-CN" altLang="en-US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微调实验</a:t>
            </a:r>
            <a:endParaRPr kumimoji="1" lang="en-US" altLang="zh-CN" sz="4000" kern="0" dirty="0">
              <a:solidFill>
                <a:srgbClr val="045499"/>
              </a:solidFill>
              <a:uFillTx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425" y="1666240"/>
            <a:ext cx="12092940" cy="4351655"/>
          </a:xfrm>
        </p:spPr>
        <p:txBody>
          <a:bodyPr/>
          <a:lstStyle/>
          <a:p>
            <a:pPr marL="0" indent="0">
              <a:buNone/>
            </a:pP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</p:txBody>
      </p:sp>
      <p:pic>
        <p:nvPicPr>
          <p:cNvPr id="16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85" y="1247800"/>
            <a:ext cx="3674705" cy="2736482"/>
          </a:xfrm>
          <a:prstGeom prst="rect">
            <a:avLst/>
          </a:prstGeom>
        </p:spPr>
      </p:pic>
      <p:sp>
        <p:nvSpPr>
          <p:cNvPr id="18" name="TextBox 20"/>
          <p:cNvSpPr txBox="1"/>
          <p:nvPr/>
        </p:nvSpPr>
        <p:spPr>
          <a:xfrm>
            <a:off x="4228858" y="1064143"/>
            <a:ext cx="59436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1" i="0" dirty="0" err="1">
                <a:solidFill>
                  <a:srgbClr val="EA7623"/>
                </a:solidFill>
                <a:latin typeface="微软雅黑" panose="020B0503020204020204" pitchFamily="34" charset="-122"/>
              </a:rPr>
              <a:t>参考</a:t>
            </a:r>
            <a:endParaRPr b="1" i="0" dirty="0">
              <a:solidFill>
                <a:srgbClr val="EA762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21"/>
          <p:cNvSpPr txBox="1"/>
          <p:nvPr/>
        </p:nvSpPr>
        <p:spPr>
          <a:xfrm>
            <a:off x="4841551" y="1086218"/>
            <a:ext cx="5142342" cy="3231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5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dock crowded with several tied up rowing boats</a:t>
            </a:r>
            <a:r>
              <a:rPr sz="1150" b="0" i="0" dirty="0">
                <a:solidFill>
                  <a:srgbClr val="1F2937"/>
                </a:solidFill>
                <a:latin typeface="微软雅黑" panose="020B0503020204020204" pitchFamily="34" charset="-122"/>
              </a:rPr>
              <a:t>.</a:t>
            </a:r>
          </a:p>
        </p:txBody>
      </p:sp>
      <p:sp>
        <p:nvSpPr>
          <p:cNvPr id="20" name="Rounded Rectangle 22"/>
          <p:cNvSpPr/>
          <p:nvPr/>
        </p:nvSpPr>
        <p:spPr>
          <a:xfrm>
            <a:off x="4201471" y="1616568"/>
            <a:ext cx="7413102" cy="142327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1" name="TextBox 23"/>
          <p:cNvSpPr txBox="1"/>
          <p:nvPr/>
        </p:nvSpPr>
        <p:spPr>
          <a:xfrm>
            <a:off x="4228858" y="1781162"/>
            <a:ext cx="731565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1" i="0" dirty="0">
                <a:solidFill>
                  <a:srgbClr val="64748B"/>
                </a:solidFill>
                <a:latin typeface="微软雅黑" panose="020B0503020204020204" pitchFamily="34" charset="-122"/>
              </a:rPr>
              <a:t>Base</a:t>
            </a:r>
          </a:p>
        </p:txBody>
      </p:sp>
      <p:sp>
        <p:nvSpPr>
          <p:cNvPr id="22" name="TextBox 24"/>
          <p:cNvSpPr txBox="1"/>
          <p:nvPr/>
        </p:nvSpPr>
        <p:spPr>
          <a:xfrm>
            <a:off x="5024431" y="1708010"/>
            <a:ext cx="6397102" cy="124649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5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image depicts a harbor with several boats docked along the pier. The scene is sepia-toned, giving it a vintage or historical feel. The boats vary in size and design, suggesting a bustling fishing or boating community. The background features a building with a clock tower, which adds to the charm of the</a:t>
            </a:r>
            <a:r>
              <a:rPr lang="en-US" sz="15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sz="15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Rounded Rectangle 25"/>
          <p:cNvSpPr/>
          <p:nvPr/>
        </p:nvSpPr>
        <p:spPr>
          <a:xfrm>
            <a:off x="4201470" y="3511601"/>
            <a:ext cx="7456015" cy="7498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" name="TextBox 26"/>
          <p:cNvSpPr txBox="1"/>
          <p:nvPr/>
        </p:nvSpPr>
        <p:spPr>
          <a:xfrm>
            <a:off x="4221038" y="3689068"/>
            <a:ext cx="867014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1" i="0" dirty="0" err="1">
                <a:solidFill>
                  <a:srgbClr val="0D9488"/>
                </a:solidFill>
                <a:latin typeface="微软雅黑" panose="020B0503020204020204" pitchFamily="34" charset="-122"/>
              </a:rPr>
              <a:t>LoRA</a:t>
            </a:r>
            <a:endParaRPr b="1" i="0" dirty="0">
              <a:solidFill>
                <a:srgbClr val="0D948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7"/>
          <p:cNvSpPr txBox="1"/>
          <p:nvPr/>
        </p:nvSpPr>
        <p:spPr>
          <a:xfrm>
            <a:off x="4960423" y="3715681"/>
            <a:ext cx="4606910" cy="3231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5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dock filled with lots of boats and a building</a:t>
            </a:r>
            <a:r>
              <a:rPr sz="1050" b="1" i="0" dirty="0">
                <a:solidFill>
                  <a:srgbClr val="132340"/>
                </a:solidFill>
                <a:latin typeface="微软雅黑" panose="020B0503020204020204" pitchFamily="34" charset="-122"/>
              </a:rPr>
              <a:t>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38667" y="4465489"/>
            <a:ext cx="8223250" cy="24929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实验结论</a:t>
            </a:r>
            <a:endParaRPr lang="zh-CN" altLang="zh-CN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LoRA 成功让模型从对话式长回答转变为 COCO 风格的简短 caption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LoRA 输出平均 10.96 token，与参考答案的 11.21 token 非常接近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模型减少了无关解释、问句和背景知识，文本匹配指标显著提升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模型已能较稳定地识别主要物体、动作和场景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2 个 epoch 效果最好，继续训练会出现轻微过拟合</a:t>
            </a:r>
            <a:endParaRPr lang="zh-CN" altLang="zh-CN" sz="1600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1477617" y="2767280"/>
            <a:ext cx="92367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4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THANKS</a:t>
            </a:r>
          </a:p>
        </p:txBody>
      </p:sp>
      <p:pic>
        <p:nvPicPr>
          <p:cNvPr id="3" name="图片 2" descr="计算机楼——西门（蓝色）=="/>
          <p:cNvPicPr>
            <a:picLocks noChangeAspect="1"/>
          </p:cNvPicPr>
          <p:nvPr/>
        </p:nvPicPr>
        <p:blipFill>
          <a:blip r:embed="rId2"/>
          <a:srcRect l="1146" b="9039"/>
          <a:stretch>
            <a:fillRect/>
          </a:stretch>
        </p:blipFill>
        <p:spPr>
          <a:xfrm>
            <a:off x="0" y="3851910"/>
            <a:ext cx="12200255" cy="3006090"/>
          </a:xfrm>
          <a:prstGeom prst="rect">
            <a:avLst/>
          </a:prstGeom>
        </p:spPr>
      </p:pic>
      <p:pic>
        <p:nvPicPr>
          <p:cNvPr id="5" name="图片 4" descr="吉大logo-蓝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670" y="198915"/>
            <a:ext cx="3288660" cy="97066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45499"/>
      </a:accent1>
      <a:accent2>
        <a:srgbClr val="FEBF0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​​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等线" panose="02010600030101010101" charset="-122"/>
            <a:ea typeface="等线" panose="02010600030101010101" charset="-122"/>
            <a:cs typeface="等线" panose="02010600030101010101" charset="-122"/>
            <a:sym typeface="等线" panose="02010600030101010101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等线" panose="02010600030101010101" charset="-122"/>
            <a:ea typeface="等线" panose="02010600030101010101" charset="-122"/>
            <a:cs typeface="等线" panose="02010600030101010101" charset="-122"/>
            <a:sym typeface="等线" panose="02010600030101010101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45499"/>
      </a:accent1>
      <a:accent2>
        <a:srgbClr val="FEBF0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​​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等线" panose="02010600030101010101" charset="-122"/>
            <a:ea typeface="等线" panose="02010600030101010101" charset="-122"/>
            <a:cs typeface="等线" panose="02010600030101010101" charset="-122"/>
            <a:sym typeface="等线" panose="02010600030101010101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等线" panose="02010600030101010101" charset="-122"/>
            <a:ea typeface="等线" panose="02010600030101010101" charset="-122"/>
            <a:cs typeface="等线" panose="02010600030101010101" charset="-122"/>
            <a:sym typeface="等线" panose="02010600030101010101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主题​​</Template>
  <TotalTime>2819</TotalTime>
  <Words>646</Words>
  <Application>Microsoft Office PowerPoint</Application>
  <PresentationFormat>宽屏</PresentationFormat>
  <Paragraphs>124</Paragraphs>
  <Slides>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Calibri</vt:lpstr>
      <vt:lpstr>Wingdings</vt:lpstr>
      <vt:lpstr>等线</vt:lpstr>
      <vt:lpstr>等线 Light</vt:lpstr>
      <vt:lpstr>微软雅黑</vt:lpstr>
      <vt:lpstr>Office 主题​​</vt:lpstr>
      <vt:lpstr>Equation</vt:lpstr>
      <vt:lpstr>PowerPoint 演示文稿</vt:lpstr>
      <vt:lpstr>Qwen 微调实验</vt:lpstr>
      <vt:lpstr>Qwen 微调实验</vt:lpstr>
      <vt:lpstr>Qwen 微调实验</vt:lpstr>
      <vt:lpstr>Qwen微调实验</vt:lpstr>
      <vt:lpstr>Qwen微调实验</vt:lpstr>
      <vt:lpstr>Qwen微调实验</vt:lpstr>
      <vt:lpstr>Qwen微调实验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1300116177@qq.com</dc:creator>
  <cp:lastModifiedBy>210384759@qq.com</cp:lastModifiedBy>
  <cp:revision>78</cp:revision>
  <dcterms:created xsi:type="dcterms:W3CDTF">2025-06-10T05:19:00Z</dcterms:created>
  <dcterms:modified xsi:type="dcterms:W3CDTF">2026-09-29T04:06:20Z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F0D2EAEAD2034E239DB467EB7AC8C86B_13</vt:lpwstr>
  </property>
</Properties>
</file>