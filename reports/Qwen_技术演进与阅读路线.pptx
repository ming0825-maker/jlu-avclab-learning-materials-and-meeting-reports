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2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embeddedFontLst>
    <p:embeddedFont>
      <p:font typeface="Microsoft YaHei" panose="020B0503020204020204" pitchFamily="34" charset="-122"/>
      <p:regular r:id="rId41"/>
      <p:bold r:id="rId4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>
      <p:cViewPr varScale="1">
        <p:scale>
          <a:sx n="116" d="100"/>
          <a:sy n="116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Qwen2.5-32B-Base</c:v>
          </c:tx>
          <c:spPr>
            <a:solidFill>
              <a:srgbClr val="AF9AD9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62A4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MMLU-Pro</c:v>
                </c:pt>
                <c:pt idx="1">
                  <c:v>MATH</c:v>
                </c:pt>
                <c:pt idx="2">
                  <c:v>EvalPlus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55.1</c:v>
                </c:pt>
                <c:pt idx="1">
                  <c:v>57.7</c:v>
                </c:pt>
                <c:pt idx="2">
                  <c:v>66.25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77C-3541-9336-27EB53832B31}"/>
            </c:ext>
          </c:extLst>
        </c:ser>
        <c:ser>
          <c:idx val="1"/>
          <c:order val="1"/>
          <c:tx>
            <c:v>Qwen3-32B-Base</c:v>
          </c:tx>
          <c:spPr>
            <a:solidFill>
              <a:srgbClr val="08559C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62A4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MMLU-Pro</c:v>
                </c:pt>
                <c:pt idx="1">
                  <c:v>MATH</c:v>
                </c:pt>
                <c:pt idx="2">
                  <c:v>EvalPlus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65.540000000000006</c:v>
                </c:pt>
                <c:pt idx="1">
                  <c:v>61.62</c:v>
                </c:pt>
                <c:pt idx="2">
                  <c:v>72.05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77C-3541-9336-27EB53832B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1E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6668">
              <a:solidFill>
                <a:srgbClr val="D9E1ED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162A4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>
              <a:srgbClr val="AF9AD9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62A4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AVG</c:v>
                </c:pt>
                <c:pt idx="1">
                  <c:v>InfoVQA</c:v>
                </c:pt>
                <c:pt idx="2">
                  <c:v>DocVQA</c:v>
                </c:pt>
                <c:pt idx="3">
                  <c:v>TVQA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74.7</c:v>
                </c:pt>
                <c:pt idx="1">
                  <c:v>71.900000000000006</c:v>
                </c:pt>
                <c:pt idx="2">
                  <c:v>89.5</c:v>
                </c:pt>
                <c:pt idx="3">
                  <c:v>80.599999999999994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215-EF4A-9359-2B61BC7CD98D}"/>
            </c:ext>
          </c:extLst>
        </c:ser>
        <c:ser>
          <c:idx val="1"/>
          <c:order val="1"/>
          <c:tx>
            <c:v>DeepStack</c:v>
          </c:tx>
          <c:spPr>
            <a:solidFill>
              <a:srgbClr val="08559C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62A4A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AVG</c:v>
                </c:pt>
                <c:pt idx="1">
                  <c:v>InfoVQA</c:v>
                </c:pt>
                <c:pt idx="2">
                  <c:v>DocVQA</c:v>
                </c:pt>
                <c:pt idx="3">
                  <c:v>TVQA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76</c:v>
                </c:pt>
                <c:pt idx="1">
                  <c:v>74.2</c:v>
                </c:pt>
                <c:pt idx="2">
                  <c:v>91.1</c:v>
                </c:pt>
                <c:pt idx="3">
                  <c:v>80.5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215-EF4A-9359-2B61BC7CD9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1ED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6668">
              <a:solidFill>
                <a:srgbClr val="D9E1ED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162A4A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Microsoft YaHei"/>
        <a:ea typeface="Microsoft YaHei"/>
        <a:cs typeface="Microsoft YaHe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本次报告面向已经了解 Transformer 基础、希望快速进入 Qwen 相关研究的同学。主线先介绍基础模型和训练流程，再解释推理预算与高效架构，最后连接视觉、Agent 和音视频分支。报告中的性能数字都来自对应版本的官方报告，讨论的是设计和证据，不将历史结果当作当前排行榜。正文可按约 40 分钟讲解，阅读清单和文献页供会后使用。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https://arxiv.org/abs/2412.15115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不要把 Qwen 仅当成一个模型名称。一个研究实验至少涉及底层架构、权重训练阶段、推理配置和任务环境四层条件。例如，Qwen3-8B 与同家族 MoE 的比较不能只看名称中的数字，Base 与 Instruct 也承担不同实验角色。今天的报告围绕这四个坐标展开，最终落到大家如何选择代表性论文和设计复现。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https://arxiv.org/abs/2412.15115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本页解释前面调研“常用 backbone”时的统计口径。论文出现一个模型名称并不等于作者拿它训练了方法。若 GPT 只作为评估器、Qwen 承担策略网络，两者角色不同。视觉方法还可能只改视觉 token 或连接器，但仍依赖完整 VLM 的预训练权重。组会上读实验设置时，建议首先写出模型的确切名称和作用位置。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DeepSeek-R1: Incentivizing Reasoning Capability in LLMs via Reinforcement Learning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https://arxiv.org/abs/2501.12948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https://arxiv.org/abs/2511.21631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这条时间线强调学习顺序。Qwen2.5 建立基础模型的训练框架，Qwen3 是推理与蒸馏的重点，Qwen3-Next 是架构桥梁，Qwen3.5 将高效架构用于原生视觉语言模型。最后的 Qwen3.8-Next 已经有 2026 年 8 月 31 日提交的 arXiv 报告。各节点的日期口径在表中注明，有的是模型发布，有的是技术报告，不应直接混作论文录用日期。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https://arxiv.org/abs/2412.15115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Qwen3-Next-80B-A3B-Instruct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https://huggingface.co/Qwen/Qwen3-Next-80B-A3B-Instruct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Qwen3.5: Towards Native Multimodal Agents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https://qwen.ai/blog?id=qwen3.5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这一页可以让同学现场读一个模型名称。MoE 的优势主要是将总容量与每 token 计算分开，但不自动等同于小模型显存。模型名也不总能完整表达训练方法，特别是 Thinking 与 Instruct 在初代 Qwen3 和 Qwen3-Next 的组织方式不同。最后还要记录量化精度、上下文、采样设置，这些通常在模型卡而不是论文主表中。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Qwen3-Next-80B-A3B-Instruct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https://huggingface.co/Qwen/Qwen3-Next-80B-A3B-Instruct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DeepSeek-R1: Incentivizing Reasoning Capability in LLMs via Reinforcement Learning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https://arxiv.org/abs/2501.12948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本页无需逐项推导公式，但要解释每个组件解决什么。GQA 主要涉及注意力缓存成本；RoPE 让注意力感知位置，但使用 RoPE 并不保证任意长度外推；SwiGLU 承担大部分非线性表示变换。预归一化与残差路径是深网络稳定训练的关键。Qwen2.5 的开放 Dense 家族和 API MoE 产品要分别讨论。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https://arxiv.org/abs/2412.15115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预训练和 SFT 的数据规模不能直接相加比较，因为目标和监督形式不同。预训练学习大量文本的统计规律，SFT 用较小但高质量的数据约束模型如何回答。偏好学习进一步区分哪些回答更符合目标。这里把流程拆开，是为了后面理解 Qwen3 为什么增加长思维链冷启动、推理 RL 与模式融合。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https://arxiv.org/abs/2412.15115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解释 MoE 时可以将 FFN 看作多个可选择的专家：路由器为当前 token 选少数专家处理，再汇合结果。不同 token 可以选不同专家，这就扩大了总参数容量而减少每步参与计算的参数。初代 Qwen3 不使用共享专家，但后续 Next 系列有不同设计，所以不能把一代架构的具体数量直接套到整个家族。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这里的选型是研究建议，不是硬件部署承诺。实际能否训练需要根据精度、优化器状态、序列长度和并行策略计算。小 Dense 便于快速验证机制，但不能自动代表大 MoE 的训练行为。对于组会复现，优先选论文实际使用且实验室资源允许的 checkpoint，做完主结论后再扩展模型范围。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三个阶段不是互相独立的三个模型，而是数据配比和训练长度逐渐变化。官方还使用 Qwen2.5-VL 从文档抽取文本，用 Math 和 Coder 生成专业合成数据。这展示了模型家族如何反过来帮助下一代构造训练语料。32K 是这里长上下文训练阶段的描述，不意味着所有型号在推理端只能使用 32K，也不意味着都原生训练到 128K。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Qwen3: Think Deeper, Act Faster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https://qwenlm.github.io/blog/qwen3/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先讲上半部分。冷启动让模型掌握可读的长推理形式，推理 RL 通过可验证任务反馈提高能力，模式融合把思考和非思考数据共同引入，通用 RL 补足广泛任务。再讲下半部分：轻量模型并不简单重复旗舰训练，而是利用强教师蒸馏。这一分工对实验室很重要，因为资源有限时，蒸馏与直接强化学习是两个不同起点。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图表出处：原报告 Figure 1，保持原图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可以用两个任务举例：一句话改写没有必要使用很长思考；需要排除多种情况的数学题则可能受益。模式开关与预算不是同一个旋钮。原报告在思考达到阈值后停止思考，并插入 stop-thinking 提示使模型继续生成最终答案；这与直接截断全部输出不同。预算变长也不保证每个问题正确率严格增加，因此评测要画整个质量与成本曲线。还要强调我们讨论的是报告对应的初代混合模式，后续模型应看具体模型卡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Qwen3: Think Deeper, Act Faster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https://qwenlm.github.io/blog/qwen3/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Qwen3-Next-80B-A3B-Instruct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https://huggingface.co/Qwen/Qwen3-Next-80B-A3B-Instruct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原报告在达到思考预算后插入 stop-thinking 提示，模型仍继续生成最终答案。横轴是思考预算，单位是千 token；纵轴是各任务表现。红色虚线为非思考参考，蓝色为思考模式。读图先看趋势，再看不同任务的增益差别，最后看收益是否开始减缓。这里保留原图而不估读每个点的精确值。组会可进一步讨论：在同样总 token 预算下，一次长推理与多次短采样应该如何比较。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图表出处：原报告 Figure 2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这部分是 Qwen3 报告强到弱迁移的关键。离线蒸馏类似学习教师示范；on-policy 蒸馏让教师在学生自己会走到的轨迹上提供指导，更直接地应对分布差异。它和只用最终答案打奖励的 RL 不同。实验室可以比较相同数据或计算预算下，SFT 蒸馏、on-policy 蒸馏和 RL 的训练效率。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图表出处：§4.5、§4.7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这张图选同规模的 Dense Base 比较，以减少把更大模型或后训练收益混进结论。MMLU-Pro、MATH 和 EvalPlus 三项均提高，但变化还包含数据规模、数据配比与训练过程，因此不能单独归因于架构的一小处修改。分数来自 2025 年 Qwen3 报告 Table 4，是历史版本结果。柱状图从零开始，避免视觉夸大差异。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图表出处：Table 4；纵轴为分数，差值为百分点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名字中同时出现 DeepSeek 和 Qwen 很容易造成混淆。DeepSeek-R1 主模型与 R1-Distill-Qwen 不是同一种架构。原论文先从强模型取得高质量数据，再微调 Qwen 学生。这里引用的对照来自特定训练与评测设置，用于理解蒸馏价值，而不是对 RL 作普遍否定。对于后续论文，还要检查作者是否又在蒸馏学生上追加了 RL。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DeepSeek-R1: Incentivizing Reasoning Capability in LLMs via Reinforcement Learning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https://arxiv.org/abs/2501.12948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图表出处：§2.4、§4.1、Table 6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Full Attention 能直接访问历史 token，但长序列带来计算和 KV cache 成本。GDN 将历史压缩为固定大小状态，适合高效递推，但精确找回细节可能需要补充注意力。因此混合架构利用两类机制的互补。Qwen3.5 继承这一方向并原生融合图文。这里的型号是具体旗舰示例，不代表每个家族成员都使用相同参数规模。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Qwen3-Next-80B-A3B-Instruct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https://huggingface.co/Qwen/Qwen3-Next-80B-A3B-Instruct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Qwen3.5-397B-A17B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https://huggingface.co/Qwen/Qwen3.5-397B-A17B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先顺着左侧读堆叠，再看右侧的单个子层。GDN 和 QSA 替换不同层的 token 混合方式；MoE 负责前馈计算；GR 让每个子层从多分支残差读取并写回。底部 N-gram 层利用局部 token 组合查表扩展容量。不要把图里所有新组件都称为 attention，也不要把总参数、激活参数和查表参数合成一个不清晰的数字。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Qwen3.8-Flash-Next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https://huggingface.co/Qwen/Qwen3.8-Flash-Next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图表出处：原报告 Figure 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本页放大原报告 Figure 1 的 QSA 子层，按从下向上的方向讲解。左侧四个圆表示扩展的残差分支，GR Read 将这些信息组合为右侧单路隐藏状态，再送入稀疏注意力。子层输出经 GR Write 写回扩展残差，接着以同样读写方式经过 MoE。GDN 子层将注意力计算替换为 Gated DeltaNet，GR 的残差管理结构相似。图为原图局部裁切，未改动箭头或模块。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图表出处：Figure 1，QSA Layer 局部放大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解释 QSA 时，不需要让听众记住所有张量形状。可以把它分成候选筛选和精确读取两步：轻量索引器在压缩后的块上打分，再用这些索引做注意力。与 token 级索引相比，块级压缩进一步减少索引开销。代价是压缩和稀疏选择可能丢失细节，必须通过长上下文检索和质量消融共同验证。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图表出处：原报告 Figure 3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这张图的作用是教大家判断效率证据。Prefill 处理输入序列，Decode 逐 token 生成，两者瓶颈不同。内核延迟不能直接当作完整 Agent 任务耗时。官方的训练 FLOPs 比较还同时改变了激活参数和训练数据量，因此不能翻译成任何部署场景下固定九倍速度。Figure 6 中，Prefill 使用 16K chunk、batch=1；Decode 使用 batch=4、next_n=4（3 步 MTP）。训练 FLOPs 比较对象为 Qwen3.7-Plus。对于自己的复现，应记录端到端首 token、输出速度和峰值显存。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Qwen3.8-Flash-Next 官方发布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https://qwen.ai/blog?id=qwen3.8-flash-next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图表出处：原报告 Figure 6；不将 kernel 结果等同端到端速度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MRCR 要求在长上下文中找到并区分多条指定信息。这里的结果与速度图互补：如果只有延迟下降，而质量明显崩溃，方法价值就不同。此表显示特定消融中 QSA 的检索表现提高，但绝对分数仍有限。支持“这个配置改善了检索”，不支持“模型可以无损理解任意百万 token 内容”。差值是分数相减。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图表出处：Table 3；差值为百分点，具体协议以原表为准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Gated Residual 改变信息在深网络中流动的方式，N-gram Embedding 把一部分容量放到查表记忆，Muon 则改变矩阵参数更新。Input Embedding、输出头、Router 与 GR 投影使用 AdamW；N-gram 表使用 Adam 并关闭 weight decay。它们分别对应不同瓶颈，因此评估指标也不同。例如，查表计算便宜并不表示主机内存传输免费。阅读时建议给每个组件做一张因果表：目标是什么，控制组是什么，结果改变多少，还有什么代价。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Qwen3.8-Flash-Next 官方发布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https://qwen.ai/blog?id=qwen3.8-flash-next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从左到右讲视觉输入如何变成 token，再说明这些 token 如何进入语言模型。早期 VLM 往往只在接口处融合，DeepStack 将多层视觉特征向语言层输送，试图减少细节丢失。视频还要区分帧顺序与实际时间间隔，文本时间戳为模型提供清晰的时间锚点。对实验室的情绪、动作和社会信号任务，时间定位与细粒度视觉证据值得单独评测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https://arxiv.org/abs/2511.21631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图表出处：原报告 Figure 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本页是 Qwen3-VL Figure 1 的 DeepStack 局部放大。原图右侧的多个 LLM 层接收来自视觉编码器不同层的视觉特征，而不是只使用单一层的最终输出。讨论时重点区分深层视觉表征与语言层处理：DeepStack 是跨层传递视觉信息的融合方案。机制合理性仍需实验检验，下一页给出作者在内部 15B-A2B 模型上的消融。图为原图局部裁切。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https://arxiv.org/abs/2511.21631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图表出处：Figure 1，DeepStack 局部放大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这是一张比大榜单更适合组会的方法消融图。控制模型和训练预算后，加入 DeepStack 的整体平均表现提高。InfoVQA 和 DocVQA 的提升提示丰富视觉信息对文档细节有帮助；TVQA 的轻微下降则提醒我们机制收益与任务有关。该消融模型是内部 15B-A2B，不能把平均加 1.3 直接写进公开 8B 模型的预期收益。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https://arxiv.org/abs/2511.21631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图表出处：Table 9；重新绘制所选指标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Qwen2.5-VL 是理解成熟视觉 backbone 的重要前置，不应仅因发布日期早就跳过。Qwen3-VL 适合重点讲机制与消融，Qwen3.5 则将视觉语言能力与高效混合主干进一步结合。复现视觉方法时要控制输入尺寸和 token 预算，否则增加分辨率带来的提升可能被误归因于新方法。时间定位、表情或动作细节也需要独立任务。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https://arxiv.org/abs/2502.13923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https://arxiv.org/abs/2511.21631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Qwen3.5: Towards Native Multimodal Agents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https://qwen.ai/blog?id=qwen3.5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这里的训练单位是一段包含行动、观察和反馈的交互，不只是最后一份代码。报告使用软件工程等可执行任务，使验证更加明确。三项分数对应 SWE-Agent、MiniSWE-Agent 和 OpenHands，最多 300 回合，不能脱离这些环境直接比较。对视觉 Agent 也一样，需要检查模型是否真正根据屏幕状态行动，还是学会了训练环境的捷径。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Qwen3-Coder-Next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https://arxiv.org/abs/2603.00729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图表出处：§2、§4.2、Table 3；最多 300 回合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这一页提供方法论文方向，而不是要求大家在介绍报告里推完全部目标函数。GSPO 关注序列级概率比与裁剪；SAPO 则以平滑门控处理偏离行为策略的 token。对大 MoE 来说，采样与训练状态之间的变化会放大优化不稳定。真正的复现需要把初始化、奖励、采样量和计算预算固定，再同时观察正确率和训练曲线。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Group Sequence Policy Optimization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https://arxiv.org/abs/2507.18071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Soft Adaptive Policy Optimization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https://arxiv.org/abs/2511.20347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全模态系统需要把理解与输出同步看待。Thinker 的回答能力和 Talker 的语音质量是不同问题，ARIA 处理两种 token 节奏之间的对齐。表中数据用于说明并发与延迟权衡，不应作为自己的机器性能预期。对人机交互研究，可以进一步设计音频、字幕和视觉冲突的任务，检查模型依赖哪种模态，并记录首包延迟。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Qwen3.5-Omni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https://arxiv.org/abs/2604.15804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图表出处：§2.4–2.5、Table 2；Flash 理论首包延迟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一轮的目标不是读透所有公式，而是建立可以进入组会讨论的框架。先看摘要、总体架构和关键图，再跳到证明该设计的实验。对每篇只留下几项输出：改动在哪里、训练信号是什么、控制组是什么。实际时间会随背景变化，因此给出四到六小时范围。第二轮再沿自己方向精读一篇，并下载其代码与模型卡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https://arxiv.org/abs/2412.15115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Qwen3-Next-80B-A3B-Instruct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https://huggingface.co/Qwen/Qwen3-Next-80B-A3B-Instruct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这里结合实验室的视觉和人机交互方向给出建议。Qwen3-VL 的图和消融清楚，适合让全组建立共同背景。SAPO 能进一步提供一个相对集中的算法问题。Coder-Next 和 Omni 则对应行动与实时交互，可以由不同同学选讲。每次报告应带一个可以检验的假设，避免停留在性能介绍。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https://arxiv.org/abs/2511.21631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Soft Adaptive Policy Optimization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https://arxiv.org/abs/2511.20347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Qwen3-Coder-Next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https://arxiv.org/abs/2603.00729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Qwen3.5-Omni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https://arxiv.org/abs/2604.15804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套介绍可整体作为较长导读，也可以按这个结构改成单篇组会。报告机制时不要把每一个模块平均用力，选对最终结论最关键的两个。实验部分至少有消融，否则听众很难判断创新点的贡献。结束时提出具体问题，例如固定视觉预算时多层特征是否仍然有收益，而不是只说未来可以进一步优化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报告组织与研究建议。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这是给实验室的可执行研究提案，尚不是已完成实验。先固定一个可运行模型和测试子集，再改变推理预算，避免同时换分辨率或模型版本。图像遮挡、错配和文本对照可以检查模型是否真正利用视觉。统计准确率之外，还要记录失败例子和实际成本。若需要训练，再根据该诊断决定是改视觉融合还是奖励设计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https://arxiv.org/abs/2511.21631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最后回到报告开头的四个坐标。Qwen 的代表性在于它提供了完整且持续演进的研究接口，但具体模型仍然有使用边界。我们选择论文时，一方面看问题是否重要，另一方面看证据能否支持设计。后续阅读建议是先把 Qwen3 或 Qwen3-VL 讲透，再按研究目标走向高效架构、强化学习或 Agent。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https://arxiv.org/abs/2511.21631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本页链接可点击。Qwen2.5、Qwen3 与 Qwen3.8-Next 为 arXiv 技术报告；Qwen3-Next 与 Qwen3.5 对应官方模型卡和发布资料。阅读时以具体版本的报告和配置为准。核查日期为 2026 年 9 月 10 日。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报告组织与研究建议。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https://arxiv.org/abs/2412.15115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https://arxiv.org/abs/2505.09388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Qwen3: Think Deeper, Act Faster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https://qwenlm.github.io/blog/qwen3/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Qwen3-Next-80B-A3B-Instruct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https://huggingface.co/Qwen/Qwen3-Next-80B-A3B-Instruct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Qwen3.5: Towards Native Multimodal Agents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https://qwen.ai/blog?id=qwen3.5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Qwen3.5-397B-A17B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https://huggingface.co/Qwen/Qwen3.5-397B-A17B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On the Design of Qwen3.8-Next Architecture: Evaluation, Efficiency, and Training Stability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https://arxiv.org/abs/2608.30320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Qwen3.8-Flash-Next 模型卡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https://huggingface.co/Qwen/Qwen3.8-Flash-Next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分支阅读建议优先匹配研究问题。Qwen3-VL 支持视觉机制和消融讨论，SAPO 支持稳定策略优化的算法讨论，Coder-Next 支持可执行环境反馈，Omni 支持音视频实时交互。这些均按论文或技术报告引用，不统一标记顶会录用。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报告组织与研究建议。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Qwen2.5-VL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https://arxiv.org/abs/2502.13923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Qwen3-VL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https://arxiv.org/abs/2511.21631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DeepSeek-R1: Incentivizing Reasoning Capability in LLMs via Reinforcement Learning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https://arxiv.org/abs/2501.12948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Group Sequence Policy Optimization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https://arxiv.org/abs/2507.18071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Soft Adaptive Policy Optimization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https://arxiv.org/abs/2511.20347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Qwen3-Coder-Next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https://arxiv.org/abs/2603.00729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Qwen3.5-Omni Technical Report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https://arxiv.org/abs/2604.15804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可用三个问题开始讨论：我们的研究瓶颈更多来自视觉表示、奖励设计还是推理预算？现有实验是否已经固定了模型身份与输入输出预算？下一次组会适合精读 Qwen3-VL、SAPO 还是 Qwen3.8-Next？根据研究资源确定具体模型和验证计划。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本页参考来源：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报告组织与研究建议。</a:t>
            </a:r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r>
              <a:t>资料核查日期：2026-09-10。原论文插图保留原有字体，正文、表格、图表和讲稿备注使用微软雅黑。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qwen.ai/blog?id=qwen3.5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huggingface.co/Qwen/Qwen3-Next-80B-A3B-Instruct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qwenlm.github.io/blog/qwen3/" TargetMode="External"/><Relationship Id="rId11" Type="http://schemas.openxmlformats.org/officeDocument/2006/relationships/hyperlink" Target="https://huggingface.co/Qwen/Qwen3.8-Flash-Next" TargetMode="External"/><Relationship Id="rId5" Type="http://schemas.openxmlformats.org/officeDocument/2006/relationships/hyperlink" Target="https://arxiv.org/abs/2505.09388" TargetMode="External"/><Relationship Id="rId10" Type="http://schemas.openxmlformats.org/officeDocument/2006/relationships/hyperlink" Target="https://arxiv.org/abs/2608.30320" TargetMode="External"/><Relationship Id="rId4" Type="http://schemas.openxmlformats.org/officeDocument/2006/relationships/hyperlink" Target="https://arxiv.org/abs/2412.15115" TargetMode="External"/><Relationship Id="rId9" Type="http://schemas.openxmlformats.org/officeDocument/2006/relationships/hyperlink" Target="https://huggingface.co/Qwen/Qwen3.5-397B-A17B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11.20347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2507.18071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501.12948" TargetMode="External"/><Relationship Id="rId5" Type="http://schemas.openxmlformats.org/officeDocument/2006/relationships/hyperlink" Target="https://arxiv.org/abs/2511.21631" TargetMode="External"/><Relationship Id="rId10" Type="http://schemas.openxmlformats.org/officeDocument/2006/relationships/hyperlink" Target="https://arxiv.org/abs/2604.15804" TargetMode="External"/><Relationship Id="rId4" Type="http://schemas.openxmlformats.org/officeDocument/2006/relationships/hyperlink" Target="https://arxiv.org/abs/2502.13923" TargetMode="External"/><Relationship Id="rId9" Type="http://schemas.openxmlformats.org/officeDocument/2006/relationships/hyperlink" Target="https://arxiv.org/abs/2603.00729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355521"/>
            <a:ext cx="3143250" cy="92725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279631"/>
            <a:ext cx="1581150" cy="105998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068FC11-B9D5-464A-B25A-1034D23BA258}"/>
              </a:ext>
            </a:extLst>
          </p:cNvPr>
          <p:cNvSpPr>
            <a:spLocks noGrp="1"/>
          </p:cNvSpPr>
          <p:nvPr/>
        </p:nvSpPr>
        <p:spPr>
          <a:xfrm>
            <a:off x="647700" y="1724025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AVC LAB RESEARCH SEMINAR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AE202E-4CDF-4E80-B70E-77DEB13F467B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109728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54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 大模型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D45C66-6699-4CA9-BA0A-975009AA4781}"/>
              </a:ext>
            </a:extLst>
          </p:cNvPr>
          <p:cNvSpPr>
            <a:spLocks noGrp="1"/>
          </p:cNvSpPr>
          <p:nvPr/>
        </p:nvSpPr>
        <p:spPr>
          <a:xfrm>
            <a:off x="638175" y="33528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400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技术演进、关键机制与论文阅读路线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A8E27E-4972-49CE-B524-677D7222F4BF}"/>
              </a:ext>
            </a:extLst>
          </p:cNvPr>
          <p:cNvSpPr>
            <a:spLocks noGrp="1"/>
          </p:cNvSpPr>
          <p:nvPr/>
        </p:nvSpPr>
        <p:spPr>
          <a:xfrm>
            <a:off x="647700" y="4133850"/>
            <a:ext cx="952500" cy="38100"/>
          </a:xfrm>
          <a:prstGeom prst="rect">
            <a:avLst/>
          </a:prstGeom>
          <a:solidFill>
            <a:srgbClr val="6A57B8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AD7E1B-EBD8-4D72-B142-06A32CA94FC3}"/>
              </a:ext>
            </a:extLst>
          </p:cNvPr>
          <p:cNvSpPr>
            <a:spLocks noGrp="1"/>
          </p:cNvSpPr>
          <p:nvPr/>
        </p:nvSpPr>
        <p:spPr>
          <a:xfrm>
            <a:off x="647700" y="44291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从 Qwen2.5 到 Qwen3.8-Next · 面向组会的技术导读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325133" y="5238750"/>
            <a:ext cx="5541735" cy="16192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DC2BBC7-8D4E-46FB-82F1-603FCB6BDAFC}"/>
              </a:ext>
            </a:extLst>
          </p:cNvPr>
          <p:cNvSpPr>
            <a:spLocks noGrp="1"/>
          </p:cNvSpPr>
          <p:nvPr/>
        </p:nvSpPr>
        <p:spPr>
          <a:xfrm>
            <a:off x="647700" y="491490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2026 年 9 月  |  资料核查：2026-09-10</a:t>
            </a:r>
          </a:p>
        </p:txBody>
      </p:sp>
    </p:spTree>
    <p:extLst>
      <p:ext uri="{BB962C8B-B14F-4D97-AF65-F5344CB8AC3E}">
        <p14:creationId xmlns:p14="http://schemas.microsoft.com/office/powerpoint/2010/main" val="987387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610D6E2-151C-42B1-93B4-05E706FCD61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01 研究定位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121CFEE-F669-4EDC-8396-CAEF330602E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理解 Qwen，需要建立四个坐标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2CE3D5-7D63-4246-81D5-0A4A915D813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20F603-0B53-4C87-B3AA-FBD2CF2EC1F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9D42D4-89C8-41E5-8836-5239D8B83A05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模型名字背后是不同的架构、训练阶段和使用方式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DF213D-CBE1-41BD-917B-FFA84145324F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787043-564C-4B89-85C9-6C4BE49CF5D3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阅读目标：能够解释“改了什么、为什么有效、证据在哪里”。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B9DAD-9769-4234-9D73-CC9370C8E44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Qwen2.5 报告，§2–4；Qwen3 报告，2025-05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CC9EBE-FC8B-4C4D-B27D-C62FE110E772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02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4336BB-1214-4A7B-A69F-1206047E85DC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071B45-95BF-4B1D-A84C-96BFBBE07AE7}"/>
              </a:ext>
            </a:extLst>
          </p:cNvPr>
          <p:cNvSpPr>
            <a:spLocks noGrp="1"/>
          </p:cNvSpPr>
          <p:nvPr/>
        </p:nvSpPr>
        <p:spPr>
          <a:xfrm>
            <a:off x="1323975" y="22860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F6363D-A09B-4C8F-9BB4-35E7AE2EF54E}"/>
              </a:ext>
            </a:extLst>
          </p:cNvPr>
          <p:cNvSpPr>
            <a:spLocks noGrp="1"/>
          </p:cNvSpPr>
          <p:nvPr/>
        </p:nvSpPr>
        <p:spPr>
          <a:xfrm>
            <a:off x="3810000" y="22860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Dense、MoE 和混合注意力分别决定计算、存储与长上下文行为。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F13099-12C0-4B2E-BE31-92C501D5BD66}"/>
              </a:ext>
            </a:extLst>
          </p:cNvPr>
          <p:cNvSpPr>
            <a:spLocks noGrp="1"/>
          </p:cNvSpPr>
          <p:nvPr/>
        </p:nvSpPr>
        <p:spPr>
          <a:xfrm>
            <a:off x="1323975" y="29813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AE5C16-BAA0-466C-84D3-63D030256DFF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DEA25A-3282-4FD2-90B3-E0D15CAEAA63}"/>
              </a:ext>
            </a:extLst>
          </p:cNvPr>
          <p:cNvSpPr>
            <a:spLocks noGrp="1"/>
          </p:cNvSpPr>
          <p:nvPr/>
        </p:nvSpPr>
        <p:spPr>
          <a:xfrm>
            <a:off x="1323975" y="31432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074069-C9CD-4C23-B193-B6472E7C6C13}"/>
              </a:ext>
            </a:extLst>
          </p:cNvPr>
          <p:cNvSpPr>
            <a:spLocks noGrp="1"/>
          </p:cNvSpPr>
          <p:nvPr/>
        </p:nvSpPr>
        <p:spPr>
          <a:xfrm>
            <a:off x="3810000" y="31432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预训练形成基础能力，SFT 与强化学习改变指令遵循和推理行为。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12CAF8-DC15-4712-A07C-1AED46E742A0}"/>
              </a:ext>
            </a:extLst>
          </p:cNvPr>
          <p:cNvSpPr>
            <a:spLocks noGrp="1"/>
          </p:cNvSpPr>
          <p:nvPr/>
        </p:nvSpPr>
        <p:spPr>
          <a:xfrm>
            <a:off x="1323975" y="383857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D04111-AD14-409C-B0F8-0AC0FFC131E7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750D22-C4B6-40BB-91C0-A6FE917EC1EC}"/>
              </a:ext>
            </a:extLst>
          </p:cNvPr>
          <p:cNvSpPr>
            <a:spLocks noGrp="1"/>
          </p:cNvSpPr>
          <p:nvPr/>
        </p:nvSpPr>
        <p:spPr>
          <a:xfrm>
            <a:off x="1323975" y="40005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E16E3A-2234-4666-9982-D6B381F64924}"/>
              </a:ext>
            </a:extLst>
          </p:cNvPr>
          <p:cNvSpPr>
            <a:spLocks noGrp="1"/>
          </p:cNvSpPr>
          <p:nvPr/>
        </p:nvSpPr>
        <p:spPr>
          <a:xfrm>
            <a:off x="3810000" y="40005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思考模式、输出预算、工具环境会改变同一模型的质量和时延。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5F05A8-EAAE-48E6-80D8-110EAC8F77DB}"/>
              </a:ext>
            </a:extLst>
          </p:cNvPr>
          <p:cNvSpPr>
            <a:spLocks noGrp="1"/>
          </p:cNvSpPr>
          <p:nvPr/>
        </p:nvSpPr>
        <p:spPr>
          <a:xfrm>
            <a:off x="1323975" y="46958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1924C1-EAE7-4737-BF21-1919AF47E4BB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B16548F-2229-44E6-A045-E103C6377F03}"/>
              </a:ext>
            </a:extLst>
          </p:cNvPr>
          <p:cNvSpPr>
            <a:spLocks noGrp="1"/>
          </p:cNvSpPr>
          <p:nvPr/>
        </p:nvSpPr>
        <p:spPr>
          <a:xfrm>
            <a:off x="1323975" y="48577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0C1B43-5099-4AE6-877A-2BA7D5697144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先识别论文实际使用的 checkpoint，再判断方法贡献和复现成本。</a:t>
            </a:r>
          </a:p>
        </p:txBody>
      </p:sp>
    </p:spTree>
    <p:extLst>
      <p:ext uri="{BB962C8B-B14F-4D97-AF65-F5344CB8AC3E}">
        <p14:creationId xmlns:p14="http://schemas.microsoft.com/office/powerpoint/2010/main" val="60457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FCDCFC29-828B-43D7-A039-D17FBCFDDE59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01 研究定位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8F85898-6190-4366-88C2-D66A144AE7F7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论文中的 Backbone 指什么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579120-08BC-4C81-9200-00CE711D930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D426D5-7C77-422D-9C46-219DF66B2A7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C4430B-789D-45D1-A28D-B428A022A33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Backbone 是方法实际依赖的基础网络或预训练权重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CD6C92-6557-4B17-B9F6-3FCAB2EE89B3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2221A2-7263-4D36-93E5-8FA9CB0B0BDE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例如 R1-Distill-Qwen：发布者是 DeepSeek，学生网络来自 Qwen。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10BE24-0B59-4AE8-9BE7-37F8B152127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DeepSeek-R1 报告，§2.4 / §4.1；Qwen3-VL 报告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35F36B-7DED-496A-A230-7EB28821B33E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03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3ADE36-654C-4B35-94F3-BE0C46A455C4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方法作用的位置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B320C7-B943-4FD8-9854-C899BF493B99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CAA286-C305-432C-843F-02F5B2C01104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继续训练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C377D7-A634-4E7F-8101-03662E86B362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从 Base 或 Instruct 出发，做 SFT、RL、LoRA 或领域适配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7D7573-A99E-4A89-9218-BC1AD1201B58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推理时增强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2F260C-F2A2-462F-A8CC-CCF49EB764C9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保持模型参数固定，增加检索、工具调用、记忆或视觉 token 策略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CEB93F-5592-412B-8AF3-2519B5C9E4CE}"/>
              </a:ext>
            </a:extLst>
          </p:cNvPr>
          <p:cNvSpPr>
            <a:spLocks noGrp="1"/>
          </p:cNvSpPr>
          <p:nvPr/>
        </p:nvSpPr>
        <p:spPr>
          <a:xfrm>
            <a:off x="64770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必须区分的角色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562BCA-A78F-4E57-9E41-3F0AC195F0F6}"/>
              </a:ext>
            </a:extLst>
          </p:cNvPr>
          <p:cNvSpPr>
            <a:spLocks noGrp="1"/>
          </p:cNvSpPr>
          <p:nvPr/>
        </p:nvSpPr>
        <p:spPr>
          <a:xfrm>
            <a:off x="64770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94B819-4BF4-4118-806D-F5E837A23E44}"/>
              </a:ext>
            </a:extLst>
          </p:cNvPr>
          <p:cNvSpPr>
            <a:spLocks noGrp="1"/>
          </p:cNvSpPr>
          <p:nvPr/>
        </p:nvSpPr>
        <p:spPr>
          <a:xfrm>
            <a:off x="64770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教师与评估器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4EC185-9791-4CEC-8163-5EBB1BAF7A9A}"/>
              </a:ext>
            </a:extLst>
          </p:cNvPr>
          <p:cNvSpPr>
            <a:spLocks noGrp="1"/>
          </p:cNvSpPr>
          <p:nvPr/>
        </p:nvSpPr>
        <p:spPr>
          <a:xfrm>
            <a:off x="64770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生成训练数据、打分或判断正确性的模型，未必是目标 backbone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987B52-2A6C-4CE4-9460-A807406B094E}"/>
              </a:ext>
            </a:extLst>
          </p:cNvPr>
          <p:cNvSpPr>
            <a:spLocks noGrp="1"/>
          </p:cNvSpPr>
          <p:nvPr/>
        </p:nvSpPr>
        <p:spPr>
          <a:xfrm>
            <a:off x="64770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完整多模态系统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3F36DCD-6A60-4833-8355-E073CF4948A8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视觉语言模型包含视觉编码器、连接模块和语言解码器，统计口径要一致</a:t>
            </a:r>
          </a:p>
        </p:txBody>
      </p:sp>
    </p:spTree>
    <p:extLst>
      <p:ext uri="{BB962C8B-B14F-4D97-AF65-F5344CB8AC3E}">
        <p14:creationId xmlns:p14="http://schemas.microsoft.com/office/powerpoint/2010/main" val="283044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98EEADD-AC3D-46C3-B555-D17C64543BE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01 研究定位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2E696F5-A2AC-422D-9813-500F4DFA166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 主线的五个阅读节点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172D4C-EC1E-4809-A3F0-DACFF9540F1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C1687E-C964-46B1-BE08-90B13716FBF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D2F6B-F1EF-459B-9F42-54C85AB78668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选取能代表技术变化的节点，省略重复的产品更新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EA1EE3-2FCB-4022-ADEC-14798FA78A1D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737966-A035-4A83-B998-6268D727E763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技术报告与官方模型卡是不同材料；这些条目不统一标作顶会论文。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1B1E12-908F-4B3D-A014-26659A9EBBC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Qwen2.5 报告，§2–4；Qwen3 报告，2025-05；Qwen3-Next 官方模型卡；Qwen3.5 官方发布；Qwen3.8-Next 报告，2026-08-31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0EC4D0-484A-4F1F-8187-2AC095B9AD9B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04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3482975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阅读节点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时间节点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主要变化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阅读价值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Qwen2.5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 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 Dense 模型与完整训练配方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大量后续研究的背景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2025-05 报告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Dense + MoE、混合思考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后训练与推理预算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Qwen3-Next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 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GDN + Attention、稀疏 MoE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理解高效混合架构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Qwen3.5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2026-02 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早期图文融合、原生 VLM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连接视觉与 Agent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Qwen3.8-Next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2026-08-31 报告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QSA、GR、N-gram、Muon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最新架构与消融分析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14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BDAF01F9-7B52-4353-89D1-1C59C9EFAFC6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01 研究定位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354CBFC-25E1-4F76-B97A-194044A7CCA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模型名称是一张实验配置表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4F29BA-FD16-4BA5-9747-2C02A290B65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BA6D3B-3663-410A-B966-4917B1CB2AD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10DE9-8A3E-4BD3-9582-CA88BB47D4BC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以 Qwen3-30B-A3B 和 R1-Distill-Qwen-32B 为例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9980A6-DD14-466C-BACE-1BC11887A848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46242E-34E4-4D28-A0E7-57785C7750DE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“3B 激活”不能直接换算成“只需装载 3B 权重”。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2BC371-C6A0-4039-8A30-E0D2F0AB22C4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报告，2025-05；Qwen3-Next 官方模型卡；DeepSeek-R1 报告，§2.4 / §4.1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13E5FF-D813-4A5E-8118-C4BA561DA56A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05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5C6A9F-A03B-4B1C-B46B-225213A40CB8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A91544-7FAC-46AE-960B-D399420489D3}"/>
              </a:ext>
            </a:extLst>
          </p:cNvPr>
          <p:cNvSpPr>
            <a:spLocks noGrp="1"/>
          </p:cNvSpPr>
          <p:nvPr/>
        </p:nvSpPr>
        <p:spPr>
          <a:xfrm>
            <a:off x="1323975" y="22860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30B / A3B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B88AD2-20F6-488F-8FED-63F0A50A198E}"/>
              </a:ext>
            </a:extLst>
          </p:cNvPr>
          <p:cNvSpPr>
            <a:spLocks noGrp="1"/>
          </p:cNvSpPr>
          <p:nvPr/>
        </p:nvSpPr>
        <p:spPr>
          <a:xfrm>
            <a:off x="3810000" y="22860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30B 表示总参数规模，A3B 表示每 token 激活约 3B 参数。存储仍取决于总权重。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A12C78-CA88-4981-BD8C-1E64A60A63CD}"/>
              </a:ext>
            </a:extLst>
          </p:cNvPr>
          <p:cNvSpPr>
            <a:spLocks noGrp="1"/>
          </p:cNvSpPr>
          <p:nvPr/>
        </p:nvSpPr>
        <p:spPr>
          <a:xfrm>
            <a:off x="1323975" y="29813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B977F3-72B2-4F57-BC4F-DA354DE4989A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899D77-044D-493F-B5B5-00822F9A1412}"/>
              </a:ext>
            </a:extLst>
          </p:cNvPr>
          <p:cNvSpPr>
            <a:spLocks noGrp="1"/>
          </p:cNvSpPr>
          <p:nvPr/>
        </p:nvSpPr>
        <p:spPr>
          <a:xfrm>
            <a:off x="1323975" y="31432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Base / Instruct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689CC3-ABCD-48C4-BD66-21F021324E27}"/>
              </a:ext>
            </a:extLst>
          </p:cNvPr>
          <p:cNvSpPr>
            <a:spLocks noGrp="1"/>
          </p:cNvSpPr>
          <p:nvPr/>
        </p:nvSpPr>
        <p:spPr>
          <a:xfrm>
            <a:off x="3810000" y="31432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Base 是预训练起点；Instruct 经过指令与偏好训练。研究训练收益时要保持起点一致。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B3FB03-694A-4079-9B9F-ACB5DD8906A3}"/>
              </a:ext>
            </a:extLst>
          </p:cNvPr>
          <p:cNvSpPr>
            <a:spLocks noGrp="1"/>
          </p:cNvSpPr>
          <p:nvPr/>
        </p:nvSpPr>
        <p:spPr>
          <a:xfrm>
            <a:off x="1323975" y="383857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02FB26-7D73-4EE5-96BF-673F66B2E605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106F95-C75B-4B81-9B5D-71A874C83F27}"/>
              </a:ext>
            </a:extLst>
          </p:cNvPr>
          <p:cNvSpPr>
            <a:spLocks noGrp="1"/>
          </p:cNvSpPr>
          <p:nvPr/>
        </p:nvSpPr>
        <p:spPr>
          <a:xfrm>
            <a:off x="1323975" y="40005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Thinking / Distill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CC6D7F-D9D6-4522-A853-F858BC1B0690}"/>
              </a:ext>
            </a:extLst>
          </p:cNvPr>
          <p:cNvSpPr>
            <a:spLocks noGrp="1"/>
          </p:cNvSpPr>
          <p:nvPr/>
        </p:nvSpPr>
        <p:spPr>
          <a:xfrm>
            <a:off x="3810000" y="40005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Thinking 描述推理取向；Distill 表示教师知识迁移。具体训练路线由报告确认。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AB0E8A2-90C2-404D-90CE-16AFF461F0FF}"/>
              </a:ext>
            </a:extLst>
          </p:cNvPr>
          <p:cNvSpPr>
            <a:spLocks noGrp="1"/>
          </p:cNvSpPr>
          <p:nvPr/>
        </p:nvSpPr>
        <p:spPr>
          <a:xfrm>
            <a:off x="1323975" y="46958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30D630-0842-4DAE-B91E-27C0F24EB6CF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0E3FBC0-1FE4-40B8-BB8F-4427952D120B}"/>
              </a:ext>
            </a:extLst>
          </p:cNvPr>
          <p:cNvSpPr>
            <a:spLocks noGrp="1"/>
          </p:cNvSpPr>
          <p:nvPr/>
        </p:nvSpPr>
        <p:spPr>
          <a:xfrm>
            <a:off x="1323975" y="48577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AWQ / FP8 等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4CBB35-97B7-4070-8197-868E56CAEE69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量化或数值精度会影响显存、速度与误差，复现时必须记录。</a:t>
            </a:r>
          </a:p>
        </p:txBody>
      </p:sp>
    </p:spTree>
    <p:extLst>
      <p:ext uri="{BB962C8B-B14F-4D97-AF65-F5344CB8AC3E}">
        <p14:creationId xmlns:p14="http://schemas.microsoft.com/office/powerpoint/2010/main" val="123995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3F66E5C-72D5-4012-88B0-F1DF4C306A38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02 基础架构与训练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17C910F-CD81-4901-A7F9-61BE92AB387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Qwen2.5 的标准 Transformer 组件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419713-EED8-438A-AB32-9EDD0603FFD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8326C7-873A-4637-8E86-9E6D05DFCFE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5072FB-028D-4237-85BD-F629C0C96155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先理解沿用的基础结构，再识别后续版本的新增设计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04975A-2A63-4253-BE89-80898811EB50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681A97-ECC2-4AF0-A8CD-8840F33FCB9B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Qwen2.5 开放权重主线为 Dense；其托管 Plus / Turbo 另有 MoE 版本。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56D65B-9BA3-448B-A032-B94536E3F8A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Qwen2.5 报告，§2–4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E87C22-E56B-47F3-931B-1119D7B5CD46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06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3390900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在模型中的作用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阅读时要关注什么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Decoder-only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根据已有 token 预测下一个 token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自回归生成与因果掩码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GQA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多组 Query 共享 Key / Value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cache、带宽和推理成本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RoPE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把位置信息编码到注意力计算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训练长度与长上下文扩展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SwiGLU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门控前馈网络变换 token 表示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FFN 参数量与计算量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Pre-RMSNorm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在子层前归一化隐藏状态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训练稳定性与残差路径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524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D7152DAD-4790-4809-8806-0A72F83897D4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02 基础架构与训练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8013ACF-5478-4C12-BA7C-9CDE47BA860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Qwen2.5 的能力来自完整训练配方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6C59B8-B8D2-480A-A36F-2C24F41D398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B9EF94-C9BD-43AC-826E-5111C3E27B4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8B5100-CD8A-4E1E-B268-CCC51A0667D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18T 预训练 token 与超过 100 万条 SFT 样本构成两类不同信号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ACFAB5-8C00-4FF9-930E-451EAEB289A2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454282-5D3A-4AA1-98F7-2C8C46587E9F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阅读顺序：数据构造、训练目标、阶段衔接，最后看综合结果。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1447A-CACA-40D6-9543-0E3E0AD2538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Qwen2.5 报告，§2–4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10E657-35B6-4B89-92B6-1DC930AD1A36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07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7D49DD-8751-4F99-B1D8-BFDDDA4AE689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8B30BE-AE17-45E0-93E3-EA8D291F933D}"/>
              </a:ext>
            </a:extLst>
          </p:cNvPr>
          <p:cNvSpPr>
            <a:spLocks noGrp="1"/>
          </p:cNvSpPr>
          <p:nvPr/>
        </p:nvSpPr>
        <p:spPr>
          <a:xfrm>
            <a:off x="1323975" y="22860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581644-DFCE-4B58-AC7D-014A23F9AA97}"/>
              </a:ext>
            </a:extLst>
          </p:cNvPr>
          <p:cNvSpPr>
            <a:spLocks noGrp="1"/>
          </p:cNvSpPr>
          <p:nvPr/>
        </p:nvSpPr>
        <p:spPr>
          <a:xfrm>
            <a:off x="3810000" y="22860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质量过滤和数据混合覆盖知识、数学、代码与多语言，形成通用预测能力。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BABD59-9596-43ED-9739-48B44D05E055}"/>
              </a:ext>
            </a:extLst>
          </p:cNvPr>
          <p:cNvSpPr>
            <a:spLocks noGrp="1"/>
          </p:cNvSpPr>
          <p:nvPr/>
        </p:nvSpPr>
        <p:spPr>
          <a:xfrm>
            <a:off x="1323975" y="29813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19DB3C-5D7C-4F19-8CA4-A946F602842A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534917-DFB4-4391-B0FA-34D6EE7EED38}"/>
              </a:ext>
            </a:extLst>
          </p:cNvPr>
          <p:cNvSpPr>
            <a:spLocks noGrp="1"/>
          </p:cNvSpPr>
          <p:nvPr/>
        </p:nvSpPr>
        <p:spPr>
          <a:xfrm>
            <a:off x="1323975" y="31432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监督微调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FA441B-364A-4126-BBAB-FAE64293F1DE}"/>
              </a:ext>
            </a:extLst>
          </p:cNvPr>
          <p:cNvSpPr>
            <a:spLocks noGrp="1"/>
          </p:cNvSpPr>
          <p:nvPr/>
        </p:nvSpPr>
        <p:spPr>
          <a:xfrm>
            <a:off x="3810000" y="31432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示范如何响应指令、生成结构化内容和调用工具，使模型成为可用助手。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32D229-C3D3-4B69-A9F5-92C19A2F2C62}"/>
              </a:ext>
            </a:extLst>
          </p:cNvPr>
          <p:cNvSpPr>
            <a:spLocks noGrp="1"/>
          </p:cNvSpPr>
          <p:nvPr/>
        </p:nvSpPr>
        <p:spPr>
          <a:xfrm>
            <a:off x="1323975" y="383857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7B4644-DA1C-458A-9173-8E5D32477345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4FC713-0156-4FB9-8603-0DF5BB2FCFD8}"/>
              </a:ext>
            </a:extLst>
          </p:cNvPr>
          <p:cNvSpPr>
            <a:spLocks noGrp="1"/>
          </p:cNvSpPr>
          <p:nvPr/>
        </p:nvSpPr>
        <p:spPr>
          <a:xfrm>
            <a:off x="1323975" y="40005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离线偏好学习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A1C9D1-F04F-4E6A-8CF8-AC2FDC3CF6FF}"/>
              </a:ext>
            </a:extLst>
          </p:cNvPr>
          <p:cNvSpPr>
            <a:spLocks noGrp="1"/>
          </p:cNvSpPr>
          <p:nvPr/>
        </p:nvSpPr>
        <p:spPr>
          <a:xfrm>
            <a:off x="3810000" y="40005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DPO 利用优选与拒选回答，让模型学习已有数据中的偏好差异。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808014-D21D-4094-8ED8-12E03747430B}"/>
              </a:ext>
            </a:extLst>
          </p:cNvPr>
          <p:cNvSpPr>
            <a:spLocks noGrp="1"/>
          </p:cNvSpPr>
          <p:nvPr/>
        </p:nvSpPr>
        <p:spPr>
          <a:xfrm>
            <a:off x="1323975" y="46958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38DDB3-9406-495B-986B-375BF6B9BEBE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E6A587-9CEC-42BC-9A81-DF97133ACD70}"/>
              </a:ext>
            </a:extLst>
          </p:cNvPr>
          <p:cNvSpPr>
            <a:spLocks noGrp="1"/>
          </p:cNvSpPr>
          <p:nvPr/>
        </p:nvSpPr>
        <p:spPr>
          <a:xfrm>
            <a:off x="1323975" y="48577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在线强化学习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D7E4CD-BF95-4E95-AF21-6810E4EB3475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报告使用 GRPO 等后训练流程，依据生成结果的反馈继续优化行为。</a:t>
            </a:r>
          </a:p>
        </p:txBody>
      </p:sp>
    </p:spTree>
    <p:extLst>
      <p:ext uri="{BB962C8B-B14F-4D97-AF65-F5344CB8AC3E}">
        <p14:creationId xmlns:p14="http://schemas.microsoft.com/office/powerpoint/2010/main" val="86149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5E6B7120-11B1-4D82-B921-1AE693AE3800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02 基础架构与训练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63D4F1B-D59A-48FC-B760-4AB76118168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 延续主干，调整稳定性与稀疏计算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AFBA96-EA57-46F6-AFBB-CC862CCD2B0B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CB3E02-4719-4F20-82A0-3D1F590D5BC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270BE2-CD15-4A52-9769-A375A1F5F59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架构变化与训练数据扩展共同作用，不能只归因于其中一项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96A87-7376-46F5-AC8A-21A09FA912CC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11D921-40D6-4C2F-B3E4-443B854BFB54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Dense 与 MoE 共享基本语言模型结构，主要区别在前馈计算的组织。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1E492B-05AF-4DA1-8A7C-7CD1DD11D27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报告，2025-05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C6EA36-BF16-4992-B797-E616A61D5663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08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A9BB24-6603-466D-9FDB-AE93777561ED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Dense </a:t>
            </a:r>
            <a:r>
              <a:rPr sz="2175" b="1" dirty="0" err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主干</a:t>
            </a:r>
            <a:endParaRPr sz="2175" b="1" dirty="0">
              <a:solidFill>
                <a:srgbClr val="162A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3913F1-C8FA-49D3-80FB-E6F408DA26F0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C7859C-4C03-4CC7-B3C9-10D7003386DE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160933-E688-40C1-9570-AD2D75F6ACA2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GQA、RoPE、SwiGLU 和 Pre-RMSNorm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08D87D-CE4F-4FD2-A66B-23D87BCEC7D3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调整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0AFD24-CCEE-4FE4-ACEE-ABD4AEE96C3C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移除 QKV bias，引入 QK-Norm，以稳定注意力训练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48B0F5-C9CD-4ECA-8958-7951B52FF624}"/>
              </a:ext>
            </a:extLst>
          </p:cNvPr>
          <p:cNvSpPr>
            <a:spLocks noGrp="1"/>
          </p:cNvSpPr>
          <p:nvPr/>
        </p:nvSpPr>
        <p:spPr>
          <a:xfrm>
            <a:off x="64770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MoE 分支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E2B4AA-3879-4556-822F-28E0066D95BC}"/>
              </a:ext>
            </a:extLst>
          </p:cNvPr>
          <p:cNvSpPr>
            <a:spLocks noGrp="1"/>
          </p:cNvSpPr>
          <p:nvPr/>
        </p:nvSpPr>
        <p:spPr>
          <a:xfrm>
            <a:off x="64770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EA745B-2F86-44B9-936B-686E660E9AA7}"/>
              </a:ext>
            </a:extLst>
          </p:cNvPr>
          <p:cNvSpPr>
            <a:spLocks noGrp="1"/>
          </p:cNvSpPr>
          <p:nvPr/>
        </p:nvSpPr>
        <p:spPr>
          <a:xfrm>
            <a:off x="64770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路由设置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B31BBD-7BAA-4B62-B781-9A41E0149653}"/>
              </a:ext>
            </a:extLst>
          </p:cNvPr>
          <p:cNvSpPr>
            <a:spLocks noGrp="1"/>
          </p:cNvSpPr>
          <p:nvPr/>
        </p:nvSpPr>
        <p:spPr>
          <a:xfrm>
            <a:off x="64770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128 个专家，每 token 激活 8 个；初代 Qwen3-MoE 不设共享专家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13BFFC-9DB3-4518-9012-1E05BD448081}"/>
              </a:ext>
            </a:extLst>
          </p:cNvPr>
          <p:cNvSpPr>
            <a:spLocks noGrp="1"/>
          </p:cNvSpPr>
          <p:nvPr/>
        </p:nvSpPr>
        <p:spPr>
          <a:xfrm>
            <a:off x="64770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负载均衡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CAAD2A-C650-4CD4-91FC-9CB454A648E2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采用 global-batch load balancing，兼顾专家使用与分工</a:t>
            </a:r>
          </a:p>
        </p:txBody>
      </p:sp>
    </p:spTree>
    <p:extLst>
      <p:ext uri="{BB962C8B-B14F-4D97-AF65-F5344CB8AC3E}">
        <p14:creationId xmlns:p14="http://schemas.microsoft.com/office/powerpoint/2010/main" val="132862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98CE784-1CE0-4863-94E6-FDD6C4F27963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02 基础架构与训练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4E91273-8032-4639-8099-1089915285F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同一家族中的 Dense 与 MoE 选择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4ADE3F-EE25-4D4B-BB83-2152C3931B0B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06B9C6-2DBF-404F-BB60-05379D83F8C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0A390F-929A-42B1-865A-954AFB45C9B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参数效率、装载成本和研究可解释性是不同问题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E01978-09F0-444E-B6B2-D2FEF46BE2B6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5B627D-9FC7-4DF2-BB40-F4B9644C16DD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方法实验宜先固定一个可复现底座，再做跨尺寸或跨家族验证。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23A560-8A20-4864-82A8-5B460681B3B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报告，2025-05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A8BBD0-CB14-419D-A761-BFC6505E56AD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09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3143250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典型型号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适合研究的问题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需要注意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小型 Dense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Qwen3-0.6B / 1.7B / 4B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小规模训练、快速消融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能力上限与实验外推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中型 Dense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Qwen3-8B / 14B / 32B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后训练、推理、领域适配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训练显存与输出预算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轻激活 MoE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Qwen3-30B-A3B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路由、稀疏计算、推理效率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总权重仍约 30B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旗舰 MoE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Qwen3-235B-A22B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教师蒸馏、能力上限参考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分布式装载与吞吐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408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89BD0C4-8738-4734-993C-D2F3D46D9BB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02 基础架构与训练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1E6FB8D-FD10-4266-95BA-175616A59C8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 预训练按能力阶段组织数据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C5F4FD-FB5F-4105-9429-153283EFBC8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6FFDA5-FF88-4542-81F1-174C9519369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C597C0-6EA2-4AED-9AC8-BAE81A4178C8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总量约 36T tokens，语言与方言覆盖扩展到 119 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982BDC-4BB4-44FD-A5F3-205484C40D16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AEF321-B6A6-4124-B373-07CF5FBEEF29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训练长度、模型卡最大长度和服务端默认长度要分开记录。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111017-752B-4C3D-B7F8-30299A113D2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官方发布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97D7D5-18B6-476E-8FE5-A8E2A00C7736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10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290512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628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训练重点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长度设置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形成的能力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超过 30T 通用数据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语言、常识与广泛知识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5T 知识密集数据，增强 STEM、代码与推理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专业知识和复杂问题模式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高质量长上下文数据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更长距离的信息整合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66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01FEBBA-2B74-4FC8-B940-CDB63F008322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03 推理与后训练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95A2F84-34A9-4969-94F4-E82DE8E9E0F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 的两条后训练路线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492ED9-E9E9-4B22-95FC-C46F569896C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9627A-15D7-43B4-95CB-32972BA82A9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F8FCAB-9733-4087-9A07-422645D0E3B5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旗舰模型学习完整推理与通用能力，轻量模型通过强教师迁移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2B818E-6079-4A54-AEAE-7A3C46500F33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B5683-29B6-4A20-B7B2-09082297D28C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读图时同时关注“最终能力”和“训练这些能力的代价”。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C6533F-0A3F-4E76-882B-E53CBC04307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报告，2025-05 · 原报告 Figure 1，保持原图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3BC25D-47BB-49AE-A720-7077DF0D6436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11 / 38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86526" y="2124075"/>
            <a:ext cx="7218947" cy="2857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02635A2-7356-4A32-BFDC-D07B6ADEF378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5105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旗舰路线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63FDA4-9431-41E6-B1B9-586C339F17B1}"/>
              </a:ext>
            </a:extLst>
          </p:cNvPr>
          <p:cNvSpPr>
            <a:spLocks noGrp="1"/>
          </p:cNvSpPr>
          <p:nvPr/>
        </p:nvSpPr>
        <p:spPr>
          <a:xfrm>
            <a:off x="609600" y="5514975"/>
            <a:ext cx="5105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长 CoT 冷启动、推理 RL、模式融合、通用 RL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C1CB37-51E3-4779-899B-6AAC59B0D1D3}"/>
              </a:ext>
            </a:extLst>
          </p:cNvPr>
          <p:cNvSpPr>
            <a:spLocks noGrp="1"/>
          </p:cNvSpPr>
          <p:nvPr/>
        </p:nvSpPr>
        <p:spPr>
          <a:xfrm>
            <a:off x="6477000" y="5191125"/>
            <a:ext cx="5105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轻量路线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C82A64-C0B4-490D-820E-9FF1EA5139C4}"/>
              </a:ext>
            </a:extLst>
          </p:cNvPr>
          <p:cNvSpPr>
            <a:spLocks noGrp="1"/>
          </p:cNvSpPr>
          <p:nvPr/>
        </p:nvSpPr>
        <p:spPr>
          <a:xfrm>
            <a:off x="6477000" y="5514975"/>
            <a:ext cx="5105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从强模型迁移回答与分布知识，降低独立训练成本</a:t>
            </a:r>
          </a:p>
        </p:txBody>
      </p:sp>
    </p:spTree>
    <p:extLst>
      <p:ext uri="{BB962C8B-B14F-4D97-AF65-F5344CB8AC3E}">
        <p14:creationId xmlns:p14="http://schemas.microsoft.com/office/powerpoint/2010/main" val="920777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B12BF9D-EFDE-4ADE-8104-1D0E274D3E2C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03 推理与后训练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C051497-C81A-4994-A3D3-DCC33F98C20F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思考模式与思考预算控制不同维度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B79C5A-21A6-4585-910F-F6115FED060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23D1E0-A23D-4334-B268-719B6CF94C1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1BEB27-44B1-49C7-B49B-0A33BD58C427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模式决定是否展开推理，预算限制可以使用多少推理计算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2CD25E-DD8E-4878-AC44-89B22F590D4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F65914-775D-4D24-97D1-D7931F9598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初代 Qwen3 支持模式融合；Qwen3-Next 的 Instruct / Thinking 是不同权重。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0831F7-716D-47BA-B8BE-D2889F8B927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官方发布；Qwen3-Next 官方模型卡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00C729-DA35-4735-8BF1-8CF2094D4AEE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12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53DD22-6F67-4318-8031-0C62F1AC0DD9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模式选择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AF3931-8A27-4862-A27B-F5472E07F38A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6F3E04-7DCF-4614-B98E-99079CE1B5A3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非思考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FE3831-096A-4601-9D2E-F1FF0E83D696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适合简短问答、改写与格式转换，强调快速响应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103734-53D5-4597-9113-A00B07BE2A8F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思考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4E553C-811B-4861-B615-62C381F971F7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适合数学、代码和多步决策，允许生成中间推理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36C1F2-1784-478D-916E-E0B6303519BB}"/>
              </a:ext>
            </a:extLst>
          </p:cNvPr>
          <p:cNvSpPr>
            <a:spLocks noGrp="1"/>
          </p:cNvSpPr>
          <p:nvPr/>
        </p:nvSpPr>
        <p:spPr>
          <a:xfrm>
            <a:off x="64770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预算选择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D5F7F1-D1F8-4AA8-846E-122151F6BD47}"/>
              </a:ext>
            </a:extLst>
          </p:cNvPr>
          <p:cNvSpPr>
            <a:spLocks noGrp="1"/>
          </p:cNvSpPr>
          <p:nvPr/>
        </p:nvSpPr>
        <p:spPr>
          <a:xfrm>
            <a:off x="64770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ABB6DE-3D77-443F-9632-E9F6B27D2702}"/>
              </a:ext>
            </a:extLst>
          </p:cNvPr>
          <p:cNvSpPr>
            <a:spLocks noGrp="1"/>
          </p:cNvSpPr>
          <p:nvPr/>
        </p:nvSpPr>
        <p:spPr>
          <a:xfrm>
            <a:off x="64770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预算较小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BC62D4-1D27-44BF-BF2D-DBD62BD85590}"/>
              </a:ext>
            </a:extLst>
          </p:cNvPr>
          <p:cNvSpPr>
            <a:spLocks noGrp="1"/>
          </p:cNvSpPr>
          <p:nvPr/>
        </p:nvSpPr>
        <p:spPr>
          <a:xfrm>
            <a:off x="64770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响应更快，但复杂任务可能没有足够计算完成验证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A461F6-6E09-4DB0-843C-2993E1A587D2}"/>
              </a:ext>
            </a:extLst>
          </p:cNvPr>
          <p:cNvSpPr>
            <a:spLocks noGrp="1"/>
          </p:cNvSpPr>
          <p:nvPr/>
        </p:nvSpPr>
        <p:spPr>
          <a:xfrm>
            <a:off x="64770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预算较大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63F4E2-627D-41F8-B458-C820A20322E3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可能提高困难任务表现，同时增加 token、等待时间和成本</a:t>
            </a:r>
          </a:p>
        </p:txBody>
      </p:sp>
    </p:spTree>
    <p:extLst>
      <p:ext uri="{BB962C8B-B14F-4D97-AF65-F5344CB8AC3E}">
        <p14:creationId xmlns:p14="http://schemas.microsoft.com/office/powerpoint/2010/main" val="602355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F40562A-F59F-4D80-B535-A6CA925E527E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03 推理与后训练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5877EF2-FAB5-4D1B-8E98-21EEBEA1360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实验：更多思考预算怎样改变表现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492223-0B60-4917-83DC-3443394A3E4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18B92D-D736-4D28-8FA5-D50F59260BA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27DD42-795E-4DDA-AEDA-89C1F1F42591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同一 Qwen3-235B-A22B，比较 1K–32K 思考 token 预算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A8364E-82E0-42D1-B771-563F3C7868A2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C66369-CF95-4A44-85E0-B1BF608E1020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报告模型结果时，必须把思考 token 预算一起写出来。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451FC8-7F09-445E-9BD8-0E0AEF63B43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报告，2025-05 · 原报告 Figure 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73281F-3399-4265-A088-5A8ADF2DFCC8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13 / 38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97983" y="2171700"/>
            <a:ext cx="5586035" cy="36099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24AC1A2-323F-4606-9A90-2C5BEB36C970}"/>
              </a:ext>
            </a:extLst>
          </p:cNvPr>
          <p:cNvSpPr>
            <a:spLocks noGrp="1"/>
          </p:cNvSpPr>
          <p:nvPr/>
        </p:nvSpPr>
        <p:spPr>
          <a:xfrm>
            <a:off x="8315325" y="227647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FE5F7F-8274-4C2A-81D6-5B9A53F4B8F9}"/>
              </a:ext>
            </a:extLst>
          </p:cNvPr>
          <p:cNvSpPr>
            <a:spLocks noGrp="1"/>
          </p:cNvSpPr>
          <p:nvPr/>
        </p:nvSpPr>
        <p:spPr>
          <a:xfrm>
            <a:off x="8315325" y="270510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数学、代码与 GPQA 在该设置下均随预算增加而提升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1E1539-564B-4D33-8114-C71BED41095B}"/>
              </a:ext>
            </a:extLst>
          </p:cNvPr>
          <p:cNvSpPr>
            <a:spLocks noGrp="1"/>
          </p:cNvSpPr>
          <p:nvPr/>
        </p:nvSpPr>
        <p:spPr>
          <a:xfrm>
            <a:off x="8315325" y="3429000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证据强度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153BD0-E035-40E2-8CC6-8B20B28B694D}"/>
              </a:ext>
            </a:extLst>
          </p:cNvPr>
          <p:cNvSpPr>
            <a:spLocks noGrp="1"/>
          </p:cNvSpPr>
          <p:nvPr/>
        </p:nvSpPr>
        <p:spPr>
          <a:xfrm>
            <a:off x="8315325" y="3857625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同模型改变推理预算，比跨模型榜单更直接地反映测试时计算作用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043B38-51E8-4FE1-AF88-52DBFEB6A9A7}"/>
              </a:ext>
            </a:extLst>
          </p:cNvPr>
          <p:cNvSpPr>
            <a:spLocks noGrp="1"/>
          </p:cNvSpPr>
          <p:nvPr/>
        </p:nvSpPr>
        <p:spPr>
          <a:xfrm>
            <a:off x="8315325" y="458152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712F6E-28D4-4E07-80B1-C6CA322D33B7}"/>
              </a:ext>
            </a:extLst>
          </p:cNvPr>
          <p:cNvSpPr>
            <a:spLocks noGrp="1"/>
          </p:cNvSpPr>
          <p:nvPr/>
        </p:nvSpPr>
        <p:spPr>
          <a:xfrm>
            <a:off x="8315325" y="501015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不同任务提升幅度不同；曲线没有给出所有部署环境的时延</a:t>
            </a:r>
          </a:p>
        </p:txBody>
      </p:sp>
    </p:spTree>
    <p:extLst>
      <p:ext uri="{BB962C8B-B14F-4D97-AF65-F5344CB8AC3E}">
        <p14:creationId xmlns:p14="http://schemas.microsoft.com/office/powerpoint/2010/main" val="1500428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8851AE0B-27C0-4584-A19C-8F9B3FC7FDB2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03 推理与后训练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A240298-A545-4629-B5D9-DED30D48C98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小模型蒸馏为什么值得单独读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326011-D0EC-4009-BB6A-62BF5BD19B2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C260ED-F751-4438-86E5-FBF62531475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2955C7-A593-4F7E-A302-E2BD5FE5EB93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学习教师答案与学习教师分布，是两个不同的监督层次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60099A-4C4A-4ACB-B1C8-04FE8C5395AC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CFC26A-5889-43AA-9E1D-6900C8B7D2DE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蒸馏收益依赖教师质量、学生容量和采样分布，不能只看数据条数。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1C6F419-CB71-45E6-A08C-9609284C2A2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报告，2025-05 · §4.5、§4.7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62A59B-60C1-4903-9B21-845F78B23DF7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14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B336D6-C046-4DAC-9FEB-3EB3EDEAAE14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离线蒸馏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B0A69A-0E85-450A-A3F3-C5E564BE0E93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890A36-469B-4B25-B38B-5697FF8EF934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A3A885-09AE-44CB-8A21-C13A92621EF2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教师预先生成高质量回答，学生学习这些序列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AB0003-6A69-4936-9ECB-171FE7C87EBC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优点与局限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7A9BC9-23CA-4824-BF4C-1B8E484FF9B0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易于构造训练集，但学生生成的轨迹可能偏离教师数据分布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F24044-2C6F-4C21-8189-566F9CC8DD4C}"/>
              </a:ext>
            </a:extLst>
          </p:cNvPr>
          <p:cNvSpPr>
            <a:spLocks noGrp="1"/>
          </p:cNvSpPr>
          <p:nvPr/>
        </p:nvSpPr>
        <p:spPr>
          <a:xfrm>
            <a:off x="64770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On-policy 蒸馏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644B07D-377C-4CE0-8CE6-20595EA83E6A}"/>
              </a:ext>
            </a:extLst>
          </p:cNvPr>
          <p:cNvSpPr>
            <a:spLocks noGrp="1"/>
          </p:cNvSpPr>
          <p:nvPr/>
        </p:nvSpPr>
        <p:spPr>
          <a:xfrm>
            <a:off x="64770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0C6CDF-8E31-482B-A495-E3D778D33A97}"/>
              </a:ext>
            </a:extLst>
          </p:cNvPr>
          <p:cNvSpPr>
            <a:spLocks noGrp="1"/>
          </p:cNvSpPr>
          <p:nvPr/>
        </p:nvSpPr>
        <p:spPr>
          <a:xfrm>
            <a:off x="64770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5EFE00E-27F3-4585-B62C-B92B48E0440C}"/>
              </a:ext>
            </a:extLst>
          </p:cNvPr>
          <p:cNvSpPr>
            <a:spLocks noGrp="1"/>
          </p:cNvSpPr>
          <p:nvPr/>
        </p:nvSpPr>
        <p:spPr>
          <a:xfrm>
            <a:off x="64770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学生先生成自己的序列，再通过教师 logits 提供分布监督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E4D769-FA86-407B-99BA-3C79A12F81A3}"/>
              </a:ext>
            </a:extLst>
          </p:cNvPr>
          <p:cNvSpPr>
            <a:spLocks noGrp="1"/>
          </p:cNvSpPr>
          <p:nvPr/>
        </p:nvSpPr>
        <p:spPr>
          <a:xfrm>
            <a:off x="64770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7E5AFA9-1816-4CF1-BBB9-6225C6F4879C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在学生实际访问的状态上学习，代价包括教师推理与训练</a:t>
            </a:r>
          </a:p>
        </p:txBody>
      </p:sp>
    </p:spTree>
    <p:extLst>
      <p:ext uri="{BB962C8B-B14F-4D97-AF65-F5344CB8AC3E}">
        <p14:creationId xmlns:p14="http://schemas.microsoft.com/office/powerpoint/2010/main" val="303646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B43CE0A-FC99-4B40-A888-AD80775F0386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03 推理与后训练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8327290-7092-4027-B5CE-29C87E9D622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实验：同为 32B Base，Qwen3 的能力提升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3DB4E7-667B-49DA-AB4B-4A4127A8CFCB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4B9E07-CAAA-444F-850D-C4C666FBFA0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A10D5D-67E8-415A-BFDB-BC1FDA2A947D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使用同一报告评测管线，控制模型规模和 Base 身份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19B694-B9DC-47DD-9E75-A90F0F358B9D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3B37DA-A6E2-4679-9625-F2EE434C0FA0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这些差值支持整体配方改进，不能作为 QK-Norm 或 MoE 的单独消融。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631AD4-DEF1-4F53-B400-FDCA032F372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报告，2025-05 · Table 4；纵轴为分数，差值为百分点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B4C392-7E3D-4316-B172-CFCFB9D7A2FA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15 / 38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609600" y="2324100"/>
          <a:ext cx="7362825" cy="337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1D6E0E26-68CC-47FB-99F9-2DFF1991441E}"/>
              </a:ext>
            </a:extLst>
          </p:cNvPr>
          <p:cNvSpPr>
            <a:spLocks noGrp="1"/>
          </p:cNvSpPr>
          <p:nvPr/>
        </p:nvSpPr>
        <p:spPr>
          <a:xfrm>
            <a:off x="8391525" y="243840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+10.44 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D2647-BE50-4DF6-977F-C613D4AF007C}"/>
              </a:ext>
            </a:extLst>
          </p:cNvPr>
          <p:cNvSpPr>
            <a:spLocks noGrp="1"/>
          </p:cNvSpPr>
          <p:nvPr/>
        </p:nvSpPr>
        <p:spPr>
          <a:xfrm>
            <a:off x="8391525" y="2867025"/>
            <a:ext cx="31908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MMLU-Pro，5-shot CoT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A534D2-40E1-4D5C-A0FB-D0AD01C9E087}"/>
              </a:ext>
            </a:extLst>
          </p:cNvPr>
          <p:cNvSpPr>
            <a:spLocks noGrp="1"/>
          </p:cNvSpPr>
          <p:nvPr/>
        </p:nvSpPr>
        <p:spPr>
          <a:xfrm>
            <a:off x="8391525" y="3438525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+3.92 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A5369F-7188-4D6E-8472-9F00F01D08D2}"/>
              </a:ext>
            </a:extLst>
          </p:cNvPr>
          <p:cNvSpPr>
            <a:spLocks noGrp="1"/>
          </p:cNvSpPr>
          <p:nvPr/>
        </p:nvSpPr>
        <p:spPr>
          <a:xfrm>
            <a:off x="8391525" y="3867150"/>
            <a:ext cx="31908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MATH，4-shot CoT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523BEC-0BAA-4C42-969A-10DEB052072D}"/>
              </a:ext>
            </a:extLst>
          </p:cNvPr>
          <p:cNvSpPr>
            <a:spLocks noGrp="1"/>
          </p:cNvSpPr>
          <p:nvPr/>
        </p:nvSpPr>
        <p:spPr>
          <a:xfrm>
            <a:off x="8391525" y="443865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+5.80 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FD4F1F-C864-4520-B884-11B974C8CC86}"/>
              </a:ext>
            </a:extLst>
          </p:cNvPr>
          <p:cNvSpPr>
            <a:spLocks noGrp="1"/>
          </p:cNvSpPr>
          <p:nvPr/>
        </p:nvSpPr>
        <p:spPr>
          <a:xfrm>
            <a:off x="8391525" y="4867275"/>
            <a:ext cx="31908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EvalPlus，0-shot 平均</a:t>
            </a:r>
          </a:p>
        </p:txBody>
      </p:sp>
    </p:spTree>
    <p:extLst>
      <p:ext uri="{BB962C8B-B14F-4D97-AF65-F5344CB8AC3E}">
        <p14:creationId xmlns:p14="http://schemas.microsoft.com/office/powerpoint/2010/main" val="1001082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CA5D094D-0482-4E8B-B176-892C3B8BD4EC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03 推理与后训练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0DE2AF0-958C-4CF5-AD85-4AAC19665E9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R1-Distill-Qwen 的来源与训练要分清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B22CE2-8FDE-4136-BEE7-937BE7A22121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8B57CA-473F-4010-87C0-386AE93D7231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EE2D78-DDC8-4067-84D0-5378E5E8E6A4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它是 DeepSeek 发布的蒸馏学生，使用 Qwen2.5 系列初始化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099B26-CBBB-4B83-89CB-AA0440CEE078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9CB07C-2265-4553-B700-1CD51CCE9975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引用时分别写清模型发布者、学生底座和后训练方法。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DEFA63-3D2D-4B8A-B2DE-4E84C8A3817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DeepSeek-R1 报告，§2.4 / §4.1 · §2.4、§4.1、Table 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02D81B-B99D-40D1-B428-72881DB5956B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16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C2A837-44B9-4469-BA0C-50EF81FC8530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44D17D-3BD7-4B89-8B6E-D12BB1621A87}"/>
              </a:ext>
            </a:extLst>
          </p:cNvPr>
          <p:cNvSpPr>
            <a:spLocks noGrp="1"/>
          </p:cNvSpPr>
          <p:nvPr/>
        </p:nvSpPr>
        <p:spPr>
          <a:xfrm>
            <a:off x="1323975" y="22860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学生底座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8D5302-3640-4930-9C28-5DD7E5AB207F}"/>
              </a:ext>
            </a:extLst>
          </p:cNvPr>
          <p:cNvSpPr>
            <a:spLocks noGrp="1"/>
          </p:cNvSpPr>
          <p:nvPr/>
        </p:nvSpPr>
        <p:spPr>
          <a:xfrm>
            <a:off x="3810000" y="22860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1.5B / 7B 来自 Qwen2.5-Math，14B / 32B 来自 Qwen2.5。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7623ED-B9D3-4BC8-A42A-ADD26280BA0D}"/>
              </a:ext>
            </a:extLst>
          </p:cNvPr>
          <p:cNvSpPr>
            <a:spLocks noGrp="1"/>
          </p:cNvSpPr>
          <p:nvPr/>
        </p:nvSpPr>
        <p:spPr>
          <a:xfrm>
            <a:off x="1323975" y="29813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23F854-018F-4473-99B5-7563DC3D92A0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7BF90D-74DF-4F65-9F70-DBDEB1761415}"/>
              </a:ext>
            </a:extLst>
          </p:cNvPr>
          <p:cNvSpPr>
            <a:spLocks noGrp="1"/>
          </p:cNvSpPr>
          <p:nvPr/>
        </p:nvSpPr>
        <p:spPr>
          <a:xfrm>
            <a:off x="1323975" y="31432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训练形式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8856C3-EB1E-4F87-BBED-24BCD83FC09F}"/>
              </a:ext>
            </a:extLst>
          </p:cNvPr>
          <p:cNvSpPr>
            <a:spLocks noGrp="1"/>
          </p:cNvSpPr>
          <p:nvPr/>
        </p:nvSpPr>
        <p:spPr>
          <a:xfrm>
            <a:off x="3810000" y="31432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原报告使用约 800K 样本进行 SFT 蒸馏；所报告学生没有额外 RL 阶段。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AE8585-C984-4A6C-9891-84ED99AC307D}"/>
              </a:ext>
            </a:extLst>
          </p:cNvPr>
          <p:cNvSpPr>
            <a:spLocks noGrp="1"/>
          </p:cNvSpPr>
          <p:nvPr/>
        </p:nvSpPr>
        <p:spPr>
          <a:xfrm>
            <a:off x="1323975" y="383857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62926D-DF38-4190-83C7-BA4E32E405AC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DC50F0-9C31-4C25-8CD6-35E677683713}"/>
              </a:ext>
            </a:extLst>
          </p:cNvPr>
          <p:cNvSpPr>
            <a:spLocks noGrp="1"/>
          </p:cNvSpPr>
          <p:nvPr/>
        </p:nvSpPr>
        <p:spPr>
          <a:xfrm>
            <a:off x="1323975" y="40005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对照证据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64A359-37AF-45B0-A063-85856E88673F}"/>
              </a:ext>
            </a:extLst>
          </p:cNvPr>
          <p:cNvSpPr>
            <a:spLocks noGrp="1"/>
          </p:cNvSpPr>
          <p:nvPr/>
        </p:nvSpPr>
        <p:spPr>
          <a:xfrm>
            <a:off x="3810000" y="40005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AIME 2024 Pass@1（32B）：R1-Zero 为 47.0，R1-Distill 为 72.6。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7B09A1-1E51-47DD-8695-64CE56E4725E}"/>
              </a:ext>
            </a:extLst>
          </p:cNvPr>
          <p:cNvSpPr>
            <a:spLocks noGrp="1"/>
          </p:cNvSpPr>
          <p:nvPr/>
        </p:nvSpPr>
        <p:spPr>
          <a:xfrm>
            <a:off x="1323975" y="46958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03C7764-6C0D-4B2B-8008-544253C2CE0F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CEF33F-3DE3-4987-96B7-8CDC4B7019F1}"/>
              </a:ext>
            </a:extLst>
          </p:cNvPr>
          <p:cNvSpPr>
            <a:spLocks noGrp="1"/>
          </p:cNvSpPr>
          <p:nvPr/>
        </p:nvSpPr>
        <p:spPr>
          <a:xfrm>
            <a:off x="1323975" y="48577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正确解读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D49389-ED3B-466C-B2A5-82EFB73792E4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该设置说明强教师迁移有效，不能推出小模型 RL 在所有条件下都无效。</a:t>
            </a:r>
          </a:p>
        </p:txBody>
      </p:sp>
    </p:spTree>
    <p:extLst>
      <p:ext uri="{BB962C8B-B14F-4D97-AF65-F5344CB8AC3E}">
        <p14:creationId xmlns:p14="http://schemas.microsoft.com/office/powerpoint/2010/main" val="1639989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38FA010-6895-4024-97F0-5B8EEA331596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04 高效与长上下文架构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ED3E6CC-3FCE-43C9-8BD3-5741CF87979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Qwen3-Next 为后续混合架构铺路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4CC8EB-0A13-4573-9561-B46936DFEB1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0C6BD4-63CC-4225-98B5-E4A53C5D78F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FB4B3A-8289-4B6A-A56A-2AF8DE939B48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GDN 压缩历史状态，少量全局注意力保留精确检索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C796E3-72B8-4E41-9EBD-08DD284324E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3C100B-1112-4431-AC7B-14537C0A9D2B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Qwen3.5-Plus 默认 1M 是服务规格；开放模型原生上下文为 262,144 tokens。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E4D66B-0067-4F71-BD3F-C43A48671AD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Qwen3-Next 官方模型卡；Qwen3.5 官方模型卡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1E48A3-8507-4D8A-8626-D7B8C906CFBC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17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33909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Qwen3-Next-80B-A3B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Qwen3.5-397B-A17B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主干参数 / 激活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80B / 3B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397B / 17B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注意力组织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4 层：3 层 GDN + 1 层 Attention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延续 3:1 混合组织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模态定位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原生视觉语言模型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原生上下文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262,144 tokens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262,144 tokens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关键阅读点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状态压缩、稀疏 MoE、MTP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图文早期融合与 Agent 能力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973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A1078CF-ADEE-4825-A333-195003EDC547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04 高效与长上下文架构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9C87E15-B87A-48E8-BB9C-E354B5F9599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Qwen3.8-Next 的架构总图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27408D-1EE6-48BB-B01C-BE0A1001097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8350CF-9890-4300-B4E3-42306812E64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27AE9F-E4F3-4B22-8A50-6D6D0C298169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注意力、残差、查表记忆和优化器共同设计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B1843C-C9F4-4F41-8719-CEC99B9C4724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A4C227-347B-4647-BC05-83FB659566ED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官方另列 MTP 模块参数；“125B”不能代表全部存储规模。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194D6D-7589-4F3D-854D-84A06DCEBC6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Qwen3.8-Next 报告，2026-08-31；Qwen3.8-Flash-Next 模型卡 · 原报告 Figure 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36BCB8-B38A-4D42-8503-AF8DC5BE4EEE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18 / 38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67060" y="2171700"/>
            <a:ext cx="3504830" cy="36099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7D06CE6-42C5-401F-AE98-E75A73415FCD}"/>
              </a:ext>
            </a:extLst>
          </p:cNvPr>
          <p:cNvSpPr>
            <a:spLocks noGrp="1"/>
          </p:cNvSpPr>
          <p:nvPr/>
        </p:nvSpPr>
        <p:spPr>
          <a:xfrm>
            <a:off x="6696075" y="2276475"/>
            <a:ext cx="48863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混合 Token Mixer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0CC3A4-B0BB-44D0-99E8-788A803EB6D9}"/>
              </a:ext>
            </a:extLst>
          </p:cNvPr>
          <p:cNvSpPr>
            <a:spLocks noGrp="1"/>
          </p:cNvSpPr>
          <p:nvPr/>
        </p:nvSpPr>
        <p:spPr>
          <a:xfrm>
            <a:off x="6696075" y="2705100"/>
            <a:ext cx="48863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三层 GDN 搭配一层 QSA，分别承担压缩与检索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4F3BDF-84F7-4B8E-88C7-9DF61633744A}"/>
              </a:ext>
            </a:extLst>
          </p:cNvPr>
          <p:cNvSpPr>
            <a:spLocks noGrp="1"/>
          </p:cNvSpPr>
          <p:nvPr/>
        </p:nvSpPr>
        <p:spPr>
          <a:xfrm>
            <a:off x="6696075" y="3429000"/>
            <a:ext cx="48863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四分支残差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D16782-367A-41EC-B6B9-7CA4C01DC2EB}"/>
              </a:ext>
            </a:extLst>
          </p:cNvPr>
          <p:cNvSpPr>
            <a:spLocks noGrp="1"/>
          </p:cNvSpPr>
          <p:nvPr/>
        </p:nvSpPr>
        <p:spPr>
          <a:xfrm>
            <a:off x="6696075" y="3857625"/>
            <a:ext cx="48863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GR 控制各子层对残差流的读写，改善信息传递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23F348-6C0F-4AC6-92E6-2F68C17A4ADB}"/>
              </a:ext>
            </a:extLst>
          </p:cNvPr>
          <p:cNvSpPr>
            <a:spLocks noGrp="1"/>
          </p:cNvSpPr>
          <p:nvPr/>
        </p:nvSpPr>
        <p:spPr>
          <a:xfrm>
            <a:off x="6696075" y="4581525"/>
            <a:ext cx="48863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额外查表记忆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0A832E-E190-4BBA-A160-55D9669E1048}"/>
              </a:ext>
            </a:extLst>
          </p:cNvPr>
          <p:cNvSpPr>
            <a:spLocks noGrp="1"/>
          </p:cNvSpPr>
          <p:nvPr/>
        </p:nvSpPr>
        <p:spPr>
          <a:xfrm>
            <a:off x="6696075" y="5010150"/>
            <a:ext cx="48863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125B 主干之外增加 51B N-gram Embedding，每 token 激活约 6B</a:t>
            </a:r>
          </a:p>
        </p:txBody>
      </p:sp>
    </p:spTree>
    <p:extLst>
      <p:ext uri="{BB962C8B-B14F-4D97-AF65-F5344CB8AC3E}">
        <p14:creationId xmlns:p14="http://schemas.microsoft.com/office/powerpoint/2010/main" val="1738735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F1F1ABE-F8B6-44DA-B733-AD52A90F86D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04 高效与长上下文架构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D3B09D0-3592-4936-8B54-E6A5A181721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放大 QSA 子层：四分支残差如何读写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FD6988-116A-42E5-AED7-E948E0FD52C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EBB336-9DAC-4364-A3AE-B4F545E65F7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0CDA91-C117-4917-A094-E959DD40FBA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GR 让每个子层动态选择从哪里读取、向哪里写回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5C3F0F-24B8-4E62-95C0-55EE7CF682BB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7CEDBC-B13D-403D-8B5E-857AE672A550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GDN 子层采用对应的读写结构；GR 改变的是跨层信息传递路径。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DA8813-D1F3-4FAC-B944-37B978F6110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Qwen3.8-Next 报告，2026-08-31 · Figure 1，QSA Layer 局部放大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A01F26-46EA-4CC0-B4DB-73AEA6716ABA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19 / 38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2375613"/>
            <a:ext cx="7162800" cy="320214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C05F672-D15D-4170-A3EA-1D42BBE07E95}"/>
              </a:ext>
            </a:extLst>
          </p:cNvPr>
          <p:cNvSpPr>
            <a:spLocks noGrp="1"/>
          </p:cNvSpPr>
          <p:nvPr/>
        </p:nvSpPr>
        <p:spPr>
          <a:xfrm>
            <a:off x="8315325" y="227647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EA423A-74EC-4478-A97C-9C08C8694999}"/>
              </a:ext>
            </a:extLst>
          </p:cNvPr>
          <p:cNvSpPr>
            <a:spLocks noGrp="1"/>
          </p:cNvSpPr>
          <p:nvPr/>
        </p:nvSpPr>
        <p:spPr>
          <a:xfrm>
            <a:off x="8315325" y="270510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GR Read 将扩展残差分支映射为子层输入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8F786-EE9E-4070-92C7-B29B22B6F5CC}"/>
              </a:ext>
            </a:extLst>
          </p:cNvPr>
          <p:cNvSpPr>
            <a:spLocks noGrp="1"/>
          </p:cNvSpPr>
          <p:nvPr/>
        </p:nvSpPr>
        <p:spPr>
          <a:xfrm>
            <a:off x="8315325" y="3429000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483152-28CC-4DA9-A0B7-3F98F003E7EF}"/>
              </a:ext>
            </a:extLst>
          </p:cNvPr>
          <p:cNvSpPr>
            <a:spLocks noGrp="1"/>
          </p:cNvSpPr>
          <p:nvPr/>
        </p:nvSpPr>
        <p:spPr>
          <a:xfrm>
            <a:off x="8315325" y="3857625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注意力与 MoE 依次处理隐藏状态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0A2509-8DF3-4C59-A53B-B290CADB9950}"/>
              </a:ext>
            </a:extLst>
          </p:cNvPr>
          <p:cNvSpPr>
            <a:spLocks noGrp="1"/>
          </p:cNvSpPr>
          <p:nvPr/>
        </p:nvSpPr>
        <p:spPr>
          <a:xfrm>
            <a:off x="8315325" y="458152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写回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51FFFE-24C5-4BBE-AD1E-B0DBD8AC730A}"/>
              </a:ext>
            </a:extLst>
          </p:cNvPr>
          <p:cNvSpPr>
            <a:spLocks noGrp="1"/>
          </p:cNvSpPr>
          <p:nvPr/>
        </p:nvSpPr>
        <p:spPr>
          <a:xfrm>
            <a:off x="8315325" y="501015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GR Write 将子层结果融合回四分支残差</a:t>
            </a:r>
          </a:p>
        </p:txBody>
      </p:sp>
    </p:spTree>
    <p:extLst>
      <p:ext uri="{BB962C8B-B14F-4D97-AF65-F5344CB8AC3E}">
        <p14:creationId xmlns:p14="http://schemas.microsoft.com/office/powerpoint/2010/main" val="109611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0FE3401-4843-403A-B239-7A6DB8884CDD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04 高效与长上下文架构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C795B0F-B3D4-4293-9604-C75B252B39E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QSA：先选重要上下文块，再做精确注意力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AD86C7-45C0-4E47-B5F0-977F172E130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55020E-E7D5-4E9A-893D-137000EA88E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86A7CA-6019-492C-A5B4-177D21854AC4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长上下文中的索引本身也需要控制计算成本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0378D3-52EB-4756-ABC6-93350F7A88C4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CCAB1C-1376-4E31-A191-111D66AFD5DB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减少访问的 token 数，也要计算“挑出这些 token”的成本。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478954-E870-48F4-9F46-FCCBD3E3E68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Qwen3.8-Next 报告，2026-08-31 · 原报告 Figure 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12FA4B-DEAB-404A-ABD7-2F392BE8085A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20 / 38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8194" y="2171700"/>
            <a:ext cx="6925612" cy="36099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D1F9910-7F10-4392-95D6-ED15C2206DFB}"/>
              </a:ext>
            </a:extLst>
          </p:cNvPr>
          <p:cNvSpPr>
            <a:spLocks noGrp="1"/>
          </p:cNvSpPr>
          <p:nvPr/>
        </p:nvSpPr>
        <p:spPr>
          <a:xfrm>
            <a:off x="8315325" y="227647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压缩索引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04FFA7-F6A0-48D0-8471-3E14392921E9}"/>
              </a:ext>
            </a:extLst>
          </p:cNvPr>
          <p:cNvSpPr>
            <a:spLocks noGrp="1"/>
          </p:cNvSpPr>
          <p:nvPr/>
        </p:nvSpPr>
        <p:spPr>
          <a:xfrm>
            <a:off x="8315325" y="270510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将历史序列聚合成 micro-block，在块粒度估计重要性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BD1A45-F45B-461B-B070-BDE99EE16426}"/>
              </a:ext>
            </a:extLst>
          </p:cNvPr>
          <p:cNvSpPr>
            <a:spLocks noGrp="1"/>
          </p:cNvSpPr>
          <p:nvPr/>
        </p:nvSpPr>
        <p:spPr>
          <a:xfrm>
            <a:off x="8315325" y="3429000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稀疏选择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DD2D12-75E7-4FEC-B7D6-D56415530D38}"/>
              </a:ext>
            </a:extLst>
          </p:cNvPr>
          <p:cNvSpPr>
            <a:spLocks noGrp="1"/>
          </p:cNvSpPr>
          <p:nvPr/>
        </p:nvSpPr>
        <p:spPr>
          <a:xfrm>
            <a:off x="8315325" y="3857625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索引器挑出相关块，注意力集中在被选择的上下文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319DB0B-BFDB-416D-ADC0-700A757DFD9C}"/>
              </a:ext>
            </a:extLst>
          </p:cNvPr>
          <p:cNvSpPr>
            <a:spLocks noGrp="1"/>
          </p:cNvSpPr>
          <p:nvPr/>
        </p:nvSpPr>
        <p:spPr>
          <a:xfrm>
            <a:off x="8315325" y="458152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与 GDN 互补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231EC1-E35D-49E9-AF91-536382F239F8}"/>
              </a:ext>
            </a:extLst>
          </p:cNvPr>
          <p:cNvSpPr>
            <a:spLocks noGrp="1"/>
          </p:cNvSpPr>
          <p:nvPr/>
        </p:nvSpPr>
        <p:spPr>
          <a:xfrm>
            <a:off x="8315325" y="501015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GDN 保持压缩记忆，QSA 为需要精确内容的步骤提供检索</a:t>
            </a:r>
          </a:p>
        </p:txBody>
      </p:sp>
    </p:spTree>
    <p:extLst>
      <p:ext uri="{BB962C8B-B14F-4D97-AF65-F5344CB8AC3E}">
        <p14:creationId xmlns:p14="http://schemas.microsoft.com/office/powerpoint/2010/main" val="644040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D95A3E4-AEEB-4C41-BF6A-EEF06C08A348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04 高效与长上下文架构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717E633-6441-4F1A-8F47-966A14AF465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实验：效率结论需要绑定测量条件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75A723-83E7-4FB2-A563-B3F773604E0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7F6F9C-4EBC-4B87-9A7B-27BC271CDF5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E03519-C9A1-4717-A14E-FE3D78C68E03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QSA 的 kernel 延迟随长度变化，Prefill 与 Decode 分开测量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7582DA-CA26-4A1B-BFC6-5F9087B356AA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262556-3515-4B9A-A13F-B4862D6D0A49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报告速度时，写明硬件、长度、并发、缓存命中率和测量环节。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F33D39-ABF4-4860-9D42-0EEC6AE121A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Qwen3.8-Next 报告，2026-08-31；Qwen3.8-Flash-Next 官方发布 · 原报告 Figure 6；不将 kernel 结果等同端到端速度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34ABCE-4A89-447D-837C-16C3C96A01FF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21 / 38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2214340"/>
            <a:ext cx="7162800" cy="352469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8B8A7B7-F479-429B-8A92-E9CD8919254E}"/>
              </a:ext>
            </a:extLst>
          </p:cNvPr>
          <p:cNvSpPr>
            <a:spLocks noGrp="1"/>
          </p:cNvSpPr>
          <p:nvPr/>
        </p:nvSpPr>
        <p:spPr>
          <a:xfrm>
            <a:off x="8315325" y="227647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E32CFB-94AC-4681-8242-E785D0FDAC37}"/>
              </a:ext>
            </a:extLst>
          </p:cNvPr>
          <p:cNvSpPr>
            <a:spLocks noGrp="1"/>
          </p:cNvSpPr>
          <p:nvPr/>
        </p:nvSpPr>
        <p:spPr>
          <a:xfrm>
            <a:off x="8315325" y="270510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原图分别显示索引器和注意力核的延迟，长序列下差异更明显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15D30F-E3B9-45AA-995C-81442DBEF843}"/>
              </a:ext>
            </a:extLst>
          </p:cNvPr>
          <p:cNvSpPr>
            <a:spLocks noGrp="1"/>
          </p:cNvSpPr>
          <p:nvPr/>
        </p:nvSpPr>
        <p:spPr>
          <a:xfrm>
            <a:off x="8315325" y="3429000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54865B-E13B-4840-9FB7-6A7EC517AAE7}"/>
              </a:ext>
            </a:extLst>
          </p:cNvPr>
          <p:cNvSpPr>
            <a:spLocks noGrp="1"/>
          </p:cNvSpPr>
          <p:nvPr/>
        </p:nvSpPr>
        <p:spPr>
          <a:xfrm>
            <a:off x="8315325" y="3857625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内核加速不等于端到端应用同比例加速，还受通信和缓存影响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DC9B3D-5E68-4A8B-9A79-02FED1A70EF5}"/>
              </a:ext>
            </a:extLst>
          </p:cNvPr>
          <p:cNvSpPr>
            <a:spLocks noGrp="1"/>
          </p:cNvSpPr>
          <p:nvPr/>
        </p:nvSpPr>
        <p:spPr>
          <a:xfrm>
            <a:off x="8315325" y="458152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训练口径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C1B424-717F-4F91-90CB-2483B084B488}"/>
              </a:ext>
            </a:extLst>
          </p:cNvPr>
          <p:cNvSpPr>
            <a:spLocks noGrp="1"/>
          </p:cNvSpPr>
          <p:nvPr/>
        </p:nvSpPr>
        <p:spPr>
          <a:xfrm>
            <a:off x="8315325" y="501015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相比 Qwen3.7-Plus：约 1/3 激活规模 × 1/3 训练 token ≈ 1/9 FLOPs</a:t>
            </a:r>
          </a:p>
        </p:txBody>
      </p:sp>
    </p:spTree>
    <p:extLst>
      <p:ext uri="{BB962C8B-B14F-4D97-AF65-F5344CB8AC3E}">
        <p14:creationId xmlns:p14="http://schemas.microsoft.com/office/powerpoint/2010/main" val="965628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1DF4F60-1524-46B3-B1C2-0427366F6772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04 高效与长上下文架构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DC2D4B1-DE99-46FD-AF14-5E9CC63D2AA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实验：稀疏注意力的质量是否保留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2863BD-7C4B-490B-BCA3-6FF05532E62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0693CD-1C71-4AB5-9029-ADE5051FE8E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54ECAC-EC0F-46E9-923E-7B0FB38AE3F9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Qwen3.8-Next 的 MRCR 消融提供了长上下文检索证据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63689A-4D4A-4117-BB55-97A6909E2BCB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08461A-1AE1-49E0-9C4C-8AE8FF2B0161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该消融中 QSA 有收益，但 1M 上下文仍有明显能力缺口。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31D694-87B8-45E8-B432-2A2D2D393DE4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Qwen3.8-Next 报告，2026-08-31 · Table 3；差值为百分点，具体协议以原表为准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F0ECDF-3DE2-4A4B-BF6E-5B22154E008E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22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590800"/>
          <a:ext cx="10972800" cy="2552700"/>
        </p:xfrm>
        <a:graphic>
          <a:graphicData uri="http://schemas.openxmlformats.org/drawingml/2006/table">
            <a:tbl>
              <a:tblPr/>
              <a:tblGrid>
                <a:gridCol w="404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0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8-needle MRCR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Attention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QSA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差值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 上下文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30.66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40.53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+9.87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上下文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20.71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26.44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+5.73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601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8C6683B0-AEB7-4CDF-90FC-E29280E83A67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04 高效与长上下文架构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F79937F-2213-4F05-87B3-2CD1B8DBE62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其余三项设计分别解决什么问题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A5AA77-8113-4E01-BA86-6039277F675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387EB5-75D8-432F-8657-FD0D9E45D81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5E7733-6D7B-4895-B7D8-AD4C92240FC8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每个组件都有自己的目标和需要验证的证据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6E0883-D4AE-42B5-A38E-3406D53B446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BB4162-50F2-42AE-99A0-8A334CE51155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最新架构报告的价值在消融设计，同样值得读负面与边界结果。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2494C4-1755-42A3-B199-D5A55497EFC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Qwen3.8-Next 报告，2026-08-31；Qwen3.8-Flash-Next 官方发布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6FAC06-0051-4AEB-A285-40F143C6C5C9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23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82C4E5-D7E8-4E4F-8040-5D8947F35F0E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A4BAAB-6A29-4D1B-A570-F20E5A9B0F22}"/>
              </a:ext>
            </a:extLst>
          </p:cNvPr>
          <p:cNvSpPr>
            <a:spLocks noGrp="1"/>
          </p:cNvSpPr>
          <p:nvPr/>
        </p:nvSpPr>
        <p:spPr>
          <a:xfrm>
            <a:off x="1323975" y="22860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Gated Residual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F8AA8F-B02D-42B9-83F0-40FA1855F0BE}"/>
              </a:ext>
            </a:extLst>
          </p:cNvPr>
          <p:cNvSpPr>
            <a:spLocks noGrp="1"/>
          </p:cNvSpPr>
          <p:nvPr/>
        </p:nvSpPr>
        <p:spPr>
          <a:xfrm>
            <a:off x="3810000" y="22860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残差扩为 4 个分支，通过动态门控读写。重点看跨层路径和训练稳定性。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AD84BE-C914-4605-BA94-152FB4769E44}"/>
              </a:ext>
            </a:extLst>
          </p:cNvPr>
          <p:cNvSpPr>
            <a:spLocks noGrp="1"/>
          </p:cNvSpPr>
          <p:nvPr/>
        </p:nvSpPr>
        <p:spPr>
          <a:xfrm>
            <a:off x="1323975" y="29813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ED62A7-7C42-4DDB-85AA-123FFF8AFF21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BB97A8-B1C5-475E-AE65-5ABE05C6BB1C}"/>
              </a:ext>
            </a:extLst>
          </p:cNvPr>
          <p:cNvSpPr>
            <a:spLocks noGrp="1"/>
          </p:cNvSpPr>
          <p:nvPr/>
        </p:nvSpPr>
        <p:spPr>
          <a:xfrm>
            <a:off x="1323975" y="31432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N-gram Embedding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591FD9-FF14-45F6-AC14-0D30608F5E1C}"/>
              </a:ext>
            </a:extLst>
          </p:cNvPr>
          <p:cNvSpPr>
            <a:spLocks noGrp="1"/>
          </p:cNvSpPr>
          <p:nvPr/>
        </p:nvSpPr>
        <p:spPr>
          <a:xfrm>
            <a:off x="3810000" y="31432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根据当前及前面几个 token 查表，增加局部模式容量。主机内存与预取仍有成本。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A5ED47-DC66-4BA9-9280-8BF19AC3B548}"/>
              </a:ext>
            </a:extLst>
          </p:cNvPr>
          <p:cNvSpPr>
            <a:spLocks noGrp="1"/>
          </p:cNvSpPr>
          <p:nvPr/>
        </p:nvSpPr>
        <p:spPr>
          <a:xfrm>
            <a:off x="1323975" y="383857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D777BB-0821-45CB-9A2F-58AE541C0584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64B12DE-581B-4682-A972-FF122C075E13}"/>
              </a:ext>
            </a:extLst>
          </p:cNvPr>
          <p:cNvSpPr>
            <a:spLocks noGrp="1"/>
          </p:cNvSpPr>
          <p:nvPr/>
        </p:nvSpPr>
        <p:spPr>
          <a:xfrm>
            <a:off x="1323975" y="40005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Muon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9C150A-9FFC-46EC-8715-A4379FB14322}"/>
              </a:ext>
            </a:extLst>
          </p:cNvPr>
          <p:cNvSpPr>
            <a:spLocks noGrp="1"/>
          </p:cNvSpPr>
          <p:nvPr/>
        </p:nvSpPr>
        <p:spPr>
          <a:xfrm>
            <a:off x="3810000" y="40005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主要线性矩阵使用 Muon，其余参数按类型配置 AdamW / Adam，并重新拟合训练配方。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CB1056-36B0-47FA-8291-CE919D8DD396}"/>
              </a:ext>
            </a:extLst>
          </p:cNvPr>
          <p:cNvSpPr>
            <a:spLocks noGrp="1"/>
          </p:cNvSpPr>
          <p:nvPr/>
        </p:nvSpPr>
        <p:spPr>
          <a:xfrm>
            <a:off x="1323975" y="46958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9416C72-FB85-444F-8C6B-28F7028FF2B2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4A8E94-F6A3-44CC-8D95-BB7AA62B969B}"/>
              </a:ext>
            </a:extLst>
          </p:cNvPr>
          <p:cNvSpPr>
            <a:spLocks noGrp="1"/>
          </p:cNvSpPr>
          <p:nvPr/>
        </p:nvSpPr>
        <p:spPr>
          <a:xfrm>
            <a:off x="1323975" y="48577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共同评估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6309D2E-262E-49FD-A0B7-C9F044880551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分别看质量、显存、带宽和收敛，避免把多个同时变化的组件归为单一原因。</a:t>
            </a:r>
          </a:p>
        </p:txBody>
      </p:sp>
    </p:spTree>
    <p:extLst>
      <p:ext uri="{BB962C8B-B14F-4D97-AF65-F5344CB8AC3E}">
        <p14:creationId xmlns:p14="http://schemas.microsoft.com/office/powerpoint/2010/main" val="1333729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5703C3B-5941-4118-89DC-4B344ECDFCA5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05 多模态与 Agent 分支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6598DA4-9801-4573-9BA0-7D22FDB4E1C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Qwen3-VL：视觉信息进入多个语言层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3793C8-D2B7-4569-B3BD-FAFB6C9CFCD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046DE8-4106-4DF4-BDAA-0E50218CB66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2A2522-9C2D-499E-AABC-E7D2C9D4056B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输入表示、融合深度和视频时间编码同时升级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89913E-FFD8-40ED-972B-B59608E57ABD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5618B4-957B-457E-8486-8BE5B9474DD5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VLM 的能力同时取决于视觉 token 表示和语言解码器。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BE09B3-FE7D-4AE8-AD8F-F1572453353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Qwen3-VL 报告 · 原报告 Figure 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E775B1-98BF-41CD-A0FC-6C7F5CC25639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24 / 38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66515" y="2171700"/>
            <a:ext cx="6248969" cy="36099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C1F42C6-313D-4A5E-B700-60C5C01DC4CA}"/>
              </a:ext>
            </a:extLst>
          </p:cNvPr>
          <p:cNvSpPr>
            <a:spLocks noGrp="1"/>
          </p:cNvSpPr>
          <p:nvPr/>
        </p:nvSpPr>
        <p:spPr>
          <a:xfrm>
            <a:off x="8315325" y="227647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DeepStack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C9EBEB-22DA-40A7-A825-AAE717FEF098}"/>
              </a:ext>
            </a:extLst>
          </p:cNvPr>
          <p:cNvSpPr>
            <a:spLocks noGrp="1"/>
          </p:cNvSpPr>
          <p:nvPr/>
        </p:nvSpPr>
        <p:spPr>
          <a:xfrm>
            <a:off x="8315325" y="270510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将多个 ViT 层的特征注入早期 LLM 层，保留更丰富视觉信息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15EF08-4BD8-458A-81D8-14DAD14B44A2}"/>
              </a:ext>
            </a:extLst>
          </p:cNvPr>
          <p:cNvSpPr>
            <a:spLocks noGrp="1"/>
          </p:cNvSpPr>
          <p:nvPr/>
        </p:nvSpPr>
        <p:spPr>
          <a:xfrm>
            <a:off x="8315325" y="3429000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Interleaved MRoPE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E1373A-8671-450F-A664-86A10EF2E037}"/>
              </a:ext>
            </a:extLst>
          </p:cNvPr>
          <p:cNvSpPr>
            <a:spLocks noGrp="1"/>
          </p:cNvSpPr>
          <p:nvPr/>
        </p:nvSpPr>
        <p:spPr>
          <a:xfrm>
            <a:off x="8315325" y="3857625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更均衡地组织时空位置频率，改善图像与视频建模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BF1AB-4EBA-46B7-AFC4-174AFE252D16}"/>
              </a:ext>
            </a:extLst>
          </p:cNvPr>
          <p:cNvSpPr>
            <a:spLocks noGrp="1"/>
          </p:cNvSpPr>
          <p:nvPr/>
        </p:nvSpPr>
        <p:spPr>
          <a:xfrm>
            <a:off x="8315325" y="458152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文本时间戳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20A322-1FBC-4945-BD13-CE3135C4306E}"/>
              </a:ext>
            </a:extLst>
          </p:cNvPr>
          <p:cNvSpPr>
            <a:spLocks noGrp="1"/>
          </p:cNvSpPr>
          <p:nvPr/>
        </p:nvSpPr>
        <p:spPr>
          <a:xfrm>
            <a:off x="8315325" y="501015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显式标记视频时刻，帮助定位与跨片段理解</a:t>
            </a:r>
          </a:p>
        </p:txBody>
      </p:sp>
    </p:spTree>
    <p:extLst>
      <p:ext uri="{BB962C8B-B14F-4D97-AF65-F5344CB8AC3E}">
        <p14:creationId xmlns:p14="http://schemas.microsoft.com/office/powerpoint/2010/main" val="2061406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60B4D16-2DBA-4C39-8F96-61D9AD898D2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05 多模态与 Agent 分支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FAEE791-644E-4DC6-A24C-8321448BB4D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放大 DeepStack：多层视觉特征注入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67C51F-EBE7-4A0A-95D7-55686AAE5CE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783644-4CBF-4BC5-AA57-289830F4245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5AD0FC-1090-4304-88CC-4CFE12396CEE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将不同层次的视觉特征，分散送入语言模型的早期层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21CB43-ABAD-404E-88B0-30A96F4F17A8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148CE9-40CD-40F3-ACFE-8417789E7209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核心问题：单次视觉到语言的转换，是否损失了细粒度信息？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A412FA-2CD6-4DB1-B701-53B8FE13FB8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Qwen3-VL 报告 · Figure 1，DeepStack 局部放大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43B74A-60B4-4518-B86D-74C9FFF7725E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25 / 38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42004" y="2171700"/>
            <a:ext cx="4897991" cy="36099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2DC9CEE-5802-4037-ACE9-5064EF2238C3}"/>
              </a:ext>
            </a:extLst>
          </p:cNvPr>
          <p:cNvSpPr>
            <a:spLocks noGrp="1"/>
          </p:cNvSpPr>
          <p:nvPr/>
        </p:nvSpPr>
        <p:spPr>
          <a:xfrm>
            <a:off x="8315325" y="227647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A7B76B-C073-497B-ADA3-F383AC20C96B}"/>
              </a:ext>
            </a:extLst>
          </p:cNvPr>
          <p:cNvSpPr>
            <a:spLocks noGrp="1"/>
          </p:cNvSpPr>
          <p:nvPr/>
        </p:nvSpPr>
        <p:spPr>
          <a:xfrm>
            <a:off x="8315325" y="270510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从视觉编码器取得不同层次的特征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922501-2DEB-4FDF-8F60-9119B40D0404}"/>
              </a:ext>
            </a:extLst>
          </p:cNvPr>
          <p:cNvSpPr>
            <a:spLocks noGrp="1"/>
          </p:cNvSpPr>
          <p:nvPr/>
        </p:nvSpPr>
        <p:spPr>
          <a:xfrm>
            <a:off x="8315325" y="3429000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融合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7DB566-6DA2-40FC-B358-1477DCB59341}"/>
              </a:ext>
            </a:extLst>
          </p:cNvPr>
          <p:cNvSpPr>
            <a:spLocks noGrp="1"/>
          </p:cNvSpPr>
          <p:nvPr/>
        </p:nvSpPr>
        <p:spPr>
          <a:xfrm>
            <a:off x="8315325" y="3857625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处理后的视觉信息注入早期 LLM 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968290-32A0-491A-836F-45A55C77733F}"/>
              </a:ext>
            </a:extLst>
          </p:cNvPr>
          <p:cNvSpPr>
            <a:spLocks noGrp="1"/>
          </p:cNvSpPr>
          <p:nvPr/>
        </p:nvSpPr>
        <p:spPr>
          <a:xfrm>
            <a:off x="8315325" y="4581525"/>
            <a:ext cx="32670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3B1F8F-F097-40E1-BD44-EE7C9078B294}"/>
              </a:ext>
            </a:extLst>
          </p:cNvPr>
          <p:cNvSpPr>
            <a:spLocks noGrp="1"/>
          </p:cNvSpPr>
          <p:nvPr/>
        </p:nvSpPr>
        <p:spPr>
          <a:xfrm>
            <a:off x="8315325" y="5010150"/>
            <a:ext cx="326707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下一页用等预算消融验证收益</a:t>
            </a:r>
          </a:p>
        </p:txBody>
      </p:sp>
    </p:spTree>
    <p:extLst>
      <p:ext uri="{BB962C8B-B14F-4D97-AF65-F5344CB8AC3E}">
        <p14:creationId xmlns:p14="http://schemas.microsoft.com/office/powerpoint/2010/main" val="1320854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0B3D9CE-E9DE-44E1-A3E0-56647EF0C2B5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05 多模态与 Agent 分支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CE209E9-E2B5-4CA2-A0F2-A0234339D20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实验：DeepStack 的收益并不均匀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7CFC81-664B-4F15-B9E5-C7EE49406BDC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DB1A04-AAE2-4AC0-BC09-ECB53D698FA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562AC8-E392-4139-8F21-B47BF43CD296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内部 15B-A2B 模型，200B 训练 token，无后训练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907727-4D48-4027-B658-7487064E7902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3D26D8-1D27-4A93-84EB-CF41E3F0270B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内部消融模型的增益不能直接当作公开 8B checkpoint 的增益。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7E5F98-D911-4D67-8C8B-7CCAEAD51F6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Qwen3-VL 报告 · Table 9；重新绘制所选指标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482327-CAD7-4F69-B18D-5967B646A25F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26 / 38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609600" y="2324100"/>
          <a:ext cx="7362825" cy="337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0EC6DA71-A34B-4598-885E-0B8A85DFB8D2}"/>
              </a:ext>
            </a:extLst>
          </p:cNvPr>
          <p:cNvSpPr>
            <a:spLocks noGrp="1"/>
          </p:cNvSpPr>
          <p:nvPr/>
        </p:nvSpPr>
        <p:spPr>
          <a:xfrm>
            <a:off x="8391525" y="243840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平均 +1.3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BA4C1A-F138-43A1-8BA0-6C2BC49A5BC9}"/>
              </a:ext>
            </a:extLst>
          </p:cNvPr>
          <p:cNvSpPr>
            <a:spLocks noGrp="1"/>
          </p:cNvSpPr>
          <p:nvPr/>
        </p:nvSpPr>
        <p:spPr>
          <a:xfrm>
            <a:off x="8391525" y="2867025"/>
            <a:ext cx="31908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整体结果支持多层视觉融合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3B7725-9F51-49CA-B36C-30CF444C5E31}"/>
              </a:ext>
            </a:extLst>
          </p:cNvPr>
          <p:cNvSpPr>
            <a:spLocks noGrp="1"/>
          </p:cNvSpPr>
          <p:nvPr/>
        </p:nvSpPr>
        <p:spPr>
          <a:xfrm>
            <a:off x="8391525" y="3438525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InfoVQA +2.3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E46C02-84BD-4DF0-BA00-69FDCBBC9730}"/>
              </a:ext>
            </a:extLst>
          </p:cNvPr>
          <p:cNvSpPr>
            <a:spLocks noGrp="1"/>
          </p:cNvSpPr>
          <p:nvPr/>
        </p:nvSpPr>
        <p:spPr>
          <a:xfrm>
            <a:off x="8391525" y="3867150"/>
            <a:ext cx="31908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细节密集的任务收益更明显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96AB6E-59B0-4B8D-86F7-74236173D912}"/>
              </a:ext>
            </a:extLst>
          </p:cNvPr>
          <p:cNvSpPr>
            <a:spLocks noGrp="1"/>
          </p:cNvSpPr>
          <p:nvPr/>
        </p:nvSpPr>
        <p:spPr>
          <a:xfrm>
            <a:off x="8391525" y="4438650"/>
            <a:ext cx="319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TVQA -0.1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E021E7-986C-44E2-BD0C-B01CB71DC6A0}"/>
              </a:ext>
            </a:extLst>
          </p:cNvPr>
          <p:cNvSpPr>
            <a:spLocks noGrp="1"/>
          </p:cNvSpPr>
          <p:nvPr/>
        </p:nvSpPr>
        <p:spPr>
          <a:xfrm>
            <a:off x="8391525" y="4867275"/>
            <a:ext cx="31908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并非每个任务都提高</a:t>
            </a:r>
          </a:p>
        </p:txBody>
      </p:sp>
    </p:spTree>
    <p:extLst>
      <p:ext uri="{BB962C8B-B14F-4D97-AF65-F5344CB8AC3E}">
        <p14:creationId xmlns:p14="http://schemas.microsoft.com/office/powerpoint/2010/main" val="157256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B4BE71C-D764-46F7-8F65-ABB7EA8A230F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05 多模态与 Agent 分支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655E34D-013A-4D06-A3F0-72CA69BB26C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视觉分支的前置关系与阅读重点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37F187-A4A2-4134-B9BF-7757C368B79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6D4238-F257-47F0-939D-E4B4C4BB779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D1ECE8-E850-4ABA-9C34-7CC7E775130D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按照表示机制的变化阅读，更容易看懂新模型为何改进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F3066B-EE50-4C3D-B1F4-1359C61ED95B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5231E3-FB10-4C62-B492-355E456A6216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视频与情绪研究宜同时评估内容正确性、证据时间段和模态依赖。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629C3A-8A98-48C8-80D3-3B37A9FD31A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Qwen2.5-VL 报告；Qwen3-VL 报告；Qwen3.5 官方发布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D154AF-FB7C-48B0-81E4-34A10B931237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27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2905124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628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重点机制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实验室可追问的问题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Qwen2.5-VL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动态分辨率、窗口注意力、动态 FPS 与时间 MRoPE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性能提高来自更多视觉 token 还是方法本身？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Qwen3-VL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DeepStack、交错 MRoPE、文本时间戳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细粒度信息是否在视觉到语言的转换中丢失？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Qwen3.5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原生图文早期融合、混合注意力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视觉与语言共同训练怎样影响 Agent 行为？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006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3B81865-2AA7-4AE1-93A6-F650616F8BE4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05 多模态与 Agent 分支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CA141EC-BF8A-4A27-B2F4-17F13ED68FE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Coder-Next：训练完整的环境交互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BBA795-38CB-4654-91B0-1B5EA37041B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9AAC6C-03F3-4C92-976D-87C6CDB3C08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58CAB9-9C43-4D45-B1DB-DBA147CB28E6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80B 总参数、约 3B 激活，任务配有可执行环境和测试反馈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D171B5-52BC-420C-A1F8-8458EDAF70BF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394E93-6151-4071-9EDF-9D20A09B5A15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Agent 成绩由模型、工具格式、环境和回合预算共同决定。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E1BA9B-9594-4298-9CA1-66D4BD29DDE4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Qwen3-Coder-Next 报告 · §2、§4.2、Table 3；最多 300 回合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DF175E-8B5B-463E-AA34-E3BBCD4D6C25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28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98300E-44F9-4364-8A0B-44F4699E7583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训练对象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00A72A-E7B2-4AF1-B33F-C34AAA21571F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E73EC8-3773-4434-A187-2397BC2CA6DF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从答案到轨迹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BE891E-1AF6-4504-945D-C6DCDCF5CC20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代码与 Agent 中期训练，再经过 SFT、专家训练与统一蒸馏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402004-E0D5-4402-AC00-02608AA9CCE1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可验证反馈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F40E70-E7E0-4E00-AF33-1D5580A8498C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任务执行是否成功、测试是否通过，比语言表面质量更接近目标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6AA905-BA47-4447-BBB7-ABBC2B9D0034}"/>
              </a:ext>
            </a:extLst>
          </p:cNvPr>
          <p:cNvSpPr>
            <a:spLocks noGrp="1"/>
          </p:cNvSpPr>
          <p:nvPr/>
        </p:nvSpPr>
        <p:spPr>
          <a:xfrm>
            <a:off x="64770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证据与风险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6ACE65-438E-4363-A2A1-709FA2E6AA18}"/>
              </a:ext>
            </a:extLst>
          </p:cNvPr>
          <p:cNvSpPr>
            <a:spLocks noGrp="1"/>
          </p:cNvSpPr>
          <p:nvPr/>
        </p:nvSpPr>
        <p:spPr>
          <a:xfrm>
            <a:off x="64770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5F651A-92EF-4B28-8520-9243D731FF31}"/>
              </a:ext>
            </a:extLst>
          </p:cNvPr>
          <p:cNvSpPr>
            <a:spLocks noGrp="1"/>
          </p:cNvSpPr>
          <p:nvPr/>
        </p:nvSpPr>
        <p:spPr>
          <a:xfrm>
            <a:off x="64770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跨框架结果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A6E933-66F4-4601-A74A-E22CA6D9669A}"/>
              </a:ext>
            </a:extLst>
          </p:cNvPr>
          <p:cNvSpPr>
            <a:spLocks noGrp="1"/>
          </p:cNvSpPr>
          <p:nvPr/>
        </p:nvSpPr>
        <p:spPr>
          <a:xfrm>
            <a:off x="64770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SWE-bench Verified：70.6 / 71.1 / 71.3，分别对应三种 Agent 框架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438FD3-3E5C-4BB7-9484-EAB1DFF322DF}"/>
              </a:ext>
            </a:extLst>
          </p:cNvPr>
          <p:cNvSpPr>
            <a:spLocks noGrp="1"/>
          </p:cNvSpPr>
          <p:nvPr/>
        </p:nvSpPr>
        <p:spPr>
          <a:xfrm>
            <a:off x="64770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环境捷径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B9A213-5C23-4442-AB39-760865BA7888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模型可能利用代码历史等路径寻找答案，需要检查泄漏和奖励漏洞</a:t>
            </a:r>
          </a:p>
        </p:txBody>
      </p:sp>
    </p:spTree>
    <p:extLst>
      <p:ext uri="{BB962C8B-B14F-4D97-AF65-F5344CB8AC3E}">
        <p14:creationId xmlns:p14="http://schemas.microsoft.com/office/powerpoint/2010/main" val="1620723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B563B69-9720-43BA-AD37-C978F9F750B3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05 多模态与 Agent 分支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D3BAC01-8EE1-4789-813F-9A5C9AABF5C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GSPO 与 SAPO：如何稳定强化学习更新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14CE26-34E1-47C3-B82D-4C1DD8C2D8C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147AC5-857F-4B5D-97FE-DE9A20F21FE1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56F8F5-9DAA-42B4-867C-FF3168BC0FB5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序列奖励如何作用到 token 更新，是后训练的核心方法问题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7AF25D-194B-4F99-87AF-342F56B7FC6A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6C4781-C7E8-4B8D-B410-2A27DE5B9B06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算法结论依赖初始化、奖励与采样配置，不能离开实验条件外推。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D8DAF-88CA-44CD-9112-7BD9E733420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GSPO，arXiv:2507.18071；SAPO，arXiv:2511.20347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B89029-18FF-4351-8B3F-EEA74FB644A2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29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2905124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628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优化思路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组会需要解释的取舍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GSPO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以长度归一化的序列概率比，进行序列级裁剪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更新单元与序列奖励如何保持一致？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SAPO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用连续、温度可控的门控，对偏离旧策略的 token 平滑降权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怎样保留学习信号，又避免不稳定更新？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2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同预算验证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Qwen3-VL-30B-A3B 同一冷启动点，对照 GSPO / GRPO-R2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比较准确率、长度、训练波动和奖励质量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817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199E2F3-AF28-4839-B726-89C732C9F4E9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05 多模态与 Agent 分支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A88B897-DF30-4E8A-B9F8-FD10BFB5AC2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Omni：实时交互必须同时考虑理解与延迟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B04732-50E9-4C48-8B8B-0AA6B367BD3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E2333-3D3B-44D8-95B9-7534DA794D8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DF1ADC-EA40-4AA0-987E-EA3C3B7B9C4F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Thinker 负责理解和文本推理，Talker 负责语音生成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225D1C-A537-4E5B-BD57-C3CA129E90BC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3DE57B-5DC4-4049-A8A6-D746AECB825F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这些延迟来自报告的指定推理栈，不是任意设备上的保证。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63B88C-1274-4407-B2AB-FA99C773223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Qwen3.5-Omni 报告 · §2.4–2.5、Table 2；Flash 理论首包延迟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65CB21-FF03-4B8A-9180-73A6BDFA72F5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30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3143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 / 证据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具体内容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意义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Hybrid MoE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Thinker 与 Talker 都采用高效混合架构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长音视频输入与流式输出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ARIA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协调文本和语音 token 的交错与对齐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改善流式语音稳定性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音频输入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 1 / 4 / 8：235 / 298 / 352 ms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理论首包延迟随负载增加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视频输入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 1 / 4 / 8：426 / 891 / 1625 ms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视觉处理带来额外延迟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2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3AEA406-7B8B-41C8-88A0-60E5B634DEDE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06 阅读路线与组会安排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26C981B-C223-4431-A1C8-C124E6C0CE1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第一轮：4–6 小时建立主线框架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CBA0CA-F0B6-419D-BA14-09A46A56507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08599F-47FC-40F2-ABD7-467AF3F0BD5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4FFADD-6A71-4F4F-A1C1-6BAA38BBA00E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时间为导读建议，深入理解与复现需要额外时间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E602E4-1937-4A68-9C2D-6B2B3422EDA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026A99-32BB-4375-9CF3-67AA392B627F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优先掌握训练与推理机制，榜单只用来检验对应主张。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AF78EF-A946-4A8F-ACDD-036261944A6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Qwen2.5 报告，§2–4；Qwen3 报告，2025-05；Qwen3-Next 官方模型卡；Qwen3.8-Next 报告，2026-08-31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39B3DC-F7CE-49AD-87B8-1DA1F84464F0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31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33909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阅读材料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重点位置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读完的产出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Qwen2.5，约 45 分钟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架构、预训练、后训练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一张完整训练链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Qwen3，约 90 分钟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§2、Figure 1、§4.5–4.7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 MoE、思考预算与蒸馏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Qwen3-Next / 3.5，约 45 分钟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模型卡架构与上下文设置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 GDN 与 Attention 的分工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Qwen3.8-Next，约 90 分钟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Figure 1 / 3 / 6、Table 3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每个新组件对应一项证据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整理对照，约 30 分钟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回看模型名与实验协议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选定一篇精读论文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497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7E59540-A990-4598-87D4-68EE045391DD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06 阅读路线与组会安排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2CFDCE9-F1CA-4BC6-A585-F8812171E7F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第二轮：按方向选择一个分支深入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75BFFC-32F4-4BB2-91BE-EC9D223BECA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8D8B87-874C-4CDA-8FA6-5BE2D15051E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4935B9-47CD-44BE-ABD7-313738A5367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一次组会围绕一个问题展开，比覆盖整个家族更容易形成讨论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DB91DE-9B52-4C74-A9BD-ACA637AB2422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DBF9E9-7925-4BCC-876C-8794D23D8E53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本组多模态方向可优先安排 Qwen3-VL，随后用 SAPO 补方法深度。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D947F6-DAA1-42E2-BBA8-71D1DB9C52D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Qwen3-VL 报告；SAPO，arXiv:2511.20347；Qwen3-Coder-Next 报告；Qwen3.5-Omni 报告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7CB08E-FF76-4551-AA53-B78F70F90C4D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32 / 38</a:t>
            </a:r>
          </a:p>
        </p:txBody>
      </p:sp>
      <p:graphicFrame>
        <p:nvGraphicFramePr>
          <p:cNvPr id="22" name="表格 21"/>
          <p:cNvGraphicFramePr/>
          <p:nvPr/>
        </p:nvGraphicFramePr>
        <p:xfrm>
          <a:off x="609600" y="2266950"/>
          <a:ext cx="10972800" cy="321754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推荐顺序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主讲问题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可验证切入点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 / 视频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Qwen2.5-VL，再 Qwen3-VL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多层视觉特征为何有效？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DeepStack 与固定 token 预算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强化学习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Qwen3，再 GSPO / SAPO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怎样避免训练不稳定？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同初始化、奖励、计算预算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 / Agent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Qwen3-Next，再 Coder-Next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可执行反馈怎样改善行动？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未见工具格式与未见环境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音视频交互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Qwen3-VL，再 3.5-Omni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理解与语音输出如何同步？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A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模态冲突和首包延迟</a:t>
                      </a:r>
                    </a:p>
                  </a:txBody>
                  <a:tcPr marL="142875" marR="142875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393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FE8144C6-CBFB-474B-A377-084BFC697BB3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06 阅读路线与组会安排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904125C-3352-40D3-9BB6-281C5E1AC6B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一场 30 分钟组会的具体讲法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6E1A98-CCA3-48CE-B084-DF941ED51D7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14732A-331F-4414-B571-64B9A23778A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D4E869-8F75-4C3A-9DEC-B32D12DBD8F8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建议以 Qwen3 或 Qwen3-VL 为主讲，其他版本作为背景与延伸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F93167-FD26-4361-AA6C-15F0712C68C3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BBD176-011C-435E-8964-3475A4315A7C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每张实验图都回答：改变了什么，控制了什么，结论能支持到哪里。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DE6F15-8F68-40C7-9501-B84FB8CFF61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5CA671-E8D0-4992-A1E0-2D304BFECCDB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33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22FB73-2052-4EED-BA01-B9B765FAC3C2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E6B28C-65C1-4CB5-B3AB-ABE06049C65A}"/>
              </a:ext>
            </a:extLst>
          </p:cNvPr>
          <p:cNvSpPr>
            <a:spLocks noGrp="1"/>
          </p:cNvSpPr>
          <p:nvPr/>
        </p:nvSpPr>
        <p:spPr>
          <a:xfrm>
            <a:off x="1323975" y="22860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5 分钟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3C38A4-D3C2-495E-B38D-0E3432BDAAC9}"/>
              </a:ext>
            </a:extLst>
          </p:cNvPr>
          <p:cNvSpPr>
            <a:spLocks noGrp="1"/>
          </p:cNvSpPr>
          <p:nvPr/>
        </p:nvSpPr>
        <p:spPr>
          <a:xfrm>
            <a:off x="3810000" y="22860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任务与旧方法：明确问题、所用 checkpoint 和现有瓶颈。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A7338A-B003-4321-AA61-9BB6C3673618}"/>
              </a:ext>
            </a:extLst>
          </p:cNvPr>
          <p:cNvSpPr>
            <a:spLocks noGrp="1"/>
          </p:cNvSpPr>
          <p:nvPr/>
        </p:nvSpPr>
        <p:spPr>
          <a:xfrm>
            <a:off x="1323975" y="29813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16971F-A3DB-46A8-8FC4-F4ED1B13CDA4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399964-9B37-43ED-BDEE-D4CFDA2DDD05}"/>
              </a:ext>
            </a:extLst>
          </p:cNvPr>
          <p:cNvSpPr>
            <a:spLocks noGrp="1"/>
          </p:cNvSpPr>
          <p:nvPr/>
        </p:nvSpPr>
        <p:spPr>
          <a:xfrm>
            <a:off x="1323975" y="31432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10 分钟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1F1CC9-A77E-432E-A274-B258776FA96F}"/>
              </a:ext>
            </a:extLst>
          </p:cNvPr>
          <p:cNvSpPr>
            <a:spLocks noGrp="1"/>
          </p:cNvSpPr>
          <p:nvPr/>
        </p:nvSpPr>
        <p:spPr>
          <a:xfrm>
            <a:off x="3810000" y="31432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关键机制：用一张总图讲数据流，解释两项最重要的设计选择。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75FD68-C4FB-4833-919D-560F76978206}"/>
              </a:ext>
            </a:extLst>
          </p:cNvPr>
          <p:cNvSpPr>
            <a:spLocks noGrp="1"/>
          </p:cNvSpPr>
          <p:nvPr/>
        </p:nvSpPr>
        <p:spPr>
          <a:xfrm>
            <a:off x="1323975" y="383857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90CD59-F22A-4F3B-A642-A1EE5757144F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6A038B-B33C-4552-94D3-A7FC1B7F2F25}"/>
              </a:ext>
            </a:extLst>
          </p:cNvPr>
          <p:cNvSpPr>
            <a:spLocks noGrp="1"/>
          </p:cNvSpPr>
          <p:nvPr/>
        </p:nvSpPr>
        <p:spPr>
          <a:xfrm>
            <a:off x="1323975" y="40005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10 分钟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A0DBF0-41B7-4090-B8FF-55F8E4F1EA05}"/>
              </a:ext>
            </a:extLst>
          </p:cNvPr>
          <p:cNvSpPr>
            <a:spLocks noGrp="1"/>
          </p:cNvSpPr>
          <p:nvPr/>
        </p:nvSpPr>
        <p:spPr>
          <a:xfrm>
            <a:off x="3810000" y="40005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实验验证：一组主结果、一组消融、一项成本或失败案例。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BF188B-C77B-4090-978C-F2AFBF752651}"/>
              </a:ext>
            </a:extLst>
          </p:cNvPr>
          <p:cNvSpPr>
            <a:spLocks noGrp="1"/>
          </p:cNvSpPr>
          <p:nvPr/>
        </p:nvSpPr>
        <p:spPr>
          <a:xfrm>
            <a:off x="1323975" y="46958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A1FC126-60C0-4B7D-950C-0DD87200E8B6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6D90BA4-EB74-43F9-BB22-F4D5EB8DFD97}"/>
              </a:ext>
            </a:extLst>
          </p:cNvPr>
          <p:cNvSpPr>
            <a:spLocks noGrp="1"/>
          </p:cNvSpPr>
          <p:nvPr/>
        </p:nvSpPr>
        <p:spPr>
          <a:xfrm>
            <a:off x="1323975" y="48577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5 分钟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CD49413-5AA0-447D-8106-6D41F5387EC5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研究讨论：给出能复现的假设、所需资源和下一步实验。</a:t>
            </a:r>
          </a:p>
        </p:txBody>
      </p:sp>
    </p:spTree>
    <p:extLst>
      <p:ext uri="{BB962C8B-B14F-4D97-AF65-F5344CB8AC3E}">
        <p14:creationId xmlns:p14="http://schemas.microsoft.com/office/powerpoint/2010/main" val="1666219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829F0A01-95B8-4097-92E9-AC72507DC1DE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06 阅读路线与组会安排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5DD8D7C-31A9-4E35-A8EA-5F7F2FABDC6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一个可以开始的复现实验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632289-AFE5-41D5-9356-993ABF57089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5A34C2-EFB7-437F-BABA-98577C2FD22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DBFAD7-4579-4BF9-A6FA-CC960561C2E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示例：视觉推理中的“思考预算是否带来视觉证据收益”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82A55D-50B6-47B6-ADFF-653A91082F55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DFF5B1-E39A-44C1-AB4E-5FBF51ACB3CD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若答案更准但不依赖图像，就不能直接称为“视觉推理能力提升”。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18EBD7-A3FC-47BA-AE26-A8FBF85C2A7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Qwen3-VL 报告；Qwen3 报告，2025-05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A6522B-2291-47F2-B915-8927561E7F7C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34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C59321-D783-4B26-AB0C-F923FD590A4C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实验设计（建议）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C8CA63-0DEB-4C68-A8BE-4EC84E656C2D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C68B79-8815-4356-B53E-1965B25B1241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固定条件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4B556E-B818-40E2-8A69-9F3588B13FD9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同一模型、分辨率、视觉 token 预算、提示词和采样种子集合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6AB363-836E-473A-B059-C272A91A97BF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改变变量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A0B381-03BA-4ADE-8E95-A5F9A5601B49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在可配置范围内设置短、中、长推理预算，记录实际生成长度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03530A-D843-4029-969B-C7717BB48830}"/>
              </a:ext>
            </a:extLst>
          </p:cNvPr>
          <p:cNvSpPr>
            <a:spLocks noGrp="1"/>
          </p:cNvSpPr>
          <p:nvPr/>
        </p:nvSpPr>
        <p:spPr>
          <a:xfrm>
            <a:off x="6477000" y="2295525"/>
            <a:ext cx="5105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观察与判定（建议）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C26CCC-391A-44B3-89F8-2741E4318526}"/>
              </a:ext>
            </a:extLst>
          </p:cNvPr>
          <p:cNvSpPr>
            <a:spLocks noGrp="1"/>
          </p:cNvSpPr>
          <p:nvPr/>
        </p:nvSpPr>
        <p:spPr>
          <a:xfrm>
            <a:off x="6477000" y="2790825"/>
            <a:ext cx="51054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717C36-74E6-436D-A44E-55223583242C}"/>
              </a:ext>
            </a:extLst>
          </p:cNvPr>
          <p:cNvSpPr>
            <a:spLocks noGrp="1"/>
          </p:cNvSpPr>
          <p:nvPr/>
        </p:nvSpPr>
        <p:spPr>
          <a:xfrm>
            <a:off x="6477000" y="299085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同时记录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5F0E88-D643-40F3-8403-416189D655E9}"/>
              </a:ext>
            </a:extLst>
          </p:cNvPr>
          <p:cNvSpPr>
            <a:spLocks noGrp="1"/>
          </p:cNvSpPr>
          <p:nvPr/>
        </p:nvSpPr>
        <p:spPr>
          <a:xfrm>
            <a:off x="6477000" y="341947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正确率、证据定位、输出 token、首 token / 总时延和失败类型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3E2BFB-66CC-4FD8-9D57-380B9AF00F69}"/>
              </a:ext>
            </a:extLst>
          </p:cNvPr>
          <p:cNvSpPr>
            <a:spLocks noGrp="1"/>
          </p:cNvSpPr>
          <p:nvPr/>
        </p:nvSpPr>
        <p:spPr>
          <a:xfrm>
            <a:off x="6477000" y="4381500"/>
            <a:ext cx="5105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关键对照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7D943F-E506-4732-A220-577C007209D0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51054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图像遮挡或替换、仅文本输入，检查提升是否真正依赖视觉信息</a:t>
            </a:r>
          </a:p>
        </p:txBody>
      </p:sp>
    </p:spTree>
    <p:extLst>
      <p:ext uri="{BB962C8B-B14F-4D97-AF65-F5344CB8AC3E}">
        <p14:creationId xmlns:p14="http://schemas.microsoft.com/office/powerpoint/2010/main" val="1294500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85162BE-2135-48D2-8282-2775897F309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06 阅读路线与组会安排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E7E145C-5619-4262-9BEE-72D3354B1C6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选论文与比较模型的四条检查线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5B5C83-61DB-4793-8B1B-7D720EBD204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0D433A-D86C-43BF-AE88-4BA2DD8D17E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AB48A2-52F6-486C-9AAC-F16B6D7AD485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结果可解释，才能判断方法是否值得继续投入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0AC983-D046-40D4-9841-D5790A41464C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ED128B-591E-493A-A578-42414919A84C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技术演进的主线：训练配方、测试时计算、多模态信息流与效率。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DFCF1E-C200-44E2-BDC5-48028D6AE5C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Qwen3 报告，2025-05；Qwen3.8-Next 报告，2026-08-31；Qwen3-VL 报告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22BBA-B7BF-4A13-AAC6-6D73D5136D6D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35 / 38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8484B5-6484-4A7A-857A-CDE07E9CE260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3097CF-202B-4B9B-8F86-E8028947B802}"/>
              </a:ext>
            </a:extLst>
          </p:cNvPr>
          <p:cNvSpPr>
            <a:spLocks noGrp="1"/>
          </p:cNvSpPr>
          <p:nvPr/>
        </p:nvSpPr>
        <p:spPr>
          <a:xfrm>
            <a:off x="1323975" y="22860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身份一致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A424F5-5DCB-44A0-BFB2-A153DF7993AD}"/>
              </a:ext>
            </a:extLst>
          </p:cNvPr>
          <p:cNvSpPr>
            <a:spLocks noGrp="1"/>
          </p:cNvSpPr>
          <p:nvPr/>
        </p:nvSpPr>
        <p:spPr>
          <a:xfrm>
            <a:off x="3810000" y="22860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写全 checkpoint、Base / Instruct / Thinking、量化方式与版本。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DF34F6-C51D-41CB-9D1E-4B585A68C19F}"/>
              </a:ext>
            </a:extLst>
          </p:cNvPr>
          <p:cNvSpPr>
            <a:spLocks noGrp="1"/>
          </p:cNvSpPr>
          <p:nvPr/>
        </p:nvSpPr>
        <p:spPr>
          <a:xfrm>
            <a:off x="1323975" y="29813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7E9580-CF76-41B8-A5AF-1DBC788CB30C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652690-75E8-4F79-B687-83DA80A3F46F}"/>
              </a:ext>
            </a:extLst>
          </p:cNvPr>
          <p:cNvSpPr>
            <a:spLocks noGrp="1"/>
          </p:cNvSpPr>
          <p:nvPr/>
        </p:nvSpPr>
        <p:spPr>
          <a:xfrm>
            <a:off x="1323975" y="31432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预算可比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8914F7-7EC5-4C10-827E-68214EA260C9}"/>
              </a:ext>
            </a:extLst>
          </p:cNvPr>
          <p:cNvSpPr>
            <a:spLocks noGrp="1"/>
          </p:cNvSpPr>
          <p:nvPr/>
        </p:nvSpPr>
        <p:spPr>
          <a:xfrm>
            <a:off x="3810000" y="31432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固定输入、输出、采样次数、工具回合和视觉 token 预算。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37C2BE-094C-4D73-A826-11AFD1474D36}"/>
              </a:ext>
            </a:extLst>
          </p:cNvPr>
          <p:cNvSpPr>
            <a:spLocks noGrp="1"/>
          </p:cNvSpPr>
          <p:nvPr/>
        </p:nvSpPr>
        <p:spPr>
          <a:xfrm>
            <a:off x="1323975" y="383857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9AB527-2730-4CC3-A2C5-5604DF59D1E2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E796DE-0469-402C-A012-43267E7DC881}"/>
              </a:ext>
            </a:extLst>
          </p:cNvPr>
          <p:cNvSpPr>
            <a:spLocks noGrp="1"/>
          </p:cNvSpPr>
          <p:nvPr/>
        </p:nvSpPr>
        <p:spPr>
          <a:xfrm>
            <a:off x="1323975" y="400050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证据匹配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886034-5723-49EE-990A-7A3E0937E64C}"/>
              </a:ext>
            </a:extLst>
          </p:cNvPr>
          <p:cNvSpPr>
            <a:spLocks noGrp="1"/>
          </p:cNvSpPr>
          <p:nvPr/>
        </p:nvSpPr>
        <p:spPr>
          <a:xfrm>
            <a:off x="3810000" y="400050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综合排名用于系统表现；组件贡献需要消融或受控比较。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0DEC57-FD3E-4F7D-8AEB-26683D6D134C}"/>
              </a:ext>
            </a:extLst>
          </p:cNvPr>
          <p:cNvSpPr>
            <a:spLocks noGrp="1"/>
          </p:cNvSpPr>
          <p:nvPr/>
        </p:nvSpPr>
        <p:spPr>
          <a:xfrm>
            <a:off x="1323975" y="4695825"/>
            <a:ext cx="10258425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3114A6-FE29-42B8-A6A2-37B7B340B1B3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429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7B9A73-FFB5-4347-97D6-889BDBC6B0C3}"/>
              </a:ext>
            </a:extLst>
          </p:cNvPr>
          <p:cNvSpPr>
            <a:spLocks noGrp="1"/>
          </p:cNvSpPr>
          <p:nvPr/>
        </p:nvSpPr>
        <p:spPr>
          <a:xfrm>
            <a:off x="1323975" y="4857750"/>
            <a:ext cx="2324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边界透明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AC622F-0A07-4209-9303-E3103E419361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7772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报告失败样例、环境依赖和训练数据限制，区分作者实测与研究建议。</a:t>
            </a:r>
          </a:p>
        </p:txBody>
      </p:sp>
    </p:spTree>
    <p:extLst>
      <p:ext uri="{BB962C8B-B14F-4D97-AF65-F5344CB8AC3E}">
        <p14:creationId xmlns:p14="http://schemas.microsoft.com/office/powerpoint/2010/main" val="1560567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3D2C65CC-2AB2-49DC-BBE9-864BFF1321B9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AFEA30C-88B6-4DC3-987C-CD9E5359CC4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主线文献与官方架构资料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E401EB-1E3C-45EE-A602-13AFE94D60BB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6D04D1-A868-44F9-ADE0-98EF150CAA4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7BE71C-44D7-4877-A53D-4F49B75D90D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0DD3A1-B2FF-49A8-9A77-24ECF3CD0D31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36 / 38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9A17A9-BFE9-407C-AFE8-2EC44C8B7CAF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CA0E1C-4828-42FF-8B6B-FEAE914684DE}"/>
              </a:ext>
            </a:extLst>
          </p:cNvPr>
          <p:cNvSpPr>
            <a:spLocks noGrp="1"/>
          </p:cNvSpPr>
          <p:nvPr/>
        </p:nvSpPr>
        <p:spPr>
          <a:xfrm>
            <a:off x="1057275" y="19240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Qwen2.5 Technical Report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0A565F-BFFC-4061-BC2C-4B1D91AA0837}"/>
              </a:ext>
            </a:extLst>
          </p:cNvPr>
          <p:cNvSpPr>
            <a:spLocks noGrp="1"/>
          </p:cNvSpPr>
          <p:nvPr/>
        </p:nvSpPr>
        <p:spPr>
          <a:xfrm>
            <a:off x="1057275" y="25241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4"/>
              </a:rPr>
              <a:t>arXiv: 2412.15115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4954F5-AC58-4FE6-80BE-C71F40314723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D7755C-8AD3-4244-BF63-35D16652C790}"/>
              </a:ext>
            </a:extLst>
          </p:cNvPr>
          <p:cNvSpPr>
            <a:spLocks noGrp="1"/>
          </p:cNvSpPr>
          <p:nvPr/>
        </p:nvSpPr>
        <p:spPr>
          <a:xfrm>
            <a:off x="1057275" y="29337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 Technical Report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3DD3A3-5758-4973-B1FD-E41A62208E48}"/>
              </a:ext>
            </a:extLst>
          </p:cNvPr>
          <p:cNvSpPr>
            <a:spLocks noGrp="1"/>
          </p:cNvSpPr>
          <p:nvPr/>
        </p:nvSpPr>
        <p:spPr>
          <a:xfrm>
            <a:off x="1057275" y="35337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 2505.09388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F00EAE-0515-4583-8589-F0B064D0CA4D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5D0C98-FC73-4D9E-BD32-0651FFA00784}"/>
              </a:ext>
            </a:extLst>
          </p:cNvPr>
          <p:cNvSpPr>
            <a:spLocks noGrp="1"/>
          </p:cNvSpPr>
          <p:nvPr/>
        </p:nvSpPr>
        <p:spPr>
          <a:xfrm>
            <a:off x="1057275" y="39433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Qwen3: Think Deeper, Act Faster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127CEB-040D-49B9-8424-29AF5718C3A2}"/>
              </a:ext>
            </a:extLst>
          </p:cNvPr>
          <p:cNvSpPr>
            <a:spLocks noGrp="1"/>
          </p:cNvSpPr>
          <p:nvPr/>
        </p:nvSpPr>
        <p:spPr>
          <a:xfrm>
            <a:off x="1057275" y="45434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6"/>
              </a:rPr>
              <a:t>Qwen · 官方发布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AA2626-620F-4533-87E8-6E9C17D14548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0372EE-C4B1-41D3-BCA8-3535CD2F5719}"/>
              </a:ext>
            </a:extLst>
          </p:cNvPr>
          <p:cNvSpPr>
            <a:spLocks noGrp="1"/>
          </p:cNvSpPr>
          <p:nvPr/>
        </p:nvSpPr>
        <p:spPr>
          <a:xfrm>
            <a:off x="1057275" y="49530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Qwen3-Next-80B-A3B-Instruct 模型卡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A7B833-EC03-4A26-9998-390D9A441311}"/>
              </a:ext>
            </a:extLst>
          </p:cNvPr>
          <p:cNvSpPr>
            <a:spLocks noGrp="1"/>
          </p:cNvSpPr>
          <p:nvPr/>
        </p:nvSpPr>
        <p:spPr>
          <a:xfrm>
            <a:off x="1057275" y="55530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7"/>
              </a:rPr>
              <a:t>Hugging Face · 官方模型卡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C271F7-3003-4EAB-8F5D-F2AF7D900CA4}"/>
              </a:ext>
            </a:extLst>
          </p:cNvPr>
          <p:cNvSpPr>
            <a:spLocks noGrp="1"/>
          </p:cNvSpPr>
          <p:nvPr/>
        </p:nvSpPr>
        <p:spPr>
          <a:xfrm>
            <a:off x="6391275" y="1924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99AF52-B1AD-4F29-813B-7CB833A41104}"/>
              </a:ext>
            </a:extLst>
          </p:cNvPr>
          <p:cNvSpPr>
            <a:spLocks noGrp="1"/>
          </p:cNvSpPr>
          <p:nvPr/>
        </p:nvSpPr>
        <p:spPr>
          <a:xfrm>
            <a:off x="6838950" y="19240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Qwen3.5: Towards Native Multimodal Agents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689F0A-3EDF-46D7-80D3-CFD2825EEA7E}"/>
              </a:ext>
            </a:extLst>
          </p:cNvPr>
          <p:cNvSpPr>
            <a:spLocks noGrp="1"/>
          </p:cNvSpPr>
          <p:nvPr/>
        </p:nvSpPr>
        <p:spPr>
          <a:xfrm>
            <a:off x="6838950" y="25241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8"/>
              </a:rPr>
              <a:t>Qwen · 官方发布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537CED-C96D-4895-A3AD-B75433CCA615}"/>
              </a:ext>
            </a:extLst>
          </p:cNvPr>
          <p:cNvSpPr>
            <a:spLocks noGrp="1"/>
          </p:cNvSpPr>
          <p:nvPr/>
        </p:nvSpPr>
        <p:spPr>
          <a:xfrm>
            <a:off x="6391275" y="29337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44ADFA-452B-48BA-AEFF-FEB91ECA7A4C}"/>
              </a:ext>
            </a:extLst>
          </p:cNvPr>
          <p:cNvSpPr>
            <a:spLocks noGrp="1"/>
          </p:cNvSpPr>
          <p:nvPr/>
        </p:nvSpPr>
        <p:spPr>
          <a:xfrm>
            <a:off x="6838950" y="29337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Qwen3.5-397B-A17B 模型卡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F8305C-AE05-4282-97DF-E54F0D4B54B7}"/>
              </a:ext>
            </a:extLst>
          </p:cNvPr>
          <p:cNvSpPr>
            <a:spLocks noGrp="1"/>
          </p:cNvSpPr>
          <p:nvPr/>
        </p:nvSpPr>
        <p:spPr>
          <a:xfrm>
            <a:off x="6838950" y="35337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9"/>
              </a:rPr>
              <a:t>Hugging Face · 官方模型卡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72330C-DE4A-44F9-BD32-FF76CA80EDFD}"/>
              </a:ext>
            </a:extLst>
          </p:cNvPr>
          <p:cNvSpPr>
            <a:spLocks noGrp="1"/>
          </p:cNvSpPr>
          <p:nvPr/>
        </p:nvSpPr>
        <p:spPr>
          <a:xfrm>
            <a:off x="6391275" y="39433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C9D932-EA03-449A-A249-379C25F9B454}"/>
              </a:ext>
            </a:extLst>
          </p:cNvPr>
          <p:cNvSpPr>
            <a:spLocks noGrp="1"/>
          </p:cNvSpPr>
          <p:nvPr/>
        </p:nvSpPr>
        <p:spPr>
          <a:xfrm>
            <a:off x="6838950" y="39433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On the Design of Qwen3.8-Next Architecture: Evaluation, Efficiency, and Training Stability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B875736-F020-4A53-9206-C425E1C0FBC7}"/>
              </a:ext>
            </a:extLst>
          </p:cNvPr>
          <p:cNvSpPr>
            <a:spLocks noGrp="1"/>
          </p:cNvSpPr>
          <p:nvPr/>
        </p:nvSpPr>
        <p:spPr>
          <a:xfrm>
            <a:off x="6838950" y="45434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10"/>
              </a:rPr>
              <a:t>arXiv: 2608.30320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C1DD83D-33A8-45EE-B559-F16EC9097D81}"/>
              </a:ext>
            </a:extLst>
          </p:cNvPr>
          <p:cNvSpPr>
            <a:spLocks noGrp="1"/>
          </p:cNvSpPr>
          <p:nvPr/>
        </p:nvSpPr>
        <p:spPr>
          <a:xfrm>
            <a:off x="6391275" y="49530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E756F97-C2A7-4CE1-B343-F254E9E1401E}"/>
              </a:ext>
            </a:extLst>
          </p:cNvPr>
          <p:cNvSpPr>
            <a:spLocks noGrp="1"/>
          </p:cNvSpPr>
          <p:nvPr/>
        </p:nvSpPr>
        <p:spPr>
          <a:xfrm>
            <a:off x="6838950" y="49530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Qwen3.8-Flash-Next 模型卡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BA1833-DBC3-4066-AB94-269D445CB958}"/>
              </a:ext>
            </a:extLst>
          </p:cNvPr>
          <p:cNvSpPr>
            <a:spLocks noGrp="1"/>
          </p:cNvSpPr>
          <p:nvPr/>
        </p:nvSpPr>
        <p:spPr>
          <a:xfrm>
            <a:off x="6838950" y="55530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11"/>
              </a:rPr>
              <a:t>Hugging Face · 官方模型卡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1D4568-33B2-4BA3-BBA0-4AA2460D69AC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4BB586A-03A5-43AC-827E-3DA5F5EF0D0E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点击蓝色链接阅读原文 · 参考版本及核查日期：2026-09-10</a:t>
            </a:r>
          </a:p>
        </p:txBody>
      </p:sp>
    </p:spTree>
    <p:extLst>
      <p:ext uri="{BB962C8B-B14F-4D97-AF65-F5344CB8AC3E}">
        <p14:creationId xmlns:p14="http://schemas.microsoft.com/office/powerpoint/2010/main" val="13354303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4DC8EF41-68BF-43CD-89C1-45B588B5CA21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130D9BB-BD11-4E19-B5E1-115A02CA373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分支与后训练方法文献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A40A4B-2468-4D04-920B-9CB2EF58CE6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F386A8-D0EB-49BE-AD12-D5C74D9CCE6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5220CD-98D2-4224-BF90-34EB15A210C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AA5FB-8DD1-42FF-9804-8659E48D5D6A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37 / 38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F2493B-F34E-4D6B-B502-289FC8566CF4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958D3B-48C2-409C-9010-EFD5FFE64699}"/>
              </a:ext>
            </a:extLst>
          </p:cNvPr>
          <p:cNvSpPr>
            <a:spLocks noGrp="1"/>
          </p:cNvSpPr>
          <p:nvPr/>
        </p:nvSpPr>
        <p:spPr>
          <a:xfrm>
            <a:off x="1057275" y="19240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Qwen2.5-VL Technical Report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68FBAE-37E7-456B-A866-80C80C335EC1}"/>
              </a:ext>
            </a:extLst>
          </p:cNvPr>
          <p:cNvSpPr>
            <a:spLocks noGrp="1"/>
          </p:cNvSpPr>
          <p:nvPr/>
        </p:nvSpPr>
        <p:spPr>
          <a:xfrm>
            <a:off x="1057275" y="25241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4"/>
              </a:rPr>
              <a:t>arXiv: 2502.13923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5C03F8-079E-4BE7-961D-44C7F28D097E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82B3B6-8304-4C42-B14A-F91638510AB0}"/>
              </a:ext>
            </a:extLst>
          </p:cNvPr>
          <p:cNvSpPr>
            <a:spLocks noGrp="1"/>
          </p:cNvSpPr>
          <p:nvPr/>
        </p:nvSpPr>
        <p:spPr>
          <a:xfrm>
            <a:off x="1057275" y="29337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Qwen3-VL Technical Report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FAA1ED-A82C-4840-8852-4D84066A8796}"/>
              </a:ext>
            </a:extLst>
          </p:cNvPr>
          <p:cNvSpPr>
            <a:spLocks noGrp="1"/>
          </p:cNvSpPr>
          <p:nvPr/>
        </p:nvSpPr>
        <p:spPr>
          <a:xfrm>
            <a:off x="1057275" y="35337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 2511.21631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72AD84-1D13-4118-B375-04AD2E037771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0F32CD-064D-4C46-8138-7CB2845BD69A}"/>
              </a:ext>
            </a:extLst>
          </p:cNvPr>
          <p:cNvSpPr>
            <a:spLocks noGrp="1"/>
          </p:cNvSpPr>
          <p:nvPr/>
        </p:nvSpPr>
        <p:spPr>
          <a:xfrm>
            <a:off x="1057275" y="39433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DeepSeek-R1: Incentivizing Reasoning Capability in LLMs via Reinforcement Learning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98ABAF-6ED4-4066-8932-928C8EA07281}"/>
              </a:ext>
            </a:extLst>
          </p:cNvPr>
          <p:cNvSpPr>
            <a:spLocks noGrp="1"/>
          </p:cNvSpPr>
          <p:nvPr/>
        </p:nvSpPr>
        <p:spPr>
          <a:xfrm>
            <a:off x="1057275" y="45434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6"/>
              </a:rPr>
              <a:t>arXiv: 2501.12948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14C948-B58E-4383-A789-0ECBEB92D672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CB218E-F568-4EFC-9DEE-CCB2FD38127B}"/>
              </a:ext>
            </a:extLst>
          </p:cNvPr>
          <p:cNvSpPr>
            <a:spLocks noGrp="1"/>
          </p:cNvSpPr>
          <p:nvPr/>
        </p:nvSpPr>
        <p:spPr>
          <a:xfrm>
            <a:off x="1057275" y="49530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Group Sequence Policy Optimization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5B03F-AD62-4350-9ADF-08DA03360701}"/>
              </a:ext>
            </a:extLst>
          </p:cNvPr>
          <p:cNvSpPr>
            <a:spLocks noGrp="1"/>
          </p:cNvSpPr>
          <p:nvPr/>
        </p:nvSpPr>
        <p:spPr>
          <a:xfrm>
            <a:off x="1057275" y="55530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 2507.18071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98CDFB-8062-44F8-966E-552166D0E6F9}"/>
              </a:ext>
            </a:extLst>
          </p:cNvPr>
          <p:cNvSpPr>
            <a:spLocks noGrp="1"/>
          </p:cNvSpPr>
          <p:nvPr/>
        </p:nvSpPr>
        <p:spPr>
          <a:xfrm>
            <a:off x="6391275" y="1924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889F21-B381-412D-92FE-BFFF691C0DD4}"/>
              </a:ext>
            </a:extLst>
          </p:cNvPr>
          <p:cNvSpPr>
            <a:spLocks noGrp="1"/>
          </p:cNvSpPr>
          <p:nvPr/>
        </p:nvSpPr>
        <p:spPr>
          <a:xfrm>
            <a:off x="6838950" y="19240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Soft Adaptive Policy Optimization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8AEB89-ECBF-4261-BA2B-02217131E37B}"/>
              </a:ext>
            </a:extLst>
          </p:cNvPr>
          <p:cNvSpPr>
            <a:spLocks noGrp="1"/>
          </p:cNvSpPr>
          <p:nvPr/>
        </p:nvSpPr>
        <p:spPr>
          <a:xfrm>
            <a:off x="6838950" y="25241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8"/>
              </a:rPr>
              <a:t>arXiv: 2511.20347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F7A267-309B-4C4E-A342-6FA10AC4FD24}"/>
              </a:ext>
            </a:extLst>
          </p:cNvPr>
          <p:cNvSpPr>
            <a:spLocks noGrp="1"/>
          </p:cNvSpPr>
          <p:nvPr/>
        </p:nvSpPr>
        <p:spPr>
          <a:xfrm>
            <a:off x="6391275" y="29337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6EA0EE-29BB-467E-B690-D6313E497B75}"/>
              </a:ext>
            </a:extLst>
          </p:cNvPr>
          <p:cNvSpPr>
            <a:spLocks noGrp="1"/>
          </p:cNvSpPr>
          <p:nvPr/>
        </p:nvSpPr>
        <p:spPr>
          <a:xfrm>
            <a:off x="6838950" y="293370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Qwen3-Coder-Next Technical Report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0EC6060-3869-485D-80F6-BAE18A0E215E}"/>
              </a:ext>
            </a:extLst>
          </p:cNvPr>
          <p:cNvSpPr>
            <a:spLocks noGrp="1"/>
          </p:cNvSpPr>
          <p:nvPr/>
        </p:nvSpPr>
        <p:spPr>
          <a:xfrm>
            <a:off x="6838950" y="353377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9"/>
              </a:rPr>
              <a:t>arXiv: 2603.00729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3AAF9A-9DFE-4521-B465-339F4451375A}"/>
              </a:ext>
            </a:extLst>
          </p:cNvPr>
          <p:cNvSpPr>
            <a:spLocks noGrp="1"/>
          </p:cNvSpPr>
          <p:nvPr/>
        </p:nvSpPr>
        <p:spPr>
          <a:xfrm>
            <a:off x="6391275" y="39433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A57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EE10AF-E522-4896-8B16-13CE52E8FF51}"/>
              </a:ext>
            </a:extLst>
          </p:cNvPr>
          <p:cNvSpPr>
            <a:spLocks noGrp="1"/>
          </p:cNvSpPr>
          <p:nvPr/>
        </p:nvSpPr>
        <p:spPr>
          <a:xfrm>
            <a:off x="6838950" y="3943350"/>
            <a:ext cx="4638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Qwen3.5-Omni Technical Report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DD4230A-0C4C-4819-915B-5E208F4353CC}"/>
              </a:ext>
            </a:extLst>
          </p:cNvPr>
          <p:cNvSpPr>
            <a:spLocks noGrp="1"/>
          </p:cNvSpPr>
          <p:nvPr/>
        </p:nvSpPr>
        <p:spPr>
          <a:xfrm>
            <a:off x="6838950" y="4543425"/>
            <a:ext cx="4638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  <a:hlinkClick r:id="rId10"/>
              </a:rPr>
              <a:t>arXiv: 2604.15804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787AC84-6DE4-446A-AB15-BFE7A18BF9E0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2B7489-5501-4EB5-BD49-CBFC40E3AFC5}"/>
              </a:ext>
            </a:extLst>
          </p:cNvPr>
          <p:cNvSpPr>
            <a:spLocks noGrp="1"/>
          </p:cNvSpPr>
          <p:nvPr/>
        </p:nvSpPr>
        <p:spPr>
          <a:xfrm>
            <a:off x="609600" y="62769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点击蓝色链接阅读原文 · 参考版本及核查日期：2026-09-10</a:t>
            </a:r>
          </a:p>
        </p:txBody>
      </p:sp>
    </p:spTree>
    <p:extLst>
      <p:ext uri="{BB962C8B-B14F-4D97-AF65-F5344CB8AC3E}">
        <p14:creationId xmlns:p14="http://schemas.microsoft.com/office/powerpoint/2010/main" val="443865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355521"/>
            <a:ext cx="3143250" cy="92725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279631"/>
            <a:ext cx="1581150" cy="105998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2888BAB-28F5-43A9-8181-1A9FD01BEC63}"/>
              </a:ext>
            </a:extLst>
          </p:cNvPr>
          <p:cNvSpPr>
            <a:spLocks noGrp="1"/>
          </p:cNvSpPr>
          <p:nvPr/>
        </p:nvSpPr>
        <p:spPr>
          <a:xfrm>
            <a:off x="647700" y="1724025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AVC LAB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B53785-891A-4865-BA04-50913F0458F7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109728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46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62A4A"/>
                </a:solidFill>
                <a:latin typeface="Microsoft YaHei"/>
                <a:ea typeface="Microsoft YaHei"/>
                <a:cs typeface="Microsoft YaHei"/>
              </a:rPr>
              <a:t>讨论与下一步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033CCC-6A48-45E0-B3C2-EF4726CB55D3}"/>
              </a:ext>
            </a:extLst>
          </p:cNvPr>
          <p:cNvSpPr>
            <a:spLocks noGrp="1"/>
          </p:cNvSpPr>
          <p:nvPr/>
        </p:nvSpPr>
        <p:spPr>
          <a:xfrm>
            <a:off x="638175" y="33528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400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先读懂一个主干，再用一个实验问题进入分支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C76D1B-7875-499E-BF5D-1972D0BA2E7E}"/>
              </a:ext>
            </a:extLst>
          </p:cNvPr>
          <p:cNvSpPr>
            <a:spLocks noGrp="1"/>
          </p:cNvSpPr>
          <p:nvPr/>
        </p:nvSpPr>
        <p:spPr>
          <a:xfrm>
            <a:off x="647700" y="4133850"/>
            <a:ext cx="952500" cy="38100"/>
          </a:xfrm>
          <a:prstGeom prst="rect">
            <a:avLst/>
          </a:prstGeom>
          <a:solidFill>
            <a:srgbClr val="6A57B8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B44BD6-7A73-4B17-80EB-248887927F72}"/>
              </a:ext>
            </a:extLst>
          </p:cNvPr>
          <p:cNvSpPr>
            <a:spLocks noGrp="1"/>
          </p:cNvSpPr>
          <p:nvPr/>
        </p:nvSpPr>
        <p:spPr>
          <a:xfrm>
            <a:off x="647700" y="44291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6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174"/>
                </a:solidFill>
                <a:latin typeface="Microsoft YaHei"/>
                <a:ea typeface="Microsoft YaHei"/>
                <a:cs typeface="Microsoft YaHei"/>
              </a:rPr>
              <a:t>问题、证据与可复现的研究假设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325133" y="5238750"/>
            <a:ext cx="5541735" cy="16192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D803B4D-4FE1-4315-991D-C0B4E6812BBB}"/>
              </a:ext>
            </a:extLst>
          </p:cNvPr>
          <p:cNvSpPr>
            <a:spLocks noGrp="1"/>
          </p:cNvSpPr>
          <p:nvPr/>
        </p:nvSpPr>
        <p:spPr>
          <a:xfrm>
            <a:off x="647700" y="491490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559C"/>
                </a:solidFill>
                <a:latin typeface="Microsoft YaHei"/>
                <a:ea typeface="Microsoft YaHei"/>
                <a:cs typeface="Microsoft YaHei"/>
              </a:rPr>
              <a:t>AVC LAB · 吉林大学</a:t>
            </a:r>
          </a:p>
        </p:txBody>
      </p:sp>
    </p:spTree>
    <p:extLst>
      <p:ext uri="{BB962C8B-B14F-4D97-AF65-F5344CB8AC3E}">
        <p14:creationId xmlns:p14="http://schemas.microsoft.com/office/powerpoint/2010/main" val="13402711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5077</Words>
  <Application>Microsoft Macintosh PowerPoint</Application>
  <DocSecurity>0</DocSecurity>
  <PresentationFormat>宽屏</PresentationFormat>
  <Paragraphs>1075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0" baseType="lpstr"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cp:keywords/>
  <dc:description/>
  <cp:lastModifiedBy>1300116177@qq.com</cp:lastModifiedBy>
  <cp:revision>1</cp:revision>
  <dcterms:created xsi:type="dcterms:W3CDTF">2026-09-10T12:01:16Z</dcterms:created>
  <dcterms:modified xsi:type="dcterms:W3CDTF">2026-09-10T12:45:26Z</dcterms:modified>
  <cp:category/>
</cp:coreProperties>
</file>