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256" r:id="rId3"/>
    <p:sldId id="970" r:id="rId5"/>
    <p:sldId id="1007" r:id="rId6"/>
    <p:sldId id="987" r:id="rId7"/>
    <p:sldId id="988" r:id="rId8"/>
    <p:sldId id="989" r:id="rId9"/>
    <p:sldId id="990" r:id="rId10"/>
    <p:sldId id="991" r:id="rId11"/>
    <p:sldId id="992" r:id="rId12"/>
    <p:sldId id="993" r:id="rId13"/>
    <p:sldId id="994" r:id="rId14"/>
    <p:sldId id="995" r:id="rId15"/>
    <p:sldId id="996" r:id="rId16"/>
    <p:sldId id="997" r:id="rId17"/>
    <p:sldId id="998" r:id="rId18"/>
    <p:sldId id="999" r:id="rId19"/>
    <p:sldId id="1000" r:id="rId20"/>
    <p:sldId id="1001" r:id="rId21"/>
    <p:sldId id="1002" r:id="rId22"/>
    <p:sldId id="1003" r:id="rId23"/>
    <p:sldId id="1004" r:id="rId24"/>
    <p:sldId id="1005" r:id="rId25"/>
    <p:sldId id="1006" r:id="rId26"/>
    <p:sldId id="1013" r:id="rId27"/>
    <p:sldId id="1014" r:id="rId28"/>
    <p:sldId id="1009" r:id="rId29"/>
    <p:sldId id="1010" r:id="rId30"/>
    <p:sldId id="1011" r:id="rId31"/>
    <p:sldId id="1012" r:id="rId32"/>
    <p:sldId id="319" r:id="rId3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等线" panose="02010600030101010101" charset="-122"/>
        <a:ea typeface="等线" panose="02010600030101010101" charset="-122"/>
        <a:cs typeface="等线" panose="02010600030101010101" charset="-122"/>
        <a:sym typeface="等线" panose="02010600030101010101" charset="-122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F821DB8-F4EB-4A41-A1BA-3FCAFE7338EE}" styleName="">
    <a:wholeTbl>
      <a:tcTxStyle>
        <a:font>
          <a:latin typeface="等线"/>
          <a:ea typeface="等线"/>
          <a:cs typeface="等线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Style>
        <a:tcBdr/>
        <a:fill>
          <a:solidFill>
            <a:srgbClr val="FFFFFF"/>
          </a:solidFill>
        </a:fill>
      </a:tcStyle>
    </a:band2H>
    <a:firstCol>
      <a:tcTxStyle b="on">
        <a:font>
          <a:latin typeface="等线"/>
          <a:ea typeface="等线"/>
          <a:cs typeface="等线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>
        <a:font>
          <a:latin typeface="等线"/>
          <a:ea typeface="等线"/>
          <a:cs typeface="等线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等线"/>
          <a:ea typeface="等线"/>
          <a:cs typeface="等线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583"/>
    <p:restoredTop sz="68839"/>
  </p:normalViewPr>
  <p:slideViewPr>
    <p:cSldViewPr snapToGrid="0">
      <p:cViewPr varScale="1">
        <p:scale>
          <a:sx n="82" d="100"/>
          <a:sy n="82" d="100"/>
        </p:scale>
        <p:origin x="118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3" d="100"/>
          <a:sy n="93" d="100"/>
        </p:scale>
        <p:origin x="407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11.wmf"/><Relationship Id="rId5" Type="http://schemas.openxmlformats.org/officeDocument/2006/relationships/image" Target="../media/image10.wmf"/><Relationship Id="rId4" Type="http://schemas.openxmlformats.org/officeDocument/2006/relationships/image" Target="../media/image9.wmf"/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image" Target="../media/image17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.wmf"/><Relationship Id="rId1" Type="http://schemas.openxmlformats.org/officeDocument/2006/relationships/image" Target="../media/image20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29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3.wmf"/><Relationship Id="rId1" Type="http://schemas.openxmlformats.org/officeDocument/2006/relationships/image" Target="../media/image31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image" Target="../media/image39.wmf"/><Relationship Id="rId1" Type="http://schemas.openxmlformats.org/officeDocument/2006/relationships/image" Target="../media/image3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2.wmf"/></Relationships>
</file>

<file path=ppt/drawings/_rels/vmlDrawing14.vml.rels><?xml version="1.0" encoding="UTF-8" standalone="yes"?>
<Relationships xmlns="http://schemas.openxmlformats.org/package/2006/relationships"><Relationship Id="rId4" Type="http://schemas.openxmlformats.org/officeDocument/2006/relationships/image" Target="../media/image56.wmf"/><Relationship Id="rId3" Type="http://schemas.openxmlformats.org/officeDocument/2006/relationships/image" Target="../media/image55.wmf"/><Relationship Id="rId2" Type="http://schemas.openxmlformats.org/officeDocument/2006/relationships/image" Target="../media/image54.wmf"/><Relationship Id="rId1" Type="http://schemas.openxmlformats.org/officeDocument/2006/relationships/image" Target="../media/image53.wmf"/></Relationships>
</file>

<file path=ppt/drawings/_rels/vmlDrawing15.vml.rels><?xml version="1.0" encoding="UTF-8" standalone="yes"?>
<Relationships xmlns="http://schemas.openxmlformats.org/package/2006/relationships"><Relationship Id="rId8" Type="http://schemas.openxmlformats.org/officeDocument/2006/relationships/image" Target="../media/image66.wmf"/><Relationship Id="rId7" Type="http://schemas.openxmlformats.org/officeDocument/2006/relationships/image" Target="../media/image65.wmf"/><Relationship Id="rId6" Type="http://schemas.openxmlformats.org/officeDocument/2006/relationships/image" Target="../media/image64.wmf"/><Relationship Id="rId5" Type="http://schemas.openxmlformats.org/officeDocument/2006/relationships/image" Target="../media/image63.wmf"/><Relationship Id="rId4" Type="http://schemas.openxmlformats.org/officeDocument/2006/relationships/image" Target="../media/image62.wmf"/><Relationship Id="rId3" Type="http://schemas.openxmlformats.org/officeDocument/2006/relationships/image" Target="../media/image61.wmf"/><Relationship Id="rId2" Type="http://schemas.openxmlformats.org/officeDocument/2006/relationships/image" Target="../media/image60.wmf"/><Relationship Id="rId1" Type="http://schemas.openxmlformats.org/officeDocument/2006/relationships/image" Target="../media/image58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AF0FED-17ED-F141-AA72-5E00DC8D6F33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6C7F5C-9C2A-7147-BFA3-4F07D0DF7757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Shape 13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38" name="Shape 13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标题文本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12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3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21" name="正文级别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标题文本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0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标题文本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9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  <p:sp>
        <p:nvSpPr>
          <p:cNvPr id="4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标题文本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English Version</a:t>
            </a:r>
            <a:endParaRPr dirty="0"/>
          </a:p>
        </p:txBody>
      </p:sp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074556" y="180658"/>
            <a:ext cx="2117444" cy="1419516"/>
          </a:xfrm>
          <a:prstGeom prst="rect">
            <a:avLst/>
          </a:prstGeom>
        </p:spPr>
      </p:pic>
      <p:sp>
        <p:nvSpPr>
          <p:cNvPr id="5" name="正文级别 1…"/>
          <p:cNvSpPr txBox="1">
            <a:spLocks noGrp="1"/>
          </p:cNvSpPr>
          <p:nvPr>
            <p:ph type="body" idx="1"/>
          </p:nvPr>
        </p:nvSpPr>
        <p:spPr>
          <a:xfrm>
            <a:off x="834072" y="1868487"/>
            <a:ext cx="11140214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 userDrawn="1"/>
        </p:nvPicPr>
        <p:blipFill>
          <a:blip r:embed="rId2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sp>
        <p:nvSpPr>
          <p:cNvPr id="3" name="矩形 6"/>
          <p:cNvSpPr/>
          <p:nvPr userDrawn="1"/>
        </p:nvSpPr>
        <p:spPr>
          <a:xfrm>
            <a:off x="0" y="0"/>
            <a:ext cx="12192000" cy="108182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" name="矩形 9"/>
          <p:cNvSpPr/>
          <p:nvPr userDrawn="1"/>
        </p:nvSpPr>
        <p:spPr>
          <a:xfrm>
            <a:off x="0" y="6580089"/>
            <a:ext cx="12192000" cy="277911"/>
          </a:xfrm>
          <a:prstGeom prst="rect">
            <a:avLst/>
          </a:prstGeom>
          <a:solidFill>
            <a:schemeClr val="accent1"/>
          </a:solidFill>
          <a:ln w="12700">
            <a:solidFill>
              <a:srgbClr val="033D70"/>
            </a:solidFill>
            <a:miter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6" name="图片 2" descr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252334" y="261620"/>
            <a:ext cx="4593591" cy="66167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7" name="标题文本"/>
          <p:cNvSpPr txBox="1">
            <a:spLocks noGrp="1"/>
          </p:cNvSpPr>
          <p:nvPr>
            <p:ph type="title"/>
          </p:nvPr>
        </p:nvSpPr>
        <p:spPr>
          <a:xfrm>
            <a:off x="199572" y="0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dirty="0"/>
          </a:p>
        </p:txBody>
      </p:sp>
      <p:sp>
        <p:nvSpPr>
          <p:cNvPr id="8" name="正文级别 1…"/>
          <p:cNvSpPr txBox="1">
            <a:spLocks noGrp="1"/>
          </p:cNvSpPr>
          <p:nvPr>
            <p:ph type="body" idx="1"/>
          </p:nvPr>
        </p:nvSpPr>
        <p:spPr>
          <a:xfrm>
            <a:off x="199571" y="1587183"/>
            <a:ext cx="11646353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73" name="正文级别 1…"/>
          <p:cNvSpPr txBox="1">
            <a:spLocks noGrp="1"/>
          </p:cNvSpPr>
          <p:nvPr>
            <p:ph type="body" sz="half" idx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4" name="文本占位符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lvl="0" indent="0">
              <a:buSzTx/>
              <a:buFontTx/>
              <a:buNone/>
              <a:defRPr sz="1600"/>
            </a:pPr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7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标题文本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83" name="图片占位符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r>
              <a:rPr lang="zh-CN" altLang="en-US"/>
              <a:t>单击图标添加图片</a:t>
            </a:r>
            <a:endParaRPr lang="zh-CN" altLang="en-US"/>
          </a:p>
        </p:txBody>
      </p:sp>
      <p:sp>
        <p:nvSpPr>
          <p:cNvPr id="84" name="正文级别 1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85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文本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rPr dirty="0" err="1"/>
              <a:t>标题文本</a:t>
            </a:r>
            <a:endParaRPr dirty="0"/>
          </a:p>
        </p:txBody>
      </p:sp>
      <p:sp>
        <p:nvSpPr>
          <p:cNvPr id="3" name="正文级别 1…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rPr dirty="0" err="1"/>
              <a:t>正文级别</a:t>
            </a:r>
            <a:r>
              <a:rPr dirty="0"/>
              <a:t> 1</a:t>
            </a:r>
            <a:endParaRPr dirty="0"/>
          </a:p>
          <a:p>
            <a:pPr lvl="1"/>
            <a:r>
              <a:rPr dirty="0" err="1"/>
              <a:t>正文级别</a:t>
            </a:r>
            <a:r>
              <a:rPr dirty="0"/>
              <a:t> 2</a:t>
            </a:r>
            <a:endParaRPr dirty="0"/>
          </a:p>
          <a:p>
            <a:pPr lvl="2"/>
            <a:r>
              <a:rPr dirty="0" err="1"/>
              <a:t>正文级别</a:t>
            </a:r>
            <a:r>
              <a:rPr dirty="0"/>
              <a:t> 3</a:t>
            </a:r>
            <a:endParaRPr dirty="0"/>
          </a:p>
          <a:p>
            <a:pPr lvl="3"/>
            <a:r>
              <a:rPr dirty="0" err="1"/>
              <a:t>正文级别</a:t>
            </a:r>
            <a:r>
              <a:rPr dirty="0"/>
              <a:t> 4</a:t>
            </a:r>
            <a:endParaRPr dirty="0"/>
          </a:p>
          <a:p>
            <a:pPr lvl="4"/>
            <a:r>
              <a:rPr dirty="0" err="1"/>
              <a:t>正文级别</a:t>
            </a:r>
            <a:r>
              <a:rPr dirty="0"/>
              <a:t> 5</a:t>
            </a:r>
            <a:endParaRPr dirty="0"/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1080144" y="6404292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ransition spd="med"/>
  <p:hf hdr="0" ftr="0"/>
  <p:txStyles>
    <p:titleStyle>
      <a:lvl1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0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 Light" panose="02010600030101010101" charset="-122"/>
        </a:defRPr>
      </a:lvl1pPr>
      <a:lvl2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2pPr>
      <a:lvl3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3pPr>
      <a:lvl4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4pPr>
      <a:lvl5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5pPr>
      <a:lvl6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6pPr>
      <a:lvl7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7pPr>
      <a:lvl8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8pPr>
      <a:lvl9pPr marL="0" marR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solidFill>
            <a:srgbClr val="000000"/>
          </a:solidFill>
          <a:uFillTx/>
          <a:latin typeface="等线 Light" panose="02010600030101010101" charset="-122"/>
          <a:ea typeface="等线 Light" panose="02010600030101010101" charset="-122"/>
          <a:cs typeface="等线 Light" panose="02010600030101010101" charset="-122"/>
          <a:sym typeface="等线 Light" panose="02010600030101010101" charset="-122"/>
        </a:defRPr>
      </a:lvl9pPr>
    </p:titleStyle>
    <p:bodyStyle>
      <a:lvl1pPr marL="228600" marR="0" indent="-228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1pPr>
      <a:lvl2pPr marL="723900" marR="0" indent="-2667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2pPr>
      <a:lvl3pPr marL="1234440" marR="0" indent="-32004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3pPr>
      <a:lvl4pPr marL="1727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4pPr>
      <a:lvl5pPr marL="21844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400" b="0" i="0" u="none" strike="noStrike" cap="none" spc="0" baseline="0">
          <a:solidFill>
            <a:schemeClr val="accent1"/>
          </a:solidFill>
          <a:uFillTx/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等线" panose="02010600030101010101" charset="-122"/>
        </a:defRPr>
      </a:lvl5pPr>
      <a:lvl6pPr marL="26416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6pPr>
      <a:lvl7pPr marL="30988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7pPr>
      <a:lvl8pPr marL="35560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8pPr>
      <a:lvl9pPr marL="4013200" marR="0" indent="-355600" algn="l" defTabSz="914400" rtl="0" eaLnBrk="1" latinLnBrk="0" hangingPunct="1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solidFill>
            <a:srgbClr val="000000"/>
          </a:solidFill>
          <a:uFillTx/>
          <a:latin typeface="等线" panose="02010600030101010101" charset="-122"/>
          <a:ea typeface="等线" panose="02010600030101010101" charset="-122"/>
          <a:cs typeface="等线" panose="02010600030101010101" charset="-122"/>
          <a:sym typeface="等线" panose="02010600030101010101" charset="-122"/>
        </a:defRPr>
      </a:lvl9pPr>
    </p:bodyStyle>
    <p:otherStyle>
      <a:lvl1pPr marL="0" marR="0" indent="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1pPr>
      <a:lvl2pPr marL="0" marR="0" indent="457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2pPr>
      <a:lvl3pPr marL="0" marR="0" indent="914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3pPr>
      <a:lvl4pPr marL="0" marR="0" indent="1371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4pPr>
      <a:lvl5pPr marL="0" marR="0" indent="18288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5pPr>
      <a:lvl6pPr marL="0" marR="0" indent="22860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6pPr>
      <a:lvl7pPr marL="0" marR="0" indent="27432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7pPr>
      <a:lvl8pPr marL="0" marR="0" indent="32004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8pPr>
      <a:lvl9pPr marL="0" marR="0" indent="3657600" algn="r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等线" panose="02010600030101010101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5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image" Target="../media/image9.wmf"/><Relationship Id="rId7" Type="http://schemas.openxmlformats.org/officeDocument/2006/relationships/oleObject" Target="../embeddings/oleObject4.bin"/><Relationship Id="rId6" Type="http://schemas.openxmlformats.org/officeDocument/2006/relationships/image" Target="../media/image8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7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6.wmf"/><Relationship Id="rId15" Type="http://schemas.openxmlformats.org/officeDocument/2006/relationships/vmlDrawing" Target="../drawings/vmlDrawing1.vml"/><Relationship Id="rId14" Type="http://schemas.openxmlformats.org/officeDocument/2006/relationships/slideLayout" Target="../slideLayouts/slideLayout5.xml"/><Relationship Id="rId13" Type="http://schemas.openxmlformats.org/officeDocument/2006/relationships/tags" Target="../tags/tag6.xml"/><Relationship Id="rId12" Type="http://schemas.openxmlformats.org/officeDocument/2006/relationships/image" Target="../media/image11.wmf"/><Relationship Id="rId11" Type="http://schemas.openxmlformats.org/officeDocument/2006/relationships/oleObject" Target="../embeddings/oleObject6.bin"/><Relationship Id="rId10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7.xml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8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2.v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9.xml"/><Relationship Id="rId2" Type="http://schemas.openxmlformats.org/officeDocument/2006/relationships/image" Target="../media/image15.wmf"/><Relationship Id="rId1" Type="http://schemas.openxmlformats.org/officeDocument/2006/relationships/oleObject" Target="../embeddings/oleObject7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0.xml"/><Relationship Id="rId1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3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11.xml"/><Relationship Id="rId6" Type="http://schemas.openxmlformats.org/officeDocument/2006/relationships/image" Target="../media/image19.png"/><Relationship Id="rId5" Type="http://schemas.openxmlformats.org/officeDocument/2006/relationships/image" Target="../media/image18.wmf"/><Relationship Id="rId4" Type="http://schemas.openxmlformats.org/officeDocument/2006/relationships/oleObject" Target="../embeddings/oleObject10.bin"/><Relationship Id="rId3" Type="http://schemas.openxmlformats.org/officeDocument/2006/relationships/oleObject" Target="../embeddings/oleObject9.bin"/><Relationship Id="rId2" Type="http://schemas.openxmlformats.org/officeDocument/2006/relationships/image" Target="../media/image17.wmf"/><Relationship Id="rId1" Type="http://schemas.openxmlformats.org/officeDocument/2006/relationships/oleObject" Target="../embeddings/oleObject8.bin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4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12.xml"/><Relationship Id="rId6" Type="http://schemas.openxmlformats.org/officeDocument/2006/relationships/image" Target="../media/image16.png"/><Relationship Id="rId5" Type="http://schemas.openxmlformats.org/officeDocument/2006/relationships/image" Target="../media/image22.png"/><Relationship Id="rId4" Type="http://schemas.openxmlformats.org/officeDocument/2006/relationships/image" Target="../media/image21.wmf"/><Relationship Id="rId3" Type="http://schemas.openxmlformats.org/officeDocument/2006/relationships/oleObject" Target="../embeddings/oleObject12.bin"/><Relationship Id="rId2" Type="http://schemas.openxmlformats.org/officeDocument/2006/relationships/image" Target="../media/image20.wmf"/><Relationship Id="rId1" Type="http://schemas.openxmlformats.org/officeDocument/2006/relationships/oleObject" Target="../embeddings/oleObject11.bin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5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13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15.bin"/><Relationship Id="rId4" Type="http://schemas.openxmlformats.org/officeDocument/2006/relationships/image" Target="../media/image24.wmf"/><Relationship Id="rId3" Type="http://schemas.openxmlformats.org/officeDocument/2006/relationships/oleObject" Target="../embeddings/oleObject14.bin"/><Relationship Id="rId2" Type="http://schemas.openxmlformats.org/officeDocument/2006/relationships/image" Target="../media/image23.wmf"/><Relationship Id="rId1" Type="http://schemas.openxmlformats.org/officeDocument/2006/relationships/oleObject" Target="../embeddings/oleObject13.bin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6.vml"/><Relationship Id="rId5" Type="http://schemas.openxmlformats.org/officeDocument/2006/relationships/slideLayout" Target="../slideLayouts/slideLayout5.xml"/><Relationship Id="rId4" Type="http://schemas.openxmlformats.org/officeDocument/2006/relationships/tags" Target="../tags/tag14.xml"/><Relationship Id="rId3" Type="http://schemas.openxmlformats.org/officeDocument/2006/relationships/image" Target="../media/image27.wmf"/><Relationship Id="rId2" Type="http://schemas.openxmlformats.org/officeDocument/2006/relationships/oleObject" Target="../embeddings/oleObject16.bin"/><Relationship Id="rId1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vmlDrawing" Target="../drawings/vmlDrawing7.vml"/><Relationship Id="rId7" Type="http://schemas.openxmlformats.org/officeDocument/2006/relationships/slideLayout" Target="../slideLayouts/slideLayout5.xml"/><Relationship Id="rId6" Type="http://schemas.openxmlformats.org/officeDocument/2006/relationships/tags" Target="../tags/tag15.xml"/><Relationship Id="rId5" Type="http://schemas.openxmlformats.org/officeDocument/2006/relationships/image" Target="../media/image30.png"/><Relationship Id="rId4" Type="http://schemas.openxmlformats.org/officeDocument/2006/relationships/image" Target="../media/image29.wmf"/><Relationship Id="rId3" Type="http://schemas.openxmlformats.org/officeDocument/2006/relationships/oleObject" Target="../embeddings/oleObject17.bin"/><Relationship Id="rId2" Type="http://schemas.openxmlformats.org/officeDocument/2006/relationships/image" Target="../media/image28.png"/><Relationship Id="rId1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8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16.xml"/><Relationship Id="rId6" Type="http://schemas.openxmlformats.org/officeDocument/2006/relationships/image" Target="../media/image33.wmf"/><Relationship Id="rId5" Type="http://schemas.openxmlformats.org/officeDocument/2006/relationships/oleObject" Target="../embeddings/oleObject19.bin"/><Relationship Id="rId4" Type="http://schemas.openxmlformats.org/officeDocument/2006/relationships/image" Target="../media/image30.png"/><Relationship Id="rId3" Type="http://schemas.openxmlformats.org/officeDocument/2006/relationships/image" Target="../media/image32.png"/><Relationship Id="rId2" Type="http://schemas.openxmlformats.org/officeDocument/2006/relationships/image" Target="../media/image31.wmf"/><Relationship Id="rId1" Type="http://schemas.openxmlformats.org/officeDocument/2006/relationships/oleObject" Target="../embeddings/oleObject18.bin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9.vml"/><Relationship Id="rId6" Type="http://schemas.openxmlformats.org/officeDocument/2006/relationships/slideLayout" Target="../slideLayouts/slideLayout5.xml"/><Relationship Id="rId5" Type="http://schemas.openxmlformats.org/officeDocument/2006/relationships/tags" Target="../tags/tag17.xml"/><Relationship Id="rId4" Type="http://schemas.openxmlformats.org/officeDocument/2006/relationships/image" Target="../media/image30.png"/><Relationship Id="rId3" Type="http://schemas.openxmlformats.org/officeDocument/2006/relationships/image" Target="../media/image35.wmf"/><Relationship Id="rId2" Type="http://schemas.openxmlformats.org/officeDocument/2006/relationships/oleObject" Target="../embeddings/oleObject20.bin"/><Relationship Id="rId1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8.xml"/><Relationship Id="rId1" Type="http://schemas.openxmlformats.org/officeDocument/2006/relationships/image" Target="../media/image3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tags" Target="../tags/tag19.xml"/><Relationship Id="rId1" Type="http://schemas.openxmlformats.org/officeDocument/2006/relationships/image" Target="../media/image37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0.vml"/><Relationship Id="rId8" Type="http://schemas.openxmlformats.org/officeDocument/2006/relationships/slideLayout" Target="../slideLayouts/slideLayout5.xml"/><Relationship Id="rId7" Type="http://schemas.openxmlformats.org/officeDocument/2006/relationships/tags" Target="../tags/tag20.xml"/><Relationship Id="rId6" Type="http://schemas.openxmlformats.org/officeDocument/2006/relationships/image" Target="../media/image40.wmf"/><Relationship Id="rId5" Type="http://schemas.openxmlformats.org/officeDocument/2006/relationships/oleObject" Target="../embeddings/oleObject23.bin"/><Relationship Id="rId4" Type="http://schemas.openxmlformats.org/officeDocument/2006/relationships/image" Target="../media/image39.wmf"/><Relationship Id="rId3" Type="http://schemas.openxmlformats.org/officeDocument/2006/relationships/oleObject" Target="../embeddings/oleObject22.bin"/><Relationship Id="rId2" Type="http://schemas.openxmlformats.org/officeDocument/2006/relationships/image" Target="../media/image38.wmf"/><Relationship Id="rId1" Type="http://schemas.openxmlformats.org/officeDocument/2006/relationships/oleObject" Target="../embeddings/oleObject21.bin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1.vml"/><Relationship Id="rId4" Type="http://schemas.openxmlformats.org/officeDocument/2006/relationships/slideLayout" Target="../slideLayouts/slideLayout5.xml"/><Relationship Id="rId3" Type="http://schemas.openxmlformats.org/officeDocument/2006/relationships/tags" Target="../tags/tag21.xml"/><Relationship Id="rId2" Type="http://schemas.openxmlformats.org/officeDocument/2006/relationships/image" Target="../media/image41.wmf"/><Relationship Id="rId1" Type="http://schemas.openxmlformats.org/officeDocument/2006/relationships/oleObject" Target="../embeddings/oleObject24.bin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2.xml"/><Relationship Id="rId2" Type="http://schemas.openxmlformats.org/officeDocument/2006/relationships/image" Target="../media/image43.jpeg"/><Relationship Id="rId1" Type="http://schemas.openxmlformats.org/officeDocument/2006/relationships/image" Target="../media/image4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3.xml"/><Relationship Id="rId2" Type="http://schemas.openxmlformats.org/officeDocument/2006/relationships/image" Target="../media/image45.jpeg"/><Relationship Id="rId1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5.xml"/><Relationship Id="rId3" Type="http://schemas.openxmlformats.org/officeDocument/2006/relationships/tags" Target="../tags/tag24.xml"/><Relationship Id="rId2" Type="http://schemas.openxmlformats.org/officeDocument/2006/relationships/image" Target="../media/image47.jpeg"/><Relationship Id="rId1" Type="http://schemas.openxmlformats.org/officeDocument/2006/relationships/image" Target="../media/image46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2.vml"/><Relationship Id="rId4" Type="http://schemas.openxmlformats.org/officeDocument/2006/relationships/slideLayout" Target="../slideLayouts/slideLayout5.xml"/><Relationship Id="rId3" Type="http://schemas.openxmlformats.org/officeDocument/2006/relationships/image" Target="../media/image51.wmf"/><Relationship Id="rId2" Type="http://schemas.openxmlformats.org/officeDocument/2006/relationships/oleObject" Target="../embeddings/oleObject25.bin"/><Relationship Id="rId1" Type="http://schemas.openxmlformats.org/officeDocument/2006/relationships/image" Target="../media/image50.pn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3.v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52.wmf"/><Relationship Id="rId1" Type="http://schemas.openxmlformats.org/officeDocument/2006/relationships/oleObject" Target="../embeddings/oleObject26.bin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image" Target="../media/image57.png"/><Relationship Id="rId8" Type="http://schemas.openxmlformats.org/officeDocument/2006/relationships/image" Target="../media/image56.wmf"/><Relationship Id="rId7" Type="http://schemas.openxmlformats.org/officeDocument/2006/relationships/oleObject" Target="../embeddings/oleObject30.bin"/><Relationship Id="rId6" Type="http://schemas.openxmlformats.org/officeDocument/2006/relationships/image" Target="../media/image55.wmf"/><Relationship Id="rId5" Type="http://schemas.openxmlformats.org/officeDocument/2006/relationships/oleObject" Target="../embeddings/oleObject29.bin"/><Relationship Id="rId4" Type="http://schemas.openxmlformats.org/officeDocument/2006/relationships/image" Target="../media/image54.wmf"/><Relationship Id="rId3" Type="http://schemas.openxmlformats.org/officeDocument/2006/relationships/oleObject" Target="../embeddings/oleObject28.bin"/><Relationship Id="rId2" Type="http://schemas.openxmlformats.org/officeDocument/2006/relationships/image" Target="../media/image53.wmf"/><Relationship Id="rId11" Type="http://schemas.openxmlformats.org/officeDocument/2006/relationships/vmlDrawing" Target="../drawings/vmlDrawing14.vml"/><Relationship Id="rId10" Type="http://schemas.openxmlformats.org/officeDocument/2006/relationships/slideLayout" Target="../slideLayouts/slideLayout5.xml"/><Relationship Id="rId1" Type="http://schemas.openxmlformats.org/officeDocument/2006/relationships/oleObject" Target="../embeddings/oleObject27.bin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2.wmf"/><Relationship Id="rId8" Type="http://schemas.openxmlformats.org/officeDocument/2006/relationships/oleObject" Target="../embeddings/oleObject34.bin"/><Relationship Id="rId7" Type="http://schemas.openxmlformats.org/officeDocument/2006/relationships/image" Target="../media/image61.wmf"/><Relationship Id="rId6" Type="http://schemas.openxmlformats.org/officeDocument/2006/relationships/oleObject" Target="../embeddings/oleObject33.bin"/><Relationship Id="rId5" Type="http://schemas.openxmlformats.org/officeDocument/2006/relationships/image" Target="../media/image60.wmf"/><Relationship Id="rId4" Type="http://schemas.openxmlformats.org/officeDocument/2006/relationships/oleObject" Target="../embeddings/oleObject32.bin"/><Relationship Id="rId3" Type="http://schemas.openxmlformats.org/officeDocument/2006/relationships/image" Target="../media/image59.png"/><Relationship Id="rId20" Type="http://schemas.openxmlformats.org/officeDocument/2006/relationships/vmlDrawing" Target="../drawings/vmlDrawing15.vml"/><Relationship Id="rId2" Type="http://schemas.openxmlformats.org/officeDocument/2006/relationships/image" Target="../media/image58.wmf"/><Relationship Id="rId19" Type="http://schemas.openxmlformats.org/officeDocument/2006/relationships/slideLayout" Target="../slideLayouts/slideLayout5.xml"/><Relationship Id="rId18" Type="http://schemas.openxmlformats.org/officeDocument/2006/relationships/image" Target="../media/image67.png"/><Relationship Id="rId17" Type="http://schemas.openxmlformats.org/officeDocument/2006/relationships/image" Target="../media/image66.wmf"/><Relationship Id="rId16" Type="http://schemas.openxmlformats.org/officeDocument/2006/relationships/oleObject" Target="../embeddings/oleObject38.bin"/><Relationship Id="rId15" Type="http://schemas.openxmlformats.org/officeDocument/2006/relationships/image" Target="../media/image65.wmf"/><Relationship Id="rId14" Type="http://schemas.openxmlformats.org/officeDocument/2006/relationships/oleObject" Target="../embeddings/oleObject37.bin"/><Relationship Id="rId13" Type="http://schemas.openxmlformats.org/officeDocument/2006/relationships/image" Target="../media/image64.wmf"/><Relationship Id="rId12" Type="http://schemas.openxmlformats.org/officeDocument/2006/relationships/oleObject" Target="../embeddings/oleObject36.bin"/><Relationship Id="rId11" Type="http://schemas.openxmlformats.org/officeDocument/2006/relationships/image" Target="../media/image63.wmf"/><Relationship Id="rId10" Type="http://schemas.openxmlformats.org/officeDocument/2006/relationships/oleObject" Target="../embeddings/oleObject35.bin"/><Relationship Id="rId1" Type="http://schemas.openxmlformats.org/officeDocument/2006/relationships/oleObject" Target="../embeddings/oleObject31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文本框 3"/>
          <p:cNvSpPr txBox="1"/>
          <p:nvPr/>
        </p:nvSpPr>
        <p:spPr>
          <a:xfrm>
            <a:off x="735965" y="1551305"/>
            <a:ext cx="11052175" cy="26441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Autofit/>
          </a:bodyPr>
          <a:lstStyle>
            <a:lvl1pPr algn="ctr">
              <a:defRPr sz="4800" b="1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lvl1pPr>
          </a:lstStyle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altLang="zh-CN" sz="3600" dirty="0"/>
              <a:t>Introduction to Computer Vision Basics</a:t>
            </a:r>
            <a:endParaRPr lang="en-US" altLang="zh-CN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endParaRPr lang="en-US" altLang="zh-CN" sz="3600" dirty="0"/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Presenter: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陈一鸣</a:t>
            </a:r>
            <a:endParaRPr 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>
              <a:defRPr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pPr>
            <a:r>
              <a:rPr lang="en-US" sz="3200" dirty="0"/>
              <a:t>Date: 2026/8/13</a:t>
            </a:r>
            <a:r>
              <a:rPr 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endParaRPr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42" name="灯片编号占位符 2"/>
          <p:cNvSpPr txBox="1">
            <a:spLocks noGrp="1"/>
          </p:cNvSpPr>
          <p:nvPr>
            <p:ph type="sldNum" sz="quarter" idx="2"/>
          </p:nvPr>
        </p:nvSpPr>
        <p:spPr>
          <a:xfrm>
            <a:off x="11164902" y="6404292"/>
            <a:ext cx="188898" cy="26924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  <p:pic>
        <p:nvPicPr>
          <p:cNvPr id="2" name="图片 1" descr="计算机楼——西门（蓝色）=="/>
          <p:cNvPicPr>
            <a:picLocks noChangeAspect="1"/>
          </p:cNvPicPr>
          <p:nvPr/>
        </p:nvPicPr>
        <p:blipFill>
          <a:blip r:embed="rId1"/>
          <a:srcRect l="1146" b="9039"/>
          <a:stretch>
            <a:fillRect/>
          </a:stretch>
        </p:blipFill>
        <p:spPr>
          <a:xfrm>
            <a:off x="-8255" y="3851910"/>
            <a:ext cx="12200255" cy="3006090"/>
          </a:xfrm>
          <a:prstGeom prst="rect">
            <a:avLst/>
          </a:prstGeom>
        </p:spPr>
      </p:pic>
      <p:pic>
        <p:nvPicPr>
          <p:cNvPr id="3" name="图片 2" descr="吉大logo-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971" y="224424"/>
            <a:ext cx="4049022" cy="1195091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0282" y="-1"/>
            <a:ext cx="2117444" cy="141951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000" y="-68580"/>
            <a:ext cx="10515600" cy="1325563"/>
          </a:xfrm>
        </p:spPr>
        <p:txBody>
          <a:bodyPr/>
          <a:lstStyle/>
          <a:p>
            <a:r>
              <a:rPr kumimoji="1" lang="zh-CN" altLang="en-US" dirty="0"/>
              <a:t>图像的基本知识</a:t>
            </a:r>
            <a:endParaRPr kumimoji="1"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3360" y="1212850"/>
            <a:ext cx="11140440" cy="5290820"/>
          </a:xfrm>
        </p:spPr>
        <p:txBody>
          <a:bodyPr>
            <a:normAutofit fontScale="90000" lnSpcReduction="10000"/>
          </a:bodyPr>
          <a:lstStyle/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kumimoji="1" lang="zh-CN" altLang="en-US" dirty="0"/>
              <a:t>像素是构成数字化图像的最小单位</a:t>
            </a:r>
            <a:endParaRPr kumimoji="1" lang="zh-CN" altLang="en-US" dirty="0"/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kumimoji="1" lang="en-US" altLang="zh-CN" dirty="0"/>
              <a:t>RGB</a:t>
            </a:r>
            <a:r>
              <a:rPr kumimoji="1" lang="zh-CN" altLang="en-US" dirty="0"/>
              <a:t>图像通常由三部分决定：</a:t>
            </a:r>
            <a:r>
              <a:rPr kumimoji="1" lang="zh-CN" altLang="en-US" b="1" dirty="0"/>
              <a:t>高度 </a:t>
            </a:r>
            <a:r>
              <a:rPr kumimoji="1" lang="en-US" altLang="zh-CN" b="1" dirty="0"/>
              <a:t>Height</a:t>
            </a:r>
            <a:r>
              <a:rPr kumimoji="1" lang="zh-CN" altLang="en-US" dirty="0"/>
              <a:t>、</a:t>
            </a:r>
            <a:r>
              <a:rPr kumimoji="1" lang="zh-CN" altLang="en-US" b="1" dirty="0"/>
              <a:t>宽度 </a:t>
            </a:r>
            <a:r>
              <a:rPr kumimoji="1" lang="en-US" altLang="zh-CN" b="1" dirty="0"/>
              <a:t>Width</a:t>
            </a:r>
            <a:r>
              <a:rPr kumimoji="1" lang="zh-CN" altLang="en-US" dirty="0"/>
              <a:t>、</a:t>
            </a:r>
            <a:r>
              <a:rPr kumimoji="1" lang="zh-CN" altLang="en-US" b="1" dirty="0"/>
              <a:t>通道 </a:t>
            </a:r>
            <a:r>
              <a:rPr kumimoji="1" lang="en-US" altLang="zh-CN" b="1" dirty="0"/>
              <a:t>Channel</a:t>
            </a:r>
            <a:endParaRPr kumimoji="1" lang="en-US" altLang="zh-CN" b="1" dirty="0"/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kumimoji="1" lang="en-US" altLang="zh-CN" dirty="0"/>
              <a:t>RGB</a:t>
            </a:r>
            <a:r>
              <a:rPr kumimoji="1" lang="zh-CN" altLang="en-US" dirty="0"/>
              <a:t>图像有三个通道：</a:t>
            </a:r>
            <a:r>
              <a:rPr kumimoji="1" lang="en-US" altLang="zh-CN" b="1" dirty="0"/>
              <a:t>R </a:t>
            </a:r>
            <a:r>
              <a:rPr kumimoji="1" lang="zh-CN" altLang="en-US" b="1" dirty="0"/>
              <a:t>红色</a:t>
            </a:r>
            <a:r>
              <a:rPr kumimoji="1" lang="zh-CN" altLang="en-US" dirty="0"/>
              <a:t>、</a:t>
            </a:r>
            <a:r>
              <a:rPr kumimoji="1" lang="en-US" altLang="zh-CN" b="1" dirty="0"/>
              <a:t>G </a:t>
            </a:r>
            <a:r>
              <a:rPr kumimoji="1" lang="zh-CN" altLang="en-US" b="1" dirty="0"/>
              <a:t>绿色</a:t>
            </a:r>
            <a:r>
              <a:rPr kumimoji="1" lang="zh-CN" altLang="en-US" dirty="0"/>
              <a:t>、</a:t>
            </a:r>
            <a:r>
              <a:rPr kumimoji="1" lang="en-US" altLang="zh-CN" b="1" dirty="0"/>
              <a:t>B </a:t>
            </a:r>
            <a:r>
              <a:rPr kumimoji="1" lang="zh-CN" altLang="en-US" b="1" dirty="0"/>
              <a:t>蓝色</a:t>
            </a:r>
            <a:endParaRPr kumimoji="1" lang="zh-CN" altLang="en-US" b="1" dirty="0"/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kumimoji="1" lang="en-US" altLang="zh-CN" dirty="0"/>
              <a:t>RGB</a:t>
            </a:r>
            <a:r>
              <a:rPr kumimoji="1" lang="zh-CN" altLang="en-US" dirty="0"/>
              <a:t>图像像素用八位数据结构表示，数值范围在</a:t>
            </a:r>
            <a:r>
              <a:rPr kumimoji="1" lang="en-US" altLang="zh-CN" dirty="0"/>
              <a:t>0—255</a:t>
            </a:r>
            <a:r>
              <a:rPr kumimoji="1" lang="zh-CN" altLang="en-US" dirty="0"/>
              <a:t>之间</a:t>
            </a:r>
            <a:endParaRPr kumimoji="1" lang="zh-CN" altLang="en-US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kumimoji="1" lang="en-US" altLang="zh-CN" dirty="0"/>
              <a:t>eg</a:t>
            </a:r>
            <a:r>
              <a:rPr kumimoji="1" lang="zh-CN" altLang="en-US" dirty="0"/>
              <a:t>：</a:t>
            </a:r>
            <a:r>
              <a:rPr kumimoji="1" lang="en-US" altLang="zh-CN" dirty="0"/>
              <a:t>R=255  G=128  B=0 </a:t>
            </a:r>
            <a:r>
              <a:rPr kumimoji="1" lang="zh-CN" altLang="en-US" dirty="0"/>
              <a:t>表示偏橙色</a:t>
            </a:r>
            <a:endParaRPr kumimoji="1" lang="zh-CN" altLang="en-US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kumimoji="1" lang="en-US" altLang="zh-CN" dirty="0"/>
          </a:p>
          <a:p>
            <a:pPr>
              <a:lnSpc>
                <a:spcPct val="100000"/>
              </a:lnSpc>
              <a:buFont typeface="Wingdings" panose="05000000000000000000" charset="0"/>
              <a:buChar char="Ø"/>
            </a:pPr>
            <a:r>
              <a:rPr kumimoji="1" lang="zh-CN" altLang="en-US" dirty="0"/>
              <a:t>图像张量的概念</a:t>
            </a:r>
            <a:endParaRPr kumimoji="1" lang="zh-CN" altLang="en-US" dirty="0"/>
          </a:p>
          <a:p>
            <a:pPr marL="0" indent="0">
              <a:buFont typeface="Wingdings" panose="05000000000000000000" charset="0"/>
              <a:buNone/>
            </a:pPr>
            <a:r>
              <a:rPr kumimoji="1" lang="en-US" altLang="zh-CN" dirty="0"/>
              <a:t>   0</a:t>
            </a:r>
            <a:r>
              <a:rPr kumimoji="1" lang="zh-CN" altLang="en-US" dirty="0"/>
              <a:t>维张量、</a:t>
            </a:r>
            <a:r>
              <a:rPr kumimoji="1" lang="en-US" altLang="zh-CN" dirty="0"/>
              <a:t>1</a:t>
            </a:r>
            <a:r>
              <a:rPr kumimoji="1" lang="zh-CN" altLang="en-US" dirty="0"/>
              <a:t>维张量、</a:t>
            </a:r>
            <a:r>
              <a:rPr kumimoji="1" lang="en-US" altLang="zh-CN" dirty="0"/>
              <a:t>2</a:t>
            </a:r>
            <a:r>
              <a:rPr kumimoji="1" lang="zh-CN" altLang="en-US" dirty="0"/>
              <a:t>维张量</a:t>
            </a:r>
            <a:endParaRPr kumimoji="1" lang="zh-CN" altLang="en-US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kumimoji="1" lang="en-US" altLang="zh-CN" dirty="0"/>
              <a:t>   3</a:t>
            </a:r>
            <a:r>
              <a:rPr kumimoji="1" lang="zh-CN" altLang="en-US" dirty="0"/>
              <a:t>维张量来描述单张图像</a:t>
            </a:r>
            <a:r>
              <a:rPr kumimoji="1" lang="en-US" altLang="zh-CN" dirty="0"/>
              <a:t>  [C, H, W]</a:t>
            </a:r>
            <a:endParaRPr kumimoji="1" lang="en-US" altLang="zh-CN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kumimoji="1" lang="en-US" altLang="zh-CN" dirty="0"/>
              <a:t>   4</a:t>
            </a:r>
            <a:r>
              <a:rPr kumimoji="1" lang="zh-CN" altLang="en-US" dirty="0"/>
              <a:t>维张量来描述多张图像</a:t>
            </a:r>
            <a:r>
              <a:rPr kumimoji="1" lang="en-US" altLang="zh-CN" dirty="0"/>
              <a:t>  [N, C, H, W]</a:t>
            </a:r>
            <a:endParaRPr kumimoji="1" lang="en-US" altLang="zh-CN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kumimoji="1" lang="en-US" altLang="zh-CN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r>
              <a:rPr kumimoji="1" lang="en-US" altLang="zh-CN" dirty="0"/>
              <a:t>&lt;</a:t>
            </a:r>
            <a:r>
              <a:rPr kumimoji="1" lang="zh-CN" altLang="en-US" dirty="0"/>
              <a:t>注</a:t>
            </a:r>
            <a:r>
              <a:rPr kumimoji="1" lang="en-US" altLang="zh-CN" dirty="0"/>
              <a:t>&gt;</a:t>
            </a:r>
            <a:r>
              <a:rPr kumimoji="1" lang="zh-CN" altLang="en-US" dirty="0"/>
              <a:t>有时会运用归一化技术，将数值转化为浮点数，减少不同通道之间的尺度差异</a:t>
            </a:r>
            <a:endParaRPr kumimoji="1" lang="zh-CN" altLang="en-US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kumimoji="1" lang="en-US" altLang="zh-CN" dirty="0"/>
          </a:p>
          <a:p>
            <a:pPr marL="0" indent="0">
              <a:lnSpc>
                <a:spcPct val="100000"/>
              </a:lnSpc>
              <a:buFont typeface="Wingdings" panose="05000000000000000000" charset="0"/>
              <a:buNone/>
            </a:pPr>
            <a:endParaRPr kumimoji="1" lang="en-US" altLang="zh-CN" dirty="0"/>
          </a:p>
          <a:p>
            <a:pPr marL="0" indent="0">
              <a:buFont typeface="Wingdings" panose="05000000000000000000" charset="0"/>
              <a:buNone/>
            </a:pPr>
            <a:endParaRPr kumimoji="1" lang="zh-CN" altLang="en-US" dirty="0"/>
          </a:p>
          <a:p>
            <a:pPr marL="0" indent="0">
              <a:buFont typeface="Wingdings" panose="05000000000000000000" charset="0"/>
              <a:buNone/>
            </a:pPr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lstStyle/>
          <a:p>
            <a:fld id="{86CB4B4D-7CA3-9044-876B-883B54F8677D}" type="slidenum">
              <a:rPr lang="en-US" altLang="zh-CN" smtClean="0"/>
            </a:fld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8100" y="3141345"/>
            <a:ext cx="4465320" cy="236474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0815" y="68580"/>
            <a:ext cx="10515600" cy="1325563"/>
          </a:xfrm>
        </p:spPr>
        <p:txBody>
          <a:bodyPr/>
          <a:p>
            <a:r>
              <a:rPr lang="zh-CN" altLang="en-US"/>
              <a:t>图像分类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71132" y="1253172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>
                <a:sym typeface="+mn-ea"/>
              </a:rPr>
              <a:t>图像分类任务：输入一个图像来判断它属于哪个类别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0815" y="1983105"/>
          <a:ext cx="11595735" cy="259080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252980"/>
                <a:gridCol w="5368290"/>
                <a:gridCol w="397446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任务类型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核心目标</a:t>
                      </a:r>
                      <a:endParaRPr lang="en-US" alt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输出形式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二分类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判断输入图像是否属于某一个特定类别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单个 0 或 1 的标签（或概率值）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多分类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将图像分入多个互斥的候选类别中的某一类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单个明确的类别标签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多标签分类</a:t>
                      </a:r>
                      <a:endParaRPr lang="zh-CN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识别单张图像中同时存在的多个不同类别的属性或目标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多个独立标签的组合列表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细粒度分类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在同一个大类内部，区分视觉特征极其相似的具体子类别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极其具体的子类别标签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9060" y="111125"/>
            <a:ext cx="10515600" cy="1325563"/>
          </a:xfrm>
        </p:spPr>
        <p:txBody>
          <a:bodyPr/>
          <a:p>
            <a:r>
              <a:rPr lang="zh-CN" altLang="en-US"/>
              <a:t>图像分类方法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9377" y="1532572"/>
            <a:ext cx="11140214" cy="4351338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zh-CN" altLang="en-US"/>
              <a:t>图像分类方法：</a:t>
            </a:r>
            <a:r>
              <a:rPr lang="en-US" altLang="zh-CN"/>
              <a:t>K</a:t>
            </a:r>
            <a:r>
              <a:rPr lang="zh-CN" altLang="en-US"/>
              <a:t>近邻算法、线性分类器、神经网络、卷积神经网络</a:t>
            </a:r>
            <a:r>
              <a:rPr lang="en-US" altLang="zh-CN"/>
              <a:t>CNN</a:t>
            </a:r>
            <a:r>
              <a:rPr lang="zh-CN" altLang="en-US"/>
              <a:t>、</a:t>
            </a:r>
            <a:r>
              <a:rPr lang="en-US" altLang="zh-CN"/>
              <a:t>ViT</a:t>
            </a:r>
            <a:endParaRPr lang="en-US" altLang="zh-CN"/>
          </a:p>
          <a:p>
            <a:pPr marL="0" indent="0">
              <a:buFont typeface="Wingdings" panose="05000000000000000000" charset="0"/>
              <a:buNone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268076" y="6259513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99060" y="2453005"/>
          <a:ext cx="11993245" cy="268224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1932940"/>
                <a:gridCol w="3618230"/>
                <a:gridCol w="1720850"/>
                <a:gridCol w="1983740"/>
                <a:gridCol w="273748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图像分类方法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核心思想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是否学习参数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优点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缺点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K</a:t>
                      </a: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近邻方法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找到训练集中最相似的</a:t>
                      </a:r>
                      <a:r>
                        <a:rPr 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K</a:t>
                      </a: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张图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否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原理直观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推理慢、存储大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线性分类器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对输入做线性变换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参数少较快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只能形成线性决策边界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神经网络</a:t>
                      </a:r>
                      <a:endParaRPr lang="zh-CN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多层线性层加非线性激活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</a:t>
                      </a:r>
                      <a:endParaRPr lang="zh-CN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表达能力更强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忽略图像空间结构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CNN</a:t>
                      </a:r>
                      <a:endParaRPr lang="en-US" alt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用卷积核在局部区域提取特征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训练成熟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全局关系建模相对弱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ViT</a:t>
                      </a:r>
                      <a:endParaRPr lang="en-US" alt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用自注意力建模全局关系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是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全局建模能力强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通常更依赖数据量、预训练和算力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99060" y="2885440"/>
            <a:ext cx="1881505" cy="74993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  <p:custDataLst>
      <p:tags r:id="rId2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4455" y="90805"/>
            <a:ext cx="10515600" cy="1325563"/>
          </a:xfrm>
        </p:spPr>
        <p:txBody>
          <a:bodyPr/>
          <a:p>
            <a:r>
              <a:rPr lang="en-US" altLang="zh-CN"/>
              <a:t>K</a:t>
            </a:r>
            <a:r>
              <a:rPr lang="zh-CN" altLang="en-US"/>
              <a:t>近邻算法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3677" y="1253807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图像距离的计算方法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>
                <a:sym typeface="等线" panose="02010600030101010101" charset="-122"/>
              </a:rPr>
              <a:t>L1距离</a:t>
            </a:r>
            <a:r>
              <a:rPr lang="en-US" altLang="zh-CN">
                <a:sym typeface="等线" panose="02010600030101010101" charset="-122"/>
              </a:rPr>
              <a:t> </a:t>
            </a:r>
            <a:r>
              <a:rPr lang="zh-CN" altLang="en-US">
                <a:sym typeface="等线" panose="02010600030101010101" charset="-122"/>
              </a:rPr>
              <a:t>曼哈顿距离</a:t>
            </a:r>
            <a:r>
              <a:rPr lang="en-US" altLang="zh-CN">
                <a:sym typeface="等线" panose="02010600030101010101" charset="-122"/>
              </a:rPr>
              <a:t>——</a:t>
            </a:r>
            <a:r>
              <a:rPr lang="zh-CN" altLang="en-US">
                <a:sym typeface="等线" panose="02010600030101010101" charset="-122"/>
              </a:rPr>
              <a:t>把每个维度的绝对差相加</a:t>
            </a:r>
            <a:endParaRPr lang="zh-CN" altLang="en-US">
              <a:sym typeface="等线" panose="02010600030101010101" charset="-122"/>
            </a:endParaRPr>
          </a:p>
          <a:p>
            <a:pPr marL="0" indent="0">
              <a:buNone/>
            </a:pPr>
            <a:endParaRPr lang="zh-CN" altLang="en-US">
              <a:sym typeface="等线" panose="02010600030101010101" charset="-122"/>
            </a:endParaRPr>
          </a:p>
          <a:p>
            <a:pPr marL="0" indent="0">
              <a:buNone/>
            </a:pPr>
            <a:r>
              <a:rPr lang="zh-CN" altLang="en-US">
                <a:sym typeface="等线" panose="02010600030101010101" charset="-122"/>
              </a:rPr>
              <a:t>L</a:t>
            </a:r>
            <a:r>
              <a:rPr lang="en-US" altLang="zh-CN">
                <a:sym typeface="等线" panose="02010600030101010101" charset="-122"/>
              </a:rPr>
              <a:t>2</a:t>
            </a:r>
            <a:r>
              <a:rPr lang="zh-CN" altLang="en-US">
                <a:sym typeface="等线" panose="02010600030101010101" charset="-122"/>
              </a:rPr>
              <a:t>距离</a:t>
            </a:r>
            <a:r>
              <a:rPr lang="en-US" altLang="zh-CN">
                <a:sym typeface="等线" panose="02010600030101010101" charset="-122"/>
              </a:rPr>
              <a:t> </a:t>
            </a:r>
            <a:r>
              <a:rPr lang="zh-CN" altLang="en-US">
                <a:sym typeface="等线" panose="02010600030101010101" charset="-122"/>
              </a:rPr>
              <a:t>欧氏距离</a:t>
            </a:r>
            <a:r>
              <a:rPr lang="en-US" altLang="zh-CN">
                <a:sym typeface="等线" panose="02010600030101010101" charset="-122"/>
              </a:rPr>
              <a:t>——</a:t>
            </a:r>
            <a:r>
              <a:rPr lang="zh-CN" altLang="en-US">
                <a:sym typeface="等线" panose="02010600030101010101" charset="-122"/>
              </a:rPr>
              <a:t>把各维度差值平方、求和再开方</a:t>
            </a:r>
            <a:endParaRPr lang="zh-CN" altLang="en-US">
              <a:sym typeface="等线" panose="02010600030101010101" charset="-122"/>
            </a:endParaRPr>
          </a:p>
          <a:p>
            <a:pPr marL="0" indent="0">
              <a:buNone/>
            </a:pPr>
            <a:endParaRPr lang="zh-CN" altLang="en-US"/>
          </a:p>
          <a:p>
            <a:pPr marL="0" algn="l">
              <a:buSzTx/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7882255" y="1812290"/>
          <a:ext cx="2898140" cy="9023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2740660" imgH="831850" progId="Equation.DSMT4">
                  <p:embed/>
                </p:oleObj>
              </mc:Choice>
              <mc:Fallback>
                <p:oleObj name="" r:id="rId1" imgW="2740660" imgH="83185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882255" y="1812290"/>
                        <a:ext cx="2898140" cy="9023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7727315" y="2889250"/>
          <a:ext cx="3208020" cy="9880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3009265" imgH="930910" progId="Equation.DSMT4">
                  <p:embed/>
                </p:oleObj>
              </mc:Choice>
              <mc:Fallback>
                <p:oleObj name="" r:id="rId3" imgW="3009265" imgH="93091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727315" y="2889250"/>
                        <a:ext cx="3208020" cy="9880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对象 14"/>
          <p:cNvGraphicFramePr/>
          <p:nvPr/>
        </p:nvGraphicFramePr>
        <p:xfrm>
          <a:off x="504190" y="3775075"/>
          <a:ext cx="2093595" cy="1181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5" imgW="1591310" imgH="953135" progId="Equation.DSMT4">
                  <p:embed/>
                </p:oleObj>
              </mc:Choice>
              <mc:Fallback>
                <p:oleObj name="" r:id="rId5" imgW="1591310" imgH="953135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04190" y="3775075"/>
                        <a:ext cx="2093595" cy="1181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/>
          <p:nvPr/>
        </p:nvGraphicFramePr>
        <p:xfrm>
          <a:off x="504190" y="5196205"/>
          <a:ext cx="2094230" cy="13284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" name="" r:id="rId7" imgW="1591310" imgH="952500" progId="Equation.DSMT4">
                  <p:embed/>
                </p:oleObj>
              </mc:Choice>
              <mc:Fallback>
                <p:oleObj name="" r:id="rId7" imgW="1591310" imgH="952500" progId="Equation.DSMT4">
                  <p:embed/>
                  <p:pic>
                    <p:nvPicPr>
                      <p:cNvPr id="0" name="图片 1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4190" y="5196205"/>
                        <a:ext cx="2094230" cy="13284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对象 19"/>
          <p:cNvGraphicFramePr/>
          <p:nvPr/>
        </p:nvGraphicFramePr>
        <p:xfrm>
          <a:off x="3105785" y="4017645"/>
          <a:ext cx="4331970" cy="5727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9" imgW="6301105" imgH="941070" progId="Equation.DSMT4">
                  <p:embed/>
                </p:oleObj>
              </mc:Choice>
              <mc:Fallback>
                <p:oleObj name="" r:id="rId9" imgW="6301105" imgH="941070" progId="Equation.DSMT4">
                  <p:embed/>
                  <p:pic>
                    <p:nvPicPr>
                      <p:cNvPr id="0" name="图片 20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105785" y="4017645"/>
                        <a:ext cx="4331970" cy="5727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/>
          <p:cNvGraphicFramePr/>
          <p:nvPr/>
        </p:nvGraphicFramePr>
        <p:xfrm>
          <a:off x="3105785" y="5264150"/>
          <a:ext cx="670179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" name="" r:id="rId11" imgW="7187565" imgH="770890" progId="Equation.DSMT4">
                  <p:embed/>
                </p:oleObj>
              </mc:Choice>
              <mc:Fallback>
                <p:oleObj name="" r:id="rId11" imgW="7187565" imgH="770890" progId="Equation.DSMT4">
                  <p:embed/>
                  <p:pic>
                    <p:nvPicPr>
                      <p:cNvPr id="0" name="图片 22"/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3105785" y="5264150"/>
                        <a:ext cx="6701790" cy="6985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3"/>
    </p:custData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000" y="10287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K</a:t>
            </a:r>
            <a:r>
              <a:rPr lang="zh-CN" altLang="en-US">
                <a:sym typeface="+mn-ea"/>
              </a:rPr>
              <a:t>近邻算法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3677" y="1165542"/>
            <a:ext cx="11140214" cy="4351338"/>
          </a:xfrm>
        </p:spPr>
        <p:txBody>
          <a:bodyPr>
            <a:normAutofit/>
          </a:bodyPr>
          <a:p>
            <a:pPr marL="0" indent="0">
              <a:lnSpc>
                <a:spcPct val="100000"/>
              </a:lnSpc>
              <a:buNone/>
            </a:pPr>
            <a:r>
              <a:rPr lang="zh-CN" altLang="en-US"/>
              <a:t>核心思想：一张新图片应该和训练集中外观相似的图片属于相同类别</a:t>
            </a:r>
            <a:endParaRPr lang="zh-CN" altLang="en-US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/>
              <a:t>算法执行流程：（</a:t>
            </a:r>
            <a:r>
              <a:rPr lang="zh-CN" altLang="en-US">
                <a:sym typeface="+mn-ea"/>
              </a:rPr>
              <a:t>假设现在有一张测试图片）</a:t>
            </a:r>
            <a:endParaRPr lang="zh-CN" altLang="en-US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计算它和所有训练图片之间的距离（利用刚才阐述的计算距离方法）</a:t>
            </a:r>
            <a:endParaRPr lang="zh-CN" altLang="en-US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找出距离最近的 </a:t>
            </a:r>
            <a:r>
              <a:rPr lang="en-US" altLang="zh-CN"/>
              <a:t>K </a:t>
            </a:r>
            <a:r>
              <a:rPr lang="zh-CN" altLang="en-US"/>
              <a:t>张图片</a:t>
            </a:r>
            <a:endParaRPr lang="zh-CN" altLang="en-US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统计这 </a:t>
            </a:r>
            <a:r>
              <a:rPr lang="en-US" altLang="zh-CN"/>
              <a:t>K </a:t>
            </a:r>
            <a:r>
              <a:rPr lang="zh-CN" altLang="en-US"/>
              <a:t>张图片的类别</a:t>
            </a:r>
            <a:endParaRPr lang="zh-CN" altLang="en-US"/>
          </a:p>
          <a:p>
            <a:pPr marL="457200" indent="-457200">
              <a:buFont typeface="+mj-lt"/>
              <a:buAutoNum type="arabicPeriod"/>
            </a:pPr>
            <a:r>
              <a:rPr lang="zh-CN" altLang="en-US"/>
              <a:t>选择票数最多的类别作为预测结果</a:t>
            </a:r>
            <a:endParaRPr lang="zh-CN" altLang="en-US"/>
          </a:p>
          <a:p>
            <a:pPr marL="0" indent="0">
              <a:buFont typeface="+mj-lt"/>
              <a:buNone/>
            </a:pPr>
            <a:endParaRPr lang="zh-CN" altLang="en-US"/>
          </a:p>
          <a:p>
            <a:pPr marL="0" indent="0">
              <a:buFont typeface="+mj-lt"/>
              <a:buNone/>
            </a:pPr>
            <a:endParaRPr lang="en-US" altLang="zh-CN"/>
          </a:p>
          <a:p>
            <a:pPr marL="0" indent="0">
              <a:buFont typeface="+mj-lt"/>
              <a:buNone/>
            </a:pPr>
            <a:endParaRPr lang="en-US" altLang="zh-CN"/>
          </a:p>
          <a:p>
            <a:pPr marL="0" indent="0">
              <a:buFont typeface="+mj-lt"/>
              <a:buNone/>
            </a:pPr>
            <a:endParaRPr lang="en-US" altLang="zh-CN"/>
          </a:p>
          <a:p>
            <a:pPr marL="0" indent="0">
              <a:buFont typeface="+mj-lt"/>
              <a:buNone/>
            </a:pPr>
            <a:r>
              <a:rPr lang="en-US" altLang="zh-CN"/>
              <a:t>eg</a:t>
            </a:r>
            <a:r>
              <a:rPr lang="zh-CN" altLang="en-US"/>
              <a:t>：例如</a:t>
            </a:r>
            <a:r>
              <a:rPr lang="en-US" altLang="zh-CN"/>
              <a:t> K=5 ，</a:t>
            </a:r>
            <a:r>
              <a:rPr lang="zh-CN" altLang="en-US"/>
              <a:t>最近的 5 张图像的标签是</a:t>
            </a:r>
            <a:r>
              <a:rPr lang="en-US" altLang="zh-CN"/>
              <a:t> {</a:t>
            </a:r>
            <a:r>
              <a:rPr lang="zh-CN" altLang="en-US"/>
              <a:t>猫、狗、猫、猫、狗</a:t>
            </a:r>
            <a:r>
              <a:rPr lang="en-US" altLang="zh-CN"/>
              <a:t>}</a:t>
            </a:r>
            <a:r>
              <a:rPr lang="zh-CN" altLang="en-US"/>
              <a:t>，则预测结果为猫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2950" y="2715895"/>
            <a:ext cx="3933190" cy="2922905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190" y="153670"/>
            <a:ext cx="10515600" cy="1325563"/>
          </a:xfrm>
        </p:spPr>
        <p:txBody>
          <a:bodyPr/>
          <a:p>
            <a:r>
              <a:rPr lang="en-US" altLang="zh-CN"/>
              <a:t>K</a:t>
            </a:r>
            <a:r>
              <a:rPr lang="zh-CN" altLang="en-US"/>
              <a:t>近邻算法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0507" y="1419542"/>
            <a:ext cx="11140214" cy="4351338"/>
          </a:xfrm>
        </p:spPr>
        <p:txBody>
          <a:bodyPr/>
          <a:p>
            <a:pPr marL="0" indent="0">
              <a:buNone/>
            </a:pPr>
            <a:r>
              <a:rPr lang="en-US" altLang="zh-CN"/>
              <a:t>K</a:t>
            </a:r>
            <a:r>
              <a:rPr lang="zh-CN" altLang="en-US"/>
              <a:t>近邻算法中的</a:t>
            </a:r>
            <a:r>
              <a:rPr lang="en-US" altLang="zh-CN"/>
              <a:t>K</a:t>
            </a:r>
            <a:r>
              <a:rPr lang="zh-CN" altLang="en-US"/>
              <a:t>究竟如何选择能达到最好的效果，此时需要参数调优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190" y="2317750"/>
            <a:ext cx="8305800" cy="5969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90" y="3165475"/>
            <a:ext cx="8483600" cy="24384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9363075" y="2690495"/>
            <a:ext cx="2273300" cy="7385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使用验证集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来找寻最佳参数</a:t>
            </a: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88315" y="6083300"/>
            <a:ext cx="7575550" cy="332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algn="l" defTabSz="914400" rtl="0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</a:pP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链接：https://cs231n.stanford.edu/schedule.html</a:t>
            </a:r>
            <a:endParaRPr kumimoji="0" lang="en-US" altLang="zh-CN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455" y="144780"/>
            <a:ext cx="10515600" cy="1325563"/>
          </a:xfrm>
        </p:spPr>
        <p:txBody>
          <a:bodyPr/>
          <a:p>
            <a:r>
              <a:rPr lang="zh-CN" altLang="en-US"/>
              <a:t>线性分类算法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3347" y="1567497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线性分类器是从图像到标签分数的参数化映射，即将像素映射到类别，也就是输入一个图像，输出为对应的类别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670300" y="2170430"/>
          <a:ext cx="4206875" cy="794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r:id="rId1" imgW="1079500" imgH="203200" progId="Equation.KSEE3">
                  <p:embed/>
                </p:oleObj>
              </mc:Choice>
              <mc:Fallback>
                <p:oleObj name="" r:id="rId1" imgW="1079500" imgH="203200" progId="Equation.KSEE3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70300" y="2170430"/>
                        <a:ext cx="4206875" cy="7943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0" name="直接箭头连接符 9"/>
          <p:cNvCxnSpPr/>
          <p:nvPr/>
        </p:nvCxnSpPr>
        <p:spPr>
          <a:xfrm flipH="1">
            <a:off x="5744845" y="2796540"/>
            <a:ext cx="537210" cy="119380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直接箭头连接符 10"/>
          <p:cNvCxnSpPr/>
          <p:nvPr/>
        </p:nvCxnSpPr>
        <p:spPr>
          <a:xfrm>
            <a:off x="6751320" y="2796540"/>
            <a:ext cx="678180" cy="120269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2" name="直接箭头连接符 11"/>
          <p:cNvCxnSpPr/>
          <p:nvPr/>
        </p:nvCxnSpPr>
        <p:spPr>
          <a:xfrm>
            <a:off x="7577455" y="2796540"/>
            <a:ext cx="1308735" cy="126174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直接箭头连接符 12"/>
          <p:cNvCxnSpPr/>
          <p:nvPr/>
        </p:nvCxnSpPr>
        <p:spPr>
          <a:xfrm flipH="1">
            <a:off x="4110990" y="2889885"/>
            <a:ext cx="537210" cy="119380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文本框 13"/>
          <p:cNvSpPr txBox="1"/>
          <p:nvPr/>
        </p:nvSpPr>
        <p:spPr>
          <a:xfrm>
            <a:off x="5078730" y="4083685"/>
            <a:ext cx="136969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权重矩阵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751320" y="4347210"/>
            <a:ext cx="1877060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输入图像向量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931275" y="4135755"/>
            <a:ext cx="793750" cy="3765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偏置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2176145" y="4262755"/>
            <a:ext cx="2172335" cy="1905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每个类别的分数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3030" y="6015355"/>
            <a:ext cx="7464425" cy="5295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线性分类器流程：x——&gt;Wx+b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</p:spTree>
    <p:custDataLst>
      <p:tags r:id="rId3"/>
    </p:custData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0680" y="11112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线性分类算法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04825" y="1360805"/>
            <a:ext cx="11469370" cy="4859020"/>
          </a:xfrm>
        </p:spPr>
        <p:txBody>
          <a:bodyPr/>
          <a:p>
            <a:pPr marL="0" indent="0">
              <a:buNone/>
            </a:pPr>
            <a:r>
              <a:rPr lang="zh-CN" altLang="en-US"/>
              <a:t>线性分类器的运算过程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83621" y="6401118"/>
            <a:ext cx="17018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9500" y="2056765"/>
            <a:ext cx="9559290" cy="3261995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3030" y="6015355"/>
            <a:ext cx="7464425" cy="5295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线性分类器流程：x——&gt;Wx+b</a:t>
            </a: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——&gt;Logits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</p:spTree>
    <p:custDataLst>
      <p:tags r:id="rId2"/>
    </p:custData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110" y="16637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Softmax</a:t>
            </a:r>
            <a:r>
              <a:rPr lang="zh-CN" altLang="en-US">
                <a:sym typeface="+mn-ea"/>
              </a:rPr>
              <a:t>函数</a:t>
            </a:r>
            <a:endParaRPr lang="zh-CN" altLang="en-US">
              <a:sym typeface="+mn-ea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" name="" r:id="rId1" imgW="114300" imgH="215900" progId="Equation.KSEE3">
                  <p:embed/>
                </p:oleObj>
              </mc:Choice>
              <mc:Fallback>
                <p:oleObj name="" r:id="rId1" imgW="114300" imgH="215900" progId="Equation.KSEE3">
                  <p:embed/>
                  <p:pic>
                    <p:nvPicPr>
                      <p:cNvPr id="0" name="图片 204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6038850" y="3321050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0" name="" r:id="rId3" imgW="114300" imgH="215900" progId="Equation.KSEE3">
                  <p:embed/>
                </p:oleObj>
              </mc:Choice>
              <mc:Fallback>
                <p:oleObj name="" r:id="rId3" imgW="114300" imgH="215900" progId="Equation.KSEE3">
                  <p:embed/>
                  <p:pic>
                    <p:nvPicPr>
                      <p:cNvPr id="0" name="图片 204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38850" y="3321050"/>
                        <a:ext cx="114300" cy="215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339725" y="2051050"/>
          <a:ext cx="1756410" cy="1775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4" imgW="1887220" imgH="1858010" progId="Equation.DSMT4">
                  <p:embed/>
                </p:oleObj>
              </mc:Choice>
              <mc:Fallback>
                <p:oleObj name="" r:id="rId4" imgW="1887220" imgH="1858010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39725" y="2051050"/>
                        <a:ext cx="1756410" cy="1775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3037205" y="1602740"/>
            <a:ext cx="2060575" cy="27825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cat   3.2                  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car   5.1                 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frog -1.7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4843780" y="2661285"/>
            <a:ext cx="1710690" cy="825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2" name="文本框 11"/>
          <p:cNvSpPr txBox="1"/>
          <p:nvPr/>
        </p:nvSpPr>
        <p:spPr>
          <a:xfrm>
            <a:off x="6626860" y="1602740"/>
            <a:ext cx="1367155" cy="27825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24.5                 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164.0                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0.18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9712960" y="1547495"/>
            <a:ext cx="1367155" cy="278257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0.13                 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0.87                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32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等线" panose="02010600030101010101" charset="-122"/>
                <a:sym typeface="等线" panose="02010600030101010101" charset="-122"/>
              </a:rPr>
              <a:t>0.00</a:t>
            </a:r>
            <a:endParaRPr kumimoji="0" lang="en-US" altLang="zh-CN" sz="32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等线" panose="02010600030101010101" charset="-122"/>
              <a:sym typeface="等线" panose="02010600030101010101" charset="-122"/>
            </a:endParaRPr>
          </a:p>
        </p:txBody>
      </p:sp>
      <p:cxnSp>
        <p:nvCxnSpPr>
          <p:cNvPr id="14" name="直接箭头连接符 13"/>
          <p:cNvCxnSpPr/>
          <p:nvPr/>
        </p:nvCxnSpPr>
        <p:spPr>
          <a:xfrm flipV="1">
            <a:off x="7867015" y="2653030"/>
            <a:ext cx="1710690" cy="825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文本框 14"/>
          <p:cNvSpPr txBox="1"/>
          <p:nvPr/>
        </p:nvSpPr>
        <p:spPr>
          <a:xfrm>
            <a:off x="5034915" y="2263140"/>
            <a:ext cx="1591945" cy="332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algn="l" defTabSz="914400" rtl="0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</a:pP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exp运算</a:t>
            </a:r>
            <a:endParaRPr kumimoji="0" lang="en-US" altLang="zh-CN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292465" y="2263140"/>
            <a:ext cx="1591945" cy="3321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algn="l" defTabSz="914400" rtl="0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归一化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6604000" y="1325880"/>
            <a:ext cx="1212850" cy="2800350"/>
          </a:xfrm>
          <a:prstGeom prst="rect">
            <a:avLst/>
          </a:prstGeom>
          <a:noFill/>
          <a:ln w="28575" cap="flat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9627870" y="1342390"/>
            <a:ext cx="1212850" cy="2900680"/>
          </a:xfrm>
          <a:prstGeom prst="rect">
            <a:avLst/>
          </a:prstGeom>
          <a:noFill/>
          <a:ln w="28575" cap="flat">
            <a:solidFill>
              <a:srgbClr val="00B05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13030" y="6015355"/>
            <a:ext cx="10967085" cy="5295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线性分类器流程：x——&gt;Wx+b</a:t>
            </a: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——&gt;Logits——&gt;Softmax</a:t>
            </a: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概率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6895" y="4385310"/>
            <a:ext cx="2718435" cy="140017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ldLvl="0" animBg="1"/>
      <p:bldP spid="17" grpId="1" animBg="1"/>
      <p:bldP spid="18" grpId="0" bldLvl="0" animBg="1"/>
      <p:bldP spid="18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660" y="7175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交叉熵构建损失函数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36855" y="1267460"/>
            <a:ext cx="11737340" cy="4952365"/>
          </a:xfrm>
        </p:spPr>
        <p:txBody>
          <a:bodyPr/>
          <a:p>
            <a:pPr marL="0" indent="0">
              <a:buNone/>
            </a:pPr>
            <a:r>
              <a:rPr lang="zh-CN" altLang="en-US"/>
              <a:t>利用</a:t>
            </a:r>
            <a:r>
              <a:rPr lang="zh-CN" altLang="en-US" b="1"/>
              <a:t>交叉熵</a:t>
            </a:r>
            <a:r>
              <a:rPr lang="zh-CN" altLang="en-US"/>
              <a:t>构建损失函数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对于一个样本，交叉熵为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 </a:t>
            </a:r>
            <a:r>
              <a:rPr lang="en-US" altLang="zh-CN"/>
              <a:t>     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 </a:t>
            </a:r>
            <a:endParaRPr lang="en-US" altLang="zh-CN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由于 </a:t>
            </a:r>
            <a:r>
              <a:rPr lang="en-US" altLang="zh-CN"/>
              <a:t>one-hot </a:t>
            </a:r>
            <a:r>
              <a:rPr lang="zh-CN" altLang="en-US"/>
              <a:t>标签只有真实类别的位置为 1，公式最终简化为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4586605" y="1325880"/>
          <a:ext cx="2268220" cy="101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1428115" imgH="659130" progId="Equation.DSMT4">
                  <p:embed/>
                </p:oleObj>
              </mc:Choice>
              <mc:Fallback>
                <p:oleObj name="" r:id="rId1" imgW="1428115" imgH="65913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586605" y="1325880"/>
                        <a:ext cx="2268220" cy="1013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698625" y="2962275"/>
            <a:ext cx="394017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代表真实标签的one-hot值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 flipH="1">
            <a:off x="4586605" y="2197100"/>
            <a:ext cx="743585" cy="73596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3" name="直接箭头连接符 12"/>
          <p:cNvCxnSpPr/>
          <p:nvPr/>
        </p:nvCxnSpPr>
        <p:spPr>
          <a:xfrm>
            <a:off x="6200775" y="2197100"/>
            <a:ext cx="760730" cy="61341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文本框 13"/>
          <p:cNvSpPr txBox="1"/>
          <p:nvPr/>
        </p:nvSpPr>
        <p:spPr>
          <a:xfrm>
            <a:off x="6096000" y="2933065"/>
            <a:ext cx="394017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模型预测的类别概率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graphicFrame>
        <p:nvGraphicFramePr>
          <p:cNvPr id="15" name="对象 14"/>
          <p:cNvGraphicFramePr/>
          <p:nvPr/>
        </p:nvGraphicFramePr>
        <p:xfrm>
          <a:off x="8766810" y="3424555"/>
          <a:ext cx="1628140" cy="56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" name="" r:id="rId3" imgW="1590040" imgH="530225" progId="Equation.DSMT4">
                  <p:embed/>
                </p:oleObj>
              </mc:Choice>
              <mc:Fallback>
                <p:oleObj name="" r:id="rId3" imgW="1590040" imgH="530225" progId="Equation.DSMT4">
                  <p:embed/>
                  <p:pic>
                    <p:nvPicPr>
                      <p:cNvPr id="0" name="图片 1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66810" y="3424555"/>
                        <a:ext cx="1628140" cy="56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" name="文本框 16"/>
          <p:cNvSpPr txBox="1"/>
          <p:nvPr/>
        </p:nvSpPr>
        <p:spPr>
          <a:xfrm>
            <a:off x="8461375" y="4696460"/>
            <a:ext cx="373062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模型分配给真实类别的概率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cxnSp>
        <p:nvCxnSpPr>
          <p:cNvPr id="19" name="直接箭头连接符 18"/>
          <p:cNvCxnSpPr>
            <a:endCxn id="17" idx="0"/>
          </p:cNvCxnSpPr>
          <p:nvPr/>
        </p:nvCxnSpPr>
        <p:spPr>
          <a:xfrm>
            <a:off x="10197465" y="3941445"/>
            <a:ext cx="129540" cy="75501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4170" y="0"/>
            <a:ext cx="3435985" cy="1587500"/>
          </a:xfrm>
          <a:prstGeom prst="rect">
            <a:avLst/>
          </a:prstGeom>
        </p:spPr>
      </p:pic>
      <p:sp>
        <p:nvSpPr>
          <p:cNvPr id="23" name="文本框 22"/>
          <p:cNvSpPr txBox="1"/>
          <p:nvPr/>
        </p:nvSpPr>
        <p:spPr>
          <a:xfrm>
            <a:off x="113030" y="6015355"/>
            <a:ext cx="11597005" cy="52959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线性分类器流程：x——&gt;Wx+b</a:t>
            </a: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——&gt;Logits——&gt;Softmax</a:t>
            </a: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概率</a:t>
            </a: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——&gt;</a:t>
            </a: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损失函数设计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360" y="3183890"/>
            <a:ext cx="8298815" cy="2831465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3190" y="136525"/>
            <a:ext cx="10515600" cy="1325563"/>
          </a:xfrm>
        </p:spPr>
        <p:txBody>
          <a:bodyPr/>
          <a:p>
            <a:r>
              <a:rPr lang="zh-CN" altLang="en-US"/>
              <a:t>总结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3190" y="1758315"/>
            <a:ext cx="11851005" cy="4918710"/>
          </a:xfrm>
        </p:spPr>
        <p:txBody>
          <a:bodyPr/>
          <a:p>
            <a:pPr marL="0" indent="0">
              <a:buNone/>
            </a:pPr>
            <a:r>
              <a:rPr lang="zh-CN" altLang="en-US"/>
              <a:t>对于第</a:t>
            </a:r>
            <a:r>
              <a:rPr lang="en-US" altLang="zh-CN"/>
              <a:t> i </a:t>
            </a:r>
            <a:r>
              <a:rPr lang="zh-CN" altLang="en-US"/>
              <a:t>个输入样本</a:t>
            </a:r>
            <a:r>
              <a:rPr lang="en-US" altLang="zh-CN"/>
              <a:t>，</a:t>
            </a:r>
            <a:r>
              <a:rPr lang="zh-CN" altLang="en-US"/>
              <a:t>线性模型会为第 </a:t>
            </a:r>
            <a:r>
              <a:rPr lang="en-US" altLang="zh-CN"/>
              <a:t>j </a:t>
            </a:r>
            <a:r>
              <a:rPr lang="zh-CN" altLang="en-US"/>
              <a:t>个类别算出一个原始得分</a:t>
            </a:r>
            <a:r>
              <a:rPr lang="en-US" altLang="zh-CN"/>
              <a:t> Logit</a:t>
            </a:r>
            <a:endParaRPr lang="en-US" altLang="zh-CN"/>
          </a:p>
          <a:p>
            <a:pPr marL="0" indent="0">
              <a:buFont typeface="Wingdings" panose="05000000000000000000" charset="0"/>
              <a:buNone/>
            </a:pPr>
            <a:endParaRPr lang="en-US" altLang="zh-CN"/>
          </a:p>
          <a:p>
            <a:pPr marL="0" indent="0">
              <a:buFont typeface="Wingdings" panose="05000000000000000000" charset="0"/>
              <a:buNone/>
            </a:pPr>
            <a:endParaRPr lang="en-US" altLang="zh-CN"/>
          </a:p>
          <a:p>
            <a:pPr marL="0" indent="0">
              <a:buFont typeface="Wingdings" panose="05000000000000000000" charset="0"/>
              <a:buNone/>
            </a:pPr>
            <a:r>
              <a:rPr lang="zh-CN" altLang="en-US"/>
              <a:t>通过</a:t>
            </a:r>
            <a:r>
              <a:rPr lang="en-US" altLang="zh-CN"/>
              <a:t>Softmax</a:t>
            </a:r>
            <a:r>
              <a:rPr lang="zh-CN" altLang="en-US"/>
              <a:t>函数转化为概率分布</a:t>
            </a:r>
            <a:endParaRPr lang="zh-CN" altLang="en-US"/>
          </a:p>
          <a:p>
            <a:pPr marL="0" indent="0">
              <a:buFont typeface="Wingdings" panose="05000000000000000000" charset="0"/>
              <a:buNone/>
            </a:pPr>
            <a:endParaRPr lang="zh-CN" altLang="en-US"/>
          </a:p>
          <a:p>
            <a:pPr marL="0" indent="0">
              <a:buFont typeface="Wingdings" panose="05000000000000000000" charset="0"/>
              <a:buNone/>
            </a:pPr>
            <a:endParaRPr lang="zh-CN" altLang="en-US"/>
          </a:p>
          <a:p>
            <a:pPr marL="0" indent="0">
              <a:buFont typeface="Wingdings" panose="05000000000000000000" charset="0"/>
              <a:buNone/>
            </a:pPr>
            <a:r>
              <a:rPr lang="zh-CN" altLang="en-US"/>
              <a:t>通过交叉熵来计算损失函数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10181590" y="1677670"/>
          <a:ext cx="1757045" cy="5911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2566035" imgH="782955" progId="Equation.DSMT4">
                  <p:embed/>
                </p:oleObj>
              </mc:Choice>
              <mc:Fallback>
                <p:oleObj name="" r:id="rId1" imgW="2566035" imgH="782955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181590" y="1677670"/>
                        <a:ext cx="1757045" cy="5911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5160645" y="2576830"/>
          <a:ext cx="1411605" cy="1378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1464310" imgH="1386205" progId="Equation.DSMT4">
                  <p:embed/>
                </p:oleObj>
              </mc:Choice>
              <mc:Fallback>
                <p:oleObj name="" r:id="rId3" imgW="1464310" imgH="138620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160645" y="2576830"/>
                        <a:ext cx="1411605" cy="1378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4551045" y="4358640"/>
          <a:ext cx="2832100" cy="9925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3321050" imgH="916305" progId="Equation.DSMT4">
                  <p:embed/>
                </p:oleObj>
              </mc:Choice>
              <mc:Fallback>
                <p:oleObj name="" r:id="rId5" imgW="3321050" imgH="916305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551045" y="4358640"/>
                        <a:ext cx="2832100" cy="99250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110" y="136525"/>
            <a:ext cx="10515600" cy="1325563"/>
          </a:xfrm>
        </p:spPr>
        <p:txBody>
          <a:bodyPr/>
          <a:p>
            <a:r>
              <a:rPr lang="zh-CN" altLang="en-US"/>
              <a:t>梯度下降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2265" y="1258570"/>
            <a:ext cx="11631930" cy="4961255"/>
          </a:xfrm>
        </p:spPr>
        <p:txBody>
          <a:bodyPr/>
          <a:p>
            <a:pPr marL="0" indent="0">
              <a:buNone/>
            </a:pPr>
            <a:r>
              <a:rPr lang="zh-CN" altLang="en-US"/>
              <a:t>计算损失后，开始进行反向传播，通过梯度下降的方法对参数进行更新</a:t>
            </a:r>
            <a:endParaRPr lang="zh-CN" altLang="en-US"/>
          </a:p>
          <a:p>
            <a:pPr marL="0" indent="0">
              <a:buNone/>
            </a:pPr>
            <a:r>
              <a:rPr lang="zh-CN" altLang="en-US" b="1"/>
              <a:t>梯度下降</a:t>
            </a:r>
            <a:endParaRPr lang="zh-CN" altLang="en-US" b="1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目的：用于寻找目标函数的局部极小值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方法：在当前参数位置，沿着目标函数梯度的反方向迈出一步，因为这是函数值下降最快的方向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3540125"/>
            <a:ext cx="4203065" cy="2568575"/>
          </a:xfrm>
          <a:prstGeom prst="rect">
            <a:avLst/>
          </a:prstGeom>
        </p:spPr>
      </p:pic>
      <p:graphicFrame>
        <p:nvGraphicFramePr>
          <p:cNvPr id="6" name="对象 5"/>
          <p:cNvGraphicFramePr/>
          <p:nvPr/>
        </p:nvGraphicFramePr>
        <p:xfrm>
          <a:off x="5817870" y="3639185"/>
          <a:ext cx="5125085" cy="16744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4688205" imgH="1377950" progId="Equation.DSMT4">
                  <p:embed/>
                </p:oleObj>
              </mc:Choice>
              <mc:Fallback>
                <p:oleObj name="" r:id="rId2" imgW="4688205" imgH="1377950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17870" y="3639185"/>
                        <a:ext cx="5125085" cy="16744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4"/>
    </p:custData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5570" y="136525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随机梯度下降</a:t>
            </a:r>
            <a:r>
              <a:rPr lang="en-US" altLang="zh-CN">
                <a:sym typeface="+mn-ea"/>
              </a:rPr>
              <a:t>SGD</a:t>
            </a:r>
            <a:r>
              <a:rPr lang="zh-CN" altLang="en-US">
                <a:sym typeface="+mn-ea"/>
              </a:rPr>
              <a:t>方法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5570" y="1625600"/>
            <a:ext cx="11858625" cy="4594225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/>
              <a:t>方法：首先在训练前，我们要随机找到一个初始位置点，找到后根据梯度来逐步寻找梯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度为0的点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实际过程：批量梯度下降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3080" y="2865755"/>
            <a:ext cx="4114800" cy="2514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505" y="3319145"/>
            <a:ext cx="3691255" cy="1325880"/>
          </a:xfrm>
          <a:prstGeom prst="rect">
            <a:avLst/>
          </a:prstGeom>
        </p:spPr>
      </p:pic>
      <p:graphicFrame>
        <p:nvGraphicFramePr>
          <p:cNvPr id="7" name="对象 6"/>
          <p:cNvGraphicFramePr/>
          <p:nvPr/>
        </p:nvGraphicFramePr>
        <p:xfrm>
          <a:off x="6322695" y="2334260"/>
          <a:ext cx="2893060" cy="53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3738245" imgH="741045" progId="Equation.DSMT4">
                  <p:embed/>
                </p:oleObj>
              </mc:Choice>
              <mc:Fallback>
                <p:oleObj name="" r:id="rId3" imgW="3738245" imgH="74104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322695" y="2334260"/>
                        <a:ext cx="2893060" cy="532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6220" y="2714625"/>
            <a:ext cx="5318760" cy="2665730"/>
          </a:xfrm>
          <a:prstGeom prst="rect">
            <a:avLst/>
          </a:prstGeom>
        </p:spPr>
      </p:pic>
    </p:spTree>
    <p:custDataLst>
      <p:tags r:id="rId6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2870" y="93980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动量</a:t>
            </a:r>
            <a:r>
              <a:rPr lang="en-US" altLang="zh-CN">
                <a:sym typeface="+mn-ea"/>
              </a:rPr>
              <a:t>Momentum</a:t>
            </a:r>
            <a:r>
              <a:rPr lang="zh-CN" altLang="en-US">
                <a:sym typeface="+mn-ea"/>
              </a:rPr>
              <a:t>方法优化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2870" y="1591310"/>
            <a:ext cx="11871325" cy="4628515"/>
          </a:xfrm>
        </p:spPr>
        <p:txBody>
          <a:bodyPr/>
          <a:p>
            <a:pPr marL="0" indent="0">
              <a:buNone/>
            </a:pPr>
            <a:r>
              <a:rPr lang="zh-CN" altLang="en-US"/>
              <a:t>大体还是使用随机梯度下降，但是引入了动量，就是让这个点更新时考虑惯性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5789295" y="2541905"/>
          <a:ext cx="2532380" cy="10242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1143000" imgH="457200" progId="Equation.DSMT4">
                  <p:embed/>
                </p:oleObj>
              </mc:Choice>
              <mc:Fallback>
                <p:oleObj name="" r:id="rId1" imgW="1143000" imgH="45720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89295" y="2541905"/>
                        <a:ext cx="2532380" cy="10242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2650" y="2235200"/>
            <a:ext cx="3413125" cy="16383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" y="2351405"/>
            <a:ext cx="5318760" cy="266573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66700" y="5342255"/>
            <a:ext cx="370268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1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指数加权平均动量法</a:t>
            </a:r>
            <a:endParaRPr kumimoji="0" lang="zh-CN" altLang="en-US" sz="2400" b="1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graphicFrame>
        <p:nvGraphicFramePr>
          <p:cNvPr id="11" name="对象 10"/>
          <p:cNvGraphicFramePr/>
          <p:nvPr/>
        </p:nvGraphicFramePr>
        <p:xfrm>
          <a:off x="3124200" y="5199380"/>
          <a:ext cx="3539490" cy="654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5" imgW="3589020" imgH="592455" progId="Equation.DSMT4">
                  <p:embed/>
                </p:oleObj>
              </mc:Choice>
              <mc:Fallback>
                <p:oleObj name="" r:id="rId5" imgW="3589020" imgH="592455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3124200" y="5199380"/>
                        <a:ext cx="3539490" cy="6546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7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1455" y="144780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均方根反向传播法</a:t>
            </a:r>
            <a:r>
              <a:rPr lang="en-US" altLang="zh-CN">
                <a:sym typeface="+mn-ea"/>
              </a:rPr>
              <a:t>RMSProp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1455" y="1572260"/>
            <a:ext cx="11762740" cy="4978400"/>
          </a:xfrm>
        </p:spPr>
        <p:txBody>
          <a:bodyPr/>
          <a:p>
            <a:pPr marL="0" indent="0">
              <a:buNone/>
            </a:pPr>
            <a:r>
              <a:rPr lang="zh-CN" altLang="en-US"/>
              <a:t>根据在几何意义上的陡峭程度来调整步长，在陡峭的地方迈小步，在平缓的地方迈大步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8630" y="3171190"/>
            <a:ext cx="6525260" cy="1228725"/>
          </a:xfrm>
          <a:prstGeom prst="rect">
            <a:avLst/>
          </a:prstGeom>
        </p:spPr>
      </p:pic>
      <p:graphicFrame>
        <p:nvGraphicFramePr>
          <p:cNvPr id="6" name="对象 5"/>
          <p:cNvGraphicFramePr/>
          <p:nvPr/>
        </p:nvGraphicFramePr>
        <p:xfrm>
          <a:off x="6096000" y="2339340"/>
          <a:ext cx="3665220" cy="758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" name="" r:id="rId2" imgW="2519045" imgH="514985" progId="Equation.DSMT4">
                  <p:embed/>
                </p:oleObj>
              </mc:Choice>
              <mc:Fallback>
                <p:oleObj name="" r:id="rId2" imgW="2519045" imgH="514985" progId="Equation.DSMT4">
                  <p:embed/>
                  <p:pic>
                    <p:nvPicPr>
                      <p:cNvPr id="0" name="图片 6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2339340"/>
                        <a:ext cx="3665220" cy="758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5" y="2629535"/>
            <a:ext cx="5318760" cy="266573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6200" y="55880"/>
            <a:ext cx="10515600" cy="1325563"/>
          </a:xfrm>
        </p:spPr>
        <p:txBody>
          <a:bodyPr/>
          <a:p>
            <a:r>
              <a:rPr lang="en-US" altLang="zh-CN"/>
              <a:t>adam</a:t>
            </a:r>
            <a:r>
              <a:rPr lang="zh-CN" altLang="en-US"/>
              <a:t>优化器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8755" y="1537970"/>
            <a:ext cx="11775440" cy="5003165"/>
          </a:xfrm>
        </p:spPr>
        <p:txBody>
          <a:bodyPr/>
          <a:p>
            <a:pPr marL="0" indent="0">
              <a:buNone/>
            </a:pPr>
            <a:r>
              <a:rPr lang="en-US" altLang="zh-CN" b="1"/>
              <a:t>adam</a:t>
            </a:r>
            <a:r>
              <a:rPr lang="zh-CN" altLang="en-US"/>
              <a:t>完美地结合了 </a:t>
            </a:r>
            <a:r>
              <a:rPr lang="en-US" altLang="zh-CN"/>
              <a:t>Momentum </a:t>
            </a:r>
            <a:r>
              <a:rPr lang="zh-CN" altLang="en-US"/>
              <a:t>和 </a:t>
            </a:r>
            <a:r>
              <a:rPr lang="en-US" altLang="zh-CN"/>
              <a:t>RMSProp </a:t>
            </a:r>
            <a:r>
              <a:rPr lang="zh-CN" altLang="en-US"/>
              <a:t>这两种方法的优点，是很流行的优化器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cxnSp>
        <p:nvCxnSpPr>
          <p:cNvPr id="6" name="直接箭头连接符 5"/>
          <p:cNvCxnSpPr>
            <a:stCxn id="13" idx="1"/>
          </p:cNvCxnSpPr>
          <p:nvPr/>
        </p:nvCxnSpPr>
        <p:spPr>
          <a:xfrm flipH="1">
            <a:off x="1096010" y="3169920"/>
            <a:ext cx="528955" cy="1202055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7" name="文本框 6"/>
          <p:cNvSpPr txBox="1"/>
          <p:nvPr/>
        </p:nvSpPr>
        <p:spPr>
          <a:xfrm>
            <a:off x="199390" y="4584700"/>
            <a:ext cx="2369185" cy="71945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计算历史梯度的</a:t>
            </a:r>
            <a:endParaRPr lang="en-US" altLang="zh-CN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指数移动平均值</a:t>
            </a:r>
            <a:endParaRPr lang="en-US" altLang="zh-CN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519170" y="5304155"/>
            <a:ext cx="229489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记录了历史梯度的平方和</a:t>
            </a:r>
            <a:endParaRPr lang="en-US" altLang="zh-CN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170930" y="5395913"/>
            <a:ext cx="5080000" cy="829945"/>
          </a:xfrm>
          <a:prstGeom prst="rect">
            <a:avLst/>
          </a:prstGeom>
        </p:spPr>
        <p:txBody>
          <a:bodyPr>
            <a:spAutoFit/>
          </a:bodyPr>
          <a:p>
            <a:r>
              <a:rPr lang="en-US" altLang="zh-CN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为了放大起步阶段的数值，强行把它拉回到正常水平</a:t>
            </a:r>
            <a:endParaRPr lang="en-US" altLang="zh-CN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4965" y="2045970"/>
            <a:ext cx="6724650" cy="2247900"/>
          </a:xfrm>
          <a:prstGeom prst="rect">
            <a:avLst/>
          </a:prstGeom>
        </p:spPr>
      </p:pic>
      <p:cxnSp>
        <p:nvCxnSpPr>
          <p:cNvPr id="8" name="直接箭头连接符 7"/>
          <p:cNvCxnSpPr/>
          <p:nvPr/>
        </p:nvCxnSpPr>
        <p:spPr>
          <a:xfrm>
            <a:off x="4132580" y="3445510"/>
            <a:ext cx="396875" cy="195072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0" name="直接箭头连接符 9"/>
          <p:cNvCxnSpPr/>
          <p:nvPr/>
        </p:nvCxnSpPr>
        <p:spPr>
          <a:xfrm flipH="1">
            <a:off x="7677785" y="3690620"/>
            <a:ext cx="603250" cy="170561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custDataLst>
      <p:tags r:id="rId2"/>
    </p:custData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345" y="153035"/>
            <a:ext cx="10515600" cy="1325563"/>
          </a:xfrm>
        </p:spPr>
        <p:txBody>
          <a:bodyPr/>
          <a:p>
            <a:r>
              <a:rPr lang="zh-CN" altLang="en-US"/>
              <a:t>过拟合问题</a:t>
            </a:r>
            <a:endParaRPr lang="en-US" altLang="zh-CN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53365" y="1309370"/>
            <a:ext cx="11720830" cy="4910455"/>
          </a:xfrm>
        </p:spPr>
        <p:txBody>
          <a:bodyPr/>
          <a:p>
            <a:pPr marL="0" indent="0">
              <a:buNone/>
            </a:pPr>
            <a:r>
              <a:rPr lang="zh-CN" altLang="en-US"/>
              <a:t>损失函数的优化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引入背景：太复杂的模型（就是指参数特别多，模型，层数深度也很广的模型）很容易导致</a:t>
            </a:r>
            <a:r>
              <a:rPr lang="zh-CN" altLang="en-US" b="1"/>
              <a:t>过拟合</a:t>
            </a:r>
            <a:r>
              <a:rPr lang="zh-CN" altLang="en-US"/>
              <a:t>，因此我们不会去首选比较复杂的模型来进行训练推理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sp>
        <p:nvSpPr>
          <p:cNvPr id="5" name="文本框 4"/>
          <p:cNvSpPr txBox="1"/>
          <p:nvPr/>
        </p:nvSpPr>
        <p:spPr>
          <a:xfrm>
            <a:off x="252730" y="3905568"/>
            <a:ext cx="5080000" cy="922020"/>
          </a:xfrm>
          <a:prstGeom prst="rect">
            <a:avLst/>
          </a:prstGeom>
        </p:spPr>
        <p:txBody>
          <a:bodyPr>
            <a:spAutoFit/>
          </a:bodyPr>
          <a:p>
            <a:r>
              <a:rPr lang="zh-CN" altLang="en-US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模型在训练数据上表现得“过于完美”，把数据里的噪声、偶然波动和无关细节都死记硬背了下来，导致它丧失了举一反三的能力，泛化能力差</a:t>
            </a:r>
            <a:endParaRPr lang="zh-CN" altLang="en-US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>
            <a:off x="1814195" y="2905760"/>
            <a:ext cx="459105" cy="91821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3745" y="2599690"/>
            <a:ext cx="5817870" cy="295402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0965" y="153035"/>
            <a:ext cx="10515600" cy="1325563"/>
          </a:xfrm>
        </p:spPr>
        <p:txBody>
          <a:bodyPr/>
          <a:p>
            <a:r>
              <a:rPr lang="zh-CN" altLang="en-US"/>
              <a:t>损失函数的正则化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91770" y="1208405"/>
            <a:ext cx="11782425" cy="5011420"/>
          </a:xfrm>
        </p:spPr>
        <p:txBody>
          <a:bodyPr/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2519680" y="1404620"/>
          <a:ext cx="5677535" cy="1054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5466715" imgH="916940" progId="Equation.DSMT4">
                  <p:embed/>
                </p:oleObj>
              </mc:Choice>
              <mc:Fallback>
                <p:oleObj name="" r:id="rId1" imgW="5466715" imgH="91694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19680" y="1404620"/>
                        <a:ext cx="5677535" cy="10541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/>
          <p:nvPr/>
        </p:nvSpPr>
        <p:spPr>
          <a:xfrm>
            <a:off x="6959600" y="1478915"/>
            <a:ext cx="1237615" cy="906145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graphicFrame>
        <p:nvGraphicFramePr>
          <p:cNvPr id="8" name="对象 7"/>
          <p:cNvGraphicFramePr/>
          <p:nvPr/>
        </p:nvGraphicFramePr>
        <p:xfrm>
          <a:off x="2437130" y="4394200"/>
          <a:ext cx="2087880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3" imgW="3020695" imgH="927100" progId="Equation.DSMT4">
                  <p:embed/>
                </p:oleObj>
              </mc:Choice>
              <mc:Fallback>
                <p:oleObj name="" r:id="rId3" imgW="3020695" imgH="927100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437130" y="4394200"/>
                        <a:ext cx="2087880" cy="708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2437130" y="2983230"/>
          <a:ext cx="2194560" cy="757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5" imgW="2945765" imgH="1102995" progId="Equation.DSMT4">
                  <p:embed/>
                </p:oleObj>
              </mc:Choice>
              <mc:Fallback>
                <p:oleObj name="" r:id="rId5" imgW="2945765" imgH="1102995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437130" y="2983230"/>
                        <a:ext cx="2194560" cy="757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763270" y="2983230"/>
            <a:ext cx="1570990" cy="48958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L1正则化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63270" y="4394835"/>
            <a:ext cx="1673860" cy="5734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L2正则化</a:t>
            </a:r>
            <a:endParaRPr kumimoji="0" lang="zh-CN" altLang="en-US" sz="2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023610" y="3048953"/>
            <a:ext cx="5080000" cy="423545"/>
          </a:xfrm>
          <a:prstGeom prst="rect">
            <a:avLst/>
          </a:prstGeom>
        </p:spPr>
        <p:txBody>
          <a:bodyPr>
            <a:spAutoFit/>
          </a:bodyPr>
          <a:p>
            <a:pPr algn="l" hangingPunct="1">
              <a:lnSpc>
                <a:spcPct val="90000"/>
              </a:lnSpc>
              <a:spcBef>
                <a:spcPts val="1000"/>
              </a:spcBef>
              <a:buFont typeface="Arial" panose="020B0604020202020204"/>
            </a:pPr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这种方法不经常用，忽略了无关特征</a:t>
            </a:r>
            <a:endParaRPr lang="zh-CN" altLang="en-US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968240" y="4394200"/>
            <a:ext cx="7075170" cy="4603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决策过程更平滑，不容易被单个输入特征剧烈影响</a:t>
            </a:r>
            <a:endParaRPr lang="zh-CN" altLang="en-US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63270" y="5890260"/>
            <a:ext cx="9079230" cy="46037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buFont typeface="Arial" panose="020B0604020202020204"/>
            </a:pPr>
            <a:r>
              <a:rPr lang="zh-CN" altLang="en-US" sz="240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还有一些方法比如Dropout和Early Stopping</a:t>
            </a:r>
            <a:endParaRPr lang="zh-CN" altLang="en-US" sz="2400">
              <a:solidFill>
                <a:schemeClr val="accent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  <p:custDataLst>
      <p:tags r:id="rId7"/>
    </p:custData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000" y="93980"/>
            <a:ext cx="10515600" cy="1325563"/>
          </a:xfrm>
        </p:spPr>
        <p:txBody>
          <a:bodyPr/>
          <a:p>
            <a:r>
              <a:rPr lang="en-US" altLang="zh-CN">
                <a:sym typeface="+mn-ea"/>
              </a:rPr>
              <a:t>AdamW</a:t>
            </a:r>
            <a:r>
              <a:rPr lang="zh-CN" altLang="en-US">
                <a:sym typeface="+mn-ea"/>
              </a:rPr>
              <a:t>优化器</a:t>
            </a:r>
            <a:endParaRPr lang="zh-CN" altLang="en-US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9880" y="1580515"/>
            <a:ext cx="11571605" cy="4994910"/>
          </a:xfrm>
        </p:spPr>
        <p:txBody>
          <a:bodyPr/>
          <a:p>
            <a:pPr marL="0" indent="0">
              <a:buNone/>
            </a:pPr>
            <a:r>
              <a:rPr lang="zh-CN" altLang="en-US"/>
              <a:t>背景问题：为了防止模型过拟合，我们使用 </a:t>
            </a:r>
            <a:r>
              <a:rPr lang="en-US" altLang="zh-CN"/>
              <a:t>L2 </a:t>
            </a:r>
            <a:r>
              <a:rPr lang="zh-CN" altLang="en-US"/>
              <a:t>正则化，一般是在在损失函数后面加上一个惩罚项，</a:t>
            </a:r>
            <a:r>
              <a:rPr lang="en-US" altLang="zh-CN"/>
              <a:t>Adam </a:t>
            </a:r>
            <a:r>
              <a:rPr lang="zh-CN" altLang="en-US"/>
              <a:t>内部集成了 </a:t>
            </a:r>
            <a:r>
              <a:rPr lang="en-US" altLang="zh-CN"/>
              <a:t>RMSProp</a:t>
            </a:r>
            <a:r>
              <a:rPr lang="zh-CN" altLang="en-US"/>
              <a:t>，它的原理是把梯度除以一个历史梯度的均方根，经过除法一缩放，原本用来惩罚它的权重衰减力度被严重削弱了</a:t>
            </a:r>
            <a:endParaRPr lang="zh-CN" altLang="en-US"/>
          </a:p>
          <a:p>
            <a:pPr marL="0" indent="0">
              <a:buNone/>
            </a:pPr>
            <a:r>
              <a:rPr lang="en-US" altLang="zh-CN"/>
              <a:t>AdamW</a:t>
            </a:r>
            <a:endParaRPr lang="zh-CN" altLang="en-US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纯净算梯度： 按照最原始的 </a:t>
            </a:r>
            <a:r>
              <a:rPr lang="en-US" altLang="zh-CN"/>
              <a:t>Loss </a:t>
            </a:r>
            <a:r>
              <a:rPr lang="zh-CN" altLang="en-US"/>
              <a:t>算出纯净的梯度，让 </a:t>
            </a:r>
            <a:r>
              <a:rPr lang="en-US" altLang="zh-CN"/>
              <a:t>Adam </a:t>
            </a:r>
            <a:r>
              <a:rPr lang="zh-CN" altLang="en-US"/>
              <a:t>原封不动地执行它的动量加速和 </a:t>
            </a:r>
            <a:r>
              <a:rPr lang="en-US" altLang="zh-CN"/>
              <a:t>RMSProp </a:t>
            </a:r>
            <a:r>
              <a:rPr lang="zh-CN" altLang="en-US"/>
              <a:t>自适应除法</a:t>
            </a:r>
            <a:endParaRPr lang="en-US" altLang="zh-CN"/>
          </a:p>
          <a:p>
            <a:pPr>
              <a:buFont typeface="Wingdings" panose="05000000000000000000" charset="0"/>
              <a:buChar char="Ø"/>
            </a:pPr>
            <a:r>
              <a:rPr lang="zh-CN" altLang="en-US"/>
              <a:t>独立做衰减： 在 </a:t>
            </a:r>
            <a:r>
              <a:rPr lang="en-US" altLang="zh-CN"/>
              <a:t>Adam </a:t>
            </a:r>
            <a:r>
              <a:rPr lang="zh-CN" altLang="en-US"/>
              <a:t>算出当前这步应该走多远之后，在真正修改参数的前一瞬间，直接在参数本身上扣掉一个固定的比例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1250950" y="4664710"/>
          <a:ext cx="5814695" cy="17551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4391025" imgH="1088390" progId="Equation.DSMT4">
                  <p:embed/>
                </p:oleObj>
              </mc:Choice>
              <mc:Fallback>
                <p:oleObj name="" r:id="rId1" imgW="4391025" imgH="108839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250950" y="4664710"/>
                        <a:ext cx="5814695" cy="17551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695690" y="5357495"/>
            <a:ext cx="308800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解耦出来的权重衰减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cxnSp>
        <p:nvCxnSpPr>
          <p:cNvPr id="8" name="直接箭头连接符 7"/>
          <p:cNvCxnSpPr/>
          <p:nvPr/>
        </p:nvCxnSpPr>
        <p:spPr>
          <a:xfrm flipH="1" flipV="1">
            <a:off x="7880985" y="5083175"/>
            <a:ext cx="532765" cy="39243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custDataLst>
      <p:tags r:id="rId3"/>
    </p:custData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407670" y="1073150"/>
            <a:ext cx="5376545" cy="5487035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477635" y="1073150"/>
            <a:ext cx="5338445" cy="548703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94335" y="1090295"/>
            <a:ext cx="5471795" cy="548386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66230" y="1090295"/>
            <a:ext cx="5220970" cy="548322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>
          <a:xfrm>
            <a:off x="11103611" y="6401118"/>
            <a:ext cx="250190" cy="275590"/>
          </a:xfrm>
        </p:spPr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/>
          <p:nvPr/>
        </p:nvPicPr>
        <p:blipFill>
          <a:blip r:embed="rId1"/>
          <a:stretch>
            <a:fillRect/>
          </a:stretch>
        </p:blipFill>
        <p:spPr>
          <a:xfrm>
            <a:off x="364490" y="1093470"/>
            <a:ext cx="5542915" cy="5513070"/>
          </a:xfrm>
          <a:prstGeom prst="rect">
            <a:avLst/>
          </a:prstGeom>
        </p:spPr>
      </p:pic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6651625" y="1093470"/>
            <a:ext cx="5139055" cy="551307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5745" y="76200"/>
            <a:ext cx="10515600" cy="1325563"/>
          </a:xfrm>
        </p:spPr>
        <p:txBody>
          <a:bodyPr/>
          <a:p>
            <a:r>
              <a:rPr lang="zh-CN" altLang="en-US"/>
              <a:t>训练流程总结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45122" y="1201737"/>
            <a:ext cx="11140214" cy="4351338"/>
          </a:xfrm>
        </p:spPr>
        <p:txBody>
          <a:bodyPr>
            <a:noAutofit/>
          </a:bodyPr>
          <a:p>
            <a:pPr marL="0" indent="0">
              <a:buNone/>
            </a:pPr>
            <a:r>
              <a:rPr lang="zh-CN" altLang="en-US" sz="1400"/>
              <a:t>准备数据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图像预处理与数据增强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把数据传入 </a:t>
            </a:r>
            <a:r>
              <a:rPr lang="en-US" altLang="zh-CN" sz="1400"/>
              <a:t>GPU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模型前向传播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得到 </a:t>
            </a:r>
            <a:r>
              <a:rPr lang="en-US" altLang="zh-CN" sz="1400"/>
              <a:t>Logits</a:t>
            </a:r>
            <a:endParaRPr lang="en-US" altLang="zh-CN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计算交叉熵损失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反向传播计算梯度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优化器更新参数</a:t>
            </a:r>
            <a:endParaRPr lang="zh-CN" altLang="en-US" sz="1400"/>
          </a:p>
          <a:p>
            <a:pPr marL="0" indent="0">
              <a:buNone/>
            </a:pPr>
            <a:r>
              <a:rPr lang="en-US" altLang="zh-CN" sz="1400"/>
              <a:t>  ↓</a:t>
            </a:r>
            <a:endParaRPr lang="en-US" altLang="zh-CN" sz="1400"/>
          </a:p>
          <a:p>
            <a:pPr marL="0" indent="0">
              <a:buNone/>
            </a:pPr>
            <a:r>
              <a:rPr lang="zh-CN" altLang="en-US" sz="1400"/>
              <a:t>进入下一个 </a:t>
            </a:r>
            <a:r>
              <a:rPr lang="en-US" altLang="zh-CN" sz="1400"/>
              <a:t>Bat</a:t>
            </a:r>
            <a:r>
              <a:rPr lang="en-US" altLang="zh-CN" sz="1400"/>
              <a:t>ch</a:t>
            </a:r>
            <a:endParaRPr lang="en-US" altLang="zh-CN" sz="1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7270" y="1458595"/>
            <a:ext cx="4595495" cy="451231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6455" y="1814830"/>
            <a:ext cx="4505960" cy="4494530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1971675" y="5197475"/>
            <a:ext cx="4979035" cy="30480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018020" y="3691255"/>
            <a:ext cx="4928235" cy="787400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no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12090" y="145415"/>
            <a:ext cx="10515600" cy="1325563"/>
          </a:xfrm>
        </p:spPr>
        <p:txBody>
          <a:bodyPr/>
          <a:p>
            <a:r>
              <a:rPr lang="zh-CN" altLang="en-US"/>
              <a:t>常见线性模型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70815" y="1983105"/>
          <a:ext cx="11824335" cy="1981200"/>
        </p:xfrm>
        <a:graphic>
          <a:graphicData uri="http://schemas.openxmlformats.org/drawingml/2006/table">
            <a:tbl>
              <a:tblPr firstRow="1" firstCol="1">
                <a:tableStyleId>{CF821DB8-F4EB-4A41-A1BA-3FCAFE7338EE}</a:tableStyleId>
              </a:tblPr>
              <a:tblGrid>
                <a:gridCol w="2252980"/>
                <a:gridCol w="2489200"/>
                <a:gridCol w="7082155"/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模型名称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主要任务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核心思想</a:t>
                      </a:r>
                      <a:endParaRPr lang="zh-CN" altLang="en-US" sz="200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线性回归</a:t>
                      </a:r>
                      <a:endParaRPr 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回归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寻找一个超平面，使得所有数据点到该平面的误差平方和最小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岭回归</a:t>
                      </a:r>
                      <a:endParaRPr lang="zh-CN" altLang="en-US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回归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压缩权重，防止参数膨胀导致的过拟合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逻辑回归</a:t>
                      </a:r>
                      <a:endParaRPr lang="zh-CN" altLang="en-US" sz="2000" b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分类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将线性结果通过映射为概率，最大化当前数据集发生的概率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线性</a:t>
                      </a:r>
                      <a:r>
                        <a:rPr lang="en-US" altLang="zh-CN" sz="20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SVM</a:t>
                      </a:r>
                      <a:endParaRPr lang="en-US" altLang="zh-CN" sz="20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Times New Roman" panose="02020603050405020304" pitchFamily="18" charset="0"/>
                        </a:rPr>
                        <a:t>分类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找一个能将两类数据隔开且安全间隔最大的超平面。</a:t>
                      </a:r>
                      <a:endParaRPr lang="zh-CN" altLang="en-US" sz="2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325" y="76200"/>
            <a:ext cx="10515600" cy="1325563"/>
          </a:xfrm>
        </p:spPr>
        <p:txBody>
          <a:bodyPr/>
          <a:p>
            <a:r>
              <a:rPr lang="zh-CN" altLang="en-US"/>
              <a:t>线性回归模型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7632" y="1571942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线性回归用于解决回归问题（预测连续值），目标是找到一条能够最好地拟合样本数据的直线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753995"/>
            <a:ext cx="6553200" cy="2368550"/>
          </a:xfrm>
          <a:prstGeom prst="rect">
            <a:avLst/>
          </a:prstGeom>
        </p:spPr>
      </p:pic>
      <p:graphicFrame>
        <p:nvGraphicFramePr>
          <p:cNvPr id="7" name="对象 6"/>
          <p:cNvGraphicFramePr/>
          <p:nvPr/>
        </p:nvGraphicFramePr>
        <p:xfrm>
          <a:off x="6894195" y="3831590"/>
          <a:ext cx="4575810" cy="10471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2" imgW="4415155" imgH="977265" progId="Equation.DSMT4">
                  <p:embed/>
                </p:oleObj>
              </mc:Choice>
              <mc:Fallback>
                <p:oleObj name="" r:id="rId2" imgW="4415155" imgH="97726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894195" y="3831590"/>
                        <a:ext cx="4575810" cy="10471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18935" y="2680335"/>
            <a:ext cx="5346065" cy="73850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损失函数设计：</a:t>
            </a:r>
            <a:r>
              <a:rPr kumimoji="0" lang="en-US" altLang="zh-CN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MSE——</a:t>
            </a: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预测误差平方的平均值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7000" y="135890"/>
            <a:ext cx="10515600" cy="1325563"/>
          </a:xfrm>
        </p:spPr>
        <p:txBody>
          <a:bodyPr/>
          <a:p>
            <a:r>
              <a:rPr lang="zh-CN" altLang="en-US"/>
              <a:t>岭回归模型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5247" y="1593532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当数据特征维度极高，或者特征之间存在强相关性时，普通的线性回归极易过拟合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为了限制模型的复杂度，我们会在损失函数中加入惩罚项（正则化项）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损失函数设计：在 </a:t>
            </a:r>
            <a:r>
              <a:rPr lang="en-US" altLang="zh-CN"/>
              <a:t>MSE </a:t>
            </a:r>
            <a:r>
              <a:rPr lang="zh-CN" altLang="en-US"/>
              <a:t>的基础上加上参数平方和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3569970" y="3719195"/>
          <a:ext cx="4150360" cy="1033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3444240" imgH="1035050" progId="Equation.DSMT4">
                  <p:embed/>
                </p:oleObj>
              </mc:Choice>
              <mc:Fallback>
                <p:oleObj name="" r:id="rId1" imgW="3444240" imgH="103505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569970" y="3719195"/>
                        <a:ext cx="4150360" cy="1033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4465" y="135255"/>
            <a:ext cx="10515600" cy="1325563"/>
          </a:xfrm>
        </p:spPr>
        <p:txBody>
          <a:bodyPr/>
          <a:p>
            <a:r>
              <a:rPr lang="zh-CN" altLang="en-US"/>
              <a:t>逻辑回归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213677" y="1349692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它在线性回归的输出结果上，套用了一个非线性映射，将其转化为概率</a:t>
            </a:r>
            <a:endParaRPr lang="zh-CN" altLang="en-US"/>
          </a:p>
          <a:p>
            <a:pPr marL="0" indent="0">
              <a:buNone/>
            </a:pPr>
            <a:r>
              <a:rPr lang="zh-CN" altLang="en-US"/>
              <a:t>对于一个样本，结果为正类或者负类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整个数据集发生的总概率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取自然对数后，我们得到对数似然函数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对数损失函数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5306695" y="1797050"/>
          <a:ext cx="2715260" cy="410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2282190" imgH="427990" progId="Equation.DSMT4">
                  <p:embed/>
                </p:oleObj>
              </mc:Choice>
              <mc:Fallback>
                <p:oleObj name="" r:id="rId1" imgW="2282190" imgH="42799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306695" y="1797050"/>
                        <a:ext cx="2715260" cy="4102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/>
          <p:cNvGraphicFramePr/>
          <p:nvPr/>
        </p:nvGraphicFramePr>
        <p:xfrm>
          <a:off x="3891915" y="2543175"/>
          <a:ext cx="3362960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" name="" r:id="rId3" imgW="3295015" imgH="682625" progId="Equation.DSMT4">
                  <p:embed/>
                </p:oleObj>
              </mc:Choice>
              <mc:Fallback>
                <p:oleObj name="" r:id="rId3" imgW="3295015" imgH="682625" progId="Equation.DSMT4">
                  <p:embed/>
                  <p:pic>
                    <p:nvPicPr>
                      <p:cNvPr id="0" name="图片 7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891915" y="2543175"/>
                        <a:ext cx="3362960" cy="765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/>
          <p:nvPr/>
        </p:nvGraphicFramePr>
        <p:xfrm>
          <a:off x="5543550" y="3493770"/>
          <a:ext cx="4281170" cy="6832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" name="" r:id="rId5" imgW="4161155" imgH="688340" progId="Equation.DSMT4">
                  <p:embed/>
                </p:oleObj>
              </mc:Choice>
              <mc:Fallback>
                <p:oleObj name="" r:id="rId5" imgW="4161155" imgH="688340" progId="Equation.DSMT4">
                  <p:embed/>
                  <p:pic>
                    <p:nvPicPr>
                      <p:cNvPr id="0" name="图片 9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543550" y="3493770"/>
                        <a:ext cx="4281170" cy="6832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/>
          <p:cNvGraphicFramePr/>
          <p:nvPr/>
        </p:nvGraphicFramePr>
        <p:xfrm>
          <a:off x="2190750" y="4295775"/>
          <a:ext cx="6300470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" name="" r:id="rId7" imgW="5544185" imgH="703580" progId="Equation.DSMT4">
                  <p:embed/>
                </p:oleObj>
              </mc:Choice>
              <mc:Fallback>
                <p:oleObj name="" r:id="rId7" imgW="5544185" imgH="703580" progId="Equation.DSMT4">
                  <p:embed/>
                  <p:pic>
                    <p:nvPicPr>
                      <p:cNvPr id="0" name="图片 11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190750" y="4295775"/>
                        <a:ext cx="6300470" cy="8953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图片 1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3170" y="1784350"/>
            <a:ext cx="2599055" cy="170942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41605" y="98425"/>
            <a:ext cx="10515600" cy="1325563"/>
          </a:xfrm>
        </p:spPr>
        <p:txBody>
          <a:bodyPr/>
          <a:p>
            <a:r>
              <a:rPr lang="zh-CN" altLang="en-US"/>
              <a:t>线性</a:t>
            </a:r>
            <a:r>
              <a:rPr lang="en-US" altLang="zh-CN"/>
              <a:t>SVM</a:t>
            </a:r>
            <a:r>
              <a:rPr lang="zh-CN" altLang="en-US"/>
              <a:t>模型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41922" y="1616392"/>
            <a:ext cx="11140214" cy="4351338"/>
          </a:xfrm>
        </p:spPr>
        <p:txBody>
          <a:bodyPr/>
          <a:p>
            <a:pPr marL="0" indent="0">
              <a:buNone/>
            </a:pPr>
            <a:r>
              <a:rPr lang="zh-CN" altLang="en-US"/>
              <a:t>寻找一个超平面</a:t>
            </a:r>
            <a:r>
              <a:rPr lang="en-US" altLang="zh-CN"/>
              <a:t>                       </a:t>
            </a:r>
            <a:r>
              <a:rPr lang="zh-CN" altLang="en-US"/>
              <a:t>使得距离这个平面最近的样本点（这些点被称为支持向量）到平面的距离最大化</a:t>
            </a: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endParaRPr lang="zh-CN" altLang="en-US"/>
          </a:p>
          <a:p>
            <a:pPr marL="0" indent="0">
              <a:buNone/>
            </a:pPr>
            <a:r>
              <a:rPr lang="zh-CN" altLang="en-US"/>
              <a:t>将真实标签与得到</a:t>
            </a:r>
            <a:r>
              <a:rPr lang="en-US" altLang="zh-CN"/>
              <a:t>              </a:t>
            </a:r>
            <a:r>
              <a:rPr lang="zh-CN" altLang="en-US"/>
              <a:t>一个关键指标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2"/>
          </p:nvPr>
        </p:nvSpPr>
        <p:spPr/>
        <p:txBody>
          <a:bodyPr/>
          <a:p>
            <a:fld id="{86CB4B4D-7CA3-9044-876B-883B54F8677D}" type="slidenum">
              <a:rPr/>
            </a:fld>
            <a:endParaRPr/>
          </a:p>
        </p:txBody>
      </p:sp>
      <p:graphicFrame>
        <p:nvGraphicFramePr>
          <p:cNvPr id="5" name="对象 4"/>
          <p:cNvGraphicFramePr/>
          <p:nvPr/>
        </p:nvGraphicFramePr>
        <p:xfrm>
          <a:off x="2566670" y="1616075"/>
          <a:ext cx="1570355" cy="3816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" name="" r:id="rId1" imgW="1881505" imgH="454660" progId="Equation.DSMT4">
                  <p:embed/>
                </p:oleObj>
              </mc:Choice>
              <mc:Fallback>
                <p:oleObj name="" r:id="rId1" imgW="1881505" imgH="454660" progId="Equation.DSMT4">
                  <p:embed/>
                  <p:pic>
                    <p:nvPicPr>
                      <p:cNvPr id="0" name="图片 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2566670" y="1616075"/>
                        <a:ext cx="1570355" cy="3816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25" y="114300"/>
            <a:ext cx="3067050" cy="1489075"/>
          </a:xfrm>
          <a:prstGeom prst="rect">
            <a:avLst/>
          </a:prstGeom>
        </p:spPr>
      </p:pic>
      <p:graphicFrame>
        <p:nvGraphicFramePr>
          <p:cNvPr id="8" name="对象 7"/>
          <p:cNvGraphicFramePr/>
          <p:nvPr/>
        </p:nvGraphicFramePr>
        <p:xfrm>
          <a:off x="1999615" y="2571115"/>
          <a:ext cx="3611880" cy="5638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" name="" r:id="rId4" imgW="2860675" imgH="434975" progId="Equation.DSMT4">
                  <p:embed/>
                </p:oleObj>
              </mc:Choice>
              <mc:Fallback>
                <p:oleObj name="" r:id="rId4" imgW="2860675" imgH="434975" progId="Equation.DSMT4">
                  <p:embed/>
                  <p:pic>
                    <p:nvPicPr>
                      <p:cNvPr id="0" name="图片 8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999615" y="2571115"/>
                        <a:ext cx="3611880" cy="5638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/>
          <p:cNvGraphicFramePr/>
          <p:nvPr/>
        </p:nvGraphicFramePr>
        <p:xfrm>
          <a:off x="2662555" y="3303905"/>
          <a:ext cx="1181735" cy="368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" name="" r:id="rId6" imgW="1377315" imgH="506730" progId="Equation.DSMT4">
                  <p:embed/>
                </p:oleObj>
              </mc:Choice>
              <mc:Fallback>
                <p:oleObj name="" r:id="rId6" imgW="1377315" imgH="506730" progId="Equation.DSMT4">
                  <p:embed/>
                  <p:pic>
                    <p:nvPicPr>
                      <p:cNvPr id="0" name="图片 10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662555" y="3303905"/>
                        <a:ext cx="1181735" cy="36893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对象 11"/>
          <p:cNvGraphicFramePr/>
          <p:nvPr/>
        </p:nvGraphicFramePr>
        <p:xfrm>
          <a:off x="5695950" y="3221990"/>
          <a:ext cx="1316990" cy="5321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" name="" r:id="rId8" imgW="853440" imgH="466725" progId="Equation.DSMT4">
                  <p:embed/>
                </p:oleObj>
              </mc:Choice>
              <mc:Fallback>
                <p:oleObj name="" r:id="rId8" imgW="853440" imgH="466725" progId="Equation.DSMT4">
                  <p:embed/>
                  <p:pic>
                    <p:nvPicPr>
                      <p:cNvPr id="0" name="图片 12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695950" y="3221990"/>
                        <a:ext cx="1316990" cy="5321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/>
          <p:cNvGraphicFramePr/>
          <p:nvPr/>
        </p:nvGraphicFramePr>
        <p:xfrm>
          <a:off x="377190" y="3841750"/>
          <a:ext cx="1499235" cy="393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" name="" r:id="rId10" imgW="1838325" imgH="476250" progId="Equation.DSMT4">
                  <p:embed/>
                </p:oleObj>
              </mc:Choice>
              <mc:Fallback>
                <p:oleObj name="" r:id="rId10" imgW="1838325" imgH="476250" progId="Equation.DSMT4">
                  <p:embed/>
                  <p:pic>
                    <p:nvPicPr>
                      <p:cNvPr id="0" name="图片 14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7190" y="3841750"/>
                        <a:ext cx="1499235" cy="393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/>
          <p:cNvGraphicFramePr/>
          <p:nvPr/>
        </p:nvGraphicFramePr>
        <p:xfrm>
          <a:off x="335915" y="4379595"/>
          <a:ext cx="1540510" cy="448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" name="" r:id="rId12" imgW="1788795" imgH="461645" progId="Equation.DSMT4">
                  <p:embed/>
                </p:oleObj>
              </mc:Choice>
              <mc:Fallback>
                <p:oleObj name="" r:id="rId12" imgW="1788795" imgH="461645" progId="Equation.DSMT4">
                  <p:embed/>
                  <p:pic>
                    <p:nvPicPr>
                      <p:cNvPr id="0" name="图片 16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5915" y="4379595"/>
                        <a:ext cx="1540510" cy="4489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9" name="直接箭头连接符 18"/>
          <p:cNvCxnSpPr/>
          <p:nvPr/>
        </p:nvCxnSpPr>
        <p:spPr>
          <a:xfrm flipV="1">
            <a:off x="2046605" y="4020820"/>
            <a:ext cx="1523365" cy="2286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直接箭头连接符 19"/>
          <p:cNvCxnSpPr/>
          <p:nvPr/>
        </p:nvCxnSpPr>
        <p:spPr>
          <a:xfrm flipV="1">
            <a:off x="2046605" y="4533265"/>
            <a:ext cx="1523365" cy="2286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arrow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1" name="文本框 20"/>
          <p:cNvSpPr txBox="1"/>
          <p:nvPr/>
        </p:nvSpPr>
        <p:spPr>
          <a:xfrm>
            <a:off x="3740150" y="3841750"/>
            <a:ext cx="95567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正确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3740150" y="4379595"/>
            <a:ext cx="955675" cy="36893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vertOverflow="overflow" horzOverflow="overflow" vert="horz" wrap="square" lIns="0" tIns="0" rIns="0" bIns="0" numCol="1" spcCol="38100" rtlCol="0" anchor="t" forceAA="0">
            <a:spAutoFit/>
          </a:bodyPr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400" b="0" i="0" u="none" strike="noStrike" cap="none" spc="0" normalizeH="0" baseline="0">
                <a:solidFill>
                  <a:schemeClr val="accent1"/>
                </a:solidFill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等线" panose="02010600030101010101" charset="-122"/>
              </a:rPr>
              <a:t>错误</a:t>
            </a:r>
            <a:endParaRPr kumimoji="0" lang="zh-CN" altLang="en-US" sz="2400" b="0" i="0" u="none" strike="noStrike" cap="none" spc="0" normalizeH="0" baseline="0">
              <a:solidFill>
                <a:schemeClr val="accent1"/>
              </a:solidFill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等线" panose="02010600030101010101" charset="-122"/>
            </a:endParaRPr>
          </a:p>
        </p:txBody>
      </p:sp>
      <p:graphicFrame>
        <p:nvGraphicFramePr>
          <p:cNvPr id="23" name="对象 22"/>
          <p:cNvGraphicFramePr/>
          <p:nvPr/>
        </p:nvGraphicFramePr>
        <p:xfrm>
          <a:off x="4695825" y="4005580"/>
          <a:ext cx="3496945" cy="5505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" name="" r:id="rId14" imgW="3585845" imgH="561340" progId="Equation.DSMT4">
                  <p:embed/>
                </p:oleObj>
              </mc:Choice>
              <mc:Fallback>
                <p:oleObj name="" r:id="rId14" imgW="3585845" imgH="561340" progId="Equation.DSMT4">
                  <p:embed/>
                  <p:pic>
                    <p:nvPicPr>
                      <p:cNvPr id="0" name="图片 23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4695825" y="4005580"/>
                        <a:ext cx="3496945" cy="5505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/>
          <p:nvPr/>
        </p:nvGraphicFramePr>
        <p:xfrm>
          <a:off x="1821180" y="4837430"/>
          <a:ext cx="6563360" cy="1478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" name="" r:id="rId16" imgW="4594225" imgH="1024890" progId="Equation.DSMT4">
                  <p:embed/>
                </p:oleObj>
              </mc:Choice>
              <mc:Fallback>
                <p:oleObj name="" r:id="rId16" imgW="4594225" imgH="1024890" progId="Equation.DSMT4">
                  <p:embed/>
                  <p:pic>
                    <p:nvPicPr>
                      <p:cNvPr id="0" name="图片 25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821180" y="4837430"/>
                        <a:ext cx="6563360" cy="14789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7" name="图片 26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61070" y="2463800"/>
            <a:ext cx="3298190" cy="236474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/>
        </p:nvSpPr>
        <p:spPr>
          <a:xfrm>
            <a:off x="1477617" y="2767280"/>
            <a:ext cx="92367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4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THANKS</a:t>
            </a:r>
            <a:endParaRPr lang="en-GB" altLang="zh-CN" sz="4800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图片 2" descr="计算机楼——西门（蓝色）=="/>
          <p:cNvPicPr>
            <a:picLocks noChangeAspect="1"/>
          </p:cNvPicPr>
          <p:nvPr/>
        </p:nvPicPr>
        <p:blipFill>
          <a:blip r:embed="rId1"/>
          <a:srcRect l="1146" b="9039"/>
          <a:stretch>
            <a:fillRect/>
          </a:stretch>
        </p:blipFill>
        <p:spPr>
          <a:xfrm>
            <a:off x="0" y="3851910"/>
            <a:ext cx="12200255" cy="3006090"/>
          </a:xfrm>
          <a:prstGeom prst="rect">
            <a:avLst/>
          </a:prstGeom>
        </p:spPr>
      </p:pic>
      <p:pic>
        <p:nvPicPr>
          <p:cNvPr id="5" name="图片 4" descr="吉大logo-蓝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670" y="198915"/>
            <a:ext cx="3288660" cy="970666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tags/tag1.xml><?xml version="1.0" encoding="utf-8"?>
<p:tagLst xmlns:p="http://schemas.openxmlformats.org/presentationml/2006/main">
  <p:tag name="KSO_WM_AICARD_INVALID" val="Invalid"/>
</p:tagLst>
</file>

<file path=ppt/tags/tag2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3.xml><?xml version="1.0" encoding="utf-8"?>
<p:tagLst xmlns:p="http://schemas.openxmlformats.org/presentationml/2006/main">
  <p:tag name="KSO_WM_AICARD_INVALID" val="Invalid"/>
</p:tagLst>
</file>

<file path=ppt/tags/tag4.xml><?xml version="1.0" encoding="utf-8"?>
<p:tagLst xmlns:p="http://schemas.openxmlformats.org/presentationml/2006/main">
  <p:tag name="TABLE_ENDDRAG_ORIGIN_RECT" val="944*211"/>
  <p:tag name="TABLE_ENDDRAG_RECT" val="7*193*944*211"/>
</p:tagLst>
</file>

<file path=ppt/tags/tag5.xml><?xml version="1.0" encoding="utf-8"?>
<p:tagLst xmlns:p="http://schemas.openxmlformats.org/presentationml/2006/main">
  <p:tag name="KSO_WM_AICARD_INVALID" val="Invalid"/>
</p:tagLst>
</file>

<file path=ppt/tags/tag6.xml><?xml version="1.0" encoding="utf-8"?>
<p:tagLst xmlns:p="http://schemas.openxmlformats.org/presentationml/2006/main">
  <p:tag name="KSO_WM_AICARD_INVALID" val="Invalid"/>
</p:tagLst>
</file>

<file path=ppt/tags/tag7.xml><?xml version="1.0" encoding="utf-8"?>
<p:tagLst xmlns:p="http://schemas.openxmlformats.org/presentationml/2006/main">
  <p:tag name="KSO_WM_AICARD_INVALID" val="Invalid"/>
</p:tagLst>
</file>

<file path=ppt/tags/tag8.xml><?xml version="1.0" encoding="utf-8"?>
<p:tagLst xmlns:p="http://schemas.openxmlformats.org/presentationml/2006/main">
  <p:tag name="KSO_WM_AICARD_INVALID" val="Invalid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AICARD_INVALID" val="Invalid"/>
</p:tagLst>
</file>

<file path=ppt/tags/tag11.xml><?xml version="1.0" encoding="utf-8"?>
<p:tagLst xmlns:p="http://schemas.openxmlformats.org/presentationml/2006/main">
  <p:tag name="KSO_WM_AICARD_INVALID" val="Invalid"/>
</p:tagLst>
</file>

<file path=ppt/tags/tag12.xml><?xml version="1.0" encoding="utf-8"?>
<p:tagLst xmlns:p="http://schemas.openxmlformats.org/presentationml/2006/main">
  <p:tag name="KSO_WM_AICARD_INVALID" val="Invalid"/>
</p:tagLst>
</file>

<file path=ppt/tags/tag13.xml><?xml version="1.0" encoding="utf-8"?>
<p:tagLst xmlns:p="http://schemas.openxmlformats.org/presentationml/2006/main">
  <p:tag name="KSO_WM_AICARD_INVALID" val="Invalid"/>
</p:tagLst>
</file>

<file path=ppt/tags/tag14.xml><?xml version="1.0" encoding="utf-8"?>
<p:tagLst xmlns:p="http://schemas.openxmlformats.org/presentationml/2006/main">
  <p:tag name="KSO_WM_AICARD_INVALID" val="Invalid"/>
</p:tagLst>
</file>

<file path=ppt/tags/tag15.xml><?xml version="1.0" encoding="utf-8"?>
<p:tagLst xmlns:p="http://schemas.openxmlformats.org/presentationml/2006/main">
  <p:tag name="KSO_WM_AICARD_INVALID" val="Invalid"/>
</p:tagLst>
</file>

<file path=ppt/tags/tag16.xml><?xml version="1.0" encoding="utf-8"?>
<p:tagLst xmlns:p="http://schemas.openxmlformats.org/presentationml/2006/main">
  <p:tag name="KSO_WM_AICARD_INVALID" val="Invalid"/>
</p:tagLst>
</file>

<file path=ppt/tags/tag17.xml><?xml version="1.0" encoding="utf-8"?>
<p:tagLst xmlns:p="http://schemas.openxmlformats.org/presentationml/2006/main">
  <p:tag name="KSO_WM_AICARD_INVALID" val="Invalid"/>
</p:tagLst>
</file>

<file path=ppt/tags/tag18.xml><?xml version="1.0" encoding="utf-8"?>
<p:tagLst xmlns:p="http://schemas.openxmlformats.org/presentationml/2006/main">
  <p:tag name="KSO_WM_AICARD_INVALID" val="Invalid"/>
</p:tagLst>
</file>

<file path=ppt/tags/tag19.xml><?xml version="1.0" encoding="utf-8"?>
<p:tagLst xmlns:p="http://schemas.openxmlformats.org/presentationml/2006/main">
  <p:tag name="KSO_WM_AICARD_INVALID" val="Invalid"/>
</p:tagLst>
</file>

<file path=ppt/tags/tag20.xml><?xml version="1.0" encoding="utf-8"?>
<p:tagLst xmlns:p="http://schemas.openxmlformats.org/presentationml/2006/main">
  <p:tag name="KSO_WM_AICARD_INVALID" val="Invalid"/>
</p:tagLst>
</file>

<file path=ppt/tags/tag21.xml><?xml version="1.0" encoding="utf-8"?>
<p:tagLst xmlns:p="http://schemas.openxmlformats.org/presentationml/2006/main">
  <p:tag name="KSO_WM_AICARD_INVALID" val="Invalid"/>
</p:tagLst>
</file>

<file path=ppt/tags/tag22.xml><?xml version="1.0" encoding="utf-8"?>
<p:tagLst xmlns:p="http://schemas.openxmlformats.org/presentationml/2006/main">
  <p:tag name="KSO_WM_AICARD_INVALID" val="Invalid"/>
</p:tagLst>
</file>

<file path=ppt/tags/tag23.xml><?xml version="1.0" encoding="utf-8"?>
<p:tagLst xmlns:p="http://schemas.openxmlformats.org/presentationml/2006/main">
  <p:tag name="KSO_WM_AICARD_INVALID" val="Invalid"/>
</p:tagLst>
</file>

<file path=ppt/tags/tag24.xml><?xml version="1.0" encoding="utf-8"?>
<p:tagLst xmlns:p="http://schemas.openxmlformats.org/presentationml/2006/main">
  <p:tag name="KSO_WM_AICARD_INVALID" val="Invalid"/>
</p:tagLst>
</file>

<file path=ppt/tags/tag25.xml><?xml version="1.0" encoding="utf-8"?>
<p:tagLst xmlns:p="http://schemas.openxmlformats.org/presentationml/2006/main">
  <p:tag name="TABLE_ENDDRAG_ORIGIN_RECT" val="944*211"/>
  <p:tag name="TABLE_ENDDRAG_RECT" val="7*193*944*211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 主题​​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45499"/>
      </a:accent1>
      <a:accent2>
        <a:srgbClr val="FEBF02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​​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等线" panose="02010600030101010101" charset="-122"/>
            <a:ea typeface="等线" panose="02010600030101010101" charset="-122"/>
            <a:cs typeface="等线" panose="02010600030101010101" charset="-122"/>
            <a:sym typeface="等线" panose="02010600030101010101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3106</Words>
  <Application>WPS 演示</Application>
  <PresentationFormat>宽屏</PresentationFormat>
  <Paragraphs>454</Paragraphs>
  <Slides>30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38</vt:i4>
      </vt:variant>
      <vt:variant>
        <vt:lpstr>幻灯片标题</vt:lpstr>
      </vt:variant>
      <vt:variant>
        <vt:i4>30</vt:i4>
      </vt:variant>
    </vt:vector>
  </HeadingPairs>
  <TitlesOfParts>
    <vt:vector size="80" baseType="lpstr">
      <vt:lpstr>Arial</vt:lpstr>
      <vt:lpstr>宋体</vt:lpstr>
      <vt:lpstr>Wingdings</vt:lpstr>
      <vt:lpstr>等线</vt:lpstr>
      <vt:lpstr>微软雅黑</vt:lpstr>
      <vt:lpstr>等线 Light</vt:lpstr>
      <vt:lpstr>Arial</vt:lpstr>
      <vt:lpstr>Calibri</vt:lpstr>
      <vt:lpstr>Wingdings</vt:lpstr>
      <vt:lpstr>Times New Roman</vt:lpstr>
      <vt:lpstr>Arial Unicode MS</vt:lpstr>
      <vt:lpstr>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Equation.KSEE3</vt:lpstr>
      <vt:lpstr>Equation.KSEE3</vt:lpstr>
      <vt:lpstr>Equation.KSEE3</vt:lpstr>
      <vt:lpstr>PowerPoint 演示文稿</vt:lpstr>
      <vt:lpstr>图像的基本知识</vt:lpstr>
      <vt:lpstr>图像分类</vt:lpstr>
      <vt:lpstr>图像分类方法</vt:lpstr>
      <vt:lpstr>K近邻算法</vt:lpstr>
      <vt:lpstr>K近邻算法</vt:lpstr>
      <vt:lpstr>K近邻算法</vt:lpstr>
      <vt:lpstr>线性分类算法</vt:lpstr>
      <vt:lpstr>线性分类算法</vt:lpstr>
      <vt:lpstr>Softmax函数</vt:lpstr>
      <vt:lpstr>交叉熵构建损失函数</vt:lpstr>
      <vt:lpstr>总结</vt:lpstr>
      <vt:lpstr>梯度下降</vt:lpstr>
      <vt:lpstr>随机梯度下降SGD方法</vt:lpstr>
      <vt:lpstr>动量Momentum方法优化</vt:lpstr>
      <vt:lpstr>均方根反向传播法RMSProp</vt:lpstr>
      <vt:lpstr>adam优化器</vt:lpstr>
      <vt:lpstr>过拟合问题</vt:lpstr>
      <vt:lpstr>损失函数的正则化</vt:lpstr>
      <vt:lpstr>AdamW优化器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线性回归模型</vt:lpstr>
      <vt:lpstr>岭回归模型</vt:lpstr>
      <vt:lpstr>逻辑回归</vt:lpstr>
      <vt:lpstr>线性SVM模型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1300116177@qq.com</dc:creator>
  <cp:lastModifiedBy>WPS_1742976995</cp:lastModifiedBy>
  <cp:revision>80</cp:revision>
  <dcterms:created xsi:type="dcterms:W3CDTF">2025-06-10T05:19:00Z</dcterms:created>
  <dcterms:modified xsi:type="dcterms:W3CDTF">2026-08-13T08:56:06Z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16ACACDF3CC24FA594A7A11566B41AEA_13</vt:lpwstr>
  </property>
</Properties>
</file>