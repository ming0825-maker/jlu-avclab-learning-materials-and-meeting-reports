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handoutMasters/handoutMaster1.xml" ContentType="application/vnd.openxmlformats-officedocument.presentationml.handoutMaster+xml"/>
  <Override PartName="/ppt/media/image20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4"/>
  </p:notesMasterIdLst>
  <p:handoutMasterIdLst>
    <p:handoutMasterId r:id="rId134"/>
  </p:handoutMasterIdLst>
  <p:sldIdLst>
    <p:sldId id="256" r:id="rId3"/>
    <p:sldId id="1103" r:id="rId5"/>
    <p:sldId id="1104" r:id="rId6"/>
    <p:sldId id="1105" r:id="rId7"/>
    <p:sldId id="1106" r:id="rId8"/>
    <p:sldId id="1107" r:id="rId9"/>
    <p:sldId id="1108" r:id="rId10"/>
    <p:sldId id="1109" r:id="rId11"/>
    <p:sldId id="1110" r:id="rId12"/>
    <p:sldId id="1111" r:id="rId13"/>
    <p:sldId id="1112" r:id="rId14"/>
    <p:sldId id="1113" r:id="rId15"/>
    <p:sldId id="1114" r:id="rId16"/>
    <p:sldId id="1115" r:id="rId17"/>
    <p:sldId id="1116" r:id="rId18"/>
    <p:sldId id="1117" r:id="rId19"/>
    <p:sldId id="1118" r:id="rId20"/>
    <p:sldId id="1119" r:id="rId21"/>
    <p:sldId id="1120" r:id="rId22"/>
    <p:sldId id="1121" r:id="rId23"/>
    <p:sldId id="1122" r:id="rId24"/>
    <p:sldId id="1123" r:id="rId25"/>
    <p:sldId id="1124" r:id="rId26"/>
    <p:sldId id="1125" r:id="rId27"/>
    <p:sldId id="1126" r:id="rId28"/>
    <p:sldId id="1127" r:id="rId29"/>
    <p:sldId id="1128" r:id="rId30"/>
    <p:sldId id="1129" r:id="rId31"/>
    <p:sldId id="1130" r:id="rId32"/>
    <p:sldId id="1050" r:id="rId33"/>
    <p:sldId id="1051" r:id="rId34"/>
    <p:sldId id="1052" r:id="rId35"/>
    <p:sldId id="1053" r:id="rId36"/>
    <p:sldId id="1054" r:id="rId37"/>
    <p:sldId id="1055" r:id="rId38"/>
    <p:sldId id="1056" r:id="rId39"/>
    <p:sldId id="1057" r:id="rId40"/>
    <p:sldId id="1058" r:id="rId41"/>
    <p:sldId id="1059" r:id="rId42"/>
    <p:sldId id="1060" r:id="rId43"/>
    <p:sldId id="1061" r:id="rId44"/>
    <p:sldId id="1062" r:id="rId45"/>
    <p:sldId id="1063" r:id="rId46"/>
    <p:sldId id="1064" r:id="rId47"/>
    <p:sldId id="1065" r:id="rId48"/>
    <p:sldId id="1066" r:id="rId49"/>
    <p:sldId id="1067" r:id="rId50"/>
    <p:sldId id="1068" r:id="rId51"/>
    <p:sldId id="1069" r:id="rId52"/>
    <p:sldId id="1070" r:id="rId53"/>
    <p:sldId id="1071" r:id="rId54"/>
    <p:sldId id="1072" r:id="rId55"/>
    <p:sldId id="1073" r:id="rId56"/>
    <p:sldId id="1074" r:id="rId57"/>
    <p:sldId id="1075" r:id="rId58"/>
    <p:sldId id="1076" r:id="rId59"/>
    <p:sldId id="1077" r:id="rId60"/>
    <p:sldId id="1078" r:id="rId61"/>
    <p:sldId id="1079" r:id="rId62"/>
    <p:sldId id="1080" r:id="rId63"/>
    <p:sldId id="1081" r:id="rId64"/>
    <p:sldId id="1082" r:id="rId65"/>
    <p:sldId id="1083" r:id="rId66"/>
    <p:sldId id="1084" r:id="rId67"/>
    <p:sldId id="1085" r:id="rId68"/>
    <p:sldId id="1086" r:id="rId69"/>
    <p:sldId id="1087" r:id="rId70"/>
    <p:sldId id="1088" r:id="rId71"/>
    <p:sldId id="1089" r:id="rId72"/>
    <p:sldId id="1090" r:id="rId73"/>
    <p:sldId id="1091" r:id="rId74"/>
    <p:sldId id="1092" r:id="rId75"/>
    <p:sldId id="1093" r:id="rId76"/>
    <p:sldId id="1094" r:id="rId77"/>
    <p:sldId id="1095" r:id="rId78"/>
    <p:sldId id="1096" r:id="rId79"/>
    <p:sldId id="1097" r:id="rId80"/>
    <p:sldId id="1098" r:id="rId81"/>
    <p:sldId id="1099" r:id="rId82"/>
    <p:sldId id="1100" r:id="rId83"/>
    <p:sldId id="994" r:id="rId84"/>
    <p:sldId id="995" r:id="rId85"/>
    <p:sldId id="992" r:id="rId86"/>
    <p:sldId id="1000" r:id="rId87"/>
    <p:sldId id="990" r:id="rId88"/>
    <p:sldId id="996" r:id="rId89"/>
    <p:sldId id="997" r:id="rId90"/>
    <p:sldId id="1004" r:id="rId91"/>
    <p:sldId id="999" r:id="rId92"/>
    <p:sldId id="1001" r:id="rId93"/>
    <p:sldId id="1002" r:id="rId94"/>
    <p:sldId id="1003" r:id="rId95"/>
    <p:sldId id="1005" r:id="rId96"/>
    <p:sldId id="973" r:id="rId97"/>
    <p:sldId id="998" r:id="rId98"/>
    <p:sldId id="1012" r:id="rId99"/>
    <p:sldId id="1013" r:id="rId100"/>
    <p:sldId id="1014" r:id="rId101"/>
    <p:sldId id="989" r:id="rId102"/>
    <p:sldId id="987" r:id="rId103"/>
    <p:sldId id="1015" r:id="rId104"/>
    <p:sldId id="1016" r:id="rId105"/>
    <p:sldId id="1017" r:id="rId106"/>
    <p:sldId id="1018" r:id="rId107"/>
    <p:sldId id="1020" r:id="rId108"/>
    <p:sldId id="1019" r:id="rId109"/>
    <p:sldId id="1021" r:id="rId110"/>
    <p:sldId id="1022" r:id="rId111"/>
    <p:sldId id="1023" r:id="rId112"/>
    <p:sldId id="1024" r:id="rId113"/>
    <p:sldId id="1025" r:id="rId114"/>
    <p:sldId id="1027" r:id="rId115"/>
    <p:sldId id="1026" r:id="rId116"/>
    <p:sldId id="1028" r:id="rId117"/>
    <p:sldId id="1029" r:id="rId118"/>
    <p:sldId id="1030" r:id="rId119"/>
    <p:sldId id="1031" r:id="rId120"/>
    <p:sldId id="1033" r:id="rId121"/>
    <p:sldId id="1034" r:id="rId122"/>
    <p:sldId id="1035" r:id="rId123"/>
    <p:sldId id="1037" r:id="rId124"/>
    <p:sldId id="1048" r:id="rId125"/>
    <p:sldId id="1040" r:id="rId126"/>
    <p:sldId id="1042" r:id="rId127"/>
    <p:sldId id="1043" r:id="rId128"/>
    <p:sldId id="1044" r:id="rId129"/>
    <p:sldId id="1045" r:id="rId130"/>
    <p:sldId id="1047" r:id="rId131"/>
    <p:sldId id="1041" r:id="rId132"/>
    <p:sldId id="319" r:id="rId133"/>
  </p:sldIdLst>
  <p:sldSz cx="12192000" cy="6858000"/>
  <p:notesSz cx="6858000" cy="9144000"/>
  <p:embeddedFontLst>
    <p:embeddedFont>
      <p:font typeface="等线" panose="02010600030101010101" charset="-122"/>
      <p:regular r:id="rId139"/>
      <p:bold r:id="rId140"/>
    </p:embeddedFont>
    <p:embeddedFont>
      <p:font typeface="微软雅黑" panose="020B0503020204020204" pitchFamily="34" charset="-122"/>
      <p:regular r:id="rId141"/>
      <p:bold r:id="rId142"/>
    </p:embeddedFont>
    <p:embeddedFont>
      <p:font typeface="等线 Light" panose="02010600030101010101" charset="-122"/>
      <p:regular r:id="rId143"/>
    </p:embeddedFont>
    <p:embeddedFont>
      <p:font typeface="Calibri" panose="020F0502020204030204"/>
      <p:regular r:id="rId144"/>
      <p:bold r:id="rId145"/>
      <p:italic r:id="rId146"/>
      <p:boldItalic r:id="rId147"/>
    </p:embeddedFont>
  </p:embeddedFontLst>
  <p:defaultTex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1pPr>
    <a:lvl2pPr marL="0" marR="0" indent="457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2pPr>
    <a:lvl3pPr marL="0" marR="0" indent="914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3pPr>
    <a:lvl4pPr marL="0" marR="0" indent="1371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4pPr>
    <a:lvl5pPr marL="0" marR="0" indent="18288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5pPr>
    <a:lvl6pPr marL="0" marR="0" indent="22860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6pPr>
    <a:lvl7pPr marL="0" marR="0" indent="27432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7pPr>
    <a:lvl8pPr marL="0" marR="0" indent="32004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8pPr>
    <a:lvl9pPr marL="0" marR="0" indent="365760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10384759@qq.com" initials="2" lastIdx="0" clrIdx="0"/>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CF821DB8-F4EB-4A41-A1BA-3FCAFE7338EE}" styleName="">
    <a:wholeTbl>
      <a:tcTxStyle>
        <a:font>
          <a:latin typeface="等线"/>
          <a:ea typeface="等线"/>
          <a:cs typeface="等线"/>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Style>
        <a:tcBdr/>
        <a:fill>
          <a:solidFill>
            <a:srgbClr val="FFFFFF"/>
          </a:solidFill>
        </a:fill>
      </a:tcStyle>
    </a:band2H>
    <a:firstCol>
      <a:tcTxStyle b="on">
        <a:font>
          <a:latin typeface="等线"/>
          <a:ea typeface="等线"/>
          <a:cs typeface="等线"/>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a:font>
          <a:latin typeface="等线"/>
          <a:ea typeface="等线"/>
          <a:cs typeface="等线"/>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a:font>
          <a:latin typeface="等线"/>
          <a:ea typeface="等线"/>
          <a:cs typeface="等线"/>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97" autoAdjust="0"/>
    <p:restoredTop sz="96311" autoAdjust="0"/>
  </p:normalViewPr>
  <p:slideViewPr>
    <p:cSldViewPr snapToGrid="0">
      <p:cViewPr varScale="1">
        <p:scale>
          <a:sx n="103" d="100"/>
          <a:sy n="103" d="100"/>
        </p:scale>
        <p:origin x="68" y="276"/>
      </p:cViewPr>
      <p:guideLst/>
    </p:cSldViewPr>
  </p:slideViewPr>
  <p:notesTextViewPr>
    <p:cViewPr>
      <p:scale>
        <a:sx n="1" d="1"/>
        <a:sy n="1" d="1"/>
      </p:scale>
      <p:origin x="0" y="0"/>
    </p:cViewPr>
  </p:notesTextViewPr>
  <p:notesViewPr>
    <p:cSldViewPr snapToGrid="0">
      <p:cViewPr varScale="1">
        <p:scale>
          <a:sx n="93" d="100"/>
          <a:sy n="93" d="100"/>
        </p:scale>
        <p:origin x="4072" y="200"/>
      </p:cViewPr>
      <p:guideLst/>
    </p:cSldViewPr>
  </p:notes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7" Type="http://schemas.openxmlformats.org/officeDocument/2006/relationships/font" Target="fonts/font9.fntdata"/><Relationship Id="rId146" Type="http://schemas.openxmlformats.org/officeDocument/2006/relationships/font" Target="fonts/font8.fntdata"/><Relationship Id="rId145" Type="http://schemas.openxmlformats.org/officeDocument/2006/relationships/font" Target="fonts/font7.fntdata"/><Relationship Id="rId144" Type="http://schemas.openxmlformats.org/officeDocument/2006/relationships/font" Target="fonts/font6.fntdata"/><Relationship Id="rId143" Type="http://schemas.openxmlformats.org/officeDocument/2006/relationships/font" Target="fonts/font5.fntdata"/><Relationship Id="rId142" Type="http://schemas.openxmlformats.org/officeDocument/2006/relationships/font" Target="fonts/font4.fntdata"/><Relationship Id="rId141" Type="http://schemas.openxmlformats.org/officeDocument/2006/relationships/font" Target="fonts/font3.fntdata"/><Relationship Id="rId140" Type="http://schemas.openxmlformats.org/officeDocument/2006/relationships/font" Target="fonts/font2.fntdata"/><Relationship Id="rId14" Type="http://schemas.openxmlformats.org/officeDocument/2006/relationships/slide" Target="slides/slide11.xml"/><Relationship Id="rId139" Type="http://schemas.openxmlformats.org/officeDocument/2006/relationships/font" Target="fonts/font1.fntdata"/><Relationship Id="rId138" Type="http://schemas.openxmlformats.org/officeDocument/2006/relationships/commentAuthors" Target="commentAuthors.xml"/><Relationship Id="rId137" Type="http://schemas.openxmlformats.org/officeDocument/2006/relationships/tableStyles" Target="tableStyles.xml"/><Relationship Id="rId136" Type="http://schemas.openxmlformats.org/officeDocument/2006/relationships/viewProps" Target="viewProps.xml"/><Relationship Id="rId135" Type="http://schemas.openxmlformats.org/officeDocument/2006/relationships/presProps" Target="presProps.xml"/><Relationship Id="rId134" Type="http://schemas.openxmlformats.org/officeDocument/2006/relationships/handoutMaster" Target="handoutMasters/handoutMaster1.xml"/><Relationship Id="rId133" Type="http://schemas.openxmlformats.org/officeDocument/2006/relationships/slide" Target="slides/slide130.xml"/><Relationship Id="rId132" Type="http://schemas.openxmlformats.org/officeDocument/2006/relationships/slide" Target="slides/slide129.xml"/><Relationship Id="rId131" Type="http://schemas.openxmlformats.org/officeDocument/2006/relationships/slide" Target="slides/slide128.xml"/><Relationship Id="rId130" Type="http://schemas.openxmlformats.org/officeDocument/2006/relationships/slide" Target="slides/slide127.xml"/><Relationship Id="rId13" Type="http://schemas.openxmlformats.org/officeDocument/2006/relationships/slide" Target="slides/slide10.xml"/><Relationship Id="rId129" Type="http://schemas.openxmlformats.org/officeDocument/2006/relationships/slide" Target="slides/slide126.xml"/><Relationship Id="rId128" Type="http://schemas.openxmlformats.org/officeDocument/2006/relationships/slide" Target="slides/slide125.xml"/><Relationship Id="rId127" Type="http://schemas.openxmlformats.org/officeDocument/2006/relationships/slide" Target="slides/slide124.xml"/><Relationship Id="rId126" Type="http://schemas.openxmlformats.org/officeDocument/2006/relationships/slide" Target="slides/slide123.xml"/><Relationship Id="rId125" Type="http://schemas.openxmlformats.org/officeDocument/2006/relationships/slide" Target="slides/slide122.xml"/><Relationship Id="rId124" Type="http://schemas.openxmlformats.org/officeDocument/2006/relationships/slide" Target="slides/slide121.xml"/><Relationship Id="rId123" Type="http://schemas.openxmlformats.org/officeDocument/2006/relationships/slide" Target="slides/slide120.xml"/><Relationship Id="rId122" Type="http://schemas.openxmlformats.org/officeDocument/2006/relationships/slide" Target="slides/slide119.xml"/><Relationship Id="rId121" Type="http://schemas.openxmlformats.org/officeDocument/2006/relationships/slide" Target="slides/slide118.xml"/><Relationship Id="rId120" Type="http://schemas.openxmlformats.org/officeDocument/2006/relationships/slide" Target="slides/slide117.xml"/><Relationship Id="rId12" Type="http://schemas.openxmlformats.org/officeDocument/2006/relationships/slide" Target="slides/slide9.xml"/><Relationship Id="rId119" Type="http://schemas.openxmlformats.org/officeDocument/2006/relationships/slide" Target="slides/slide116.xml"/><Relationship Id="rId118" Type="http://schemas.openxmlformats.org/officeDocument/2006/relationships/slide" Target="slides/slide115.xml"/><Relationship Id="rId117" Type="http://schemas.openxmlformats.org/officeDocument/2006/relationships/slide" Target="slides/slide114.xml"/><Relationship Id="rId116" Type="http://schemas.openxmlformats.org/officeDocument/2006/relationships/slide" Target="slides/slide113.xml"/><Relationship Id="rId115" Type="http://schemas.openxmlformats.org/officeDocument/2006/relationships/slide" Target="slides/slide112.xml"/><Relationship Id="rId114" Type="http://schemas.openxmlformats.org/officeDocument/2006/relationships/slide" Target="slides/slide111.xml"/><Relationship Id="rId113" Type="http://schemas.openxmlformats.org/officeDocument/2006/relationships/slide" Target="slides/slide110.xml"/><Relationship Id="rId112" Type="http://schemas.openxmlformats.org/officeDocument/2006/relationships/slide" Target="slides/slide109.xml"/><Relationship Id="rId111" Type="http://schemas.openxmlformats.org/officeDocument/2006/relationships/slide" Target="slides/slide108.xml"/><Relationship Id="rId110" Type="http://schemas.openxmlformats.org/officeDocument/2006/relationships/slide" Target="slides/slide107.xml"/><Relationship Id="rId11" Type="http://schemas.openxmlformats.org/officeDocument/2006/relationships/slide" Target="slides/slide8.xml"/><Relationship Id="rId109" Type="http://schemas.openxmlformats.org/officeDocument/2006/relationships/slide" Target="slides/slide106.xml"/><Relationship Id="rId108" Type="http://schemas.openxmlformats.org/officeDocument/2006/relationships/slide" Target="slides/slide105.xml"/><Relationship Id="rId107" Type="http://schemas.openxmlformats.org/officeDocument/2006/relationships/slide" Target="slides/slide104.xml"/><Relationship Id="rId106" Type="http://schemas.openxmlformats.org/officeDocument/2006/relationships/slide" Target="slides/slide103.xml"/><Relationship Id="rId105" Type="http://schemas.openxmlformats.org/officeDocument/2006/relationships/slide" Target="slides/slide102.xml"/><Relationship Id="rId104" Type="http://schemas.openxmlformats.org/officeDocument/2006/relationships/slide" Target="slides/slide101.xml"/><Relationship Id="rId103" Type="http://schemas.openxmlformats.org/officeDocument/2006/relationships/slide" Target="slides/slide100.xml"/><Relationship Id="rId102" Type="http://schemas.openxmlformats.org/officeDocument/2006/relationships/slide" Target="slides/slide99.xml"/><Relationship Id="rId101" Type="http://schemas.openxmlformats.org/officeDocument/2006/relationships/slide" Target="slides/slide98.xml"/><Relationship Id="rId100" Type="http://schemas.openxmlformats.org/officeDocument/2006/relationships/slide" Target="slides/slide97.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6" Type="http://schemas.openxmlformats.org/officeDocument/2006/relationships/image" Target="../media/image11.wmf"/><Relationship Id="rId5" Type="http://schemas.openxmlformats.org/officeDocument/2006/relationships/image" Target="../media/image10.wmf"/><Relationship Id="rId4" Type="http://schemas.openxmlformats.org/officeDocument/2006/relationships/image" Target="../media/image9.wmf"/><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image" Target="../media/image17.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33.wmf"/><Relationship Id="rId1" Type="http://schemas.openxmlformats.org/officeDocument/2006/relationships/image" Target="../media/image31.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1.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2.wmf"/></Relationships>
</file>

<file path=ppt/drawings/_rels/vmlDrawing14.vml.rels><?xml version="1.0" encoding="UTF-8" standalone="yes"?>
<Relationships xmlns="http://schemas.openxmlformats.org/package/2006/relationships"><Relationship Id="rId4" Type="http://schemas.openxmlformats.org/officeDocument/2006/relationships/image" Target="../media/image56.wmf"/><Relationship Id="rId3" Type="http://schemas.openxmlformats.org/officeDocument/2006/relationships/image" Target="../media/image55.wmf"/><Relationship Id="rId2" Type="http://schemas.openxmlformats.org/officeDocument/2006/relationships/image" Target="../media/image54.wmf"/><Relationship Id="rId1" Type="http://schemas.openxmlformats.org/officeDocument/2006/relationships/image" Target="../media/image53.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66.wmf"/><Relationship Id="rId7" Type="http://schemas.openxmlformats.org/officeDocument/2006/relationships/image" Target="../media/image65.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8.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72.wmf"/><Relationship Id="rId1" Type="http://schemas.openxmlformats.org/officeDocument/2006/relationships/image" Target="../media/image71.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 Id="rId3" Type="http://schemas.openxmlformats.org/officeDocument/2006/relationships/image" Target="../media/image79.wmf"/><Relationship Id="rId2" Type="http://schemas.openxmlformats.org/officeDocument/2006/relationships/image" Target="../media/image72.wmf"/><Relationship Id="rId1" Type="http://schemas.openxmlformats.org/officeDocument/2006/relationships/image" Target="../media/image71.wmf"/></Relationships>
</file>

<file path=ppt/drawings/_rels/vmlDrawing18.vml.rels><?xml version="1.0" encoding="UTF-8" standalone="yes"?>
<Relationships xmlns="http://schemas.openxmlformats.org/package/2006/relationships"><Relationship Id="rId9" Type="http://schemas.openxmlformats.org/officeDocument/2006/relationships/image" Target="../media/image91.wmf"/><Relationship Id="rId8" Type="http://schemas.openxmlformats.org/officeDocument/2006/relationships/image" Target="../media/image90.wmf"/><Relationship Id="rId7" Type="http://schemas.openxmlformats.org/officeDocument/2006/relationships/image" Target="../media/image89.wmf"/><Relationship Id="rId6" Type="http://schemas.openxmlformats.org/officeDocument/2006/relationships/image" Target="../media/image88.wmf"/><Relationship Id="rId5" Type="http://schemas.openxmlformats.org/officeDocument/2006/relationships/image" Target="../media/image87.wmf"/><Relationship Id="rId4" Type="http://schemas.openxmlformats.org/officeDocument/2006/relationships/image" Target="../media/image86.wmf"/><Relationship Id="rId3" Type="http://schemas.openxmlformats.org/officeDocument/2006/relationships/image" Target="../media/image85.wmf"/><Relationship Id="rId2" Type="http://schemas.openxmlformats.org/officeDocument/2006/relationships/image" Target="../media/image84.wmf"/><Relationship Id="rId11" Type="http://schemas.openxmlformats.org/officeDocument/2006/relationships/image" Target="../media/image93.emf"/><Relationship Id="rId10" Type="http://schemas.openxmlformats.org/officeDocument/2006/relationships/image" Target="../media/image92.emf"/><Relationship Id="rId1" Type="http://schemas.openxmlformats.org/officeDocument/2006/relationships/image" Target="../media/image83.wmf"/></Relationships>
</file>

<file path=ppt/drawings/_rels/vmlDrawing19.vml.rels><?xml version="1.0" encoding="UTF-8" standalone="yes"?>
<Relationships xmlns="http://schemas.openxmlformats.org/package/2006/relationships"><Relationship Id="rId9" Type="http://schemas.openxmlformats.org/officeDocument/2006/relationships/image" Target="../media/image105.emf"/><Relationship Id="rId8" Type="http://schemas.openxmlformats.org/officeDocument/2006/relationships/image" Target="../media/image104.wmf"/><Relationship Id="rId7" Type="http://schemas.openxmlformats.org/officeDocument/2006/relationships/image" Target="../media/image103.emf"/><Relationship Id="rId6" Type="http://schemas.openxmlformats.org/officeDocument/2006/relationships/image" Target="../media/image101.emf"/><Relationship Id="rId5" Type="http://schemas.openxmlformats.org/officeDocument/2006/relationships/image" Target="../media/image100.emf"/><Relationship Id="rId4" Type="http://schemas.openxmlformats.org/officeDocument/2006/relationships/image" Target="../media/image99.emf"/><Relationship Id="rId3" Type="http://schemas.openxmlformats.org/officeDocument/2006/relationships/image" Target="../media/image98.emf"/><Relationship Id="rId2" Type="http://schemas.openxmlformats.org/officeDocument/2006/relationships/image" Target="../media/image97.emf"/><Relationship Id="rId13" Type="http://schemas.openxmlformats.org/officeDocument/2006/relationships/image" Target="../media/image109.emf"/><Relationship Id="rId12" Type="http://schemas.openxmlformats.org/officeDocument/2006/relationships/image" Target="../media/image108.emf"/><Relationship Id="rId11" Type="http://schemas.openxmlformats.org/officeDocument/2006/relationships/image" Target="../media/image107.emf"/><Relationship Id="rId10" Type="http://schemas.openxmlformats.org/officeDocument/2006/relationships/image" Target="../media/image106.emf"/><Relationship Id="rId1" Type="http://schemas.openxmlformats.org/officeDocument/2006/relationships/image" Target="../media/image96.e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129.emf"/><Relationship Id="rId3" Type="http://schemas.openxmlformats.org/officeDocument/2006/relationships/image" Target="../media/image128.emf"/><Relationship Id="rId2" Type="http://schemas.openxmlformats.org/officeDocument/2006/relationships/image" Target="../media/image127.emf"/><Relationship Id="rId1" Type="http://schemas.openxmlformats.org/officeDocument/2006/relationships/image" Target="../media/image126.emf"/></Relationships>
</file>

<file path=ppt/drawings/_rels/vmlDrawing21.vml.rels><?xml version="1.0" encoding="UTF-8" standalone="yes"?>
<Relationships xmlns="http://schemas.openxmlformats.org/package/2006/relationships"><Relationship Id="rId4" Type="http://schemas.openxmlformats.org/officeDocument/2006/relationships/image" Target="../media/image135.emf"/><Relationship Id="rId3" Type="http://schemas.openxmlformats.org/officeDocument/2006/relationships/image" Target="../media/image134.emf"/><Relationship Id="rId2" Type="http://schemas.openxmlformats.org/officeDocument/2006/relationships/image" Target="../media/image132.emf"/><Relationship Id="rId1" Type="http://schemas.openxmlformats.org/officeDocument/2006/relationships/image" Target="../media/image131.e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47.emf"/><Relationship Id="rId7" Type="http://schemas.openxmlformats.org/officeDocument/2006/relationships/image" Target="../media/image146.emf"/><Relationship Id="rId6" Type="http://schemas.openxmlformats.org/officeDocument/2006/relationships/image" Target="../media/image145.emf"/><Relationship Id="rId5" Type="http://schemas.openxmlformats.org/officeDocument/2006/relationships/image" Target="../media/image144.emf"/><Relationship Id="rId4" Type="http://schemas.openxmlformats.org/officeDocument/2006/relationships/image" Target="../media/image143.emf"/><Relationship Id="rId3" Type="http://schemas.openxmlformats.org/officeDocument/2006/relationships/image" Target="../media/image142.emf"/><Relationship Id="rId2" Type="http://schemas.openxmlformats.org/officeDocument/2006/relationships/image" Target="../media/image141.emf"/><Relationship Id="rId1" Type="http://schemas.openxmlformats.org/officeDocument/2006/relationships/image" Target="../media/image140.e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156.emf"/><Relationship Id="rId8" Type="http://schemas.openxmlformats.org/officeDocument/2006/relationships/image" Target="../media/image155.emf"/><Relationship Id="rId7" Type="http://schemas.openxmlformats.org/officeDocument/2006/relationships/image" Target="../media/image154.emf"/><Relationship Id="rId6" Type="http://schemas.openxmlformats.org/officeDocument/2006/relationships/image" Target="../media/image153.emf"/><Relationship Id="rId5" Type="http://schemas.openxmlformats.org/officeDocument/2006/relationships/image" Target="../media/image152.emf"/><Relationship Id="rId4" Type="http://schemas.openxmlformats.org/officeDocument/2006/relationships/image" Target="../media/image151.emf"/><Relationship Id="rId3" Type="http://schemas.openxmlformats.org/officeDocument/2006/relationships/image" Target="../media/image150.emf"/><Relationship Id="rId2" Type="http://schemas.openxmlformats.org/officeDocument/2006/relationships/image" Target="../media/image149.emf"/><Relationship Id="rId14" Type="http://schemas.openxmlformats.org/officeDocument/2006/relationships/image" Target="../media/image161.emf"/><Relationship Id="rId13" Type="http://schemas.openxmlformats.org/officeDocument/2006/relationships/image" Target="../media/image160.emf"/><Relationship Id="rId12" Type="http://schemas.openxmlformats.org/officeDocument/2006/relationships/image" Target="../media/image159.emf"/><Relationship Id="rId11" Type="http://schemas.openxmlformats.org/officeDocument/2006/relationships/image" Target="../media/image158.emf"/><Relationship Id="rId10" Type="http://schemas.openxmlformats.org/officeDocument/2006/relationships/image" Target="../media/image157.emf"/><Relationship Id="rId1" Type="http://schemas.openxmlformats.org/officeDocument/2006/relationships/image" Target="../media/image148.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43.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6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68.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9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96.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98.emf"/><Relationship Id="rId1" Type="http://schemas.openxmlformats.org/officeDocument/2006/relationships/image" Target="../media/image197.e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198.emf"/><Relationship Id="rId1" Type="http://schemas.openxmlformats.org/officeDocument/2006/relationships/image" Target="../media/image197.e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66.wmf"/><Relationship Id="rId7" Type="http://schemas.openxmlformats.org/officeDocument/2006/relationships/image" Target="../media/image65.wmf"/><Relationship Id="rId6" Type="http://schemas.openxmlformats.org/officeDocument/2006/relationships/image" Target="../media/image64.wmf"/><Relationship Id="rId5" Type="http://schemas.openxmlformats.org/officeDocument/2006/relationships/image" Target="../media/image63.wmf"/><Relationship Id="rId4" Type="http://schemas.openxmlformats.org/officeDocument/2006/relationships/image" Target="../media/image62.wmf"/><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8.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08.emf"/><Relationship Id="rId2" Type="http://schemas.openxmlformats.org/officeDocument/2006/relationships/image" Target="../media/image206.emf"/><Relationship Id="rId1" Type="http://schemas.openxmlformats.org/officeDocument/2006/relationships/image" Target="../media/image205.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21.emf"/></Relationships>
</file>

<file path=ppt/drawings/_rels/vmlDrawing34.vml.rels><?xml version="1.0" encoding="UTF-8" standalone="yes"?>
<Relationships xmlns="http://schemas.openxmlformats.org/package/2006/relationships"><Relationship Id="rId4" Type="http://schemas.openxmlformats.org/officeDocument/2006/relationships/image" Target="../media/image230.emf"/><Relationship Id="rId3" Type="http://schemas.openxmlformats.org/officeDocument/2006/relationships/image" Target="../media/image227.emf"/><Relationship Id="rId2" Type="http://schemas.openxmlformats.org/officeDocument/2006/relationships/image" Target="../media/image226.emf"/><Relationship Id="rId1" Type="http://schemas.openxmlformats.org/officeDocument/2006/relationships/image" Target="../media/image22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7AF0FED-17ED-F141-AA72-5E00DC8D6F33}"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76C7F5C-9C2A-7147-BFA3-4F07D0DF7757}"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7" name="Shape 137"/>
          <p:cNvSpPr>
            <a:spLocks noGrp="1" noRot="1" noChangeAspect="1"/>
          </p:cNvSpPr>
          <p:nvPr>
            <p:ph type="sldImg"/>
          </p:nvPr>
        </p:nvSpPr>
        <p:spPr>
          <a:xfrm>
            <a:off x="1143000" y="685800"/>
            <a:ext cx="4572000" cy="3429000"/>
          </a:xfrm>
          <a:prstGeom prst="rect">
            <a:avLst/>
          </a:prstGeom>
        </p:spPr>
        <p:txBody>
          <a:bodyPr/>
          <a:lstStyle/>
          <a:p/>
        </p:txBody>
      </p:sp>
      <p:sp>
        <p:nvSpPr>
          <p:cNvPr id="138" name="Shape 138"/>
          <p:cNvSpPr>
            <a:spLocks noGrp="1"/>
          </p:cNvSpPr>
          <p:nvPr>
            <p:ph type="body" sz="quarter" idx="1"/>
          </p:nvPr>
        </p:nvSpPr>
        <p:spPr>
          <a:xfrm>
            <a:off x="914400" y="4343400"/>
            <a:ext cx="5029200" cy="4114800"/>
          </a:xfrm>
          <a:prstGeom prst="rect">
            <a:avLst/>
          </a:prstGeom>
        </p:spPr>
        <p:txBody>
          <a:bodyPr/>
          <a:lstStyle/>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panose="020F0502020204030204"/>
      </a:defRPr>
    </a:lvl1pPr>
    <a:lvl2pPr indent="228600" latinLnBrk="0">
      <a:defRPr sz="1200">
        <a:latin typeface="+mn-lt"/>
        <a:ea typeface="+mn-ea"/>
        <a:cs typeface="+mn-cs"/>
        <a:sym typeface="Calibri" panose="020F0502020204030204"/>
      </a:defRPr>
    </a:lvl2pPr>
    <a:lvl3pPr indent="457200" latinLnBrk="0">
      <a:defRPr sz="1200">
        <a:latin typeface="+mn-lt"/>
        <a:ea typeface="+mn-ea"/>
        <a:cs typeface="+mn-cs"/>
        <a:sym typeface="Calibri" panose="020F0502020204030204"/>
      </a:defRPr>
    </a:lvl3pPr>
    <a:lvl4pPr indent="685800" latinLnBrk="0">
      <a:defRPr sz="1200">
        <a:latin typeface="+mn-lt"/>
        <a:ea typeface="+mn-ea"/>
        <a:cs typeface="+mn-cs"/>
        <a:sym typeface="Calibri" panose="020F0502020204030204"/>
      </a:defRPr>
    </a:lvl4pPr>
    <a:lvl5pPr indent="914400" latinLnBrk="0">
      <a:defRPr sz="1200">
        <a:latin typeface="+mn-lt"/>
        <a:ea typeface="+mn-ea"/>
        <a:cs typeface="+mn-cs"/>
        <a:sym typeface="Calibri" panose="020F0502020204030204"/>
      </a:defRPr>
    </a:lvl5pPr>
    <a:lvl6pPr indent="1143000" latinLnBrk="0">
      <a:defRPr sz="1200">
        <a:latin typeface="+mn-lt"/>
        <a:ea typeface="+mn-ea"/>
        <a:cs typeface="+mn-cs"/>
        <a:sym typeface="Calibri" panose="020F0502020204030204"/>
      </a:defRPr>
    </a:lvl6pPr>
    <a:lvl7pPr indent="1371600" latinLnBrk="0">
      <a:defRPr sz="1200">
        <a:latin typeface="+mn-lt"/>
        <a:ea typeface="+mn-ea"/>
        <a:cs typeface="+mn-cs"/>
        <a:sym typeface="Calibri" panose="020F0502020204030204"/>
      </a:defRPr>
    </a:lvl7pPr>
    <a:lvl8pPr indent="1600200" latinLnBrk="0">
      <a:defRPr sz="1200">
        <a:latin typeface="+mn-lt"/>
        <a:ea typeface="+mn-ea"/>
        <a:cs typeface="+mn-cs"/>
        <a:sym typeface="Calibri" panose="020F0502020204030204"/>
      </a:defRPr>
    </a:lvl8pPr>
    <a:lvl9pPr indent="1828800" latinLnBrk="0">
      <a:defRPr sz="1200">
        <a:latin typeface="+mn-lt"/>
        <a:ea typeface="+mn-ea"/>
        <a:cs typeface="+mn-cs"/>
        <a:sym typeface="Calibri" panose="020F050202020403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kumimoji="1"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rPr>
              <a:t>https://acn3t8qa5wm4.feishu.cn/wiki/NUZEwrOsQiRo9YkW3emcIY7PnIc?from=from_copylink</a:t>
            </a:r>
            <a:endParaRPr kumimoji="0" lang="zh-CN" altLang="en-US" sz="12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11" name="标题文本"/>
          <p:cNvSpPr txBox="1">
            <a:spLocks noGrp="1"/>
          </p:cNvSpPr>
          <p:nvPr>
            <p:ph type="title"/>
          </p:nvPr>
        </p:nvSpPr>
        <p:spPr>
          <a:xfrm>
            <a:off x="1524000" y="1122362"/>
            <a:ext cx="9144000" cy="2387601"/>
          </a:xfrm>
          <a:prstGeom prst="rect">
            <a:avLst/>
          </a:prstGeom>
        </p:spPr>
        <p:txBody>
          <a:bodyPr anchor="b"/>
          <a:lstStyle>
            <a:lvl1pPr algn="ctr">
              <a:defRPr sz="6000"/>
            </a:lvl1pPr>
          </a:lstStyle>
          <a:p>
            <a:r>
              <a:rPr lang="zh-CN" altLang="en-US"/>
              <a:t>单击此处编辑母版标题样式</a:t>
            </a:r>
            <a:endParaRPr lang="zh-CN" altLang="en-US"/>
          </a:p>
        </p:txBody>
      </p:sp>
      <p:sp>
        <p:nvSpPr>
          <p:cNvPr id="12" name="正文级别 1…"/>
          <p:cNvSpPr txBox="1">
            <a:spLocks noGrp="1"/>
          </p:cNvSpPr>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3"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标题和内容">
    <p:spTree>
      <p:nvGrpSpPr>
        <p:cNvPr id="1" name=""/>
        <p:cNvGrpSpPr/>
        <p:nvPr/>
      </p:nvGrpSpPr>
      <p:grpSpPr>
        <a:xfrm>
          <a:off x="0" y="0"/>
          <a:ext cx="0" cy="0"/>
          <a:chOff x="0" y="0"/>
          <a:chExt cx="0" cy="0"/>
        </a:xfrm>
      </p:grpSpPr>
      <p:sp>
        <p:nvSpPr>
          <p:cNvPr id="20" name="标题文本"/>
          <p:cNvSpPr txBox="1">
            <a:spLocks noGrp="1"/>
          </p:cNvSpPr>
          <p:nvPr>
            <p:ph type="title"/>
          </p:nvPr>
        </p:nvSpPr>
        <p:spPr>
          <a:prstGeom prst="rect">
            <a:avLst/>
          </a:prstGeom>
        </p:spPr>
        <p:txBody>
          <a:bodyPr/>
          <a:lstStyle/>
          <a:p>
            <a:r>
              <a:rPr lang="zh-CN" altLang="en-US"/>
              <a:t>单击此处编辑母版标题样式</a:t>
            </a:r>
            <a:endParaRPr lang="zh-CN" altLang="en-US"/>
          </a:p>
        </p:txBody>
      </p:sp>
      <p:sp>
        <p:nvSpPr>
          <p:cNvPr id="21" name="正文级别 1…"/>
          <p:cNvSpPr txBox="1">
            <a:spLocks noGrp="1"/>
          </p:cNvSpPr>
          <p:nvPr>
            <p:ph type="body" idx="1"/>
          </p:nvPr>
        </p:nvSpPr>
        <p:spPr>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dirty="0"/>
          </a:p>
        </p:txBody>
      </p:sp>
      <p:sp>
        <p:nvSpPr>
          <p:cNvPr id="22"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节标题">
    <p:spTree>
      <p:nvGrpSpPr>
        <p:cNvPr id="1" name=""/>
        <p:cNvGrpSpPr/>
        <p:nvPr/>
      </p:nvGrpSpPr>
      <p:grpSpPr>
        <a:xfrm>
          <a:off x="0" y="0"/>
          <a:ext cx="0" cy="0"/>
          <a:chOff x="0" y="0"/>
          <a:chExt cx="0" cy="0"/>
        </a:xfrm>
      </p:grpSpPr>
      <p:sp>
        <p:nvSpPr>
          <p:cNvPr id="29" name="标题文本"/>
          <p:cNvSpPr txBox="1">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zh-CN" altLang="en-US"/>
          </a:p>
        </p:txBody>
      </p:sp>
      <p:sp>
        <p:nvSpPr>
          <p:cNvPr id="30" name="正文级别 1…"/>
          <p:cNvSpPr txBox="1">
            <a:spLocks noGrp="1"/>
          </p:cNvSpPr>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31"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两栏内容">
    <p:spTree>
      <p:nvGrpSpPr>
        <p:cNvPr id="1" name=""/>
        <p:cNvGrpSpPr/>
        <p:nvPr/>
      </p:nvGrpSpPr>
      <p:grpSpPr>
        <a:xfrm>
          <a:off x="0" y="0"/>
          <a:ext cx="0" cy="0"/>
          <a:chOff x="0" y="0"/>
          <a:chExt cx="0" cy="0"/>
        </a:xfrm>
      </p:grpSpPr>
      <p:sp>
        <p:nvSpPr>
          <p:cNvPr id="38" name="标题文本"/>
          <p:cNvSpPr txBox="1">
            <a:spLocks noGrp="1"/>
          </p:cNvSpPr>
          <p:nvPr>
            <p:ph type="title"/>
          </p:nvPr>
        </p:nvSpPr>
        <p:spPr>
          <a:prstGeom prst="rect">
            <a:avLst/>
          </a:prstGeom>
        </p:spPr>
        <p:txBody>
          <a:bodyPr/>
          <a:lstStyle/>
          <a:p>
            <a:r>
              <a:rPr lang="zh-CN" altLang="en-US"/>
              <a:t>单击此处编辑母版标题样式</a:t>
            </a:r>
            <a:endParaRPr lang="zh-CN" altLang="en-US"/>
          </a:p>
        </p:txBody>
      </p:sp>
      <p:sp>
        <p:nvSpPr>
          <p:cNvPr id="39" name="正文级别 1…"/>
          <p:cNvSpPr txBox="1">
            <a:spLocks noGrp="1"/>
          </p:cNvSpPr>
          <p:nvPr>
            <p:ph type="body" sz="half" idx="1"/>
          </p:nvPr>
        </p:nvSpPr>
        <p:spPr>
          <a:xfrm>
            <a:off x="838200" y="1825625"/>
            <a:ext cx="5181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dirty="0"/>
          </a:p>
        </p:txBody>
      </p:sp>
      <p:sp>
        <p:nvSpPr>
          <p:cNvPr id="40"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仅标题">
    <p:spTree>
      <p:nvGrpSpPr>
        <p:cNvPr id="1" name=""/>
        <p:cNvGrpSpPr/>
        <p:nvPr/>
      </p:nvGrpSpPr>
      <p:grpSpPr>
        <a:xfrm>
          <a:off x="0" y="0"/>
          <a:ext cx="0" cy="0"/>
          <a:chOff x="0" y="0"/>
          <a:chExt cx="0" cy="0"/>
        </a:xfrm>
      </p:grpSpPr>
      <p:sp>
        <p:nvSpPr>
          <p:cNvPr id="57" name="标题文本"/>
          <p:cNvSpPr txBox="1">
            <a:spLocks noGrp="1"/>
          </p:cNvSpPr>
          <p:nvPr>
            <p:ph type="title" hasCustomPrompt="1"/>
          </p:nvPr>
        </p:nvSpPr>
        <p:spPr>
          <a:prstGeom prst="rect">
            <a:avLst/>
          </a:prstGeom>
        </p:spPr>
        <p:txBody>
          <a:bodyPr/>
          <a:lstStyle/>
          <a:p>
            <a:r>
              <a:rPr lang="en-US" dirty="0"/>
              <a:t>English Version</a:t>
            </a:r>
            <a:endParaRPr dirty="0"/>
          </a:p>
        </p:txBody>
      </p:sp>
      <p:sp>
        <p:nvSpPr>
          <p:cNvPr id="5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pic>
        <p:nvPicPr>
          <p:cNvPr id="2" name="图片 1" descr="计算机楼——西门（蓝色）=="/>
          <p:cNvPicPr>
            <a:picLocks noChangeAspect="1"/>
          </p:cNvPicPr>
          <p:nvPr userDrawn="1"/>
        </p:nvPicPr>
        <p:blipFill>
          <a:blip r:embed="rId2"/>
          <a:srcRect l="1146" b="9039"/>
          <a:stretch>
            <a:fillRect/>
          </a:stretch>
        </p:blipFill>
        <p:spPr>
          <a:xfrm>
            <a:off x="-8255" y="3851910"/>
            <a:ext cx="12200255" cy="3006090"/>
          </a:xfrm>
          <a:prstGeom prst="rect">
            <a:avLst/>
          </a:prstGeom>
        </p:spPr>
      </p:pic>
      <p:pic>
        <p:nvPicPr>
          <p:cNvPr id="4" name="图片 3"/>
          <p:cNvPicPr>
            <a:picLocks noChangeAspect="1"/>
          </p:cNvPicPr>
          <p:nvPr userDrawn="1"/>
        </p:nvPicPr>
        <p:blipFill>
          <a:blip r:embed="rId3"/>
          <a:stretch>
            <a:fillRect/>
          </a:stretch>
        </p:blipFill>
        <p:spPr>
          <a:xfrm>
            <a:off x="10074556" y="180658"/>
            <a:ext cx="2117444" cy="1419516"/>
          </a:xfrm>
          <a:prstGeom prst="rect">
            <a:avLst/>
          </a:prstGeom>
        </p:spPr>
      </p:pic>
      <p:sp>
        <p:nvSpPr>
          <p:cNvPr id="5" name="正文级别 1…"/>
          <p:cNvSpPr txBox="1">
            <a:spLocks noGrp="1"/>
          </p:cNvSpPr>
          <p:nvPr>
            <p:ph type="body" idx="1"/>
          </p:nvPr>
        </p:nvSpPr>
        <p:spPr>
          <a:xfrm>
            <a:off x="834072" y="1868487"/>
            <a:ext cx="11140214"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58"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pic>
        <p:nvPicPr>
          <p:cNvPr id="2" name="图片 1" descr="计算机楼——西门（蓝色）=="/>
          <p:cNvPicPr>
            <a:picLocks noChangeAspect="1"/>
          </p:cNvPicPr>
          <p:nvPr userDrawn="1"/>
        </p:nvPicPr>
        <p:blipFill>
          <a:blip r:embed="rId2"/>
          <a:srcRect l="1146" b="9039"/>
          <a:stretch>
            <a:fillRect/>
          </a:stretch>
        </p:blipFill>
        <p:spPr>
          <a:xfrm>
            <a:off x="-8255" y="3851910"/>
            <a:ext cx="12200255" cy="3006090"/>
          </a:xfrm>
          <a:prstGeom prst="rect">
            <a:avLst/>
          </a:prstGeom>
        </p:spPr>
      </p:pic>
      <p:sp>
        <p:nvSpPr>
          <p:cNvPr id="3" name="矩形 6"/>
          <p:cNvSpPr/>
          <p:nvPr userDrawn="1"/>
        </p:nvSpPr>
        <p:spPr>
          <a:xfrm>
            <a:off x="0" y="0"/>
            <a:ext cx="12192000" cy="1081825"/>
          </a:xfrm>
          <a:prstGeom prst="rect">
            <a:avLst/>
          </a:prstGeom>
          <a:solidFill>
            <a:schemeClr val="accent1"/>
          </a:solidFill>
          <a:ln w="12700">
            <a:miter lim="400000"/>
          </a:ln>
        </p:spPr>
        <p:txBody>
          <a:bodyPr lIns="0" tIns="0" rIns="0" bIns="0" anchor="ctr"/>
          <a:lstStyle/>
          <a:p>
            <a:pPr algn="ctr">
              <a:defRPr>
                <a:solidFill>
                  <a:srgbClr val="FFFFFF"/>
                </a:solidFill>
              </a:defRPr>
            </a:pPr>
          </a:p>
        </p:txBody>
      </p:sp>
      <p:sp>
        <p:nvSpPr>
          <p:cNvPr id="5" name="矩形 9"/>
          <p:cNvSpPr/>
          <p:nvPr userDrawn="1"/>
        </p:nvSpPr>
        <p:spPr>
          <a:xfrm>
            <a:off x="0" y="6580089"/>
            <a:ext cx="12192000" cy="277911"/>
          </a:xfrm>
          <a:prstGeom prst="rect">
            <a:avLst/>
          </a:prstGeom>
          <a:solidFill>
            <a:schemeClr val="accent1"/>
          </a:solidFill>
          <a:ln w="12700">
            <a:solidFill>
              <a:srgbClr val="033D70"/>
            </a:solidFill>
            <a:miter/>
          </a:ln>
        </p:spPr>
        <p:txBody>
          <a:bodyPr lIns="0" tIns="0" rIns="0" bIns="0" anchor="ctr"/>
          <a:lstStyle/>
          <a:p>
            <a:pPr algn="ctr">
              <a:defRPr>
                <a:solidFill>
                  <a:srgbClr val="FFFFFF"/>
                </a:solidFill>
              </a:defRPr>
            </a:pPr>
          </a:p>
        </p:txBody>
      </p:sp>
      <p:pic>
        <p:nvPicPr>
          <p:cNvPr id="6" name="图片 2" descr="图片 2"/>
          <p:cNvPicPr>
            <a:picLocks noChangeAspect="1"/>
          </p:cNvPicPr>
          <p:nvPr userDrawn="1"/>
        </p:nvPicPr>
        <p:blipFill>
          <a:blip r:embed="rId3"/>
          <a:stretch>
            <a:fillRect/>
          </a:stretch>
        </p:blipFill>
        <p:spPr>
          <a:xfrm>
            <a:off x="7252334" y="261620"/>
            <a:ext cx="4593591" cy="661670"/>
          </a:xfrm>
          <a:prstGeom prst="rect">
            <a:avLst/>
          </a:prstGeom>
          <a:ln w="12700">
            <a:miter lim="400000"/>
            <a:headEnd/>
            <a:tailEnd/>
          </a:ln>
        </p:spPr>
      </p:pic>
      <p:sp>
        <p:nvSpPr>
          <p:cNvPr id="7" name="标题文本"/>
          <p:cNvSpPr txBox="1">
            <a:spLocks noGrp="1"/>
          </p:cNvSpPr>
          <p:nvPr>
            <p:ph type="title"/>
          </p:nvPr>
        </p:nvSpPr>
        <p:spPr>
          <a:xfrm>
            <a:off x="199572" y="0"/>
            <a:ext cx="10515600" cy="1325563"/>
          </a:xfrm>
          <a:prstGeom prst="rect">
            <a:avLst/>
          </a:prstGeom>
        </p:spPr>
        <p:txBody>
          <a:bodyPr/>
          <a:lstStyle>
            <a:lvl1pPr>
              <a:defRPr>
                <a:solidFill>
                  <a:schemeClr val="bg1"/>
                </a:solidFill>
              </a:defRPr>
            </a:lvl1pPr>
          </a:lstStyle>
          <a:p>
            <a:r>
              <a:rPr lang="zh-CN" altLang="en-US"/>
              <a:t>单击此处编辑母版标题样式</a:t>
            </a:r>
            <a:endParaRPr dirty="0"/>
          </a:p>
        </p:txBody>
      </p:sp>
      <p:sp>
        <p:nvSpPr>
          <p:cNvPr id="8" name="正文级别 1…"/>
          <p:cNvSpPr txBox="1">
            <a:spLocks noGrp="1"/>
          </p:cNvSpPr>
          <p:nvPr>
            <p:ph type="body" idx="1"/>
          </p:nvPr>
        </p:nvSpPr>
        <p:spPr>
          <a:xfrm>
            <a:off x="199571" y="1587183"/>
            <a:ext cx="11646353"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dirty="0"/>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内容与标题">
    <p:spTree>
      <p:nvGrpSpPr>
        <p:cNvPr id="1" name=""/>
        <p:cNvGrpSpPr/>
        <p:nvPr/>
      </p:nvGrpSpPr>
      <p:grpSpPr>
        <a:xfrm>
          <a:off x="0" y="0"/>
          <a:ext cx="0" cy="0"/>
          <a:chOff x="0" y="0"/>
          <a:chExt cx="0" cy="0"/>
        </a:xfrm>
      </p:grpSpPr>
      <p:sp>
        <p:nvSpPr>
          <p:cNvPr id="72" name="标题文本"/>
          <p:cNvSpPr txBox="1">
            <a:spLocks noGrp="1"/>
          </p:cNvSpPr>
          <p:nvPr>
            <p:ph type="title"/>
          </p:nvPr>
        </p:nvSpPr>
        <p:spPr>
          <a:xfrm>
            <a:off x="839787" y="457200"/>
            <a:ext cx="3932239"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73" name="正文级别 1…"/>
          <p:cNvSpPr txBox="1">
            <a:spLocks noGrp="1"/>
          </p:cNvSpPr>
          <p:nvPr>
            <p:ph type="body" sz="half" idx="1"/>
          </p:nvPr>
        </p:nvSpPr>
        <p:spPr>
          <a:xfrm>
            <a:off x="5183187" y="987425"/>
            <a:ext cx="6172201" cy="4873625"/>
          </a:xfrm>
          <a:prstGeom prst="rect">
            <a:avLst/>
          </a:prstGeom>
        </p:spPr>
        <p:txBody>
          <a:bodyPr/>
          <a:lstStyle>
            <a:lvl1pPr>
              <a:defRPr sz="3200"/>
            </a:lvl1pPr>
            <a:lvl2pPr marL="718185" indent="-260985">
              <a:defRPr sz="3200"/>
            </a:lvl2pPr>
            <a:lvl3pPr marL="1219200" indent="-304800">
              <a:defRPr sz="3200"/>
            </a:lvl3pPr>
            <a:lvl4pPr marL="1737360" indent="-365760">
              <a:defRPr sz="3200"/>
            </a:lvl4pPr>
            <a:lvl5pPr marL="2194560" indent="-365760">
              <a:defRPr sz="32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4" name="文本占位符 3"/>
          <p:cNvSpPr>
            <a:spLocks noGrp="1"/>
          </p:cNvSpPr>
          <p:nvPr>
            <p:ph type="body" sz="quarter" idx="21"/>
          </p:nvPr>
        </p:nvSpPr>
        <p:spPr>
          <a:xfrm>
            <a:off x="839787" y="2057400"/>
            <a:ext cx="3932238" cy="3811588"/>
          </a:xfrm>
          <a:prstGeom prst="rect">
            <a:avLst/>
          </a:prstGeom>
        </p:spPr>
        <p:txBody>
          <a:bodyPr/>
          <a:lstStyle/>
          <a:p>
            <a:pPr marL="0" lvl="0" indent="0">
              <a:buSzTx/>
              <a:buFontTx/>
              <a:buNone/>
              <a:defRPr sz="1600"/>
            </a:pPr>
            <a:r>
              <a:rPr lang="zh-CN" altLang="en-US"/>
              <a:t>单击此处编辑母版文本样式</a:t>
            </a:r>
            <a:endParaRPr lang="zh-CN" altLang="en-US"/>
          </a:p>
        </p:txBody>
      </p:sp>
      <p:sp>
        <p:nvSpPr>
          <p:cNvPr id="7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图片与标题">
    <p:spTree>
      <p:nvGrpSpPr>
        <p:cNvPr id="1" name=""/>
        <p:cNvGrpSpPr/>
        <p:nvPr/>
      </p:nvGrpSpPr>
      <p:grpSpPr>
        <a:xfrm>
          <a:off x="0" y="0"/>
          <a:ext cx="0" cy="0"/>
          <a:chOff x="0" y="0"/>
          <a:chExt cx="0" cy="0"/>
        </a:xfrm>
      </p:grpSpPr>
      <p:sp>
        <p:nvSpPr>
          <p:cNvPr id="82" name="标题文本"/>
          <p:cNvSpPr txBox="1">
            <a:spLocks noGrp="1"/>
          </p:cNvSpPr>
          <p:nvPr>
            <p:ph type="title"/>
          </p:nvPr>
        </p:nvSpPr>
        <p:spPr>
          <a:xfrm>
            <a:off x="839787" y="457200"/>
            <a:ext cx="3932239" cy="1600200"/>
          </a:xfrm>
          <a:prstGeom prst="rect">
            <a:avLst/>
          </a:prstGeom>
        </p:spPr>
        <p:txBody>
          <a:bodyPr anchor="b"/>
          <a:lstStyle>
            <a:lvl1pPr>
              <a:defRPr sz="3200"/>
            </a:lvl1pPr>
          </a:lstStyle>
          <a:p>
            <a:r>
              <a:rPr lang="zh-CN" altLang="en-US"/>
              <a:t>单击此处编辑母版标题样式</a:t>
            </a:r>
            <a:endParaRPr lang="zh-CN" altLang="en-US"/>
          </a:p>
        </p:txBody>
      </p:sp>
      <p:sp>
        <p:nvSpPr>
          <p:cNvPr id="83" name="图片占位符 2"/>
          <p:cNvSpPr>
            <a:spLocks noGrp="1"/>
          </p:cNvSpPr>
          <p:nvPr>
            <p:ph type="pic" sz="half" idx="21"/>
          </p:nvPr>
        </p:nvSpPr>
        <p:spPr>
          <a:xfrm>
            <a:off x="5183187" y="987425"/>
            <a:ext cx="6172201" cy="4873625"/>
          </a:xfrm>
          <a:prstGeom prst="rect">
            <a:avLst/>
          </a:prstGeom>
        </p:spPr>
        <p:txBody>
          <a:bodyPr lIns="91439" rIns="91439">
            <a:noAutofit/>
          </a:bodyPr>
          <a:lstStyle/>
          <a:p>
            <a:r>
              <a:rPr lang="zh-CN" altLang="en-US"/>
              <a:t>单击图标添加图片</a:t>
            </a:r>
            <a:endParaRPr lang="zh-CN" altLang="en-US"/>
          </a:p>
        </p:txBody>
      </p:sp>
      <p:sp>
        <p:nvSpPr>
          <p:cNvPr id="84" name="正文级别 1…"/>
          <p:cNvSpPr txBox="1">
            <a:spLocks noGrp="1"/>
          </p:cNvSpPr>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85" name="幻灯片编号"/>
          <p:cNvSpPr txBox="1">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fld id="{86CB4B4D-7CA3-9044-876B-883B54F8677D}" type="slidenum">
              <a:rPr/>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0"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文本"/>
          <p:cNvSpPr txBox="1">
            <a:spLocks noGrp="1"/>
          </p:cNvSpPr>
          <p:nvPr>
            <p:ph type="title"/>
          </p:nvPr>
        </p:nvSpPr>
        <p:spPr>
          <a:xfrm>
            <a:off x="838200" y="365125"/>
            <a:ext cx="10515600" cy="1325563"/>
          </a:xfrm>
          <a:prstGeom prst="rect">
            <a:avLst/>
          </a:prstGeom>
          <a:ln w="12700">
            <a:miter lim="400000"/>
          </a:ln>
        </p:spPr>
        <p:txBody>
          <a:bodyPr lIns="45719" rIns="45719" anchor="ctr">
            <a:normAutofit/>
          </a:bodyPr>
          <a:lstStyle/>
          <a:p>
            <a:r>
              <a:rPr dirty="0" err="1"/>
              <a:t>标题文本</a:t>
            </a:r>
            <a:endParaRPr dirty="0"/>
          </a:p>
        </p:txBody>
      </p:sp>
      <p:sp>
        <p:nvSpPr>
          <p:cNvPr id="3" name="正文级别 1…"/>
          <p:cNvSpPr txBox="1">
            <a:spLocks noGrp="1"/>
          </p:cNvSpPr>
          <p:nvPr>
            <p:ph type="body" idx="1"/>
          </p:nvPr>
        </p:nvSpPr>
        <p:spPr>
          <a:xfrm>
            <a:off x="838200" y="1825625"/>
            <a:ext cx="10515600" cy="4351338"/>
          </a:xfrm>
          <a:prstGeom prst="rect">
            <a:avLst/>
          </a:prstGeom>
          <a:ln w="12700">
            <a:miter lim="400000"/>
          </a:ln>
        </p:spPr>
        <p:txBody>
          <a:bodyPr lIns="45719" rIns="45719">
            <a:normAutofit/>
          </a:bodyPr>
          <a:lstStyle/>
          <a:p>
            <a:r>
              <a:rPr dirty="0" err="1"/>
              <a:t>正文级别</a:t>
            </a:r>
            <a:r>
              <a:rPr dirty="0"/>
              <a:t> 1</a:t>
            </a:r>
            <a:endParaRPr dirty="0"/>
          </a:p>
          <a:p>
            <a:pPr lvl="1"/>
            <a:r>
              <a:rPr dirty="0" err="1"/>
              <a:t>正文级别</a:t>
            </a:r>
            <a:r>
              <a:rPr dirty="0"/>
              <a:t> 2</a:t>
            </a:r>
            <a:endParaRPr dirty="0"/>
          </a:p>
          <a:p>
            <a:pPr lvl="2"/>
            <a:r>
              <a:rPr dirty="0" err="1"/>
              <a:t>正文级别</a:t>
            </a:r>
            <a:r>
              <a:rPr dirty="0"/>
              <a:t> 3</a:t>
            </a:r>
            <a:endParaRPr dirty="0"/>
          </a:p>
          <a:p>
            <a:pPr lvl="3"/>
            <a:r>
              <a:rPr dirty="0" err="1"/>
              <a:t>正文级别</a:t>
            </a:r>
            <a:r>
              <a:rPr dirty="0"/>
              <a:t> 4</a:t>
            </a:r>
            <a:endParaRPr dirty="0"/>
          </a:p>
          <a:p>
            <a:pPr lvl="4"/>
            <a:r>
              <a:rPr dirty="0" err="1"/>
              <a:t>正文级别</a:t>
            </a:r>
            <a:r>
              <a:rPr dirty="0"/>
              <a:t> 5</a:t>
            </a:r>
            <a:endParaRPr dirty="0"/>
          </a:p>
        </p:txBody>
      </p:sp>
      <p:sp>
        <p:nvSpPr>
          <p:cNvPr id="4" name="幻灯片编号"/>
          <p:cNvSpPr txBox="1">
            <a:spLocks noGrp="1"/>
          </p:cNvSpPr>
          <p:nvPr>
            <p:ph type="sldNum" sz="quarter" idx="2"/>
          </p:nvPr>
        </p:nvSpPr>
        <p:spPr>
          <a:xfrm>
            <a:off x="11080144" y="6404292"/>
            <a:ext cx="273657" cy="269241"/>
          </a:xfrm>
          <a:prstGeom prst="rect">
            <a:avLst/>
          </a:prstGeom>
          <a:ln w="12700">
            <a:miter lim="400000"/>
          </a:ln>
        </p:spPr>
        <p:txBody>
          <a:bodyPr wrap="none" lIns="45719" rIns="45719" anchor="ctr">
            <a:spAutoFit/>
          </a:bodyPr>
          <a:lstStyle>
            <a:lvl1pPr algn="r">
              <a:defRPr sz="1200">
                <a:solidFill>
                  <a:srgbClr val="888888"/>
                </a:solidFill>
              </a:defRPr>
            </a:lvl1pPr>
          </a:lstStyle>
          <a:p>
            <a:fld id="{86CB4B4D-7CA3-9044-876B-883B54F8677D}" type="slidenum">
              <a:rPr/>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ransition spd="med"/>
  <p:hf hdr="0" ftr="0"/>
  <p:txStyles>
    <p:titleStyle>
      <a:lvl1pPr marL="0" marR="0" indent="0" algn="l" defTabSz="914400" rtl="0" eaLnBrk="1" latinLnBrk="0" hangingPunct="1">
        <a:lnSpc>
          <a:spcPct val="90000"/>
        </a:lnSpc>
        <a:spcBef>
          <a:spcPts val="0"/>
        </a:spcBef>
        <a:spcAft>
          <a:spcPts val="0"/>
        </a:spcAft>
        <a:buClrTx/>
        <a:buSzTx/>
        <a:buFontTx/>
        <a:buNone/>
        <a:defRPr sz="40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Light" panose="02010600030101010101" charset="-122"/>
        </a:defRPr>
      </a:lvl1pPr>
      <a:lvl2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p:titleStyle>
    <p:bodyStyle>
      <a:lvl1pPr marL="228600" marR="0" indent="-2286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1pPr>
      <a:lvl2pPr marL="723900" marR="0" indent="-2667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2pPr>
      <a:lvl3pPr marL="1234440" marR="0" indent="-32004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3pPr>
      <a:lvl4pPr marL="1727200" marR="0" indent="-3556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4pPr>
      <a:lvl5pPr marL="2184400" marR="0" indent="-3556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5pPr>
      <a:lvl6pPr marL="26416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6pPr>
      <a:lvl7pPr marL="30988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7pPr>
      <a:lvl8pPr marL="35560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8pPr>
      <a:lvl9pPr marL="40132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9pPr>
    </p:bodyStyle>
    <p:otherStyle>
      <a:lvl1pPr marL="0" marR="0" indent="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1pPr>
      <a:lvl2pPr marL="0" marR="0" indent="4572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2pPr>
      <a:lvl3pPr marL="0" marR="0" indent="9144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3pPr>
      <a:lvl4pPr marL="0" marR="0" indent="13716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4pPr>
      <a:lvl5pPr marL="0" marR="0" indent="18288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5pPr>
      <a:lvl6pPr marL="0" marR="0" indent="22860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6pPr>
      <a:lvl7pPr marL="0" marR="0" indent="27432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7pPr>
      <a:lvl8pPr marL="0" marR="0" indent="32004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8pPr>
      <a:lvl9pPr marL="0" marR="0" indent="3657600" algn="r" defTabSz="914400" rtl="0" eaLnBrk="1" latinLnBrk="0" hangingPunct="1">
        <a:lnSpc>
          <a:spcPct val="100000"/>
        </a:lnSpc>
        <a:spcBef>
          <a:spcPts val="0"/>
        </a:spcBef>
        <a:spcAft>
          <a:spcPts val="0"/>
        </a:spcAft>
        <a:buClrTx/>
        <a:buSzTx/>
        <a:buFontTx/>
        <a:buNone/>
        <a:defRPr sz="1200" b="0" i="0" u="none" strike="noStrike" cap="none" spc="0" baseline="0">
          <a:solidFill>
            <a:schemeClr val="tx1"/>
          </a:solidFill>
          <a:uFillTx/>
          <a:latin typeface="+mn-lt"/>
          <a:ea typeface="+mn-ea"/>
          <a:cs typeface="+mn-cs"/>
          <a:sym typeface="等线" panose="02010600030101010101" charset="-122"/>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2.xml"/><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xml"/><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3.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5.xml"/><Relationship Id="rId1" Type="http://schemas.openxmlformats.org/officeDocument/2006/relationships/tags" Target="../tags/tag4.xml"/></Relationships>
</file>

<file path=ppt/slides/_rels/slide5.xml.rels><?xml version="1.0" encoding="UTF-8" standalone="yes"?>
<Relationships xmlns="http://schemas.openxmlformats.org/package/2006/relationships"><Relationship Id="rId9" Type="http://schemas.openxmlformats.org/officeDocument/2006/relationships/oleObject" Target="../embeddings/oleObject5.bin"/><Relationship Id="rId8" Type="http://schemas.openxmlformats.org/officeDocument/2006/relationships/image" Target="../media/image9.wmf"/><Relationship Id="rId7" Type="http://schemas.openxmlformats.org/officeDocument/2006/relationships/oleObject" Target="../embeddings/oleObject4.bin"/><Relationship Id="rId6" Type="http://schemas.openxmlformats.org/officeDocument/2006/relationships/image" Target="../media/image8.wmf"/><Relationship Id="rId5" Type="http://schemas.openxmlformats.org/officeDocument/2006/relationships/oleObject" Target="../embeddings/oleObject3.bin"/><Relationship Id="rId4" Type="http://schemas.openxmlformats.org/officeDocument/2006/relationships/image" Target="../media/image7.wmf"/><Relationship Id="rId3" Type="http://schemas.openxmlformats.org/officeDocument/2006/relationships/oleObject" Target="../embeddings/oleObject2.bin"/><Relationship Id="rId2" Type="http://schemas.openxmlformats.org/officeDocument/2006/relationships/image" Target="../media/image6.wmf"/><Relationship Id="rId15" Type="http://schemas.openxmlformats.org/officeDocument/2006/relationships/vmlDrawing" Target="../drawings/vmlDrawing1.vml"/><Relationship Id="rId14" Type="http://schemas.openxmlformats.org/officeDocument/2006/relationships/slideLayout" Target="../slideLayouts/slideLayout5.xml"/><Relationship Id="rId13" Type="http://schemas.openxmlformats.org/officeDocument/2006/relationships/tags" Target="../tags/tag6.xml"/><Relationship Id="rId12" Type="http://schemas.openxmlformats.org/officeDocument/2006/relationships/image" Target="../media/image11.wmf"/><Relationship Id="rId11" Type="http://schemas.openxmlformats.org/officeDocument/2006/relationships/oleObject" Target="../embeddings/oleObject6.bin"/><Relationship Id="rId10" Type="http://schemas.openxmlformats.org/officeDocument/2006/relationships/image" Target="../media/image10.wmf"/><Relationship Id="rId1" Type="http://schemas.openxmlformats.org/officeDocument/2006/relationships/oleObject" Target="../embeddings/oleObject1.bin"/></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7.xml"/><Relationship Id="rId1" Type="http://schemas.openxmlformats.org/officeDocument/2006/relationships/image" Target="../media/image12.png"/></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8.xml"/><Relationship Id="rId2" Type="http://schemas.openxmlformats.org/officeDocument/2006/relationships/image" Target="../media/image14.png"/><Relationship Id="rId1" Type="http://schemas.openxmlformats.org/officeDocument/2006/relationships/image" Target="../media/image13.png"/></Relationships>
</file>

<file path=ppt/slides/_rels/slide8.xml.rels><?xml version="1.0" encoding="UTF-8" standalone="yes"?>
<Relationships xmlns="http://schemas.openxmlformats.org/package/2006/relationships"><Relationship Id="rId5" Type="http://schemas.openxmlformats.org/officeDocument/2006/relationships/vmlDrawing" Target="../drawings/vmlDrawing2.vml"/><Relationship Id="rId4" Type="http://schemas.openxmlformats.org/officeDocument/2006/relationships/slideLayout" Target="../slideLayouts/slideLayout5.xml"/><Relationship Id="rId3" Type="http://schemas.openxmlformats.org/officeDocument/2006/relationships/tags" Target="../tags/tag9.xml"/><Relationship Id="rId2" Type="http://schemas.openxmlformats.org/officeDocument/2006/relationships/image" Target="../media/image15.wmf"/><Relationship Id="rId1"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0.xml"/><Relationship Id="rId1" Type="http://schemas.openxmlformats.org/officeDocument/2006/relationships/image" Target="../media/image16.png"/></Relationships>
</file>

<file path=ppt/slides/_rels/slide10.xml.rels><?xml version="1.0" encoding="UTF-8" standalone="yes"?>
<Relationships xmlns="http://schemas.openxmlformats.org/package/2006/relationships"><Relationship Id="rId9" Type="http://schemas.openxmlformats.org/officeDocument/2006/relationships/vmlDrawing" Target="../drawings/vmlDrawing3.vml"/><Relationship Id="rId8" Type="http://schemas.openxmlformats.org/officeDocument/2006/relationships/slideLayout" Target="../slideLayouts/slideLayout5.xml"/><Relationship Id="rId7" Type="http://schemas.openxmlformats.org/officeDocument/2006/relationships/tags" Target="../tags/tag11.xml"/><Relationship Id="rId6" Type="http://schemas.openxmlformats.org/officeDocument/2006/relationships/image" Target="../media/image19.png"/><Relationship Id="rId5" Type="http://schemas.openxmlformats.org/officeDocument/2006/relationships/image" Target="../media/image18.wmf"/><Relationship Id="rId4" Type="http://schemas.openxmlformats.org/officeDocument/2006/relationships/oleObject" Target="../embeddings/oleObject10.bin"/><Relationship Id="rId3" Type="http://schemas.openxmlformats.org/officeDocument/2006/relationships/oleObject" Target="../embeddings/oleObject9.bin"/><Relationship Id="rId2" Type="http://schemas.openxmlformats.org/officeDocument/2006/relationships/image" Target="../media/image17.wmf"/><Relationship Id="rId1"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9" Type="http://schemas.openxmlformats.org/officeDocument/2006/relationships/vmlDrawing" Target="../drawings/vmlDrawing4.vml"/><Relationship Id="rId8" Type="http://schemas.openxmlformats.org/officeDocument/2006/relationships/slideLayout" Target="../slideLayouts/slideLayout5.xml"/><Relationship Id="rId7" Type="http://schemas.openxmlformats.org/officeDocument/2006/relationships/tags" Target="../tags/tag12.xml"/><Relationship Id="rId6" Type="http://schemas.openxmlformats.org/officeDocument/2006/relationships/image" Target="../media/image16.png"/><Relationship Id="rId5" Type="http://schemas.openxmlformats.org/officeDocument/2006/relationships/image" Target="../media/image22.png"/><Relationship Id="rId4" Type="http://schemas.openxmlformats.org/officeDocument/2006/relationships/image" Target="../media/image21.wmf"/><Relationship Id="rId3" Type="http://schemas.openxmlformats.org/officeDocument/2006/relationships/oleObject" Target="../embeddings/oleObject12.bin"/><Relationship Id="rId2" Type="http://schemas.openxmlformats.org/officeDocument/2006/relationships/image" Target="../media/image20.wmf"/><Relationship Id="rId1" Type="http://schemas.openxmlformats.org/officeDocument/2006/relationships/oleObject" Target="../embeddings/oleObject11.bin"/></Relationships>
</file>

<file path=ppt/slides/_rels/slide12.xml.rels><?xml version="1.0" encoding="UTF-8" standalone="yes"?>
<Relationships xmlns="http://schemas.openxmlformats.org/package/2006/relationships"><Relationship Id="rId9" Type="http://schemas.openxmlformats.org/officeDocument/2006/relationships/vmlDrawing" Target="../drawings/vmlDrawing5.vml"/><Relationship Id="rId8" Type="http://schemas.openxmlformats.org/officeDocument/2006/relationships/slideLayout" Target="../slideLayouts/slideLayout5.xml"/><Relationship Id="rId7" Type="http://schemas.openxmlformats.org/officeDocument/2006/relationships/tags" Target="../tags/tag13.xml"/><Relationship Id="rId6" Type="http://schemas.openxmlformats.org/officeDocument/2006/relationships/image" Target="../media/image25.wmf"/><Relationship Id="rId5" Type="http://schemas.openxmlformats.org/officeDocument/2006/relationships/oleObject" Target="../embeddings/oleObject15.bin"/><Relationship Id="rId4" Type="http://schemas.openxmlformats.org/officeDocument/2006/relationships/image" Target="../media/image24.wmf"/><Relationship Id="rId3" Type="http://schemas.openxmlformats.org/officeDocument/2006/relationships/oleObject" Target="../embeddings/oleObject14.bin"/><Relationship Id="rId2" Type="http://schemas.openxmlformats.org/officeDocument/2006/relationships/image" Target="../media/image23.wmf"/><Relationship Id="rId1" Type="http://schemas.openxmlformats.org/officeDocument/2006/relationships/oleObject" Target="../embeddings/oleObject13.bin"/></Relationships>
</file>

<file path=ppt/slides/_rels/slide13.xml.rels><?xml version="1.0" encoding="UTF-8" standalone="yes"?>
<Relationships xmlns="http://schemas.openxmlformats.org/package/2006/relationships"><Relationship Id="rId6" Type="http://schemas.openxmlformats.org/officeDocument/2006/relationships/vmlDrawing" Target="../drawings/vmlDrawing6.vml"/><Relationship Id="rId5" Type="http://schemas.openxmlformats.org/officeDocument/2006/relationships/slideLayout" Target="../slideLayouts/slideLayout5.xml"/><Relationship Id="rId4" Type="http://schemas.openxmlformats.org/officeDocument/2006/relationships/tags" Target="../tags/tag14.xml"/><Relationship Id="rId3" Type="http://schemas.openxmlformats.org/officeDocument/2006/relationships/image" Target="../media/image27.wmf"/><Relationship Id="rId2" Type="http://schemas.openxmlformats.org/officeDocument/2006/relationships/oleObject" Target="../embeddings/oleObject16.bin"/><Relationship Id="rId1" Type="http://schemas.openxmlformats.org/officeDocument/2006/relationships/image" Target="../media/image26.png"/></Relationships>
</file>

<file path=ppt/slides/_rels/slide14.xml.rels><?xml version="1.0" encoding="UTF-8" standalone="yes"?>
<Relationships xmlns="http://schemas.openxmlformats.org/package/2006/relationships"><Relationship Id="rId8" Type="http://schemas.openxmlformats.org/officeDocument/2006/relationships/vmlDrawing" Target="../drawings/vmlDrawing7.vml"/><Relationship Id="rId7" Type="http://schemas.openxmlformats.org/officeDocument/2006/relationships/slideLayout" Target="../slideLayouts/slideLayout5.xml"/><Relationship Id="rId6" Type="http://schemas.openxmlformats.org/officeDocument/2006/relationships/tags" Target="../tags/tag15.xml"/><Relationship Id="rId5" Type="http://schemas.openxmlformats.org/officeDocument/2006/relationships/image" Target="../media/image30.png"/><Relationship Id="rId4" Type="http://schemas.openxmlformats.org/officeDocument/2006/relationships/image" Target="../media/image29.wmf"/><Relationship Id="rId3" Type="http://schemas.openxmlformats.org/officeDocument/2006/relationships/oleObject" Target="../embeddings/oleObject17.bin"/><Relationship Id="rId2" Type="http://schemas.openxmlformats.org/officeDocument/2006/relationships/image" Target="../media/image28.png"/><Relationship Id="rId1" Type="http://schemas.openxmlformats.org/officeDocument/2006/relationships/image" Target="../media/image26.png"/></Relationships>
</file>

<file path=ppt/slides/_rels/slide15.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5.xml"/><Relationship Id="rId7" Type="http://schemas.openxmlformats.org/officeDocument/2006/relationships/tags" Target="../tags/tag16.xml"/><Relationship Id="rId6" Type="http://schemas.openxmlformats.org/officeDocument/2006/relationships/image" Target="../media/image33.wmf"/><Relationship Id="rId5" Type="http://schemas.openxmlformats.org/officeDocument/2006/relationships/oleObject" Target="../embeddings/oleObject19.bin"/><Relationship Id="rId4" Type="http://schemas.openxmlformats.org/officeDocument/2006/relationships/image" Target="../media/image30.png"/><Relationship Id="rId3" Type="http://schemas.openxmlformats.org/officeDocument/2006/relationships/image" Target="../media/image32.png"/><Relationship Id="rId2" Type="http://schemas.openxmlformats.org/officeDocument/2006/relationships/image" Target="../media/image31.wmf"/><Relationship Id="rId1" Type="http://schemas.openxmlformats.org/officeDocument/2006/relationships/oleObject" Target="../embeddings/oleObject18.bin"/></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9.vml"/><Relationship Id="rId6" Type="http://schemas.openxmlformats.org/officeDocument/2006/relationships/slideLayout" Target="../slideLayouts/slideLayout5.xml"/><Relationship Id="rId5" Type="http://schemas.openxmlformats.org/officeDocument/2006/relationships/tags" Target="../tags/tag17.xml"/><Relationship Id="rId4" Type="http://schemas.openxmlformats.org/officeDocument/2006/relationships/image" Target="../media/image30.png"/><Relationship Id="rId3" Type="http://schemas.openxmlformats.org/officeDocument/2006/relationships/image" Target="../media/image35.wmf"/><Relationship Id="rId2" Type="http://schemas.openxmlformats.org/officeDocument/2006/relationships/oleObject" Target="../embeddings/oleObject20.bin"/><Relationship Id="rId1"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8.xml"/><Relationship Id="rId1" Type="http://schemas.openxmlformats.org/officeDocument/2006/relationships/image" Target="../media/image36.pn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19.xml"/><Relationship Id="rId1" Type="http://schemas.openxmlformats.org/officeDocument/2006/relationships/image" Target="../media/image37.png"/></Relationships>
</file>

<file path=ppt/slides/_rels/slide19.xml.rels><?xml version="1.0" encoding="UTF-8" standalone="yes"?>
<Relationships xmlns="http://schemas.openxmlformats.org/package/2006/relationships"><Relationship Id="rId9" Type="http://schemas.openxmlformats.org/officeDocument/2006/relationships/vmlDrawing" Target="../drawings/vmlDrawing10.vml"/><Relationship Id="rId8" Type="http://schemas.openxmlformats.org/officeDocument/2006/relationships/slideLayout" Target="../slideLayouts/slideLayout5.xml"/><Relationship Id="rId7" Type="http://schemas.openxmlformats.org/officeDocument/2006/relationships/tags" Target="../tags/tag20.xml"/><Relationship Id="rId6" Type="http://schemas.openxmlformats.org/officeDocument/2006/relationships/image" Target="../media/image40.wmf"/><Relationship Id="rId5" Type="http://schemas.openxmlformats.org/officeDocument/2006/relationships/oleObject" Target="../embeddings/oleObject23.bin"/><Relationship Id="rId4" Type="http://schemas.openxmlformats.org/officeDocument/2006/relationships/image" Target="../media/image39.wmf"/><Relationship Id="rId3" Type="http://schemas.openxmlformats.org/officeDocument/2006/relationships/oleObject" Target="../embeddings/oleObject22.bin"/><Relationship Id="rId2" Type="http://schemas.openxmlformats.org/officeDocument/2006/relationships/image" Target="../media/image38.wmf"/><Relationship Id="rId1" Type="http://schemas.openxmlformats.org/officeDocument/2006/relationships/oleObject" Target="../embeddings/oleObject21.bin"/></Relationships>
</file>

<file path=ppt/slides/_rels/slide20.xml.rels><?xml version="1.0" encoding="UTF-8" standalone="yes"?>
<Relationships xmlns="http://schemas.openxmlformats.org/package/2006/relationships"><Relationship Id="rId5" Type="http://schemas.openxmlformats.org/officeDocument/2006/relationships/vmlDrawing" Target="../drawings/vmlDrawing11.vml"/><Relationship Id="rId4" Type="http://schemas.openxmlformats.org/officeDocument/2006/relationships/slideLayout" Target="../slideLayouts/slideLayout5.xml"/><Relationship Id="rId3" Type="http://schemas.openxmlformats.org/officeDocument/2006/relationships/tags" Target="../tags/tag21.xml"/><Relationship Id="rId2" Type="http://schemas.openxmlformats.org/officeDocument/2006/relationships/image" Target="../media/image41.wmf"/><Relationship Id="rId1" Type="http://schemas.openxmlformats.org/officeDocument/2006/relationships/oleObject" Target="../embeddings/oleObject24.bin"/></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2.xml"/><Relationship Id="rId2" Type="http://schemas.openxmlformats.org/officeDocument/2006/relationships/image" Target="../media/image43.jpeg"/><Relationship Id="rId1" Type="http://schemas.openxmlformats.org/officeDocument/2006/relationships/image" Target="../media/image42.jpeg"/></Relationships>
</file>

<file path=ppt/slides/_rels/slide2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3.xml"/><Relationship Id="rId2" Type="http://schemas.openxmlformats.org/officeDocument/2006/relationships/image" Target="../media/image45.jpeg"/><Relationship Id="rId1" Type="http://schemas.openxmlformats.org/officeDocument/2006/relationships/image" Target="../media/image44.jpeg"/></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tags" Target="../tags/tag24.xml"/><Relationship Id="rId2" Type="http://schemas.openxmlformats.org/officeDocument/2006/relationships/image" Target="../media/image47.jpeg"/><Relationship Id="rId1" Type="http://schemas.openxmlformats.org/officeDocument/2006/relationships/image" Target="../media/image46.jpeg"/></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49.png"/><Relationship Id="rId1" Type="http://schemas.openxmlformats.org/officeDocument/2006/relationships/image" Target="../media/image48.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25.xml"/></Relationships>
</file>

<file path=ppt/slides/_rels/slide26.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5.xml"/><Relationship Id="rId3" Type="http://schemas.openxmlformats.org/officeDocument/2006/relationships/image" Target="../media/image51.wmf"/><Relationship Id="rId2" Type="http://schemas.openxmlformats.org/officeDocument/2006/relationships/oleObject" Target="../embeddings/oleObject25.bin"/><Relationship Id="rId1" Type="http://schemas.openxmlformats.org/officeDocument/2006/relationships/image" Target="../media/image50.png"/></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5.xml"/><Relationship Id="rId2" Type="http://schemas.openxmlformats.org/officeDocument/2006/relationships/image" Target="../media/image52.wmf"/><Relationship Id="rId1" Type="http://schemas.openxmlformats.org/officeDocument/2006/relationships/oleObject" Target="../embeddings/oleObject26.bin"/></Relationships>
</file>

<file path=ppt/slides/_rels/slide28.xml.rels><?xml version="1.0" encoding="UTF-8" standalone="yes"?>
<Relationships xmlns="http://schemas.openxmlformats.org/package/2006/relationships"><Relationship Id="rId9" Type="http://schemas.openxmlformats.org/officeDocument/2006/relationships/image" Target="../media/image57.png"/><Relationship Id="rId8" Type="http://schemas.openxmlformats.org/officeDocument/2006/relationships/image" Target="../media/image56.wmf"/><Relationship Id="rId7" Type="http://schemas.openxmlformats.org/officeDocument/2006/relationships/oleObject" Target="../embeddings/oleObject30.bin"/><Relationship Id="rId6" Type="http://schemas.openxmlformats.org/officeDocument/2006/relationships/image" Target="../media/image55.wmf"/><Relationship Id="rId5" Type="http://schemas.openxmlformats.org/officeDocument/2006/relationships/oleObject" Target="../embeddings/oleObject29.bin"/><Relationship Id="rId4" Type="http://schemas.openxmlformats.org/officeDocument/2006/relationships/image" Target="../media/image54.wmf"/><Relationship Id="rId3" Type="http://schemas.openxmlformats.org/officeDocument/2006/relationships/oleObject" Target="../embeddings/oleObject28.bin"/><Relationship Id="rId2" Type="http://schemas.openxmlformats.org/officeDocument/2006/relationships/image" Target="../media/image53.wmf"/><Relationship Id="rId11" Type="http://schemas.openxmlformats.org/officeDocument/2006/relationships/vmlDrawing" Target="../drawings/vmlDrawing14.vml"/><Relationship Id="rId10" Type="http://schemas.openxmlformats.org/officeDocument/2006/relationships/slideLayout" Target="../slideLayouts/slideLayout5.xml"/><Relationship Id="rId1" Type="http://schemas.openxmlformats.org/officeDocument/2006/relationships/oleObject" Target="../embeddings/oleObject27.bin"/></Relationships>
</file>

<file path=ppt/slides/_rels/slide29.x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oleObject" Target="../embeddings/oleObject34.bin"/><Relationship Id="rId7" Type="http://schemas.openxmlformats.org/officeDocument/2006/relationships/image" Target="../media/image61.wmf"/><Relationship Id="rId6" Type="http://schemas.openxmlformats.org/officeDocument/2006/relationships/oleObject" Target="../embeddings/oleObject33.bin"/><Relationship Id="rId5" Type="http://schemas.openxmlformats.org/officeDocument/2006/relationships/image" Target="../media/image60.wmf"/><Relationship Id="rId4" Type="http://schemas.openxmlformats.org/officeDocument/2006/relationships/oleObject" Target="../embeddings/oleObject32.bin"/><Relationship Id="rId3" Type="http://schemas.openxmlformats.org/officeDocument/2006/relationships/image" Target="../media/image59.png"/><Relationship Id="rId20" Type="http://schemas.openxmlformats.org/officeDocument/2006/relationships/vmlDrawing" Target="../drawings/vmlDrawing15.vml"/><Relationship Id="rId2" Type="http://schemas.openxmlformats.org/officeDocument/2006/relationships/image" Target="../media/image58.wmf"/><Relationship Id="rId19" Type="http://schemas.openxmlformats.org/officeDocument/2006/relationships/slideLayout" Target="../slideLayouts/slideLayout5.xml"/><Relationship Id="rId18" Type="http://schemas.openxmlformats.org/officeDocument/2006/relationships/image" Target="../media/image67.png"/><Relationship Id="rId17" Type="http://schemas.openxmlformats.org/officeDocument/2006/relationships/image" Target="../media/image66.wmf"/><Relationship Id="rId16" Type="http://schemas.openxmlformats.org/officeDocument/2006/relationships/oleObject" Target="../embeddings/oleObject38.bin"/><Relationship Id="rId15" Type="http://schemas.openxmlformats.org/officeDocument/2006/relationships/image" Target="../media/image65.wmf"/><Relationship Id="rId14" Type="http://schemas.openxmlformats.org/officeDocument/2006/relationships/oleObject" Target="../embeddings/oleObject37.bin"/><Relationship Id="rId13" Type="http://schemas.openxmlformats.org/officeDocument/2006/relationships/image" Target="../media/image64.wmf"/><Relationship Id="rId12" Type="http://schemas.openxmlformats.org/officeDocument/2006/relationships/oleObject" Target="../embeddings/oleObject36.bin"/><Relationship Id="rId11" Type="http://schemas.openxmlformats.org/officeDocument/2006/relationships/image" Target="../media/image63.wmf"/><Relationship Id="rId10" Type="http://schemas.openxmlformats.org/officeDocument/2006/relationships/oleObject" Target="../embeddings/oleObject35.bin"/><Relationship Id="rId1" Type="http://schemas.openxmlformats.org/officeDocument/2006/relationships/oleObject" Target="../embeddings/oleObject31.bin"/></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5.xml"/><Relationship Id="rId2" Type="http://schemas.openxmlformats.org/officeDocument/2006/relationships/image" Target="../media/image69.png"/><Relationship Id="rId1" Type="http://schemas.openxmlformats.org/officeDocument/2006/relationships/image" Target="../media/image68.png"/></Relationships>
</file>

<file path=ppt/slides/_rels/slide31.xml.rels><?xml version="1.0" encoding="UTF-8" standalone="yes"?>
<Relationships xmlns="http://schemas.openxmlformats.org/package/2006/relationships"><Relationship Id="rId7" Type="http://schemas.openxmlformats.org/officeDocument/2006/relationships/vmlDrawing" Target="../drawings/vmlDrawing16.vml"/><Relationship Id="rId6" Type="http://schemas.openxmlformats.org/officeDocument/2006/relationships/slideLayout" Target="../slideLayouts/slideLayout5.xml"/><Relationship Id="rId5" Type="http://schemas.openxmlformats.org/officeDocument/2006/relationships/image" Target="../media/image72.wmf"/><Relationship Id="rId4" Type="http://schemas.openxmlformats.org/officeDocument/2006/relationships/oleObject" Target="../embeddings/oleObject40.bin"/><Relationship Id="rId3" Type="http://schemas.openxmlformats.org/officeDocument/2006/relationships/image" Target="../media/image71.wmf"/><Relationship Id="rId2" Type="http://schemas.openxmlformats.org/officeDocument/2006/relationships/oleObject" Target="../embeddings/oleObject39.bin"/><Relationship Id="rId1" Type="http://schemas.openxmlformats.org/officeDocument/2006/relationships/image" Target="../media/image70.png"/></Relationships>
</file>

<file path=ppt/slides/_rels/slide32.xml.rels><?xml version="1.0" encoding="UTF-8" standalone="yes"?>
<Relationships xmlns="http://schemas.openxmlformats.org/package/2006/relationships"><Relationship Id="rId8" Type="http://schemas.openxmlformats.org/officeDocument/2006/relationships/slideLayout" Target="../slideLayouts/slideLayout5.xml"/><Relationship Id="rId7" Type="http://schemas.openxmlformats.org/officeDocument/2006/relationships/image" Target="../media/image78.png"/><Relationship Id="rId6" Type="http://schemas.openxmlformats.org/officeDocument/2006/relationships/image" Target="../media/image77.png"/><Relationship Id="rId5" Type="http://schemas.openxmlformats.org/officeDocument/2006/relationships/image" Target="../media/image76.png"/><Relationship Id="rId4" Type="http://schemas.openxmlformats.org/officeDocument/2006/relationships/image" Target="../media/image75.png"/><Relationship Id="rId3" Type="http://schemas.openxmlformats.org/officeDocument/2006/relationships/image" Target="../media/image74.png"/><Relationship Id="rId2" Type="http://schemas.openxmlformats.org/officeDocument/2006/relationships/image" Target="../media/image57.png"/><Relationship Id="rId1" Type="http://schemas.openxmlformats.org/officeDocument/2006/relationships/image" Target="../media/image73.png"/></Relationships>
</file>

<file path=ppt/slides/_rels/slide33.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9" Type="http://schemas.openxmlformats.org/officeDocument/2006/relationships/vmlDrawing" Target="../drawings/vmlDrawing17.vml"/><Relationship Id="rId68" Type="http://schemas.openxmlformats.org/officeDocument/2006/relationships/slideLayout" Target="../slideLayouts/slideLayout5.xml"/><Relationship Id="rId67" Type="http://schemas.openxmlformats.org/officeDocument/2006/relationships/image" Target="../media/image82.wmf"/><Relationship Id="rId66" Type="http://schemas.openxmlformats.org/officeDocument/2006/relationships/oleObject" Target="../embeddings/oleObject46.bin"/><Relationship Id="rId65" Type="http://schemas.openxmlformats.org/officeDocument/2006/relationships/image" Target="../media/image81.wmf"/><Relationship Id="rId64" Type="http://schemas.openxmlformats.org/officeDocument/2006/relationships/oleObject" Target="../embeddings/oleObject45.bin"/><Relationship Id="rId63" Type="http://schemas.openxmlformats.org/officeDocument/2006/relationships/image" Target="../media/image80.wmf"/><Relationship Id="rId62" Type="http://schemas.openxmlformats.org/officeDocument/2006/relationships/oleObject" Target="../embeddings/oleObject44.bin"/><Relationship Id="rId61" Type="http://schemas.openxmlformats.org/officeDocument/2006/relationships/image" Target="../media/image79.wmf"/><Relationship Id="rId60" Type="http://schemas.openxmlformats.org/officeDocument/2006/relationships/oleObject" Target="../embeddings/oleObject43.bin"/><Relationship Id="rId6" Type="http://schemas.openxmlformats.org/officeDocument/2006/relationships/tags" Target="../tags/tag27.xml"/><Relationship Id="rId59" Type="http://schemas.openxmlformats.org/officeDocument/2006/relationships/tags" Target="../tags/tag80.xml"/><Relationship Id="rId58" Type="http://schemas.openxmlformats.org/officeDocument/2006/relationships/tags" Target="../tags/tag79.xml"/><Relationship Id="rId57" Type="http://schemas.openxmlformats.org/officeDocument/2006/relationships/tags" Target="../tags/tag78.xml"/><Relationship Id="rId56" Type="http://schemas.openxmlformats.org/officeDocument/2006/relationships/tags" Target="../tags/tag77.xml"/><Relationship Id="rId55" Type="http://schemas.openxmlformats.org/officeDocument/2006/relationships/tags" Target="../tags/tag76.xml"/><Relationship Id="rId54" Type="http://schemas.openxmlformats.org/officeDocument/2006/relationships/tags" Target="../tags/tag75.xml"/><Relationship Id="rId53" Type="http://schemas.openxmlformats.org/officeDocument/2006/relationships/tags" Target="../tags/tag74.xml"/><Relationship Id="rId52" Type="http://schemas.openxmlformats.org/officeDocument/2006/relationships/tags" Target="../tags/tag73.xml"/><Relationship Id="rId51" Type="http://schemas.openxmlformats.org/officeDocument/2006/relationships/tags" Target="../tags/tag72.xml"/><Relationship Id="rId50" Type="http://schemas.openxmlformats.org/officeDocument/2006/relationships/tags" Target="../tags/tag71.xml"/><Relationship Id="rId5" Type="http://schemas.openxmlformats.org/officeDocument/2006/relationships/tags" Target="../tags/tag26.xml"/><Relationship Id="rId49" Type="http://schemas.openxmlformats.org/officeDocument/2006/relationships/tags" Target="../tags/tag70.xml"/><Relationship Id="rId48" Type="http://schemas.openxmlformats.org/officeDocument/2006/relationships/tags" Target="../tags/tag69.xml"/><Relationship Id="rId47" Type="http://schemas.openxmlformats.org/officeDocument/2006/relationships/tags" Target="../tags/tag68.xml"/><Relationship Id="rId46" Type="http://schemas.openxmlformats.org/officeDocument/2006/relationships/tags" Target="../tags/tag67.xml"/><Relationship Id="rId45" Type="http://schemas.openxmlformats.org/officeDocument/2006/relationships/tags" Target="../tags/tag66.xml"/><Relationship Id="rId44" Type="http://schemas.openxmlformats.org/officeDocument/2006/relationships/tags" Target="../tags/tag65.xml"/><Relationship Id="rId43" Type="http://schemas.openxmlformats.org/officeDocument/2006/relationships/tags" Target="../tags/tag64.xml"/><Relationship Id="rId42" Type="http://schemas.openxmlformats.org/officeDocument/2006/relationships/tags" Target="../tags/tag63.xml"/><Relationship Id="rId41" Type="http://schemas.openxmlformats.org/officeDocument/2006/relationships/tags" Target="../tags/tag62.xml"/><Relationship Id="rId40" Type="http://schemas.openxmlformats.org/officeDocument/2006/relationships/tags" Target="../tags/tag61.xml"/><Relationship Id="rId4" Type="http://schemas.openxmlformats.org/officeDocument/2006/relationships/image" Target="../media/image72.wmf"/><Relationship Id="rId39" Type="http://schemas.openxmlformats.org/officeDocument/2006/relationships/tags" Target="../tags/tag60.xml"/><Relationship Id="rId38" Type="http://schemas.openxmlformats.org/officeDocument/2006/relationships/tags" Target="../tags/tag59.xml"/><Relationship Id="rId37" Type="http://schemas.openxmlformats.org/officeDocument/2006/relationships/tags" Target="../tags/tag58.xml"/><Relationship Id="rId36" Type="http://schemas.openxmlformats.org/officeDocument/2006/relationships/tags" Target="../tags/tag57.xml"/><Relationship Id="rId35" Type="http://schemas.openxmlformats.org/officeDocument/2006/relationships/tags" Target="../tags/tag56.xml"/><Relationship Id="rId34" Type="http://schemas.openxmlformats.org/officeDocument/2006/relationships/tags" Target="../tags/tag55.xml"/><Relationship Id="rId33" Type="http://schemas.openxmlformats.org/officeDocument/2006/relationships/tags" Target="../tags/tag54.xml"/><Relationship Id="rId32" Type="http://schemas.openxmlformats.org/officeDocument/2006/relationships/tags" Target="../tags/tag53.xml"/><Relationship Id="rId31" Type="http://schemas.openxmlformats.org/officeDocument/2006/relationships/tags" Target="../tags/tag52.xml"/><Relationship Id="rId30" Type="http://schemas.openxmlformats.org/officeDocument/2006/relationships/tags" Target="../tags/tag51.xml"/><Relationship Id="rId3" Type="http://schemas.openxmlformats.org/officeDocument/2006/relationships/oleObject" Target="../embeddings/oleObject42.bin"/><Relationship Id="rId29" Type="http://schemas.openxmlformats.org/officeDocument/2006/relationships/tags" Target="../tags/tag50.xml"/><Relationship Id="rId28" Type="http://schemas.openxmlformats.org/officeDocument/2006/relationships/tags" Target="../tags/tag49.xml"/><Relationship Id="rId27" Type="http://schemas.openxmlformats.org/officeDocument/2006/relationships/tags" Target="../tags/tag48.xml"/><Relationship Id="rId26" Type="http://schemas.openxmlformats.org/officeDocument/2006/relationships/tags" Target="../tags/tag47.xml"/><Relationship Id="rId25" Type="http://schemas.openxmlformats.org/officeDocument/2006/relationships/tags" Target="../tags/tag46.xml"/><Relationship Id="rId24" Type="http://schemas.openxmlformats.org/officeDocument/2006/relationships/tags" Target="../tags/tag45.xml"/><Relationship Id="rId23" Type="http://schemas.openxmlformats.org/officeDocument/2006/relationships/tags" Target="../tags/tag44.xml"/><Relationship Id="rId22" Type="http://schemas.openxmlformats.org/officeDocument/2006/relationships/tags" Target="../tags/tag43.xml"/><Relationship Id="rId21" Type="http://schemas.openxmlformats.org/officeDocument/2006/relationships/tags" Target="../tags/tag42.xml"/><Relationship Id="rId20" Type="http://schemas.openxmlformats.org/officeDocument/2006/relationships/tags" Target="../tags/tag41.xml"/><Relationship Id="rId2" Type="http://schemas.openxmlformats.org/officeDocument/2006/relationships/image" Target="../media/image71.wmf"/><Relationship Id="rId19" Type="http://schemas.openxmlformats.org/officeDocument/2006/relationships/tags" Target="../tags/tag40.xml"/><Relationship Id="rId18" Type="http://schemas.openxmlformats.org/officeDocument/2006/relationships/tags" Target="../tags/tag39.xml"/><Relationship Id="rId17" Type="http://schemas.openxmlformats.org/officeDocument/2006/relationships/tags" Target="../tags/tag38.xml"/><Relationship Id="rId16" Type="http://schemas.openxmlformats.org/officeDocument/2006/relationships/tags" Target="../tags/tag37.xml"/><Relationship Id="rId15" Type="http://schemas.openxmlformats.org/officeDocument/2006/relationships/tags" Target="../tags/tag36.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oleObject" Target="../embeddings/oleObject41.bin"/></Relationships>
</file>

<file path=ppt/slides/_rels/slide34.xml.rels><?xml version="1.0" encoding="UTF-8" standalone="yes"?>
<Relationships xmlns="http://schemas.openxmlformats.org/package/2006/relationships"><Relationship Id="rId9" Type="http://schemas.openxmlformats.org/officeDocument/2006/relationships/oleObject" Target="../embeddings/oleObject51.bin"/><Relationship Id="rId8" Type="http://schemas.openxmlformats.org/officeDocument/2006/relationships/image" Target="../media/image86.wmf"/><Relationship Id="rId7" Type="http://schemas.openxmlformats.org/officeDocument/2006/relationships/oleObject" Target="../embeddings/oleObject50.bin"/><Relationship Id="rId6" Type="http://schemas.openxmlformats.org/officeDocument/2006/relationships/image" Target="../media/image85.wmf"/><Relationship Id="rId5" Type="http://schemas.openxmlformats.org/officeDocument/2006/relationships/oleObject" Target="../embeddings/oleObject49.bin"/><Relationship Id="rId4" Type="http://schemas.openxmlformats.org/officeDocument/2006/relationships/image" Target="../media/image84.wmf"/><Relationship Id="rId3" Type="http://schemas.openxmlformats.org/officeDocument/2006/relationships/oleObject" Target="../embeddings/oleObject48.bin"/><Relationship Id="rId24" Type="http://schemas.openxmlformats.org/officeDocument/2006/relationships/vmlDrawing" Target="../drawings/vmlDrawing18.vml"/><Relationship Id="rId23" Type="http://schemas.openxmlformats.org/officeDocument/2006/relationships/slideLayout" Target="../slideLayouts/slideLayout5.xml"/><Relationship Id="rId22" Type="http://schemas.openxmlformats.org/officeDocument/2006/relationships/image" Target="../media/image93.emf"/><Relationship Id="rId21" Type="http://schemas.openxmlformats.org/officeDocument/2006/relationships/oleObject" Target="../embeddings/oleObject57.bin"/><Relationship Id="rId20" Type="http://schemas.openxmlformats.org/officeDocument/2006/relationships/image" Target="../media/image92.emf"/><Relationship Id="rId2" Type="http://schemas.openxmlformats.org/officeDocument/2006/relationships/image" Target="../media/image83.wmf"/><Relationship Id="rId19" Type="http://schemas.openxmlformats.org/officeDocument/2006/relationships/oleObject" Target="../embeddings/oleObject56.bin"/><Relationship Id="rId18" Type="http://schemas.openxmlformats.org/officeDocument/2006/relationships/image" Target="../media/image91.wmf"/><Relationship Id="rId17" Type="http://schemas.openxmlformats.org/officeDocument/2006/relationships/oleObject" Target="../embeddings/oleObject55.bin"/><Relationship Id="rId16" Type="http://schemas.openxmlformats.org/officeDocument/2006/relationships/image" Target="../media/image90.wmf"/><Relationship Id="rId15" Type="http://schemas.openxmlformats.org/officeDocument/2006/relationships/oleObject" Target="../embeddings/oleObject54.bin"/><Relationship Id="rId14" Type="http://schemas.openxmlformats.org/officeDocument/2006/relationships/image" Target="../media/image89.wmf"/><Relationship Id="rId13" Type="http://schemas.openxmlformats.org/officeDocument/2006/relationships/oleObject" Target="../embeddings/oleObject53.bin"/><Relationship Id="rId12" Type="http://schemas.openxmlformats.org/officeDocument/2006/relationships/image" Target="../media/image88.wmf"/><Relationship Id="rId11" Type="http://schemas.openxmlformats.org/officeDocument/2006/relationships/oleObject" Target="../embeddings/oleObject52.bin"/><Relationship Id="rId10" Type="http://schemas.openxmlformats.org/officeDocument/2006/relationships/image" Target="../media/image87.wmf"/><Relationship Id="rId1" Type="http://schemas.openxmlformats.org/officeDocument/2006/relationships/oleObject" Target="../embeddings/oleObject47.bin"/></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94.png"/></Relationships>
</file>

<file path=ppt/slides/_rels/slide36.xml.rels><?xml version="1.0" encoding="UTF-8" standalone="yes"?>
<Relationships xmlns="http://schemas.openxmlformats.org/package/2006/relationships"><Relationship Id="rId9" Type="http://schemas.openxmlformats.org/officeDocument/2006/relationships/image" Target="../media/image99.emf"/><Relationship Id="rId8" Type="http://schemas.openxmlformats.org/officeDocument/2006/relationships/oleObject" Target="../embeddings/oleObject61.bin"/><Relationship Id="rId7" Type="http://schemas.openxmlformats.org/officeDocument/2006/relationships/image" Target="../media/image98.emf"/><Relationship Id="rId6" Type="http://schemas.openxmlformats.org/officeDocument/2006/relationships/oleObject" Target="../embeddings/oleObject60.bin"/><Relationship Id="rId5" Type="http://schemas.openxmlformats.org/officeDocument/2006/relationships/image" Target="../media/image97.emf"/><Relationship Id="rId4" Type="http://schemas.openxmlformats.org/officeDocument/2006/relationships/oleObject" Target="../embeddings/oleObject59.bin"/><Relationship Id="rId30" Type="http://schemas.openxmlformats.org/officeDocument/2006/relationships/vmlDrawing" Target="../drawings/vmlDrawing19.vml"/><Relationship Id="rId3" Type="http://schemas.openxmlformats.org/officeDocument/2006/relationships/image" Target="../media/image96.emf"/><Relationship Id="rId29" Type="http://schemas.openxmlformats.org/officeDocument/2006/relationships/slideLayout" Target="../slideLayouts/slideLayout5.xml"/><Relationship Id="rId28" Type="http://schemas.openxmlformats.org/officeDocument/2006/relationships/image" Target="../media/image109.emf"/><Relationship Id="rId27" Type="http://schemas.openxmlformats.org/officeDocument/2006/relationships/oleObject" Target="../embeddings/oleObject70.bin"/><Relationship Id="rId26" Type="http://schemas.openxmlformats.org/officeDocument/2006/relationships/image" Target="../media/image108.emf"/><Relationship Id="rId25" Type="http://schemas.openxmlformats.org/officeDocument/2006/relationships/oleObject" Target="../embeddings/oleObject69.bin"/><Relationship Id="rId24" Type="http://schemas.openxmlformats.org/officeDocument/2006/relationships/image" Target="../media/image107.emf"/><Relationship Id="rId23" Type="http://schemas.openxmlformats.org/officeDocument/2006/relationships/oleObject" Target="../embeddings/oleObject68.bin"/><Relationship Id="rId22" Type="http://schemas.openxmlformats.org/officeDocument/2006/relationships/image" Target="../media/image106.emf"/><Relationship Id="rId21" Type="http://schemas.openxmlformats.org/officeDocument/2006/relationships/oleObject" Target="../embeddings/oleObject67.bin"/><Relationship Id="rId20" Type="http://schemas.openxmlformats.org/officeDocument/2006/relationships/image" Target="../media/image105.emf"/><Relationship Id="rId2" Type="http://schemas.openxmlformats.org/officeDocument/2006/relationships/oleObject" Target="../embeddings/oleObject58.bin"/><Relationship Id="rId19" Type="http://schemas.openxmlformats.org/officeDocument/2006/relationships/oleObject" Target="../embeddings/oleObject66.bin"/><Relationship Id="rId18" Type="http://schemas.openxmlformats.org/officeDocument/2006/relationships/image" Target="../media/image104.wmf"/><Relationship Id="rId17" Type="http://schemas.openxmlformats.org/officeDocument/2006/relationships/oleObject" Target="../embeddings/oleObject65.bin"/><Relationship Id="rId16" Type="http://schemas.openxmlformats.org/officeDocument/2006/relationships/image" Target="../media/image103.emf"/><Relationship Id="rId15" Type="http://schemas.openxmlformats.org/officeDocument/2006/relationships/oleObject" Target="../embeddings/oleObject64.bin"/><Relationship Id="rId14" Type="http://schemas.openxmlformats.org/officeDocument/2006/relationships/image" Target="../media/image102.png"/><Relationship Id="rId13" Type="http://schemas.openxmlformats.org/officeDocument/2006/relationships/image" Target="../media/image101.emf"/><Relationship Id="rId12" Type="http://schemas.openxmlformats.org/officeDocument/2006/relationships/oleObject" Target="../embeddings/oleObject63.bin"/><Relationship Id="rId11" Type="http://schemas.openxmlformats.org/officeDocument/2006/relationships/image" Target="../media/image100.emf"/><Relationship Id="rId10" Type="http://schemas.openxmlformats.org/officeDocument/2006/relationships/oleObject" Target="../embeddings/oleObject62.bin"/><Relationship Id="rId1" Type="http://schemas.openxmlformats.org/officeDocument/2006/relationships/image" Target="../media/image95.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0.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1.xml"/></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1.png"/></Relationships>
</file>

<file path=ppt/slides/_rels/slide41.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image" Target="../media/image113.png"/><Relationship Id="rId5" Type="http://schemas.microsoft.com/office/2007/relationships/media" Target="../media/media2.mp4"/><Relationship Id="rId4" Type="http://schemas.openxmlformats.org/officeDocument/2006/relationships/video" Target="../media/media2.mp4"/><Relationship Id="rId3" Type="http://schemas.openxmlformats.org/officeDocument/2006/relationships/image" Target="../media/image112.png"/><Relationship Id="rId2" Type="http://schemas.microsoft.com/office/2007/relationships/media" Target="../media/media1.mp4"/><Relationship Id="rId1" Type="http://schemas.openxmlformats.org/officeDocument/2006/relationships/video" Target="../media/media1.mp4"/></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14.png"/><Relationship Id="rId2" Type="http://schemas.microsoft.com/office/2007/relationships/media" Target="../media/media3.mp4"/><Relationship Id="rId1" Type="http://schemas.openxmlformats.org/officeDocument/2006/relationships/video" Target="../media/media3.mp4"/></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16.png"/><Relationship Id="rId1" Type="http://schemas.openxmlformats.org/officeDocument/2006/relationships/image" Target="../media/image115.pn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7.pn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73.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18.png"/></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5.xml"/><Relationship Id="rId1" Type="http://schemas.openxmlformats.org/officeDocument/2006/relationships/image" Target="../media/image119.png"/></Relationships>
</file>

<file path=ppt/slides/_rels/slide4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0.png"/></Relationships>
</file>

<file path=ppt/slides/_rels/slide4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3.xml"/></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22.png"/><Relationship Id="rId1" Type="http://schemas.openxmlformats.org/officeDocument/2006/relationships/image" Target="../media/image12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23.png"/></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25.png"/><Relationship Id="rId1" Type="http://schemas.openxmlformats.org/officeDocument/2006/relationships/image" Target="../media/image124.png"/></Relationships>
</file>

<file path=ppt/slides/_rels/slide53.xml.rels><?xml version="1.0" encoding="UTF-8" standalone="yes"?>
<Relationships xmlns="http://schemas.openxmlformats.org/package/2006/relationships"><Relationship Id="rId9" Type="http://schemas.openxmlformats.org/officeDocument/2006/relationships/slideLayout" Target="../slideLayouts/slideLayout5.xml"/><Relationship Id="rId8" Type="http://schemas.openxmlformats.org/officeDocument/2006/relationships/image" Target="../media/image129.emf"/><Relationship Id="rId7" Type="http://schemas.openxmlformats.org/officeDocument/2006/relationships/oleObject" Target="../embeddings/oleObject74.bin"/><Relationship Id="rId6" Type="http://schemas.openxmlformats.org/officeDocument/2006/relationships/image" Target="../media/image128.emf"/><Relationship Id="rId5" Type="http://schemas.openxmlformats.org/officeDocument/2006/relationships/oleObject" Target="../embeddings/oleObject73.bin"/><Relationship Id="rId4" Type="http://schemas.openxmlformats.org/officeDocument/2006/relationships/image" Target="../media/image127.emf"/><Relationship Id="rId3" Type="http://schemas.openxmlformats.org/officeDocument/2006/relationships/oleObject" Target="../embeddings/oleObject72.bin"/><Relationship Id="rId2" Type="http://schemas.openxmlformats.org/officeDocument/2006/relationships/image" Target="../media/image126.emf"/><Relationship Id="rId10" Type="http://schemas.openxmlformats.org/officeDocument/2006/relationships/vmlDrawing" Target="../drawings/vmlDrawing20.vml"/><Relationship Id="rId1" Type="http://schemas.openxmlformats.org/officeDocument/2006/relationships/oleObject" Target="../embeddings/oleObject71.bin"/></Relationships>
</file>

<file path=ppt/slides/_rels/slide5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0.png"/></Relationships>
</file>

<file path=ppt/slides/_rels/slide55.xml.rels><?xml version="1.0" encoding="UTF-8" standalone="yes"?>
<Relationships xmlns="http://schemas.openxmlformats.org/package/2006/relationships"><Relationship Id="rId9" Type="http://schemas.openxmlformats.org/officeDocument/2006/relationships/image" Target="../media/image135.emf"/><Relationship Id="rId8" Type="http://schemas.openxmlformats.org/officeDocument/2006/relationships/oleObject" Target="../embeddings/oleObject78.bin"/><Relationship Id="rId7" Type="http://schemas.openxmlformats.org/officeDocument/2006/relationships/image" Target="../media/image134.emf"/><Relationship Id="rId6" Type="http://schemas.openxmlformats.org/officeDocument/2006/relationships/oleObject" Target="../embeddings/oleObject77.bin"/><Relationship Id="rId5" Type="http://schemas.openxmlformats.org/officeDocument/2006/relationships/image" Target="../media/image133.png"/><Relationship Id="rId4" Type="http://schemas.openxmlformats.org/officeDocument/2006/relationships/image" Target="../media/image132.emf"/><Relationship Id="rId3" Type="http://schemas.openxmlformats.org/officeDocument/2006/relationships/oleObject" Target="../embeddings/oleObject76.bin"/><Relationship Id="rId2" Type="http://schemas.openxmlformats.org/officeDocument/2006/relationships/image" Target="../media/image131.emf"/><Relationship Id="rId11" Type="http://schemas.openxmlformats.org/officeDocument/2006/relationships/vmlDrawing" Target="../drawings/vmlDrawing21.vml"/><Relationship Id="rId10" Type="http://schemas.openxmlformats.org/officeDocument/2006/relationships/slideLayout" Target="../slideLayouts/slideLayout5.xml"/><Relationship Id="rId1" Type="http://schemas.openxmlformats.org/officeDocument/2006/relationships/oleObject" Target="../embeddings/oleObject75.bin"/></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37.png"/><Relationship Id="rId1" Type="http://schemas.openxmlformats.org/officeDocument/2006/relationships/image" Target="../media/image136.png"/></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39.png"/></Relationships>
</file>

<file path=ppt/slides/_rels/slide60.xml.rels><?xml version="1.0" encoding="UTF-8" standalone="yes"?>
<Relationships xmlns="http://schemas.openxmlformats.org/package/2006/relationships"><Relationship Id="rId9" Type="http://schemas.openxmlformats.org/officeDocument/2006/relationships/image" Target="../media/image143.emf"/><Relationship Id="rId8" Type="http://schemas.openxmlformats.org/officeDocument/2006/relationships/oleObject" Target="../embeddings/oleObject82.bin"/><Relationship Id="rId7" Type="http://schemas.openxmlformats.org/officeDocument/2006/relationships/image" Target="../media/image142.emf"/><Relationship Id="rId6" Type="http://schemas.openxmlformats.org/officeDocument/2006/relationships/oleObject" Target="../embeddings/oleObject81.bin"/><Relationship Id="rId5" Type="http://schemas.openxmlformats.org/officeDocument/2006/relationships/image" Target="../media/image141.emf"/><Relationship Id="rId4" Type="http://schemas.openxmlformats.org/officeDocument/2006/relationships/oleObject" Target="../embeddings/oleObject80.bin"/><Relationship Id="rId3" Type="http://schemas.openxmlformats.org/officeDocument/2006/relationships/image" Target="../media/image140.emf"/><Relationship Id="rId2" Type="http://schemas.openxmlformats.org/officeDocument/2006/relationships/oleObject" Target="../embeddings/oleObject79.bin"/><Relationship Id="rId19" Type="http://schemas.openxmlformats.org/officeDocument/2006/relationships/vmlDrawing" Target="../drawings/vmlDrawing22.vml"/><Relationship Id="rId18" Type="http://schemas.openxmlformats.org/officeDocument/2006/relationships/slideLayout" Target="../slideLayouts/slideLayout5.xml"/><Relationship Id="rId17" Type="http://schemas.openxmlformats.org/officeDocument/2006/relationships/image" Target="../media/image147.emf"/><Relationship Id="rId16" Type="http://schemas.openxmlformats.org/officeDocument/2006/relationships/oleObject" Target="../embeddings/oleObject86.bin"/><Relationship Id="rId15" Type="http://schemas.openxmlformats.org/officeDocument/2006/relationships/image" Target="../media/image146.emf"/><Relationship Id="rId14" Type="http://schemas.openxmlformats.org/officeDocument/2006/relationships/oleObject" Target="../embeddings/oleObject85.bin"/><Relationship Id="rId13" Type="http://schemas.openxmlformats.org/officeDocument/2006/relationships/image" Target="../media/image145.emf"/><Relationship Id="rId12" Type="http://schemas.openxmlformats.org/officeDocument/2006/relationships/oleObject" Target="../embeddings/oleObject84.bin"/><Relationship Id="rId11" Type="http://schemas.openxmlformats.org/officeDocument/2006/relationships/image" Target="../media/image144.emf"/><Relationship Id="rId10" Type="http://schemas.openxmlformats.org/officeDocument/2006/relationships/oleObject" Target="../embeddings/oleObject83.bin"/><Relationship Id="rId1" Type="http://schemas.openxmlformats.org/officeDocument/2006/relationships/tags" Target="../tags/tag84.xml"/></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91.bin"/><Relationship Id="rId8" Type="http://schemas.openxmlformats.org/officeDocument/2006/relationships/image" Target="../media/image151.emf"/><Relationship Id="rId7" Type="http://schemas.openxmlformats.org/officeDocument/2006/relationships/oleObject" Target="../embeddings/oleObject90.bin"/><Relationship Id="rId6" Type="http://schemas.openxmlformats.org/officeDocument/2006/relationships/image" Target="../media/image150.emf"/><Relationship Id="rId5" Type="http://schemas.openxmlformats.org/officeDocument/2006/relationships/oleObject" Target="../embeddings/oleObject89.bin"/><Relationship Id="rId4" Type="http://schemas.openxmlformats.org/officeDocument/2006/relationships/image" Target="../media/image149.emf"/><Relationship Id="rId31" Type="http://schemas.openxmlformats.org/officeDocument/2006/relationships/notesSlide" Target="../notesSlides/notesSlide4.xml"/><Relationship Id="rId30" Type="http://schemas.openxmlformats.org/officeDocument/2006/relationships/vmlDrawing" Target="../drawings/vmlDrawing23.vml"/><Relationship Id="rId3" Type="http://schemas.openxmlformats.org/officeDocument/2006/relationships/oleObject" Target="../embeddings/oleObject88.bin"/><Relationship Id="rId29" Type="http://schemas.openxmlformats.org/officeDocument/2006/relationships/slideLayout" Target="../slideLayouts/slideLayout5.xml"/><Relationship Id="rId28" Type="http://schemas.openxmlformats.org/officeDocument/2006/relationships/image" Target="../media/image161.emf"/><Relationship Id="rId27" Type="http://schemas.openxmlformats.org/officeDocument/2006/relationships/oleObject" Target="../embeddings/oleObject100.bin"/><Relationship Id="rId26" Type="http://schemas.openxmlformats.org/officeDocument/2006/relationships/image" Target="../media/image160.emf"/><Relationship Id="rId25" Type="http://schemas.openxmlformats.org/officeDocument/2006/relationships/oleObject" Target="../embeddings/oleObject99.bin"/><Relationship Id="rId24" Type="http://schemas.openxmlformats.org/officeDocument/2006/relationships/image" Target="../media/image159.emf"/><Relationship Id="rId23" Type="http://schemas.openxmlformats.org/officeDocument/2006/relationships/oleObject" Target="../embeddings/oleObject98.bin"/><Relationship Id="rId22" Type="http://schemas.openxmlformats.org/officeDocument/2006/relationships/image" Target="../media/image158.emf"/><Relationship Id="rId21" Type="http://schemas.openxmlformats.org/officeDocument/2006/relationships/oleObject" Target="../embeddings/oleObject97.bin"/><Relationship Id="rId20" Type="http://schemas.openxmlformats.org/officeDocument/2006/relationships/image" Target="../media/image157.emf"/><Relationship Id="rId2" Type="http://schemas.openxmlformats.org/officeDocument/2006/relationships/image" Target="../media/image148.emf"/><Relationship Id="rId19" Type="http://schemas.openxmlformats.org/officeDocument/2006/relationships/oleObject" Target="../embeddings/oleObject96.bin"/><Relationship Id="rId18" Type="http://schemas.openxmlformats.org/officeDocument/2006/relationships/image" Target="../media/image156.emf"/><Relationship Id="rId17" Type="http://schemas.openxmlformats.org/officeDocument/2006/relationships/oleObject" Target="../embeddings/oleObject95.bin"/><Relationship Id="rId16" Type="http://schemas.openxmlformats.org/officeDocument/2006/relationships/image" Target="../media/image155.emf"/><Relationship Id="rId15" Type="http://schemas.openxmlformats.org/officeDocument/2006/relationships/oleObject" Target="../embeddings/oleObject94.bin"/><Relationship Id="rId14" Type="http://schemas.openxmlformats.org/officeDocument/2006/relationships/image" Target="../media/image154.emf"/><Relationship Id="rId13" Type="http://schemas.openxmlformats.org/officeDocument/2006/relationships/oleObject" Target="../embeddings/oleObject93.bin"/><Relationship Id="rId12" Type="http://schemas.openxmlformats.org/officeDocument/2006/relationships/image" Target="../media/image153.emf"/><Relationship Id="rId11" Type="http://schemas.openxmlformats.org/officeDocument/2006/relationships/oleObject" Target="../embeddings/oleObject92.bin"/><Relationship Id="rId10" Type="http://schemas.openxmlformats.org/officeDocument/2006/relationships/image" Target="../media/image152.emf"/><Relationship Id="rId1" Type="http://schemas.openxmlformats.org/officeDocument/2006/relationships/oleObject" Target="../embeddings/oleObject87.bin"/></Relationships>
</file>

<file path=ppt/slides/_rels/slide62.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image" Target="../media/image162.png"/></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5.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5.xml"/><Relationship Id="rId1" Type="http://schemas.openxmlformats.org/officeDocument/2006/relationships/image" Target="../media/image166.png"/></Relationships>
</file>

<file path=ppt/slides/_rels/slide6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6.png"/></Relationships>
</file>

<file path=ppt/slides/_rels/slide6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6.png"/></Relationships>
</file>

<file path=ppt/slides/_rels/slide68.xml.rels><?xml version="1.0" encoding="UTF-8" standalone="yes"?>
<Relationships xmlns="http://schemas.openxmlformats.org/package/2006/relationships"><Relationship Id="rId5" Type="http://schemas.openxmlformats.org/officeDocument/2006/relationships/vmlDrawing" Target="../drawings/vmlDrawing24.vml"/><Relationship Id="rId4" Type="http://schemas.openxmlformats.org/officeDocument/2006/relationships/slideLayout" Target="../slideLayouts/slideLayout5.xml"/><Relationship Id="rId3" Type="http://schemas.openxmlformats.org/officeDocument/2006/relationships/image" Target="../media/image143.emf"/><Relationship Id="rId2" Type="http://schemas.openxmlformats.org/officeDocument/2006/relationships/oleObject" Target="../embeddings/oleObject101.bin"/><Relationship Id="rId1" Type="http://schemas.openxmlformats.org/officeDocument/2006/relationships/image" Target="../media/image166.png"/></Relationships>
</file>

<file path=ppt/slides/_rels/slide69.xml.rels><?xml version="1.0" encoding="UTF-8" standalone="yes"?>
<Relationships xmlns="http://schemas.openxmlformats.org/package/2006/relationships"><Relationship Id="rId5" Type="http://schemas.openxmlformats.org/officeDocument/2006/relationships/vmlDrawing" Target="../drawings/vmlDrawing25.vml"/><Relationship Id="rId4" Type="http://schemas.openxmlformats.org/officeDocument/2006/relationships/slideLayout" Target="../slideLayouts/slideLayout5.xml"/><Relationship Id="rId3" Type="http://schemas.openxmlformats.org/officeDocument/2006/relationships/image" Target="../media/image166.png"/><Relationship Id="rId2" Type="http://schemas.openxmlformats.org/officeDocument/2006/relationships/image" Target="../media/image167.emf"/><Relationship Id="rId1" Type="http://schemas.openxmlformats.org/officeDocument/2006/relationships/oleObject" Target="../embeddings/oleObject102.bin"/></Relationships>
</file>

<file path=ppt/slides/_rels/slide70.xml.rels><?xml version="1.0" encoding="UTF-8" standalone="yes"?>
<Relationships xmlns="http://schemas.openxmlformats.org/package/2006/relationships"><Relationship Id="rId5" Type="http://schemas.openxmlformats.org/officeDocument/2006/relationships/vmlDrawing" Target="../drawings/vmlDrawing26.vml"/><Relationship Id="rId4" Type="http://schemas.openxmlformats.org/officeDocument/2006/relationships/slideLayout" Target="../slideLayouts/slideLayout5.xml"/><Relationship Id="rId3" Type="http://schemas.openxmlformats.org/officeDocument/2006/relationships/image" Target="../media/image168.emf"/><Relationship Id="rId2" Type="http://schemas.openxmlformats.org/officeDocument/2006/relationships/oleObject" Target="../embeddings/oleObject103.bin"/><Relationship Id="rId1" Type="http://schemas.openxmlformats.org/officeDocument/2006/relationships/image" Target="../media/image166.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6.pn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170.png"/><Relationship Id="rId2" Type="http://schemas.openxmlformats.org/officeDocument/2006/relationships/image" Target="../media/image169.png"/><Relationship Id="rId1" Type="http://schemas.openxmlformats.org/officeDocument/2006/relationships/image" Target="../media/image166.png"/></Relationships>
</file>

<file path=ppt/slides/_rels/slide74.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71.png"/><Relationship Id="rId1" Type="http://schemas.openxmlformats.org/officeDocument/2006/relationships/image" Target="../media/image166.png"/></Relationships>
</file>

<file path=ppt/slides/_rels/slide7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image" Target="../media/image166.png"/></Relationships>
</file>

<file path=ppt/slides/_rels/slide76.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75.png"/><Relationship Id="rId3" Type="http://schemas.openxmlformats.org/officeDocument/2006/relationships/image" Target="../media/image174.png"/><Relationship Id="rId2" Type="http://schemas.openxmlformats.org/officeDocument/2006/relationships/image" Target="../media/image173.png"/><Relationship Id="rId1" Type="http://schemas.openxmlformats.org/officeDocument/2006/relationships/image" Target="../media/image172.png"/></Relationships>
</file>

<file path=ppt/slides/_rels/slide77.xml.rels><?xml version="1.0" encoding="UTF-8" standalone="yes"?>
<Relationships xmlns="http://schemas.openxmlformats.org/package/2006/relationships"><Relationship Id="rId5" Type="http://schemas.openxmlformats.org/officeDocument/2006/relationships/slideLayout" Target="../slideLayouts/slideLayout5.xml"/><Relationship Id="rId4" Type="http://schemas.openxmlformats.org/officeDocument/2006/relationships/image" Target="../media/image179.png"/><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image" Target="../media/image176.png"/></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tags" Target="../tags/tag86.xml"/></Relationships>
</file>

<file path=ppt/slides/_rels/slide7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0.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tags" Target="../tags/tag87.xml"/><Relationship Id="rId1" Type="http://schemas.openxmlformats.org/officeDocument/2006/relationships/image" Target="../media/image181.png"/></Relationships>
</file>

<file path=ppt/slides/_rels/slide81.xml.rels><?xml version="1.0" encoding="UTF-8" standalone="yes"?>
<Relationships xmlns="http://schemas.openxmlformats.org/package/2006/relationships"><Relationship Id="rId9" Type="http://schemas.openxmlformats.org/officeDocument/2006/relationships/tags" Target="../tags/tag96.xml"/><Relationship Id="rId8" Type="http://schemas.openxmlformats.org/officeDocument/2006/relationships/tags" Target="../tags/tag95.xml"/><Relationship Id="rId7" Type="http://schemas.openxmlformats.org/officeDocument/2006/relationships/tags" Target="../tags/tag94.xml"/><Relationship Id="rId6" Type="http://schemas.openxmlformats.org/officeDocument/2006/relationships/tags" Target="../tags/tag93.xml"/><Relationship Id="rId5" Type="http://schemas.openxmlformats.org/officeDocument/2006/relationships/tags" Target="../tags/tag92.xml"/><Relationship Id="rId4" Type="http://schemas.openxmlformats.org/officeDocument/2006/relationships/tags" Target="../tags/tag91.xml"/><Relationship Id="rId3" Type="http://schemas.openxmlformats.org/officeDocument/2006/relationships/tags" Target="../tags/tag90.xml"/><Relationship Id="rId2" Type="http://schemas.openxmlformats.org/officeDocument/2006/relationships/tags" Target="../tags/tag89.xml"/><Relationship Id="rId17" Type="http://schemas.openxmlformats.org/officeDocument/2006/relationships/slideLayout" Target="../slideLayouts/slideLayout5.xml"/><Relationship Id="rId16" Type="http://schemas.openxmlformats.org/officeDocument/2006/relationships/tags" Target="../tags/tag103.xml"/><Relationship Id="rId15" Type="http://schemas.openxmlformats.org/officeDocument/2006/relationships/tags" Target="../tags/tag102.xml"/><Relationship Id="rId14" Type="http://schemas.openxmlformats.org/officeDocument/2006/relationships/tags" Target="../tags/tag101.xml"/><Relationship Id="rId13" Type="http://schemas.openxmlformats.org/officeDocument/2006/relationships/tags" Target="../tags/tag100.xml"/><Relationship Id="rId12" Type="http://schemas.openxmlformats.org/officeDocument/2006/relationships/tags" Target="../tags/tag99.xml"/><Relationship Id="rId11" Type="http://schemas.openxmlformats.org/officeDocument/2006/relationships/tags" Target="../tags/tag98.xml"/><Relationship Id="rId10" Type="http://schemas.openxmlformats.org/officeDocument/2006/relationships/tags" Target="../tags/tag97.xml"/><Relationship Id="rId1" Type="http://schemas.openxmlformats.org/officeDocument/2006/relationships/tags" Target="../tags/tag88.xml"/></Relationships>
</file>

<file path=ppt/slides/_rels/slide8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2.png"/></Relationships>
</file>

<file path=ppt/slides/_rels/slide8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184.png"/><Relationship Id="rId1" Type="http://schemas.openxmlformats.org/officeDocument/2006/relationships/image" Target="../media/image183.png"/></Relationships>
</file>

<file path=ppt/slides/_rels/slide8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5.png"/></Relationships>
</file>

<file path=ppt/slides/_rels/slide8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6.png"/></Relationships>
</file>

<file path=ppt/slides/_rels/slide8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87.png"/></Relationships>
</file>

<file path=ppt/slides/_rels/slide87.xml.rels><?xml version="1.0" encoding="UTF-8" standalone="yes"?>
<Relationships xmlns="http://schemas.openxmlformats.org/package/2006/relationships"><Relationship Id="rId7" Type="http://schemas.openxmlformats.org/officeDocument/2006/relationships/slideLayout" Target="../slideLayouts/slideLayout5.xml"/><Relationship Id="rId6" Type="http://schemas.openxmlformats.org/officeDocument/2006/relationships/image" Target="../media/image193.png"/><Relationship Id="rId5" Type="http://schemas.openxmlformats.org/officeDocument/2006/relationships/image" Target="../media/image192.png"/><Relationship Id="rId4" Type="http://schemas.openxmlformats.org/officeDocument/2006/relationships/image" Target="../media/image191.png"/><Relationship Id="rId3" Type="http://schemas.openxmlformats.org/officeDocument/2006/relationships/image" Target="../media/image190.png"/><Relationship Id="rId2" Type="http://schemas.openxmlformats.org/officeDocument/2006/relationships/image" Target="../media/image189.png"/><Relationship Id="rId1" Type="http://schemas.openxmlformats.org/officeDocument/2006/relationships/image" Target="../media/image188.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9.xml.rels><?xml version="1.0" encoding="UTF-8" standalone="yes"?>
<Relationships xmlns="http://schemas.openxmlformats.org/package/2006/relationships"><Relationship Id="rId5" Type="http://schemas.openxmlformats.org/officeDocument/2006/relationships/vmlDrawing" Target="../drawings/vmlDrawing27.vml"/><Relationship Id="rId4" Type="http://schemas.openxmlformats.org/officeDocument/2006/relationships/slideLayout" Target="../slideLayouts/slideLayout5.xml"/><Relationship Id="rId3" Type="http://schemas.openxmlformats.org/officeDocument/2006/relationships/image" Target="../media/image195.jpeg"/><Relationship Id="rId2" Type="http://schemas.openxmlformats.org/officeDocument/2006/relationships/image" Target="../media/image194.wmf"/><Relationship Id="rId1" Type="http://schemas.openxmlformats.org/officeDocument/2006/relationships/oleObject" Target="../embeddings/oleObject104.bin"/></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5.xml"/><Relationship Id="rId2" Type="http://schemas.openxmlformats.org/officeDocument/2006/relationships/image" Target="../media/image196.emf"/><Relationship Id="rId1" Type="http://schemas.openxmlformats.org/officeDocument/2006/relationships/oleObject" Target="../embeddings/oleObject105.bin"/></Relationships>
</file>

<file path=ppt/slides/_rels/slide91.xml.rels><?xml version="1.0" encoding="UTF-8" standalone="yes"?>
<Relationships xmlns="http://schemas.openxmlformats.org/package/2006/relationships"><Relationship Id="rId6" Type="http://schemas.openxmlformats.org/officeDocument/2006/relationships/vmlDrawing" Target="../drawings/vmlDrawing29.vml"/><Relationship Id="rId5" Type="http://schemas.openxmlformats.org/officeDocument/2006/relationships/slideLayout" Target="../slideLayouts/slideLayout5.xml"/><Relationship Id="rId4" Type="http://schemas.openxmlformats.org/officeDocument/2006/relationships/image" Target="../media/image198.emf"/><Relationship Id="rId3" Type="http://schemas.openxmlformats.org/officeDocument/2006/relationships/oleObject" Target="../embeddings/oleObject107.bin"/><Relationship Id="rId2" Type="http://schemas.openxmlformats.org/officeDocument/2006/relationships/image" Target="../media/image197.emf"/><Relationship Id="rId1" Type="http://schemas.openxmlformats.org/officeDocument/2006/relationships/oleObject" Target="../embeddings/oleObject106.bin"/></Relationships>
</file>

<file path=ppt/slides/_rels/slide92.xml.rels><?xml version="1.0" encoding="UTF-8" standalone="yes"?>
<Relationships xmlns="http://schemas.openxmlformats.org/package/2006/relationships"><Relationship Id="rId7" Type="http://schemas.openxmlformats.org/officeDocument/2006/relationships/vmlDrawing" Target="../drawings/vmlDrawing30.vml"/><Relationship Id="rId6" Type="http://schemas.openxmlformats.org/officeDocument/2006/relationships/slideLayout" Target="../slideLayouts/slideLayout5.xml"/><Relationship Id="rId5" Type="http://schemas.openxmlformats.org/officeDocument/2006/relationships/image" Target="../media/image198.emf"/><Relationship Id="rId4" Type="http://schemas.openxmlformats.org/officeDocument/2006/relationships/oleObject" Target="../embeddings/oleObject109.bin"/><Relationship Id="rId3" Type="http://schemas.openxmlformats.org/officeDocument/2006/relationships/image" Target="../media/image197.emf"/><Relationship Id="rId2" Type="http://schemas.openxmlformats.org/officeDocument/2006/relationships/oleObject" Target="../embeddings/oleObject108.bin"/><Relationship Id="rId1" Type="http://schemas.openxmlformats.org/officeDocument/2006/relationships/image" Target="../media/image199.png"/></Relationships>
</file>

<file path=ppt/slides/_rels/slide93.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02.svg"/><Relationship Id="rId2" Type="http://schemas.openxmlformats.org/officeDocument/2006/relationships/image" Target="../media/image201.png"/><Relationship Id="rId1" Type="http://schemas.openxmlformats.org/officeDocument/2006/relationships/image" Target="../media/image200.jpe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03.png"/></Relationships>
</file>

<file path=ppt/slides/_rels/slide96.xml.rels><?xml version="1.0" encoding="UTF-8" standalone="yes"?>
<Relationships xmlns="http://schemas.openxmlformats.org/package/2006/relationships"><Relationship Id="rId9" Type="http://schemas.openxmlformats.org/officeDocument/2006/relationships/image" Target="../media/image62.wmf"/><Relationship Id="rId8" Type="http://schemas.openxmlformats.org/officeDocument/2006/relationships/oleObject" Target="../embeddings/oleObject113.bin"/><Relationship Id="rId7" Type="http://schemas.openxmlformats.org/officeDocument/2006/relationships/image" Target="../media/image61.wmf"/><Relationship Id="rId6" Type="http://schemas.openxmlformats.org/officeDocument/2006/relationships/oleObject" Target="../embeddings/oleObject112.bin"/><Relationship Id="rId5" Type="http://schemas.openxmlformats.org/officeDocument/2006/relationships/image" Target="../media/image60.wmf"/><Relationship Id="rId4" Type="http://schemas.openxmlformats.org/officeDocument/2006/relationships/oleObject" Target="../embeddings/oleObject111.bin"/><Relationship Id="rId3" Type="http://schemas.openxmlformats.org/officeDocument/2006/relationships/image" Target="../media/image59.png"/><Relationship Id="rId20" Type="http://schemas.openxmlformats.org/officeDocument/2006/relationships/vmlDrawing" Target="../drawings/vmlDrawing31.vml"/><Relationship Id="rId2" Type="http://schemas.openxmlformats.org/officeDocument/2006/relationships/image" Target="../media/image58.wmf"/><Relationship Id="rId19" Type="http://schemas.openxmlformats.org/officeDocument/2006/relationships/slideLayout" Target="../slideLayouts/slideLayout5.xml"/><Relationship Id="rId18" Type="http://schemas.openxmlformats.org/officeDocument/2006/relationships/image" Target="../media/image67.png"/><Relationship Id="rId17" Type="http://schemas.openxmlformats.org/officeDocument/2006/relationships/image" Target="../media/image66.wmf"/><Relationship Id="rId16" Type="http://schemas.openxmlformats.org/officeDocument/2006/relationships/oleObject" Target="../embeddings/oleObject117.bin"/><Relationship Id="rId15" Type="http://schemas.openxmlformats.org/officeDocument/2006/relationships/image" Target="../media/image65.wmf"/><Relationship Id="rId14" Type="http://schemas.openxmlformats.org/officeDocument/2006/relationships/oleObject" Target="../embeddings/oleObject116.bin"/><Relationship Id="rId13" Type="http://schemas.openxmlformats.org/officeDocument/2006/relationships/image" Target="../media/image64.wmf"/><Relationship Id="rId12" Type="http://schemas.openxmlformats.org/officeDocument/2006/relationships/oleObject" Target="../embeddings/oleObject115.bin"/><Relationship Id="rId11" Type="http://schemas.openxmlformats.org/officeDocument/2006/relationships/image" Target="../media/image63.wmf"/><Relationship Id="rId10" Type="http://schemas.openxmlformats.org/officeDocument/2006/relationships/oleObject" Target="../embeddings/oleObject114.bin"/><Relationship Id="rId1" Type="http://schemas.openxmlformats.org/officeDocument/2006/relationships/oleObject" Target="../embeddings/oleObject110.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04.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9" Type="http://schemas.openxmlformats.org/officeDocument/2006/relationships/image" Target="../media/image210.png"/><Relationship Id="rId8" Type="http://schemas.openxmlformats.org/officeDocument/2006/relationships/image" Target="../media/image209.png"/><Relationship Id="rId7" Type="http://schemas.openxmlformats.org/officeDocument/2006/relationships/image" Target="../media/image208.emf"/><Relationship Id="rId6" Type="http://schemas.openxmlformats.org/officeDocument/2006/relationships/oleObject" Target="../embeddings/oleObject120.bin"/><Relationship Id="rId5" Type="http://schemas.openxmlformats.org/officeDocument/2006/relationships/image" Target="../media/image207.png"/><Relationship Id="rId4" Type="http://schemas.openxmlformats.org/officeDocument/2006/relationships/image" Target="../media/image206.emf"/><Relationship Id="rId3" Type="http://schemas.openxmlformats.org/officeDocument/2006/relationships/oleObject" Target="../embeddings/oleObject119.bin"/><Relationship Id="rId2" Type="http://schemas.openxmlformats.org/officeDocument/2006/relationships/image" Target="../media/image205.emf"/><Relationship Id="rId11" Type="http://schemas.openxmlformats.org/officeDocument/2006/relationships/vmlDrawing" Target="../drawings/vmlDrawing32.vml"/><Relationship Id="rId10" Type="http://schemas.openxmlformats.org/officeDocument/2006/relationships/slideLayout" Target="../slideLayouts/slideLayout5.xml"/><Relationship Id="rId1" Type="http://schemas.openxmlformats.org/officeDocument/2006/relationships/oleObject" Target="../embeddings/oleObject118.bin"/></Relationships>
</file>

<file path=ppt/slides/_rels/slide10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0.png"/></Relationships>
</file>

<file path=ppt/slides/_rels/slide10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1.png"/></Relationships>
</file>

<file path=ppt/slides/_rels/slide103.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13.png"/><Relationship Id="rId1" Type="http://schemas.openxmlformats.org/officeDocument/2006/relationships/image" Target="../media/image212.png"/></Relationships>
</file>

<file path=ppt/slides/_rels/slide10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4.png"/></Relationships>
</file>

<file path=ppt/slides/_rels/slide10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3.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5.png"/></Relationships>
</file>

<file path=ppt/slides/_rels/slide10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6.png"/></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7.png"/></Relationships>
</file>

<file path=ppt/slides/_rels/slide111.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8.png"/></Relationships>
</file>

<file path=ppt/slides/_rels/slide112.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18.png"/></Relationships>
</file>

<file path=ppt/slides/_rels/slide113.xml.rels><?xml version="1.0" encoding="UTF-8" standalone="yes"?>
<Relationships xmlns="http://schemas.openxmlformats.org/package/2006/relationships"><Relationship Id="rId6" Type="http://schemas.openxmlformats.org/officeDocument/2006/relationships/vmlDrawing" Target="../drawings/vmlDrawing33.vml"/><Relationship Id="rId5" Type="http://schemas.openxmlformats.org/officeDocument/2006/relationships/slideLayout" Target="../slideLayouts/slideLayout5.xml"/><Relationship Id="rId4" Type="http://schemas.openxmlformats.org/officeDocument/2006/relationships/image" Target="../media/image221.emf"/><Relationship Id="rId3" Type="http://schemas.openxmlformats.org/officeDocument/2006/relationships/oleObject" Target="../embeddings/oleObject121.bin"/><Relationship Id="rId2" Type="http://schemas.openxmlformats.org/officeDocument/2006/relationships/image" Target="../media/image220.png"/><Relationship Id="rId1" Type="http://schemas.openxmlformats.org/officeDocument/2006/relationships/image" Target="../media/image219.png"/></Relationships>
</file>

<file path=ppt/slides/_rels/slide114.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2.png"/></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166.png"/></Relationships>
</file>

<file path=ppt/slides/_rels/slide11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3.png"/></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24.png"/></Relationships>
</file>

<file path=ppt/slides/_rels/slide118.xml.rels><?xml version="1.0" encoding="UTF-8" standalone="yes"?>
<Relationships xmlns="http://schemas.openxmlformats.org/package/2006/relationships"><Relationship Id="rId9" Type="http://schemas.openxmlformats.org/officeDocument/2006/relationships/oleObject" Target="../embeddings/oleObject125.bin"/><Relationship Id="rId8" Type="http://schemas.openxmlformats.org/officeDocument/2006/relationships/image" Target="../media/image229.png"/><Relationship Id="rId7" Type="http://schemas.openxmlformats.org/officeDocument/2006/relationships/image" Target="../media/image228.png"/><Relationship Id="rId6" Type="http://schemas.openxmlformats.org/officeDocument/2006/relationships/image" Target="../media/image227.emf"/><Relationship Id="rId5" Type="http://schemas.openxmlformats.org/officeDocument/2006/relationships/oleObject" Target="../embeddings/oleObject124.bin"/><Relationship Id="rId4" Type="http://schemas.openxmlformats.org/officeDocument/2006/relationships/image" Target="../media/image226.emf"/><Relationship Id="rId3" Type="http://schemas.openxmlformats.org/officeDocument/2006/relationships/oleObject" Target="../embeddings/oleObject123.bin"/><Relationship Id="rId2" Type="http://schemas.openxmlformats.org/officeDocument/2006/relationships/image" Target="../media/image225.emf"/><Relationship Id="rId12" Type="http://schemas.openxmlformats.org/officeDocument/2006/relationships/vmlDrawing" Target="../drawings/vmlDrawing34.vml"/><Relationship Id="rId11" Type="http://schemas.openxmlformats.org/officeDocument/2006/relationships/slideLayout" Target="../slideLayouts/slideLayout5.xml"/><Relationship Id="rId10" Type="http://schemas.openxmlformats.org/officeDocument/2006/relationships/image" Target="../media/image230.emf"/><Relationship Id="rId1" Type="http://schemas.openxmlformats.org/officeDocument/2006/relationships/oleObject" Target="../embeddings/oleObject122.bin"/></Relationships>
</file>

<file path=ppt/slides/_rels/slide11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1.png"/></Relationships>
</file>

<file path=ppt/slides/_rels/slide120.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2.png"/></Relationships>
</file>

<file path=ppt/slides/_rels/slide121.xml.rels><?xml version="1.0" encoding="UTF-8" standalone="yes"?>
<Relationships xmlns="http://schemas.openxmlformats.org/package/2006/relationships"><Relationship Id="rId3" Type="http://schemas.openxmlformats.org/officeDocument/2006/relationships/slideLayout" Target="../slideLayouts/slideLayout5.xml"/><Relationship Id="rId2" Type="http://schemas.openxmlformats.org/officeDocument/2006/relationships/image" Target="../media/image234.png"/><Relationship Id="rId1" Type="http://schemas.openxmlformats.org/officeDocument/2006/relationships/image" Target="../media/image233.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3.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5.png"/></Relationships>
</file>

<file path=ppt/slides/_rels/slide124.xml.rels><?xml version="1.0" encoding="UTF-8" standalone="yes"?>
<Relationships xmlns="http://schemas.openxmlformats.org/package/2006/relationships"><Relationship Id="rId4" Type="http://schemas.openxmlformats.org/officeDocument/2006/relationships/slideLayout" Target="../slideLayouts/slideLayout5.xml"/><Relationship Id="rId3" Type="http://schemas.openxmlformats.org/officeDocument/2006/relationships/image" Target="../media/image236.png"/><Relationship Id="rId2" Type="http://schemas.microsoft.com/office/2007/relationships/media" Target="../media/media4.mp4"/><Relationship Id="rId1" Type="http://schemas.openxmlformats.org/officeDocument/2006/relationships/video" Target="../media/media4.mp4"/></Relationships>
</file>

<file path=ppt/slides/_rels/slide125.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7.png"/></Relationships>
</file>

<file path=ppt/slides/_rels/slide126.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8.png"/></Relationships>
</file>

<file path=ppt/slides/_rels/slide127.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9.png"/></Relationships>
</file>

<file path=ppt/slides/_rels/slide128.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38.png"/></Relationships>
</file>

<file path=ppt/slides/_rels/slide129.xml.rels><?xml version="1.0" encoding="UTF-8" standalone="yes"?>
<Relationships xmlns="http://schemas.openxmlformats.org/package/2006/relationships"><Relationship Id="rId2" Type="http://schemas.openxmlformats.org/officeDocument/2006/relationships/slideLayout" Target="../slideLayouts/slideLayout5.xml"/><Relationship Id="rId1" Type="http://schemas.openxmlformats.org/officeDocument/2006/relationships/image" Target="../media/image240.png"/></Relationships>
</file>

<file path=ppt/slides/_rels/slide130.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文本框 3"/>
          <p:cNvSpPr txBox="1"/>
          <p:nvPr/>
        </p:nvSpPr>
        <p:spPr>
          <a:xfrm>
            <a:off x="735905" y="1551107"/>
            <a:ext cx="11052176" cy="3907790"/>
          </a:xfrm>
          <a:prstGeom prst="rect">
            <a:avLst/>
          </a:prstGeom>
          <a:ln w="12700">
            <a:miter lim="400000"/>
          </a:ln>
        </p:spPr>
        <p:txBody>
          <a:bodyPr lIns="45719" rIns="45719">
            <a:spAutoFit/>
          </a:bodyPr>
          <a:lstStyle>
            <a:lvl1pPr algn="ctr">
              <a:defRPr sz="4800" b="1">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defRPr>
            </a:lvl1pPr>
          </a:lstStyle>
          <a:p>
            <a:pPr>
              <a:defRPr>
                <a:latin typeface="Arial" panose="020B0604020202020204"/>
                <a:ea typeface="Arial" panose="020B0604020202020204"/>
                <a:cs typeface="Arial" panose="020B0604020202020204"/>
                <a:sym typeface="Arial" panose="020B0604020202020204"/>
              </a:defRPr>
            </a:pPr>
            <a:endParaRPr lang="en-US" sz="3600" dirty="0"/>
          </a:p>
          <a:p>
            <a:pPr>
              <a:defRPr>
                <a:latin typeface="Arial" panose="020B0604020202020204"/>
                <a:ea typeface="Arial" panose="020B0604020202020204"/>
                <a:cs typeface="Arial" panose="020B0604020202020204"/>
                <a:sym typeface="Arial" panose="020B0604020202020204"/>
              </a:defRPr>
            </a:pPr>
            <a:r>
              <a:rPr lang="en-US" altLang="zh-CN" sz="3600" dirty="0">
                <a:sym typeface="+mn-ea"/>
              </a:rPr>
              <a:t>Introduction to Computer Vision Basics</a:t>
            </a:r>
            <a:endParaRPr lang="en-US" altLang="zh-CN" sz="36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defRPr>
                <a:latin typeface="Arial" panose="020B0604020202020204"/>
                <a:ea typeface="Arial" panose="020B0604020202020204"/>
                <a:cs typeface="Arial" panose="020B0604020202020204"/>
                <a:sym typeface="Arial" panose="020B0604020202020204"/>
              </a:defRPr>
            </a:pPr>
            <a:endParaRPr lang="en-US" altLang="zh-CN" sz="3600" dirty="0"/>
          </a:p>
          <a:p>
            <a:pPr>
              <a:defRPr>
                <a:latin typeface="Arial" panose="020B0604020202020204"/>
                <a:ea typeface="Arial" panose="020B0604020202020204"/>
                <a:cs typeface="Arial" panose="020B0604020202020204"/>
                <a:sym typeface="Arial" panose="020B0604020202020204"/>
              </a:defRPr>
            </a:pPr>
            <a:endParaRPr lang="en-US" altLang="zh-CN" sz="3600" dirty="0"/>
          </a:p>
          <a:p>
            <a:pPr>
              <a:defRPr>
                <a:latin typeface="Arial" panose="020B0604020202020204"/>
                <a:ea typeface="Arial" panose="020B0604020202020204"/>
                <a:cs typeface="Arial" panose="020B0604020202020204"/>
                <a:sym typeface="Arial" panose="020B0604020202020204"/>
              </a:defRPr>
            </a:pPr>
            <a:r>
              <a:rPr lang="en-US" sz="36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Presenter: </a:t>
            </a:r>
            <a:r>
              <a:rPr lang="zh-CN" altLang="en-US" sz="36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陈一鸣</a:t>
            </a:r>
            <a:endParaRPr lang="en-US" sz="36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defRPr>
                <a:latin typeface="Arial" panose="020B0604020202020204"/>
                <a:ea typeface="Arial" panose="020B0604020202020204"/>
                <a:cs typeface="Arial" panose="020B0604020202020204"/>
                <a:sym typeface="Arial" panose="020B0604020202020204"/>
              </a:defRPr>
            </a:pPr>
            <a:r>
              <a:rPr lang="en-US" sz="36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sz="36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a:p>
            <a:pPr>
              <a:defRPr>
                <a:latin typeface="Arial" panose="020B0604020202020204"/>
                <a:ea typeface="Arial" panose="020B0604020202020204"/>
                <a:cs typeface="Arial" panose="020B0604020202020204"/>
                <a:sym typeface="Arial" panose="020B0604020202020204"/>
              </a:defRPr>
            </a:pPr>
            <a:r>
              <a:rPr lang="en-US" sz="32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 </a:t>
            </a:r>
            <a:endParaRPr sz="3200" dirty="0">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sp>
        <p:nvSpPr>
          <p:cNvPr id="142" name="灯片编号占位符 2"/>
          <p:cNvSpPr txBox="1">
            <a:spLocks noGrp="1"/>
          </p:cNvSpPr>
          <p:nvPr>
            <p:ph type="sldNum" sz="quarter" idx="2"/>
          </p:nvPr>
        </p:nvSpPr>
        <p:spPr>
          <a:xfrm>
            <a:off x="11164902" y="6404292"/>
            <a:ext cx="188898" cy="269241"/>
          </a:xfrm>
          <a:prstGeom prst="rect">
            <a:avLst/>
          </a:prstGeom>
        </p:spPr>
        <p:txBody>
          <a:bodyPr/>
          <a:lstStyle/>
          <a:p>
            <a:fld id="{86CB4B4D-7CA3-9044-876B-883B54F8677D}" type="slidenum">
              <a:rPr/>
            </a:fld>
            <a:endParaRPr/>
          </a:p>
        </p:txBody>
      </p:sp>
      <p:pic>
        <p:nvPicPr>
          <p:cNvPr id="2" name="图片 1" descr="计算机楼——西门（蓝色）=="/>
          <p:cNvPicPr>
            <a:picLocks noChangeAspect="1"/>
          </p:cNvPicPr>
          <p:nvPr/>
        </p:nvPicPr>
        <p:blipFill>
          <a:blip r:embed="rId1"/>
          <a:srcRect l="1146" b="9039"/>
          <a:stretch>
            <a:fillRect/>
          </a:stretch>
        </p:blipFill>
        <p:spPr>
          <a:xfrm>
            <a:off x="-8255" y="3851910"/>
            <a:ext cx="12200255" cy="3006090"/>
          </a:xfrm>
          <a:prstGeom prst="rect">
            <a:avLst/>
          </a:prstGeom>
        </p:spPr>
      </p:pic>
      <p:pic>
        <p:nvPicPr>
          <p:cNvPr id="3" name="图片 2" descr="吉大logo-蓝"/>
          <p:cNvPicPr>
            <a:picLocks noChangeAspect="1"/>
          </p:cNvPicPr>
          <p:nvPr/>
        </p:nvPicPr>
        <p:blipFill>
          <a:blip r:embed="rId2"/>
          <a:stretch>
            <a:fillRect/>
          </a:stretch>
        </p:blipFill>
        <p:spPr>
          <a:xfrm>
            <a:off x="2212971" y="224424"/>
            <a:ext cx="4049022" cy="1195091"/>
          </a:xfrm>
          <a:prstGeom prst="rect">
            <a:avLst/>
          </a:prstGeom>
        </p:spPr>
      </p:pic>
      <p:pic>
        <p:nvPicPr>
          <p:cNvPr id="4" name="图片 3"/>
          <p:cNvPicPr>
            <a:picLocks noChangeAspect="1"/>
          </p:cNvPicPr>
          <p:nvPr/>
        </p:nvPicPr>
        <p:blipFill>
          <a:blip r:embed="rId3"/>
          <a:stretch>
            <a:fillRect/>
          </a:stretch>
        </p:blipFill>
        <p:spPr>
          <a:xfrm>
            <a:off x="6540282" y="-1"/>
            <a:ext cx="2117444" cy="1419516"/>
          </a:xfrm>
          <a:prstGeom prst="rect">
            <a:avLst/>
          </a:prstGeom>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7000" y="-68580"/>
            <a:ext cx="10515600" cy="1325563"/>
          </a:xfrm>
        </p:spPr>
        <p:txBody>
          <a:bodyPr/>
          <a:lstStyle/>
          <a:p>
            <a:r>
              <a:rPr kumimoji="1" lang="zh-CN" altLang="en-US" dirty="0"/>
              <a:t>图像的基本知识</a:t>
            </a:r>
            <a:endParaRPr kumimoji="1" lang="zh-CN" altLang="en-US" dirty="0"/>
          </a:p>
        </p:txBody>
      </p:sp>
      <p:sp>
        <p:nvSpPr>
          <p:cNvPr id="3" name="文本占位符 2"/>
          <p:cNvSpPr>
            <a:spLocks noGrp="1"/>
          </p:cNvSpPr>
          <p:nvPr>
            <p:ph type="body" idx="1"/>
          </p:nvPr>
        </p:nvSpPr>
        <p:spPr>
          <a:xfrm>
            <a:off x="213360" y="1212850"/>
            <a:ext cx="11140440" cy="5290820"/>
          </a:xfrm>
        </p:spPr>
        <p:txBody>
          <a:bodyPr>
            <a:normAutofit fontScale="90000" lnSpcReduction="10000"/>
          </a:bodyPr>
          <a:lstStyle/>
          <a:p>
            <a:pPr>
              <a:lnSpc>
                <a:spcPct val="100000"/>
              </a:lnSpc>
              <a:buFont typeface="Wingdings" panose="05000000000000000000" charset="0"/>
              <a:buChar char="Ø"/>
            </a:pPr>
            <a:r>
              <a:rPr kumimoji="1" lang="zh-CN" altLang="en-US" dirty="0"/>
              <a:t>像素是构成数字化图像的最小单位</a:t>
            </a:r>
            <a:endParaRPr kumimoji="1" lang="zh-CN" altLang="en-US" dirty="0"/>
          </a:p>
          <a:p>
            <a:pPr>
              <a:lnSpc>
                <a:spcPct val="100000"/>
              </a:lnSpc>
              <a:buFont typeface="Wingdings" panose="05000000000000000000" charset="0"/>
              <a:buChar char="Ø"/>
            </a:pPr>
            <a:r>
              <a:rPr kumimoji="1" lang="en-US" altLang="zh-CN" dirty="0"/>
              <a:t>RGB</a:t>
            </a:r>
            <a:r>
              <a:rPr kumimoji="1" lang="zh-CN" altLang="en-US" dirty="0"/>
              <a:t>图像通常由三部分决定：</a:t>
            </a:r>
            <a:r>
              <a:rPr kumimoji="1" lang="zh-CN" altLang="en-US" b="1" dirty="0"/>
              <a:t>高度 </a:t>
            </a:r>
            <a:r>
              <a:rPr kumimoji="1" lang="en-US" altLang="zh-CN" b="1" dirty="0"/>
              <a:t>Height</a:t>
            </a:r>
            <a:r>
              <a:rPr kumimoji="1" lang="zh-CN" altLang="en-US" dirty="0"/>
              <a:t>、</a:t>
            </a:r>
            <a:r>
              <a:rPr kumimoji="1" lang="zh-CN" altLang="en-US" b="1" dirty="0"/>
              <a:t>宽度 </a:t>
            </a:r>
            <a:r>
              <a:rPr kumimoji="1" lang="en-US" altLang="zh-CN" b="1" dirty="0"/>
              <a:t>Width</a:t>
            </a:r>
            <a:r>
              <a:rPr kumimoji="1" lang="zh-CN" altLang="en-US" dirty="0"/>
              <a:t>、</a:t>
            </a:r>
            <a:r>
              <a:rPr kumimoji="1" lang="zh-CN" altLang="en-US" b="1" dirty="0"/>
              <a:t>通道 </a:t>
            </a:r>
            <a:r>
              <a:rPr kumimoji="1" lang="en-US" altLang="zh-CN" b="1" dirty="0"/>
              <a:t>Channel</a:t>
            </a:r>
            <a:endParaRPr kumimoji="1" lang="en-US" altLang="zh-CN" b="1" dirty="0"/>
          </a:p>
          <a:p>
            <a:pPr>
              <a:lnSpc>
                <a:spcPct val="100000"/>
              </a:lnSpc>
              <a:buFont typeface="Wingdings" panose="05000000000000000000" charset="0"/>
              <a:buChar char="Ø"/>
            </a:pPr>
            <a:r>
              <a:rPr kumimoji="1" lang="en-US" altLang="zh-CN" dirty="0"/>
              <a:t>RGB</a:t>
            </a:r>
            <a:r>
              <a:rPr kumimoji="1" lang="zh-CN" altLang="en-US" dirty="0"/>
              <a:t>图像有三个通道：</a:t>
            </a:r>
            <a:r>
              <a:rPr kumimoji="1" lang="en-US" altLang="zh-CN" b="1" dirty="0"/>
              <a:t>R </a:t>
            </a:r>
            <a:r>
              <a:rPr kumimoji="1" lang="zh-CN" altLang="en-US" b="1" dirty="0"/>
              <a:t>红色</a:t>
            </a:r>
            <a:r>
              <a:rPr kumimoji="1" lang="zh-CN" altLang="en-US" dirty="0"/>
              <a:t>、</a:t>
            </a:r>
            <a:r>
              <a:rPr kumimoji="1" lang="en-US" altLang="zh-CN" b="1" dirty="0"/>
              <a:t>G </a:t>
            </a:r>
            <a:r>
              <a:rPr kumimoji="1" lang="zh-CN" altLang="en-US" b="1" dirty="0"/>
              <a:t>绿色</a:t>
            </a:r>
            <a:r>
              <a:rPr kumimoji="1" lang="zh-CN" altLang="en-US" dirty="0"/>
              <a:t>、</a:t>
            </a:r>
            <a:r>
              <a:rPr kumimoji="1" lang="en-US" altLang="zh-CN" b="1" dirty="0"/>
              <a:t>B </a:t>
            </a:r>
            <a:r>
              <a:rPr kumimoji="1" lang="zh-CN" altLang="en-US" b="1" dirty="0"/>
              <a:t>蓝色</a:t>
            </a:r>
            <a:endParaRPr kumimoji="1" lang="zh-CN" altLang="en-US" b="1" dirty="0"/>
          </a:p>
          <a:p>
            <a:pPr>
              <a:lnSpc>
                <a:spcPct val="100000"/>
              </a:lnSpc>
              <a:buFont typeface="Wingdings" panose="05000000000000000000" charset="0"/>
              <a:buChar char="Ø"/>
            </a:pPr>
            <a:r>
              <a:rPr kumimoji="1" lang="en-US" altLang="zh-CN" dirty="0"/>
              <a:t>RGB</a:t>
            </a:r>
            <a:r>
              <a:rPr kumimoji="1" lang="zh-CN" altLang="en-US" dirty="0"/>
              <a:t>图像像素用八位数据结构表示，数值范围在</a:t>
            </a:r>
            <a:r>
              <a:rPr kumimoji="1" lang="en-US" altLang="zh-CN" dirty="0"/>
              <a:t>0—255</a:t>
            </a:r>
            <a:r>
              <a:rPr kumimoji="1" lang="zh-CN" altLang="en-US" dirty="0"/>
              <a:t>之间</a:t>
            </a:r>
            <a:endParaRPr kumimoji="1" lang="zh-CN" altLang="en-US" dirty="0"/>
          </a:p>
          <a:p>
            <a:pPr marL="0" indent="0">
              <a:lnSpc>
                <a:spcPct val="100000"/>
              </a:lnSpc>
              <a:buFont typeface="Wingdings" panose="05000000000000000000" charset="0"/>
              <a:buNone/>
            </a:pPr>
            <a:r>
              <a:rPr kumimoji="1" lang="en-US" altLang="zh-CN" dirty="0"/>
              <a:t>eg</a:t>
            </a:r>
            <a:r>
              <a:rPr kumimoji="1" lang="zh-CN" altLang="en-US" dirty="0"/>
              <a:t>：</a:t>
            </a:r>
            <a:r>
              <a:rPr kumimoji="1" lang="en-US" altLang="zh-CN" dirty="0"/>
              <a:t>R=255  G=128  B=0 </a:t>
            </a:r>
            <a:r>
              <a:rPr kumimoji="1" lang="zh-CN" altLang="en-US" dirty="0"/>
              <a:t>表示偏橙色</a:t>
            </a:r>
            <a:endParaRPr kumimoji="1" lang="zh-CN" altLang="en-US" dirty="0"/>
          </a:p>
          <a:p>
            <a:pPr marL="0" indent="0">
              <a:lnSpc>
                <a:spcPct val="100000"/>
              </a:lnSpc>
              <a:buFont typeface="Wingdings" panose="05000000000000000000" charset="0"/>
              <a:buNone/>
            </a:pPr>
            <a:endParaRPr kumimoji="1" lang="en-US" altLang="zh-CN" dirty="0"/>
          </a:p>
          <a:p>
            <a:pPr>
              <a:lnSpc>
                <a:spcPct val="100000"/>
              </a:lnSpc>
              <a:buFont typeface="Wingdings" panose="05000000000000000000" charset="0"/>
              <a:buChar char="Ø"/>
            </a:pPr>
            <a:r>
              <a:rPr kumimoji="1" lang="zh-CN" altLang="en-US" dirty="0"/>
              <a:t>图像张量的概念</a:t>
            </a:r>
            <a:endParaRPr kumimoji="1" lang="zh-CN" altLang="en-US" dirty="0"/>
          </a:p>
          <a:p>
            <a:pPr marL="0" indent="0">
              <a:buFont typeface="Wingdings" panose="05000000000000000000" charset="0"/>
              <a:buNone/>
            </a:pPr>
            <a:r>
              <a:rPr kumimoji="1" lang="en-US" altLang="zh-CN" dirty="0"/>
              <a:t>   0</a:t>
            </a:r>
            <a:r>
              <a:rPr kumimoji="1" lang="zh-CN" altLang="en-US" dirty="0"/>
              <a:t>维张量、</a:t>
            </a:r>
            <a:r>
              <a:rPr kumimoji="1" lang="en-US" altLang="zh-CN" dirty="0"/>
              <a:t>1</a:t>
            </a:r>
            <a:r>
              <a:rPr kumimoji="1" lang="zh-CN" altLang="en-US" dirty="0"/>
              <a:t>维张量、</a:t>
            </a:r>
            <a:r>
              <a:rPr kumimoji="1" lang="en-US" altLang="zh-CN" dirty="0"/>
              <a:t>2</a:t>
            </a:r>
            <a:r>
              <a:rPr kumimoji="1" lang="zh-CN" altLang="en-US" dirty="0"/>
              <a:t>维张量</a:t>
            </a:r>
            <a:endParaRPr kumimoji="1" lang="zh-CN" altLang="en-US" dirty="0"/>
          </a:p>
          <a:p>
            <a:pPr marL="0" indent="0">
              <a:lnSpc>
                <a:spcPct val="100000"/>
              </a:lnSpc>
              <a:buFont typeface="Wingdings" panose="05000000000000000000" charset="0"/>
              <a:buNone/>
            </a:pPr>
            <a:r>
              <a:rPr kumimoji="1" lang="en-US" altLang="zh-CN" dirty="0"/>
              <a:t>   3</a:t>
            </a:r>
            <a:r>
              <a:rPr kumimoji="1" lang="zh-CN" altLang="en-US" dirty="0"/>
              <a:t>维张量来描述单张图像</a:t>
            </a:r>
            <a:r>
              <a:rPr kumimoji="1" lang="en-US" altLang="zh-CN" dirty="0"/>
              <a:t>  [C, H, W]</a:t>
            </a:r>
            <a:endParaRPr kumimoji="1" lang="en-US" altLang="zh-CN" dirty="0"/>
          </a:p>
          <a:p>
            <a:pPr marL="0" indent="0">
              <a:lnSpc>
                <a:spcPct val="100000"/>
              </a:lnSpc>
              <a:buFont typeface="Wingdings" panose="05000000000000000000" charset="0"/>
              <a:buNone/>
            </a:pPr>
            <a:r>
              <a:rPr kumimoji="1" lang="en-US" altLang="zh-CN" dirty="0"/>
              <a:t>   4</a:t>
            </a:r>
            <a:r>
              <a:rPr kumimoji="1" lang="zh-CN" altLang="en-US" dirty="0"/>
              <a:t>维张量来描述多张图像</a:t>
            </a:r>
            <a:r>
              <a:rPr kumimoji="1" lang="en-US" altLang="zh-CN" dirty="0"/>
              <a:t>  [N, C, H, W]</a:t>
            </a:r>
            <a:endParaRPr kumimoji="1" lang="en-US" altLang="zh-CN" dirty="0"/>
          </a:p>
          <a:p>
            <a:pPr marL="0" indent="0">
              <a:lnSpc>
                <a:spcPct val="100000"/>
              </a:lnSpc>
              <a:buFont typeface="Wingdings" panose="05000000000000000000" charset="0"/>
              <a:buNone/>
            </a:pPr>
            <a:endParaRPr kumimoji="1" lang="en-US" altLang="zh-CN" dirty="0"/>
          </a:p>
          <a:p>
            <a:pPr marL="0" indent="0">
              <a:lnSpc>
                <a:spcPct val="100000"/>
              </a:lnSpc>
              <a:buFont typeface="Wingdings" panose="05000000000000000000" charset="0"/>
              <a:buNone/>
            </a:pPr>
            <a:r>
              <a:rPr kumimoji="1" lang="en-US" altLang="zh-CN" dirty="0"/>
              <a:t>&lt;</a:t>
            </a:r>
            <a:r>
              <a:rPr kumimoji="1" lang="zh-CN" altLang="en-US" dirty="0"/>
              <a:t>注</a:t>
            </a:r>
            <a:r>
              <a:rPr kumimoji="1" lang="en-US" altLang="zh-CN" dirty="0"/>
              <a:t>&gt;</a:t>
            </a:r>
            <a:r>
              <a:rPr kumimoji="1" lang="zh-CN" altLang="en-US" dirty="0"/>
              <a:t>有时会运用归一化技术，将数值转化为浮点数，减少不同通道之间的尺度差异</a:t>
            </a:r>
            <a:endParaRPr kumimoji="1" lang="zh-CN" altLang="en-US" dirty="0"/>
          </a:p>
          <a:p>
            <a:pPr marL="0" indent="0">
              <a:lnSpc>
                <a:spcPct val="100000"/>
              </a:lnSpc>
              <a:buFont typeface="Wingdings" panose="05000000000000000000" charset="0"/>
              <a:buNone/>
            </a:pPr>
            <a:endParaRPr kumimoji="1" lang="en-US" altLang="zh-CN" dirty="0"/>
          </a:p>
          <a:p>
            <a:pPr marL="0" indent="0">
              <a:lnSpc>
                <a:spcPct val="100000"/>
              </a:lnSpc>
              <a:buFont typeface="Wingdings" panose="05000000000000000000" charset="0"/>
              <a:buNone/>
            </a:pPr>
            <a:endParaRPr kumimoji="1" lang="en-US" altLang="zh-CN" dirty="0"/>
          </a:p>
          <a:p>
            <a:pPr marL="0" indent="0">
              <a:buFont typeface="Wingdings" panose="05000000000000000000" charset="0"/>
              <a:buNone/>
            </a:pPr>
            <a:endParaRPr kumimoji="1" lang="zh-CN" altLang="en-US" dirty="0"/>
          </a:p>
          <a:p>
            <a:pPr marL="0" indent="0">
              <a:buFont typeface="Wingdings" panose="05000000000000000000" charset="0"/>
              <a:buNone/>
            </a:pPr>
            <a:endParaRPr kumimoji="1" lang="en-US" altLang="zh-CN" dirty="0"/>
          </a:p>
        </p:txBody>
      </p:sp>
      <p:sp>
        <p:nvSpPr>
          <p:cNvPr id="4" name="灯片编号占位符 3"/>
          <p:cNvSpPr>
            <a:spLocks noGrp="1"/>
          </p:cNvSpPr>
          <p:nvPr>
            <p:ph type="sldNum" sz="quarter" idx="2"/>
          </p:nvPr>
        </p:nvSpPr>
        <p:spPr>
          <a:xfrm>
            <a:off x="11183621" y="6401118"/>
            <a:ext cx="170180" cy="275590"/>
          </a:xfrm>
        </p:spPr>
        <p:txBody>
          <a:bodyPr/>
          <a:lstStyle/>
          <a:p>
            <a:fld id="{86CB4B4D-7CA3-9044-876B-883B54F8677D}" type="slidenum">
              <a:rPr lang="en-US" altLang="zh-CN" smtClean="0"/>
            </a:fld>
            <a:endParaRPr lang="zh-CN" altLang="en-US"/>
          </a:p>
        </p:txBody>
      </p:sp>
      <p:pic>
        <p:nvPicPr>
          <p:cNvPr id="5" name="图片 4"/>
          <p:cNvPicPr>
            <a:picLocks noChangeAspect="1"/>
          </p:cNvPicPr>
          <p:nvPr/>
        </p:nvPicPr>
        <p:blipFill>
          <a:blip r:embed="rId1"/>
          <a:stretch>
            <a:fillRect/>
          </a:stretch>
        </p:blipFill>
        <p:spPr>
          <a:xfrm>
            <a:off x="6388100" y="3141345"/>
            <a:ext cx="4465320" cy="2364740"/>
          </a:xfrm>
          <a:prstGeom prst="rect">
            <a:avLst/>
          </a:prstGeom>
        </p:spPr>
      </p:pic>
    </p:spTree>
    <p:custDataLst>
      <p:tags r:id="rId2"/>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70815" y="68580"/>
            <a:ext cx="10515600" cy="1325563"/>
          </a:xfrm>
        </p:spPr>
        <p:txBody>
          <a:bodyPr/>
          <a:p>
            <a:r>
              <a:rPr lang="zh-CN" altLang="en-US"/>
              <a:t>图像分类</a:t>
            </a:r>
            <a:endParaRPr lang="zh-CN" altLang="en-US"/>
          </a:p>
        </p:txBody>
      </p:sp>
      <p:sp>
        <p:nvSpPr>
          <p:cNvPr id="3" name="文本占位符 2"/>
          <p:cNvSpPr>
            <a:spLocks noGrp="1"/>
          </p:cNvSpPr>
          <p:nvPr>
            <p:ph type="body" idx="1"/>
          </p:nvPr>
        </p:nvSpPr>
        <p:spPr>
          <a:xfrm>
            <a:off x="171132" y="1253172"/>
            <a:ext cx="11140214" cy="4351338"/>
          </a:xfrm>
        </p:spPr>
        <p:txBody>
          <a:bodyPr/>
          <a:p>
            <a:pPr marL="0" indent="0">
              <a:buNone/>
            </a:pPr>
            <a:r>
              <a:rPr lang="zh-CN" altLang="en-US">
                <a:sym typeface="+mn-ea"/>
              </a:rPr>
              <a:t>图像分类任务：输入一个图像来判断它属于哪个类别</a:t>
            </a:r>
            <a:endParaRPr lang="zh-CN" altLang="en-US"/>
          </a:p>
          <a:p>
            <a:pPr marL="0" indent="0">
              <a:buNone/>
            </a:pPr>
            <a:endParaRPr lang="zh-CN" altLang="en-US"/>
          </a:p>
        </p:txBody>
      </p:sp>
      <p:sp>
        <p:nvSpPr>
          <p:cNvPr id="4" name="灯片编号占位符 3"/>
          <p:cNvSpPr>
            <a:spLocks noGrp="1"/>
          </p:cNvSpPr>
          <p:nvPr>
            <p:ph type="sldNum" sz="quarter" idx="2"/>
          </p:nvPr>
        </p:nvSpPr>
        <p:spPr>
          <a:xfrm>
            <a:off x="11183621" y="6401118"/>
            <a:ext cx="170180" cy="275590"/>
          </a:xfrm>
        </p:spPr>
        <p:txBody>
          <a:bodyPr/>
          <a:p>
            <a:fld id="{86CB4B4D-7CA3-9044-876B-883B54F8677D}" type="slidenum">
              <a:rPr/>
            </a:fld>
            <a:endParaRPr/>
          </a:p>
        </p:txBody>
      </p:sp>
      <p:graphicFrame>
        <p:nvGraphicFramePr>
          <p:cNvPr id="7" name="表格 6"/>
          <p:cNvGraphicFramePr>
            <a:graphicFrameLocks noGrp="1"/>
          </p:cNvGraphicFramePr>
          <p:nvPr>
            <p:custDataLst>
              <p:tags r:id="rId1"/>
            </p:custDataLst>
          </p:nvPr>
        </p:nvGraphicFramePr>
        <p:xfrm>
          <a:off x="170815" y="1983105"/>
          <a:ext cx="11595735" cy="2590800"/>
        </p:xfrm>
        <a:graphic>
          <a:graphicData uri="http://schemas.openxmlformats.org/drawingml/2006/table">
            <a:tbl>
              <a:tblPr firstRow="1" firstCol="1">
                <a:tableStyleId>{CF821DB8-F4EB-4A41-A1BA-3FCAFE7338EE}</a:tableStyleId>
              </a:tblPr>
              <a:tblGrid>
                <a:gridCol w="2252980"/>
                <a:gridCol w="5368290"/>
                <a:gridCol w="3974465"/>
              </a:tblGrid>
              <a:tr h="0">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任务类型</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核心目标</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a:latin typeface="微软雅黑" panose="020B0503020204020204" pitchFamily="34" charset="-122"/>
                          <a:ea typeface="微软雅黑" panose="020B0503020204020204" pitchFamily="34" charset="-122"/>
                          <a:cs typeface="Arial" panose="020B0604020202020204" pitchFamily="34" charset="0"/>
                        </a:rPr>
                        <a:t>输出形式</a:t>
                      </a:r>
                      <a:endParaRPr lang="zh-CN" altLang="en-US" sz="20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sz="2000" b="0" dirty="0">
                          <a:latin typeface="微软雅黑" panose="020B0503020204020204" pitchFamily="34" charset="-122"/>
                          <a:ea typeface="微软雅黑" panose="020B0503020204020204" pitchFamily="34" charset="-122"/>
                          <a:cs typeface="Arial" panose="020B0604020202020204" pitchFamily="34" charset="0"/>
                        </a:rPr>
                        <a:t>二分类</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判断输入图像是否属于某一个特定类别</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单个 0 或 1 的标签（或概率值）</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多分类</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将图像分入多个互斥的候选类别中的某一类</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单个明确的类别标签</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a:latin typeface="微软雅黑" panose="020B0503020204020204" pitchFamily="34" charset="-122"/>
                          <a:ea typeface="微软雅黑" panose="020B0503020204020204" pitchFamily="34" charset="-122"/>
                          <a:cs typeface="Arial" panose="020B0604020202020204" pitchFamily="34" charset="0"/>
                        </a:rPr>
                        <a:t>多标签分类</a:t>
                      </a:r>
                      <a:endParaRPr lang="zh-CN" altLang="en-US" sz="2000" b="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识别单张图像中同时存在的多个不同类别的属性或目标</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多个独立标签的组合列表</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细粒度分类</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在同一个大类内部，区分视觉特征极其相似的具体子类别</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极其具体的子类别标签</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ustDataLst>
      <p:tags r:id="rId2"/>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9060" y="111125"/>
            <a:ext cx="10515600" cy="1325563"/>
          </a:xfrm>
        </p:spPr>
        <p:txBody>
          <a:bodyPr/>
          <a:p>
            <a:r>
              <a:rPr lang="zh-CN" altLang="en-US"/>
              <a:t>图像分类方法</a:t>
            </a:r>
            <a:endParaRPr lang="zh-CN" altLang="en-US"/>
          </a:p>
        </p:txBody>
      </p:sp>
      <p:sp>
        <p:nvSpPr>
          <p:cNvPr id="3" name="文本占位符 2"/>
          <p:cNvSpPr>
            <a:spLocks noGrp="1"/>
          </p:cNvSpPr>
          <p:nvPr>
            <p:ph type="body" idx="1"/>
          </p:nvPr>
        </p:nvSpPr>
        <p:spPr>
          <a:xfrm>
            <a:off x="99377" y="1532572"/>
            <a:ext cx="11140214" cy="4351338"/>
          </a:xfrm>
        </p:spPr>
        <p:txBody>
          <a:bodyPr/>
          <a:p>
            <a:pPr marL="0" indent="0">
              <a:buFont typeface="Wingdings" panose="05000000000000000000" charset="0"/>
              <a:buNone/>
            </a:pPr>
            <a:r>
              <a:rPr lang="zh-CN" altLang="en-US"/>
              <a:t>图像分类方法：</a:t>
            </a:r>
            <a:r>
              <a:rPr lang="en-US" altLang="zh-CN"/>
              <a:t>K</a:t>
            </a:r>
            <a:r>
              <a:rPr lang="zh-CN" altLang="en-US"/>
              <a:t>近邻算法、线性分类器、神经网络、卷积神经网络</a:t>
            </a:r>
            <a:r>
              <a:rPr lang="en-US" altLang="zh-CN"/>
              <a:t>CNN</a:t>
            </a:r>
            <a:r>
              <a:rPr lang="zh-CN" altLang="en-US"/>
              <a:t>、</a:t>
            </a:r>
            <a:r>
              <a:rPr lang="en-US" altLang="zh-CN"/>
              <a:t>ViT</a:t>
            </a:r>
            <a:endParaRPr lang="en-US" altLang="zh-CN"/>
          </a:p>
          <a:p>
            <a:pPr marL="0" indent="0">
              <a:buFont typeface="Wingdings" panose="05000000000000000000" charset="0"/>
              <a:buNone/>
            </a:pPr>
            <a:endParaRPr lang="en-US" altLang="zh-CN"/>
          </a:p>
        </p:txBody>
      </p:sp>
      <p:sp>
        <p:nvSpPr>
          <p:cNvPr id="4" name="灯片编号占位符 3"/>
          <p:cNvSpPr>
            <a:spLocks noGrp="1"/>
          </p:cNvSpPr>
          <p:nvPr>
            <p:ph type="sldNum" sz="quarter" idx="2"/>
          </p:nvPr>
        </p:nvSpPr>
        <p:spPr>
          <a:xfrm>
            <a:off x="11268076" y="6259513"/>
            <a:ext cx="170180" cy="275590"/>
          </a:xfrm>
        </p:spPr>
        <p:txBody>
          <a:bodyPr/>
          <a:p>
            <a:fld id="{86CB4B4D-7CA3-9044-876B-883B54F8677D}" type="slidenum">
              <a:rPr/>
            </a:fld>
            <a:endParaRPr/>
          </a:p>
        </p:txBody>
      </p:sp>
      <p:graphicFrame>
        <p:nvGraphicFramePr>
          <p:cNvPr id="7" name="表格 6"/>
          <p:cNvGraphicFramePr>
            <a:graphicFrameLocks noGrp="1"/>
          </p:cNvGraphicFramePr>
          <p:nvPr>
            <p:custDataLst>
              <p:tags r:id="rId1"/>
            </p:custDataLst>
          </p:nvPr>
        </p:nvGraphicFramePr>
        <p:xfrm>
          <a:off x="99060" y="2453005"/>
          <a:ext cx="11993245" cy="2682240"/>
        </p:xfrm>
        <a:graphic>
          <a:graphicData uri="http://schemas.openxmlformats.org/drawingml/2006/table">
            <a:tbl>
              <a:tblPr firstRow="1" firstCol="1">
                <a:tableStyleId>{CF821DB8-F4EB-4A41-A1BA-3FCAFE7338EE}</a:tableStyleId>
              </a:tblPr>
              <a:tblGrid>
                <a:gridCol w="1932940"/>
                <a:gridCol w="3618230"/>
                <a:gridCol w="1720850"/>
                <a:gridCol w="1983740"/>
                <a:gridCol w="2737485"/>
              </a:tblGrid>
              <a:tr h="0">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图像分类方法</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核心思想</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a:latin typeface="微软雅黑" panose="020B0503020204020204" pitchFamily="34" charset="-122"/>
                          <a:ea typeface="微软雅黑" panose="020B0503020204020204" pitchFamily="34" charset="-122"/>
                          <a:cs typeface="Arial" panose="020B0604020202020204" pitchFamily="34" charset="0"/>
                        </a:rPr>
                        <a:t>是否学习参数</a:t>
                      </a:r>
                      <a:endParaRPr lang="zh-CN" altLang="en-US" sz="20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a:latin typeface="微软雅黑" panose="020B0503020204020204" pitchFamily="34" charset="-122"/>
                          <a:ea typeface="微软雅黑" panose="020B0503020204020204" pitchFamily="34" charset="-122"/>
                          <a:cs typeface="Arial" panose="020B0604020202020204" pitchFamily="34" charset="0"/>
                        </a:rPr>
                        <a:t>优点</a:t>
                      </a:r>
                      <a:endParaRPr lang="zh-CN" altLang="en-US" sz="20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a:latin typeface="微软雅黑" panose="020B0503020204020204" pitchFamily="34" charset="-122"/>
                          <a:ea typeface="微软雅黑" panose="020B0503020204020204" pitchFamily="34" charset="-122"/>
                          <a:cs typeface="Arial" panose="020B0604020202020204" pitchFamily="34" charset="0"/>
                        </a:rPr>
                        <a:t>缺点</a:t>
                      </a:r>
                      <a:endParaRPr lang="zh-CN" altLang="en-US" sz="20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en-US" altLang="zh-CN" sz="2000" b="0" dirty="0">
                          <a:latin typeface="微软雅黑" panose="020B0503020204020204" pitchFamily="34" charset="-122"/>
                          <a:ea typeface="微软雅黑" panose="020B0503020204020204" pitchFamily="34" charset="-122"/>
                          <a:cs typeface="Arial" panose="020B0604020202020204" pitchFamily="34" charset="0"/>
                        </a:rPr>
                        <a:t>K</a:t>
                      </a: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近邻方法</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找到训练集中最相似的</a:t>
                      </a:r>
                      <a:r>
                        <a:rPr lang="en-US" sz="2000" dirty="0">
                          <a:latin typeface="微软雅黑" panose="020B0503020204020204" pitchFamily="34" charset="-122"/>
                          <a:ea typeface="微软雅黑" panose="020B0503020204020204" pitchFamily="34" charset="-122"/>
                          <a:cs typeface="Times New Roman" panose="02020603050405020304" pitchFamily="18" charset="0"/>
                        </a:rPr>
                        <a:t>K</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张图</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否</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原理直观</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推理慢、存储大</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线性分类器</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对输入做线性变换</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是</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参数少较快</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只能形成线性决策边界</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a:latin typeface="微软雅黑" panose="020B0503020204020204" pitchFamily="34" charset="-122"/>
                          <a:ea typeface="微软雅黑" panose="020B0503020204020204" pitchFamily="34" charset="-122"/>
                          <a:cs typeface="Arial" panose="020B0604020202020204" pitchFamily="34" charset="0"/>
                        </a:rPr>
                        <a:t>神经网络</a:t>
                      </a:r>
                      <a:endParaRPr lang="zh-CN" altLang="en-US" sz="2000" b="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多层线性层加非线性激活</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2000" dirty="0">
                          <a:latin typeface="微软雅黑" panose="020B0503020204020204" pitchFamily="34" charset="-122"/>
                          <a:ea typeface="微软雅黑" panose="020B0503020204020204" pitchFamily="34" charset="-122"/>
                          <a:cs typeface="Arial" panose="020B0604020202020204" pitchFamily="34" charset="0"/>
                        </a:rPr>
                        <a:t>是</a:t>
                      </a:r>
                      <a:endParaRPr 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表达能力更强</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忽略图像空间结构</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en-US" altLang="zh-CN" sz="2000" b="0" dirty="0">
                          <a:latin typeface="微软雅黑" panose="020B0503020204020204" pitchFamily="34" charset="-122"/>
                          <a:ea typeface="微软雅黑" panose="020B0503020204020204" pitchFamily="34" charset="-122"/>
                          <a:cs typeface="Arial" panose="020B0604020202020204" pitchFamily="34" charset="0"/>
                        </a:rPr>
                        <a:t>CNN</a:t>
                      </a:r>
                      <a:endParaRPr lang="en-US" alt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用卷积核在局部区域提取特征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是</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训练成熟</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全局关系建模相对弱</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p>
                      <a:pPr algn="ctr">
                        <a:buNone/>
                      </a:pPr>
                      <a:r>
                        <a:rPr lang="en-US" altLang="zh-CN" sz="2000" b="0" dirty="0">
                          <a:latin typeface="微软雅黑" panose="020B0503020204020204" pitchFamily="34" charset="-122"/>
                          <a:ea typeface="微软雅黑" panose="020B0503020204020204" pitchFamily="34" charset="-122"/>
                          <a:cs typeface="Arial" panose="020B0604020202020204" pitchFamily="34" charset="0"/>
                        </a:rPr>
                        <a:t>ViT</a:t>
                      </a:r>
                      <a:endParaRPr lang="en-US" alt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用自注意力建模全局关系</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是</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全局建模能力强</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通常更依赖数据量、预训练和算力</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5" name="矩形 4"/>
          <p:cNvSpPr/>
          <p:nvPr/>
        </p:nvSpPr>
        <p:spPr>
          <a:xfrm>
            <a:off x="99060" y="2885440"/>
            <a:ext cx="1881505" cy="749935"/>
          </a:xfrm>
          <a:prstGeom prst="rect">
            <a:avLst/>
          </a:prstGeom>
          <a:noFill/>
          <a:ln w="28575" cap="flat">
            <a:solidFill>
              <a:srgbClr val="FF0000"/>
            </a:solidFill>
            <a:prstDash val="solid"/>
            <a:miter lim="800000"/>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ustDataLst>
      <p:tags r:id="rId2"/>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4455" y="90805"/>
            <a:ext cx="10515600" cy="1325563"/>
          </a:xfrm>
        </p:spPr>
        <p:txBody>
          <a:bodyPr/>
          <a:p>
            <a:r>
              <a:rPr lang="en-US" altLang="zh-CN"/>
              <a:t>K</a:t>
            </a:r>
            <a:r>
              <a:rPr lang="zh-CN" altLang="en-US"/>
              <a:t>近邻算法</a:t>
            </a:r>
            <a:endParaRPr lang="zh-CN" altLang="en-US"/>
          </a:p>
        </p:txBody>
      </p:sp>
      <p:sp>
        <p:nvSpPr>
          <p:cNvPr id="3" name="文本占位符 2"/>
          <p:cNvSpPr>
            <a:spLocks noGrp="1"/>
          </p:cNvSpPr>
          <p:nvPr>
            <p:ph type="body" idx="1"/>
          </p:nvPr>
        </p:nvSpPr>
        <p:spPr>
          <a:xfrm>
            <a:off x="213677" y="1253807"/>
            <a:ext cx="11140214" cy="4351338"/>
          </a:xfrm>
        </p:spPr>
        <p:txBody>
          <a:bodyPr/>
          <a:p>
            <a:pPr marL="0" indent="0">
              <a:buNone/>
            </a:pPr>
            <a:r>
              <a:rPr lang="zh-CN" altLang="en-US"/>
              <a:t>图像距离的计算方法</a:t>
            </a:r>
            <a:endParaRPr lang="zh-CN" altLang="en-US"/>
          </a:p>
          <a:p>
            <a:pPr marL="0" indent="0">
              <a:buNone/>
            </a:pPr>
            <a:endParaRPr lang="zh-CN" altLang="en-US"/>
          </a:p>
          <a:p>
            <a:pPr marL="0" indent="0">
              <a:buNone/>
            </a:pPr>
            <a:r>
              <a:rPr lang="zh-CN" altLang="en-US">
                <a:sym typeface="等线" panose="02010600030101010101" charset="-122"/>
              </a:rPr>
              <a:t>L1距离</a:t>
            </a:r>
            <a:r>
              <a:rPr lang="en-US" altLang="zh-CN">
                <a:sym typeface="等线" panose="02010600030101010101" charset="-122"/>
              </a:rPr>
              <a:t> </a:t>
            </a:r>
            <a:r>
              <a:rPr lang="zh-CN" altLang="en-US">
                <a:sym typeface="等线" panose="02010600030101010101" charset="-122"/>
              </a:rPr>
              <a:t>曼哈顿距离</a:t>
            </a:r>
            <a:r>
              <a:rPr lang="en-US" altLang="zh-CN">
                <a:sym typeface="等线" panose="02010600030101010101" charset="-122"/>
              </a:rPr>
              <a:t>——</a:t>
            </a:r>
            <a:r>
              <a:rPr lang="zh-CN" altLang="en-US">
                <a:sym typeface="等线" panose="02010600030101010101" charset="-122"/>
              </a:rPr>
              <a:t>把每个维度的绝对差相加</a:t>
            </a:r>
            <a:endParaRPr lang="zh-CN" altLang="en-US">
              <a:sym typeface="等线" panose="02010600030101010101" charset="-122"/>
            </a:endParaRPr>
          </a:p>
          <a:p>
            <a:pPr marL="0" indent="0">
              <a:buNone/>
            </a:pPr>
            <a:endParaRPr lang="zh-CN" altLang="en-US">
              <a:sym typeface="等线" panose="02010600030101010101" charset="-122"/>
            </a:endParaRPr>
          </a:p>
          <a:p>
            <a:pPr marL="0" indent="0">
              <a:buNone/>
            </a:pPr>
            <a:r>
              <a:rPr lang="zh-CN" altLang="en-US">
                <a:sym typeface="等线" panose="02010600030101010101" charset="-122"/>
              </a:rPr>
              <a:t>L</a:t>
            </a:r>
            <a:r>
              <a:rPr lang="en-US" altLang="zh-CN">
                <a:sym typeface="等线" panose="02010600030101010101" charset="-122"/>
              </a:rPr>
              <a:t>2</a:t>
            </a:r>
            <a:r>
              <a:rPr lang="zh-CN" altLang="en-US">
                <a:sym typeface="等线" panose="02010600030101010101" charset="-122"/>
              </a:rPr>
              <a:t>距离</a:t>
            </a:r>
            <a:r>
              <a:rPr lang="en-US" altLang="zh-CN">
                <a:sym typeface="等线" panose="02010600030101010101" charset="-122"/>
              </a:rPr>
              <a:t> </a:t>
            </a:r>
            <a:r>
              <a:rPr lang="zh-CN" altLang="en-US">
                <a:sym typeface="等线" panose="02010600030101010101" charset="-122"/>
              </a:rPr>
              <a:t>欧氏距离</a:t>
            </a:r>
            <a:r>
              <a:rPr lang="en-US" altLang="zh-CN">
                <a:sym typeface="等线" panose="02010600030101010101" charset="-122"/>
              </a:rPr>
              <a:t>——</a:t>
            </a:r>
            <a:r>
              <a:rPr lang="zh-CN" altLang="en-US">
                <a:sym typeface="等线" panose="02010600030101010101" charset="-122"/>
              </a:rPr>
              <a:t>把各维度差值平方、求和再开方</a:t>
            </a:r>
            <a:endParaRPr lang="zh-CN" altLang="en-US">
              <a:sym typeface="等线" panose="02010600030101010101" charset="-122"/>
            </a:endParaRPr>
          </a:p>
          <a:p>
            <a:pPr marL="0" indent="0">
              <a:buNone/>
            </a:pPr>
            <a:endParaRPr lang="zh-CN" altLang="en-US"/>
          </a:p>
          <a:p>
            <a:pPr marL="0" algn="l">
              <a:buSzTx/>
              <a:buNone/>
            </a:pPr>
            <a:endParaRPr lang="zh-CN" altLang="en-US"/>
          </a:p>
        </p:txBody>
      </p:sp>
      <p:sp>
        <p:nvSpPr>
          <p:cNvPr id="4" name="灯片编号占位符 3"/>
          <p:cNvSpPr>
            <a:spLocks noGrp="1"/>
          </p:cNvSpPr>
          <p:nvPr>
            <p:ph type="sldNum" sz="quarter" idx="2"/>
          </p:nvPr>
        </p:nvSpPr>
        <p:spPr>
          <a:xfrm>
            <a:off x="11183621" y="6401118"/>
            <a:ext cx="170180" cy="275590"/>
          </a:xfrm>
        </p:spPr>
        <p:txBody>
          <a:bodyPr/>
          <a:p>
            <a:fld id="{86CB4B4D-7CA3-9044-876B-883B54F8677D}" type="slidenum">
              <a:rPr/>
            </a:fld>
            <a:endParaRPr/>
          </a:p>
        </p:txBody>
      </p:sp>
      <p:graphicFrame>
        <p:nvGraphicFramePr>
          <p:cNvPr id="5" name="对象 4"/>
          <p:cNvGraphicFramePr/>
          <p:nvPr/>
        </p:nvGraphicFramePr>
        <p:xfrm>
          <a:off x="7882255" y="1812290"/>
          <a:ext cx="2898140" cy="902335"/>
        </p:xfrm>
        <a:graphic>
          <a:graphicData uri="http://schemas.openxmlformats.org/presentationml/2006/ole">
            <mc:AlternateContent xmlns:mc="http://schemas.openxmlformats.org/markup-compatibility/2006">
              <mc:Choice xmlns:v="urn:schemas-microsoft-com:vml" Requires="v">
                <p:oleObj spid="_x0000_s6" name="" r:id="rId1" imgW="2740660" imgH="831850" progId="Equation.DSMT4">
                  <p:embed/>
                </p:oleObj>
              </mc:Choice>
              <mc:Fallback>
                <p:oleObj name="" r:id="rId1" imgW="2740660" imgH="831850" progId="Equation.DSMT4">
                  <p:embed/>
                  <p:pic>
                    <p:nvPicPr>
                      <p:cNvPr id="0" name="图片 5"/>
                      <p:cNvPicPr/>
                      <p:nvPr/>
                    </p:nvPicPr>
                    <p:blipFill>
                      <a:blip r:embed="rId2"/>
                      <a:stretch>
                        <a:fillRect/>
                      </a:stretch>
                    </p:blipFill>
                    <p:spPr>
                      <a:xfrm>
                        <a:off x="7882255" y="1812290"/>
                        <a:ext cx="2898140" cy="902335"/>
                      </a:xfrm>
                      <a:prstGeom prst="rect">
                        <a:avLst/>
                      </a:prstGeom>
                    </p:spPr>
                  </p:pic>
                </p:oleObj>
              </mc:Fallback>
            </mc:AlternateContent>
          </a:graphicData>
        </a:graphic>
      </p:graphicFrame>
      <p:graphicFrame>
        <p:nvGraphicFramePr>
          <p:cNvPr id="7" name="对象 6"/>
          <p:cNvGraphicFramePr/>
          <p:nvPr/>
        </p:nvGraphicFramePr>
        <p:xfrm>
          <a:off x="7727315" y="2889250"/>
          <a:ext cx="3208020" cy="988060"/>
        </p:xfrm>
        <a:graphic>
          <a:graphicData uri="http://schemas.openxmlformats.org/presentationml/2006/ole">
            <mc:AlternateContent xmlns:mc="http://schemas.openxmlformats.org/markup-compatibility/2006">
              <mc:Choice xmlns:v="urn:schemas-microsoft-com:vml" Requires="v">
                <p:oleObj spid="_x0000_s8" name="" r:id="rId3" imgW="3009265" imgH="930910" progId="Equation.DSMT4">
                  <p:embed/>
                </p:oleObj>
              </mc:Choice>
              <mc:Fallback>
                <p:oleObj name="" r:id="rId3" imgW="3009265" imgH="930910" progId="Equation.DSMT4">
                  <p:embed/>
                  <p:pic>
                    <p:nvPicPr>
                      <p:cNvPr id="0" name="图片 7"/>
                      <p:cNvPicPr/>
                      <p:nvPr/>
                    </p:nvPicPr>
                    <p:blipFill>
                      <a:blip r:embed="rId4"/>
                      <a:stretch>
                        <a:fillRect/>
                      </a:stretch>
                    </p:blipFill>
                    <p:spPr>
                      <a:xfrm>
                        <a:off x="7727315" y="2889250"/>
                        <a:ext cx="3208020" cy="988060"/>
                      </a:xfrm>
                      <a:prstGeom prst="rect">
                        <a:avLst/>
                      </a:prstGeom>
                    </p:spPr>
                  </p:pic>
                </p:oleObj>
              </mc:Fallback>
            </mc:AlternateContent>
          </a:graphicData>
        </a:graphic>
      </p:graphicFrame>
      <p:graphicFrame>
        <p:nvGraphicFramePr>
          <p:cNvPr id="15" name="对象 14"/>
          <p:cNvGraphicFramePr/>
          <p:nvPr/>
        </p:nvGraphicFramePr>
        <p:xfrm>
          <a:off x="504190" y="3775075"/>
          <a:ext cx="2093595" cy="1181100"/>
        </p:xfrm>
        <a:graphic>
          <a:graphicData uri="http://schemas.openxmlformats.org/presentationml/2006/ole">
            <mc:AlternateContent xmlns:mc="http://schemas.openxmlformats.org/markup-compatibility/2006">
              <mc:Choice xmlns:v="urn:schemas-microsoft-com:vml" Requires="v">
                <p:oleObj spid="_x0000_s16" name="" r:id="rId5" imgW="1591310" imgH="953135" progId="Equation.DSMT4">
                  <p:embed/>
                </p:oleObj>
              </mc:Choice>
              <mc:Fallback>
                <p:oleObj name="" r:id="rId5" imgW="1591310" imgH="953135" progId="Equation.DSMT4">
                  <p:embed/>
                  <p:pic>
                    <p:nvPicPr>
                      <p:cNvPr id="0" name="图片 15"/>
                      <p:cNvPicPr/>
                      <p:nvPr/>
                    </p:nvPicPr>
                    <p:blipFill>
                      <a:blip r:embed="rId6"/>
                      <a:stretch>
                        <a:fillRect/>
                      </a:stretch>
                    </p:blipFill>
                    <p:spPr>
                      <a:xfrm>
                        <a:off x="504190" y="3775075"/>
                        <a:ext cx="2093595" cy="1181100"/>
                      </a:xfrm>
                      <a:prstGeom prst="rect">
                        <a:avLst/>
                      </a:prstGeom>
                    </p:spPr>
                  </p:pic>
                </p:oleObj>
              </mc:Fallback>
            </mc:AlternateContent>
          </a:graphicData>
        </a:graphic>
      </p:graphicFrame>
      <p:graphicFrame>
        <p:nvGraphicFramePr>
          <p:cNvPr id="18" name="对象 17"/>
          <p:cNvGraphicFramePr/>
          <p:nvPr/>
        </p:nvGraphicFramePr>
        <p:xfrm>
          <a:off x="504190" y="5196205"/>
          <a:ext cx="2094230" cy="1328420"/>
        </p:xfrm>
        <a:graphic>
          <a:graphicData uri="http://schemas.openxmlformats.org/presentationml/2006/ole">
            <mc:AlternateContent xmlns:mc="http://schemas.openxmlformats.org/markup-compatibility/2006">
              <mc:Choice xmlns:v="urn:schemas-microsoft-com:vml" Requires="v">
                <p:oleObj spid="_x0000_s19" name="" r:id="rId7" imgW="1591310" imgH="952500" progId="Equation.DSMT4">
                  <p:embed/>
                </p:oleObj>
              </mc:Choice>
              <mc:Fallback>
                <p:oleObj name="" r:id="rId7" imgW="1591310" imgH="952500" progId="Equation.DSMT4">
                  <p:embed/>
                  <p:pic>
                    <p:nvPicPr>
                      <p:cNvPr id="0" name="图片 18"/>
                      <p:cNvPicPr/>
                      <p:nvPr/>
                    </p:nvPicPr>
                    <p:blipFill>
                      <a:blip r:embed="rId8"/>
                      <a:stretch>
                        <a:fillRect/>
                      </a:stretch>
                    </p:blipFill>
                    <p:spPr>
                      <a:xfrm>
                        <a:off x="504190" y="5196205"/>
                        <a:ext cx="2094230" cy="1328420"/>
                      </a:xfrm>
                      <a:prstGeom prst="rect">
                        <a:avLst/>
                      </a:prstGeom>
                    </p:spPr>
                  </p:pic>
                </p:oleObj>
              </mc:Fallback>
            </mc:AlternateContent>
          </a:graphicData>
        </a:graphic>
      </p:graphicFrame>
      <p:graphicFrame>
        <p:nvGraphicFramePr>
          <p:cNvPr id="20" name="对象 19"/>
          <p:cNvGraphicFramePr/>
          <p:nvPr/>
        </p:nvGraphicFramePr>
        <p:xfrm>
          <a:off x="3105785" y="4017645"/>
          <a:ext cx="4331970" cy="572770"/>
        </p:xfrm>
        <a:graphic>
          <a:graphicData uri="http://schemas.openxmlformats.org/presentationml/2006/ole">
            <mc:AlternateContent xmlns:mc="http://schemas.openxmlformats.org/markup-compatibility/2006">
              <mc:Choice xmlns:v="urn:schemas-microsoft-com:vml" Requires="v">
                <p:oleObj spid="_x0000_s21" name="" r:id="rId9" imgW="6301105" imgH="941070" progId="Equation.DSMT4">
                  <p:embed/>
                </p:oleObj>
              </mc:Choice>
              <mc:Fallback>
                <p:oleObj name="" r:id="rId9" imgW="6301105" imgH="941070" progId="Equation.DSMT4">
                  <p:embed/>
                  <p:pic>
                    <p:nvPicPr>
                      <p:cNvPr id="0" name="图片 20"/>
                      <p:cNvPicPr/>
                      <p:nvPr/>
                    </p:nvPicPr>
                    <p:blipFill>
                      <a:blip r:embed="rId10"/>
                      <a:stretch>
                        <a:fillRect/>
                      </a:stretch>
                    </p:blipFill>
                    <p:spPr>
                      <a:xfrm>
                        <a:off x="3105785" y="4017645"/>
                        <a:ext cx="4331970" cy="572770"/>
                      </a:xfrm>
                      <a:prstGeom prst="rect">
                        <a:avLst/>
                      </a:prstGeom>
                    </p:spPr>
                  </p:pic>
                </p:oleObj>
              </mc:Fallback>
            </mc:AlternateContent>
          </a:graphicData>
        </a:graphic>
      </p:graphicFrame>
      <p:graphicFrame>
        <p:nvGraphicFramePr>
          <p:cNvPr id="22" name="对象 21"/>
          <p:cNvGraphicFramePr/>
          <p:nvPr/>
        </p:nvGraphicFramePr>
        <p:xfrm>
          <a:off x="3105785" y="5264150"/>
          <a:ext cx="6701790" cy="698500"/>
        </p:xfrm>
        <a:graphic>
          <a:graphicData uri="http://schemas.openxmlformats.org/presentationml/2006/ole">
            <mc:AlternateContent xmlns:mc="http://schemas.openxmlformats.org/markup-compatibility/2006">
              <mc:Choice xmlns:v="urn:schemas-microsoft-com:vml" Requires="v">
                <p:oleObj spid="_x0000_s23" name="" r:id="rId11" imgW="7187565" imgH="770890" progId="Equation.DSMT4">
                  <p:embed/>
                </p:oleObj>
              </mc:Choice>
              <mc:Fallback>
                <p:oleObj name="" r:id="rId11" imgW="7187565" imgH="770890" progId="Equation.DSMT4">
                  <p:embed/>
                  <p:pic>
                    <p:nvPicPr>
                      <p:cNvPr id="0" name="图片 22"/>
                      <p:cNvPicPr/>
                      <p:nvPr/>
                    </p:nvPicPr>
                    <p:blipFill>
                      <a:blip r:embed="rId12"/>
                      <a:stretch>
                        <a:fillRect/>
                      </a:stretch>
                    </p:blipFill>
                    <p:spPr>
                      <a:xfrm>
                        <a:off x="3105785" y="5264150"/>
                        <a:ext cx="6701790" cy="698500"/>
                      </a:xfrm>
                      <a:prstGeom prst="rect">
                        <a:avLst/>
                      </a:prstGeom>
                    </p:spPr>
                  </p:pic>
                </p:oleObj>
              </mc:Fallback>
            </mc:AlternateContent>
          </a:graphicData>
        </a:graphic>
      </p:graphicFrame>
    </p:spTree>
    <p:custDataLst>
      <p:tags r:id="rId13"/>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00" y="102870"/>
            <a:ext cx="10515600" cy="1325563"/>
          </a:xfrm>
        </p:spPr>
        <p:txBody>
          <a:bodyPr/>
          <a:p>
            <a:r>
              <a:rPr lang="en-US" altLang="zh-CN">
                <a:sym typeface="+mn-ea"/>
              </a:rPr>
              <a:t>K</a:t>
            </a:r>
            <a:r>
              <a:rPr lang="zh-CN" altLang="en-US">
                <a:sym typeface="+mn-ea"/>
              </a:rPr>
              <a:t>近邻算法</a:t>
            </a:r>
            <a:endParaRPr lang="zh-CN" altLang="en-US"/>
          </a:p>
        </p:txBody>
      </p:sp>
      <p:sp>
        <p:nvSpPr>
          <p:cNvPr id="3" name="文本占位符 2"/>
          <p:cNvSpPr>
            <a:spLocks noGrp="1"/>
          </p:cNvSpPr>
          <p:nvPr>
            <p:ph type="body" idx="1"/>
          </p:nvPr>
        </p:nvSpPr>
        <p:spPr>
          <a:xfrm>
            <a:off x="213677" y="1165542"/>
            <a:ext cx="11140214" cy="4351338"/>
          </a:xfrm>
        </p:spPr>
        <p:txBody>
          <a:bodyPr>
            <a:normAutofit/>
          </a:bodyPr>
          <a:p>
            <a:pPr marL="0" indent="0">
              <a:lnSpc>
                <a:spcPct val="100000"/>
              </a:lnSpc>
              <a:buNone/>
            </a:pPr>
            <a:r>
              <a:rPr lang="zh-CN" altLang="en-US"/>
              <a:t>核心思想：一张新图片应该和训练集中外观相似的图片属于相同类别</a:t>
            </a:r>
            <a:endParaRPr lang="zh-CN" altLang="en-US"/>
          </a:p>
          <a:p>
            <a:pPr marL="0" indent="0">
              <a:lnSpc>
                <a:spcPct val="100000"/>
              </a:lnSpc>
              <a:buNone/>
            </a:pPr>
            <a:r>
              <a:rPr lang="zh-CN" altLang="en-US"/>
              <a:t>算法执行流程：（</a:t>
            </a:r>
            <a:r>
              <a:rPr lang="zh-CN" altLang="en-US">
                <a:sym typeface="+mn-ea"/>
              </a:rPr>
              <a:t>假设现在有一张测试图片）</a:t>
            </a:r>
            <a:endParaRPr lang="zh-CN" altLang="en-US"/>
          </a:p>
          <a:p>
            <a:pPr marL="457200" indent="-457200">
              <a:buFont typeface="+mj-lt"/>
              <a:buAutoNum type="arabicPeriod"/>
            </a:pPr>
            <a:r>
              <a:rPr lang="zh-CN" altLang="en-US"/>
              <a:t>计算它和所有训练图片之间的距离（利用刚才阐述的计算距离方法）</a:t>
            </a:r>
            <a:endParaRPr lang="zh-CN" altLang="en-US"/>
          </a:p>
          <a:p>
            <a:pPr marL="457200" indent="-457200">
              <a:buFont typeface="+mj-lt"/>
              <a:buAutoNum type="arabicPeriod"/>
            </a:pPr>
            <a:r>
              <a:rPr lang="zh-CN" altLang="en-US"/>
              <a:t>找出距离最近的 </a:t>
            </a:r>
            <a:r>
              <a:rPr lang="en-US" altLang="zh-CN"/>
              <a:t>K </a:t>
            </a:r>
            <a:r>
              <a:rPr lang="zh-CN" altLang="en-US"/>
              <a:t>张图片</a:t>
            </a:r>
            <a:endParaRPr lang="zh-CN" altLang="en-US"/>
          </a:p>
          <a:p>
            <a:pPr marL="457200" indent="-457200">
              <a:buFont typeface="+mj-lt"/>
              <a:buAutoNum type="arabicPeriod"/>
            </a:pPr>
            <a:r>
              <a:rPr lang="zh-CN" altLang="en-US"/>
              <a:t>统计这 </a:t>
            </a:r>
            <a:r>
              <a:rPr lang="en-US" altLang="zh-CN"/>
              <a:t>K </a:t>
            </a:r>
            <a:r>
              <a:rPr lang="zh-CN" altLang="en-US"/>
              <a:t>张图片的类别</a:t>
            </a:r>
            <a:endParaRPr lang="zh-CN" altLang="en-US"/>
          </a:p>
          <a:p>
            <a:pPr marL="457200" indent="-457200">
              <a:buFont typeface="+mj-lt"/>
              <a:buAutoNum type="arabicPeriod"/>
            </a:pPr>
            <a:r>
              <a:rPr lang="zh-CN" altLang="en-US"/>
              <a:t>选择票数最多的类别作为预测结果</a:t>
            </a:r>
            <a:endParaRPr lang="zh-CN" altLang="en-US"/>
          </a:p>
          <a:p>
            <a:pPr marL="0" indent="0">
              <a:buFont typeface="+mj-lt"/>
              <a:buNone/>
            </a:pPr>
            <a:endParaRPr lang="zh-CN" altLang="en-US"/>
          </a:p>
          <a:p>
            <a:pPr marL="0" indent="0">
              <a:buFont typeface="+mj-lt"/>
              <a:buNone/>
            </a:pPr>
            <a:endParaRPr lang="en-US" altLang="zh-CN"/>
          </a:p>
          <a:p>
            <a:pPr marL="0" indent="0">
              <a:buFont typeface="+mj-lt"/>
              <a:buNone/>
            </a:pPr>
            <a:endParaRPr lang="en-US" altLang="zh-CN"/>
          </a:p>
          <a:p>
            <a:pPr marL="0" indent="0">
              <a:buFont typeface="+mj-lt"/>
              <a:buNone/>
            </a:pPr>
            <a:endParaRPr lang="en-US" altLang="zh-CN"/>
          </a:p>
          <a:p>
            <a:pPr marL="0" indent="0">
              <a:buFont typeface="+mj-lt"/>
              <a:buNone/>
            </a:pPr>
            <a:r>
              <a:rPr lang="en-US" altLang="zh-CN"/>
              <a:t>eg</a:t>
            </a:r>
            <a:r>
              <a:rPr lang="zh-CN" altLang="en-US"/>
              <a:t>：例如</a:t>
            </a:r>
            <a:r>
              <a:rPr lang="en-US" altLang="zh-CN"/>
              <a:t> K=5 ，</a:t>
            </a:r>
            <a:r>
              <a:rPr lang="zh-CN" altLang="en-US"/>
              <a:t>最近的 5 张图像的标签是</a:t>
            </a:r>
            <a:r>
              <a:rPr lang="en-US" altLang="zh-CN"/>
              <a:t> {</a:t>
            </a:r>
            <a:r>
              <a:rPr lang="zh-CN" altLang="en-US"/>
              <a:t>猫、狗、猫、猫、狗</a:t>
            </a:r>
            <a:r>
              <a:rPr lang="en-US" altLang="zh-CN"/>
              <a:t>}</a:t>
            </a:r>
            <a:r>
              <a:rPr lang="zh-CN" altLang="en-US"/>
              <a:t>，则预测结果为猫</a:t>
            </a:r>
            <a:endParaRPr lang="zh-CN" altLang="en-US"/>
          </a:p>
        </p:txBody>
      </p:sp>
      <p:sp>
        <p:nvSpPr>
          <p:cNvPr id="4" name="灯片编号占位符 3"/>
          <p:cNvSpPr>
            <a:spLocks noGrp="1"/>
          </p:cNvSpPr>
          <p:nvPr>
            <p:ph type="sldNum" sz="quarter" idx="2"/>
          </p:nvPr>
        </p:nvSpPr>
        <p:spPr>
          <a:xfrm>
            <a:off x="11183621" y="6401118"/>
            <a:ext cx="170180" cy="275590"/>
          </a:xfrm>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7092950" y="2715895"/>
            <a:ext cx="3933190" cy="2922905"/>
          </a:xfrm>
          <a:prstGeom prst="rect">
            <a:avLst/>
          </a:prstGeom>
        </p:spPr>
      </p:pic>
    </p:spTree>
    <p:custDataLst>
      <p:tags r:id="rId2"/>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3190" y="153670"/>
            <a:ext cx="10515600" cy="1325563"/>
          </a:xfrm>
        </p:spPr>
        <p:txBody>
          <a:bodyPr/>
          <a:p>
            <a:r>
              <a:rPr lang="en-US" altLang="zh-CN"/>
              <a:t>K</a:t>
            </a:r>
            <a:r>
              <a:rPr lang="zh-CN" altLang="en-US"/>
              <a:t>近邻算法</a:t>
            </a:r>
            <a:endParaRPr lang="zh-CN" altLang="en-US"/>
          </a:p>
        </p:txBody>
      </p:sp>
      <p:sp>
        <p:nvSpPr>
          <p:cNvPr id="3" name="文本占位符 2"/>
          <p:cNvSpPr>
            <a:spLocks noGrp="1"/>
          </p:cNvSpPr>
          <p:nvPr>
            <p:ph type="body" idx="1"/>
          </p:nvPr>
        </p:nvSpPr>
        <p:spPr>
          <a:xfrm>
            <a:off x="250507" y="1419542"/>
            <a:ext cx="11140214" cy="4351338"/>
          </a:xfrm>
        </p:spPr>
        <p:txBody>
          <a:bodyPr/>
          <a:p>
            <a:pPr marL="0" indent="0">
              <a:buNone/>
            </a:pPr>
            <a:r>
              <a:rPr lang="en-US" altLang="zh-CN"/>
              <a:t>K</a:t>
            </a:r>
            <a:r>
              <a:rPr lang="zh-CN" altLang="en-US"/>
              <a:t>近邻算法中的</a:t>
            </a:r>
            <a:r>
              <a:rPr lang="en-US" altLang="zh-CN"/>
              <a:t>K</a:t>
            </a:r>
            <a:r>
              <a:rPr lang="zh-CN" altLang="en-US"/>
              <a:t>究竟如何选择能达到最好的效果，此时需要参数调优</a:t>
            </a:r>
            <a:endParaRPr lang="zh-CN" altLang="en-US"/>
          </a:p>
        </p:txBody>
      </p:sp>
      <p:sp>
        <p:nvSpPr>
          <p:cNvPr id="4" name="灯片编号占位符 3"/>
          <p:cNvSpPr>
            <a:spLocks noGrp="1"/>
          </p:cNvSpPr>
          <p:nvPr>
            <p:ph type="sldNum" sz="quarter" idx="2"/>
          </p:nvPr>
        </p:nvSpPr>
        <p:spPr>
          <a:xfrm>
            <a:off x="11183621" y="6401118"/>
            <a:ext cx="170180" cy="275590"/>
          </a:xfrm>
        </p:spPr>
        <p:txBody>
          <a:bodyPr/>
          <a:p>
            <a:fld id="{86CB4B4D-7CA3-9044-876B-883B54F8677D}" type="slidenum">
              <a:rPr/>
            </a:fld>
            <a:endParaRPr/>
          </a:p>
        </p:txBody>
      </p:sp>
      <p:pic>
        <p:nvPicPr>
          <p:cNvPr id="7" name="图片 6"/>
          <p:cNvPicPr>
            <a:picLocks noChangeAspect="1"/>
          </p:cNvPicPr>
          <p:nvPr/>
        </p:nvPicPr>
        <p:blipFill>
          <a:blip r:embed="rId1"/>
          <a:stretch>
            <a:fillRect/>
          </a:stretch>
        </p:blipFill>
        <p:spPr>
          <a:xfrm>
            <a:off x="123190" y="2317750"/>
            <a:ext cx="8305800" cy="596900"/>
          </a:xfrm>
          <a:prstGeom prst="rect">
            <a:avLst/>
          </a:prstGeom>
        </p:spPr>
      </p:pic>
      <p:pic>
        <p:nvPicPr>
          <p:cNvPr id="8" name="图片 7"/>
          <p:cNvPicPr>
            <a:picLocks noChangeAspect="1"/>
          </p:cNvPicPr>
          <p:nvPr/>
        </p:nvPicPr>
        <p:blipFill>
          <a:blip r:embed="rId2"/>
          <a:stretch>
            <a:fillRect/>
          </a:stretch>
        </p:blipFill>
        <p:spPr>
          <a:xfrm>
            <a:off x="250190" y="3165475"/>
            <a:ext cx="8483600" cy="2438400"/>
          </a:xfrm>
          <a:prstGeom prst="rect">
            <a:avLst/>
          </a:prstGeom>
        </p:spPr>
      </p:pic>
      <p:sp>
        <p:nvSpPr>
          <p:cNvPr id="9" name="文本框 8"/>
          <p:cNvSpPr txBox="1"/>
          <p:nvPr/>
        </p:nvSpPr>
        <p:spPr>
          <a:xfrm>
            <a:off x="9363075" y="2690495"/>
            <a:ext cx="2273300" cy="7385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使用验证集</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来找寻最佳参数</a:t>
            </a: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0" name="文本框 9"/>
          <p:cNvSpPr txBox="1"/>
          <p:nvPr/>
        </p:nvSpPr>
        <p:spPr>
          <a:xfrm>
            <a:off x="488315" y="6083300"/>
            <a:ext cx="7575550" cy="332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algn="l" defTabSz="914400" rtl="0" fontAlgn="auto" latinLnBrk="0" hangingPunct="1">
              <a:lnSpc>
                <a:spcPct val="90000"/>
              </a:lnSpc>
              <a:spcBef>
                <a:spcPts val="1000"/>
              </a:spcBef>
              <a:spcAft>
                <a:spcPts val="0"/>
              </a:spcAft>
              <a:buClrTx/>
              <a:buSzTx/>
              <a:buFont typeface="Arial" panose="020B0604020202020204"/>
              <a:buNone/>
            </a:pP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链接：https://cs231n.stanford.edu/schedule.html</a:t>
            </a:r>
            <a:endPar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Tree>
    <p:custDataLst>
      <p:tags r:id="rId3"/>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11455" y="144780"/>
            <a:ext cx="10515600" cy="1325563"/>
          </a:xfrm>
        </p:spPr>
        <p:txBody>
          <a:bodyPr/>
          <a:p>
            <a:r>
              <a:rPr lang="zh-CN" altLang="en-US"/>
              <a:t>线性分类算法</a:t>
            </a:r>
            <a:endParaRPr lang="zh-CN" altLang="en-US"/>
          </a:p>
        </p:txBody>
      </p:sp>
      <p:sp>
        <p:nvSpPr>
          <p:cNvPr id="3" name="文本占位符 2"/>
          <p:cNvSpPr>
            <a:spLocks noGrp="1"/>
          </p:cNvSpPr>
          <p:nvPr>
            <p:ph type="body" idx="1"/>
          </p:nvPr>
        </p:nvSpPr>
        <p:spPr>
          <a:xfrm>
            <a:off x="113347" y="1567497"/>
            <a:ext cx="11140214" cy="4351338"/>
          </a:xfrm>
        </p:spPr>
        <p:txBody>
          <a:bodyPr/>
          <a:p>
            <a:pPr marL="0" indent="0">
              <a:buNone/>
            </a:pPr>
            <a:r>
              <a:rPr lang="zh-CN" altLang="en-US"/>
              <a:t>线性分类器是从图像到标签分数的参数化映射，即将像素映射到类别，也就是输入一个图像，输出为对应的类别</a:t>
            </a:r>
            <a:endParaRPr lang="zh-CN" altLang="en-US"/>
          </a:p>
          <a:p>
            <a:pPr marL="0" indent="0">
              <a:buNone/>
            </a:pPr>
            <a:endParaRPr lang="zh-CN" altLang="en-US"/>
          </a:p>
        </p:txBody>
      </p:sp>
      <p:sp>
        <p:nvSpPr>
          <p:cNvPr id="4" name="灯片编号占位符 3"/>
          <p:cNvSpPr>
            <a:spLocks noGrp="1"/>
          </p:cNvSpPr>
          <p:nvPr>
            <p:ph type="sldNum" sz="quarter" idx="2"/>
          </p:nvPr>
        </p:nvSpPr>
        <p:spPr>
          <a:xfrm>
            <a:off x="11183621" y="6401118"/>
            <a:ext cx="170180" cy="275590"/>
          </a:xfrm>
        </p:spPr>
        <p:txBody>
          <a:bodyPr/>
          <a:p>
            <a:fld id="{86CB4B4D-7CA3-9044-876B-883B54F8677D}" type="slidenum">
              <a:rPr/>
            </a:fld>
            <a:endParaRPr/>
          </a:p>
        </p:txBody>
      </p:sp>
      <p:graphicFrame>
        <p:nvGraphicFramePr>
          <p:cNvPr id="7" name="对象 6">
            <a:hlinkClick r:id="" action="ppaction://ole?verb="/>
          </p:cNvPr>
          <p:cNvGraphicFramePr>
            <a:graphicFrameLocks noChangeAspect="1"/>
          </p:cNvGraphicFramePr>
          <p:nvPr/>
        </p:nvGraphicFramePr>
        <p:xfrm>
          <a:off x="3670300" y="2170430"/>
          <a:ext cx="4206875" cy="794385"/>
        </p:xfrm>
        <a:graphic>
          <a:graphicData uri="http://schemas.openxmlformats.org/presentationml/2006/ole">
            <mc:AlternateContent xmlns:mc="http://schemas.openxmlformats.org/markup-compatibility/2006">
              <mc:Choice xmlns:v="urn:schemas-microsoft-com:vml" Requires="v">
                <p:oleObj spid="_x0000_s1025" name="" r:id="rId1" imgW="1079500" imgH="203200" progId="Equation.KSEE3">
                  <p:embed/>
                </p:oleObj>
              </mc:Choice>
              <mc:Fallback>
                <p:oleObj name="" r:id="rId1" imgW="1079500" imgH="203200" progId="Equation.KSEE3">
                  <p:embed/>
                  <p:pic>
                    <p:nvPicPr>
                      <p:cNvPr id="0" name="图片 1024"/>
                      <p:cNvPicPr/>
                      <p:nvPr/>
                    </p:nvPicPr>
                    <p:blipFill>
                      <a:blip r:embed="rId2"/>
                      <a:stretch>
                        <a:fillRect/>
                      </a:stretch>
                    </p:blipFill>
                    <p:spPr>
                      <a:xfrm>
                        <a:off x="3670300" y="2170430"/>
                        <a:ext cx="4206875" cy="794385"/>
                      </a:xfrm>
                      <a:prstGeom prst="rect">
                        <a:avLst/>
                      </a:prstGeom>
                    </p:spPr>
                  </p:pic>
                </p:oleObj>
              </mc:Fallback>
            </mc:AlternateContent>
          </a:graphicData>
        </a:graphic>
      </p:graphicFrame>
      <p:cxnSp>
        <p:nvCxnSpPr>
          <p:cNvPr id="10" name="直接箭头连接符 9"/>
          <p:cNvCxnSpPr/>
          <p:nvPr/>
        </p:nvCxnSpPr>
        <p:spPr>
          <a:xfrm flipH="1">
            <a:off x="5744845" y="2796540"/>
            <a:ext cx="537210" cy="119380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11" name="直接箭头连接符 10"/>
          <p:cNvCxnSpPr/>
          <p:nvPr/>
        </p:nvCxnSpPr>
        <p:spPr>
          <a:xfrm>
            <a:off x="6751320" y="2796540"/>
            <a:ext cx="678180" cy="120269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12" name="直接箭头连接符 11"/>
          <p:cNvCxnSpPr/>
          <p:nvPr/>
        </p:nvCxnSpPr>
        <p:spPr>
          <a:xfrm>
            <a:off x="7577455" y="2796540"/>
            <a:ext cx="1308735" cy="126174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13" name="直接箭头连接符 12"/>
          <p:cNvCxnSpPr/>
          <p:nvPr/>
        </p:nvCxnSpPr>
        <p:spPr>
          <a:xfrm flipH="1">
            <a:off x="4110990" y="2889885"/>
            <a:ext cx="537210" cy="119380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14" name="文本框 13"/>
          <p:cNvSpPr txBox="1"/>
          <p:nvPr/>
        </p:nvSpPr>
        <p:spPr>
          <a:xfrm>
            <a:off x="5078730" y="4083685"/>
            <a:ext cx="136969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权重矩阵</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5" name="文本框 14"/>
          <p:cNvSpPr txBox="1"/>
          <p:nvPr/>
        </p:nvSpPr>
        <p:spPr>
          <a:xfrm>
            <a:off x="6751320" y="4347210"/>
            <a:ext cx="1877060"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输入图像向量</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6" name="文本框 15"/>
          <p:cNvSpPr txBox="1"/>
          <p:nvPr/>
        </p:nvSpPr>
        <p:spPr>
          <a:xfrm>
            <a:off x="8931275" y="4135755"/>
            <a:ext cx="793750" cy="3765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偏置</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7" name="文本框 16"/>
          <p:cNvSpPr txBox="1"/>
          <p:nvPr/>
        </p:nvSpPr>
        <p:spPr>
          <a:xfrm>
            <a:off x="2176145" y="4262755"/>
            <a:ext cx="2172335" cy="19050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每个类别的分数</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23" name="文本框 22"/>
          <p:cNvSpPr txBox="1"/>
          <p:nvPr/>
        </p:nvSpPr>
        <p:spPr>
          <a:xfrm>
            <a:off x="113030" y="6015355"/>
            <a:ext cx="7464425" cy="5295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线性分类器流程：x——&gt;Wx+b</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Tree>
    <p:custDataLst>
      <p:tags r:id="rId3"/>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360680" y="111125"/>
            <a:ext cx="10515600" cy="1325563"/>
          </a:xfrm>
        </p:spPr>
        <p:txBody>
          <a:bodyPr/>
          <a:p>
            <a:r>
              <a:rPr lang="zh-CN" altLang="en-US">
                <a:sym typeface="+mn-ea"/>
              </a:rPr>
              <a:t>线性分类算法</a:t>
            </a:r>
            <a:endParaRPr lang="zh-CN" altLang="en-US"/>
          </a:p>
        </p:txBody>
      </p:sp>
      <p:sp>
        <p:nvSpPr>
          <p:cNvPr id="3" name="文本占位符 2"/>
          <p:cNvSpPr>
            <a:spLocks noGrp="1"/>
          </p:cNvSpPr>
          <p:nvPr>
            <p:ph type="body" idx="1"/>
          </p:nvPr>
        </p:nvSpPr>
        <p:spPr>
          <a:xfrm>
            <a:off x="504825" y="1360805"/>
            <a:ext cx="11469370" cy="4859020"/>
          </a:xfrm>
        </p:spPr>
        <p:txBody>
          <a:bodyPr/>
          <a:p>
            <a:pPr marL="0" indent="0">
              <a:buNone/>
            </a:pPr>
            <a:r>
              <a:rPr lang="zh-CN" altLang="en-US"/>
              <a:t>线性分类器的运算过程</a:t>
            </a:r>
            <a:endParaRPr lang="zh-CN" altLang="en-US"/>
          </a:p>
        </p:txBody>
      </p:sp>
      <p:sp>
        <p:nvSpPr>
          <p:cNvPr id="4" name="灯片编号占位符 3"/>
          <p:cNvSpPr>
            <a:spLocks noGrp="1"/>
          </p:cNvSpPr>
          <p:nvPr>
            <p:ph type="sldNum" sz="quarter" idx="2"/>
          </p:nvPr>
        </p:nvSpPr>
        <p:spPr>
          <a:xfrm>
            <a:off x="11183621" y="6401118"/>
            <a:ext cx="170180" cy="275590"/>
          </a:xfrm>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1079500" y="2056765"/>
            <a:ext cx="9559290" cy="3261995"/>
          </a:xfrm>
          <a:prstGeom prst="rect">
            <a:avLst/>
          </a:prstGeom>
        </p:spPr>
      </p:pic>
      <p:sp>
        <p:nvSpPr>
          <p:cNvPr id="23" name="文本框 22"/>
          <p:cNvSpPr txBox="1"/>
          <p:nvPr/>
        </p:nvSpPr>
        <p:spPr>
          <a:xfrm>
            <a:off x="113030" y="6015355"/>
            <a:ext cx="7464425" cy="5295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线性分类器流程：x——&gt;Wx+b</a:t>
            </a: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——&gt;Logits</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Tree>
    <p:custDataLst>
      <p:tags r:id="rId2"/>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45110" y="166370"/>
            <a:ext cx="10515600" cy="1325563"/>
          </a:xfrm>
        </p:spPr>
        <p:txBody>
          <a:bodyPr/>
          <a:p>
            <a:r>
              <a:rPr lang="en-US" altLang="zh-CN">
                <a:sym typeface="+mn-ea"/>
              </a:rPr>
              <a:t>Softmax</a:t>
            </a:r>
            <a:r>
              <a:rPr lang="zh-CN" altLang="en-US">
                <a:sym typeface="+mn-ea"/>
              </a:rPr>
              <a:t>函数</a:t>
            </a:r>
            <a:endParaRPr lang="zh-CN" altLang="en-US">
              <a:sym typeface="+mn-ea"/>
            </a:endParaRPr>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graphicFrame>
        <p:nvGraphicFramePr>
          <p:cNvPr id="5" name="对象 4">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2049" name="" r:id="rId1" imgW="114300" imgH="215900" progId="Equation.KSEE3">
                  <p:embed/>
                </p:oleObj>
              </mc:Choice>
              <mc:Fallback>
                <p:oleObj name="" r:id="rId1" imgW="114300" imgH="215900" progId="Equation.KSEE3">
                  <p:embed/>
                  <p:pic>
                    <p:nvPicPr>
                      <p:cNvPr id="0" name="图片 2048"/>
                      <p:cNvPicPr/>
                      <p:nvPr/>
                    </p:nvPicPr>
                    <p:blipFill>
                      <a:blip r:embed="rId2"/>
                      <a:stretch>
                        <a:fillRect/>
                      </a:stretch>
                    </p:blipFill>
                    <p:spPr>
                      <a:xfrm>
                        <a:off x="6038850" y="3321050"/>
                        <a:ext cx="114300" cy="215900"/>
                      </a:xfrm>
                      <a:prstGeom prst="rect">
                        <a:avLst/>
                      </a:prstGeom>
                    </p:spPr>
                  </p:pic>
                </p:oleObj>
              </mc:Fallback>
            </mc:AlternateContent>
          </a:graphicData>
        </a:graphic>
      </p:graphicFrame>
      <p:graphicFrame>
        <p:nvGraphicFramePr>
          <p:cNvPr id="6" name="对象 5">
            <a:hlinkClick r:id="" action="ppaction://ole?verb="/>
          </p:cNvPr>
          <p:cNvGraphicFramePr>
            <a:graphicFrameLocks noChangeAspect="1"/>
          </p:cNvGraphicFramePr>
          <p:nvPr/>
        </p:nvGraphicFramePr>
        <p:xfrm>
          <a:off x="6038850" y="3321050"/>
          <a:ext cx="114300" cy="215900"/>
        </p:xfrm>
        <a:graphic>
          <a:graphicData uri="http://schemas.openxmlformats.org/presentationml/2006/ole">
            <mc:AlternateContent xmlns:mc="http://schemas.openxmlformats.org/markup-compatibility/2006">
              <mc:Choice xmlns:v="urn:schemas-microsoft-com:vml" Requires="v">
                <p:oleObj spid="_x0000_s2050" name="" r:id="rId3" imgW="114300" imgH="215900" progId="Equation.KSEE3">
                  <p:embed/>
                </p:oleObj>
              </mc:Choice>
              <mc:Fallback>
                <p:oleObj name="" r:id="rId3" imgW="114300" imgH="215900" progId="Equation.KSEE3">
                  <p:embed/>
                  <p:pic>
                    <p:nvPicPr>
                      <p:cNvPr id="0" name="图片 2049"/>
                      <p:cNvPicPr/>
                      <p:nvPr/>
                    </p:nvPicPr>
                    <p:blipFill>
                      <a:blip r:embed="rId2"/>
                      <a:stretch>
                        <a:fillRect/>
                      </a:stretch>
                    </p:blipFill>
                    <p:spPr>
                      <a:xfrm>
                        <a:off x="6038850" y="3321050"/>
                        <a:ext cx="114300" cy="215900"/>
                      </a:xfrm>
                      <a:prstGeom prst="rect">
                        <a:avLst/>
                      </a:prstGeom>
                    </p:spPr>
                  </p:pic>
                </p:oleObj>
              </mc:Fallback>
            </mc:AlternateContent>
          </a:graphicData>
        </a:graphic>
      </p:graphicFrame>
      <p:graphicFrame>
        <p:nvGraphicFramePr>
          <p:cNvPr id="7" name="对象 6"/>
          <p:cNvGraphicFramePr/>
          <p:nvPr/>
        </p:nvGraphicFramePr>
        <p:xfrm>
          <a:off x="339725" y="2051050"/>
          <a:ext cx="1756410" cy="1775460"/>
        </p:xfrm>
        <a:graphic>
          <a:graphicData uri="http://schemas.openxmlformats.org/presentationml/2006/ole">
            <mc:AlternateContent xmlns:mc="http://schemas.openxmlformats.org/markup-compatibility/2006">
              <mc:Choice xmlns:v="urn:schemas-microsoft-com:vml" Requires="v">
                <p:oleObj spid="_x0000_s8" name="" r:id="rId4" imgW="1887220" imgH="1858010" progId="Equation.DSMT4">
                  <p:embed/>
                </p:oleObj>
              </mc:Choice>
              <mc:Fallback>
                <p:oleObj name="" r:id="rId4" imgW="1887220" imgH="1858010" progId="Equation.DSMT4">
                  <p:embed/>
                  <p:pic>
                    <p:nvPicPr>
                      <p:cNvPr id="0" name="图片 7"/>
                      <p:cNvPicPr/>
                      <p:nvPr/>
                    </p:nvPicPr>
                    <p:blipFill>
                      <a:blip r:embed="rId5"/>
                      <a:stretch>
                        <a:fillRect/>
                      </a:stretch>
                    </p:blipFill>
                    <p:spPr>
                      <a:xfrm>
                        <a:off x="339725" y="2051050"/>
                        <a:ext cx="1756410" cy="1775460"/>
                      </a:xfrm>
                      <a:prstGeom prst="rect">
                        <a:avLst/>
                      </a:prstGeom>
                    </p:spPr>
                  </p:pic>
                </p:oleObj>
              </mc:Fallback>
            </mc:AlternateContent>
          </a:graphicData>
        </a:graphic>
      </p:graphicFrame>
      <p:sp>
        <p:nvSpPr>
          <p:cNvPr id="10" name="文本框 9"/>
          <p:cNvSpPr txBox="1"/>
          <p:nvPr/>
        </p:nvSpPr>
        <p:spPr>
          <a:xfrm>
            <a:off x="3037205" y="1602740"/>
            <a:ext cx="2060575" cy="2782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cat   3.2                  </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car   5.1                 </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frog -1.7</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p:txBody>
      </p:sp>
      <p:cxnSp>
        <p:nvCxnSpPr>
          <p:cNvPr id="11" name="直接箭头连接符 10"/>
          <p:cNvCxnSpPr/>
          <p:nvPr/>
        </p:nvCxnSpPr>
        <p:spPr>
          <a:xfrm flipV="1">
            <a:off x="4843780" y="2661285"/>
            <a:ext cx="1710690" cy="825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12" name="文本框 11"/>
          <p:cNvSpPr txBox="1"/>
          <p:nvPr/>
        </p:nvSpPr>
        <p:spPr>
          <a:xfrm>
            <a:off x="6626860" y="1602740"/>
            <a:ext cx="1367155" cy="2782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24.5                 </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164.0                </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0.18</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p:txBody>
      </p:sp>
      <p:sp>
        <p:nvSpPr>
          <p:cNvPr id="13" name="文本框 12"/>
          <p:cNvSpPr txBox="1"/>
          <p:nvPr/>
        </p:nvSpPr>
        <p:spPr>
          <a:xfrm>
            <a:off x="9712960" y="1547495"/>
            <a:ext cx="1367155" cy="27825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0.13                 </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0.87                </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r>
              <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rPr>
              <a:t>0.00</a:t>
            </a:r>
            <a:endParaRPr kumimoji="0" lang="en-US" altLang="zh-CN" sz="3200" b="1" i="0" u="none" strike="noStrike" cap="none" spc="0" normalizeH="0" baseline="0">
              <a:ln>
                <a:noFill/>
              </a:ln>
              <a:solidFill>
                <a:srgbClr val="000000"/>
              </a:solidFill>
              <a:effectLst/>
              <a:uFillTx/>
              <a:latin typeface="微软雅黑" panose="020B0503020204020204" pitchFamily="34" charset="-122"/>
              <a:ea typeface="微软雅黑" panose="020B0503020204020204" pitchFamily="34" charset="-122"/>
              <a:cs typeface="等线" panose="02010600030101010101" charset="-122"/>
              <a:sym typeface="等线" panose="02010600030101010101" charset="-122"/>
            </a:endParaRPr>
          </a:p>
        </p:txBody>
      </p:sp>
      <p:cxnSp>
        <p:nvCxnSpPr>
          <p:cNvPr id="14" name="直接箭头连接符 13"/>
          <p:cNvCxnSpPr/>
          <p:nvPr/>
        </p:nvCxnSpPr>
        <p:spPr>
          <a:xfrm flipV="1">
            <a:off x="7867015" y="2653030"/>
            <a:ext cx="1710690" cy="825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15" name="文本框 14"/>
          <p:cNvSpPr txBox="1"/>
          <p:nvPr/>
        </p:nvSpPr>
        <p:spPr>
          <a:xfrm>
            <a:off x="5034915" y="2263140"/>
            <a:ext cx="1591945" cy="332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algn="l" defTabSz="914400" rtl="0" fontAlgn="auto" latinLnBrk="0" hangingPunct="1">
              <a:lnSpc>
                <a:spcPct val="90000"/>
              </a:lnSpc>
              <a:spcBef>
                <a:spcPts val="1000"/>
              </a:spcBef>
              <a:spcAft>
                <a:spcPts val="0"/>
              </a:spcAft>
              <a:buClrTx/>
              <a:buSzTx/>
              <a:buFont typeface="Arial" panose="020B0604020202020204"/>
              <a:buNone/>
            </a:pP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exp运算</a:t>
            </a:r>
            <a:endPar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6" name="文本框 15"/>
          <p:cNvSpPr txBox="1"/>
          <p:nvPr/>
        </p:nvSpPr>
        <p:spPr>
          <a:xfrm>
            <a:off x="8292465" y="2263140"/>
            <a:ext cx="1591945" cy="3321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algn="l" defTabSz="914400" rtl="0" fontAlgn="auto" latinLnBrk="0" hangingPunct="1">
              <a:lnSpc>
                <a:spcPct val="90000"/>
              </a:lnSpc>
              <a:spcBef>
                <a:spcPts val="1000"/>
              </a:spcBef>
              <a:spcAft>
                <a:spcPts val="0"/>
              </a:spcAft>
              <a:buClrTx/>
              <a:buSzTx/>
              <a:buFont typeface="Arial" panose="020B0604020202020204"/>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归一化</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7" name="矩形 16"/>
          <p:cNvSpPr/>
          <p:nvPr/>
        </p:nvSpPr>
        <p:spPr>
          <a:xfrm>
            <a:off x="6604000" y="1325880"/>
            <a:ext cx="1212850" cy="2800350"/>
          </a:xfrm>
          <a:prstGeom prst="rect">
            <a:avLst/>
          </a:prstGeom>
          <a:noFill/>
          <a:ln w="28575" cap="flat">
            <a:solidFill>
              <a:srgbClr val="C00000"/>
            </a:solidFill>
            <a:prstDash val="solid"/>
            <a:miter lim="800000"/>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8" name="矩形 17"/>
          <p:cNvSpPr/>
          <p:nvPr/>
        </p:nvSpPr>
        <p:spPr>
          <a:xfrm>
            <a:off x="9627870" y="1342390"/>
            <a:ext cx="1212850" cy="2900680"/>
          </a:xfrm>
          <a:prstGeom prst="rect">
            <a:avLst/>
          </a:prstGeom>
          <a:noFill/>
          <a:ln w="28575" cap="flat">
            <a:solidFill>
              <a:srgbClr val="00B050"/>
            </a:solidFill>
            <a:prstDash val="solid"/>
            <a:miter lim="800000"/>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3" name="文本框 22"/>
          <p:cNvSpPr txBox="1"/>
          <p:nvPr/>
        </p:nvSpPr>
        <p:spPr>
          <a:xfrm>
            <a:off x="113030" y="6015355"/>
            <a:ext cx="10967085" cy="5295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线性分类器流程：x——&gt;Wx+b</a:t>
            </a: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——&gt;Logits——&gt;Softmax</a:t>
            </a: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概率</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pic>
        <p:nvPicPr>
          <p:cNvPr id="19" name="图片 18"/>
          <p:cNvPicPr>
            <a:picLocks noChangeAspect="1"/>
          </p:cNvPicPr>
          <p:nvPr/>
        </p:nvPicPr>
        <p:blipFill>
          <a:blip r:embed="rId6"/>
          <a:stretch>
            <a:fillRect/>
          </a:stretch>
        </p:blipFill>
        <p:spPr>
          <a:xfrm>
            <a:off x="556895" y="4385310"/>
            <a:ext cx="2718435" cy="1400175"/>
          </a:xfrm>
          <a:prstGeom prst="rect">
            <a:avLst/>
          </a:prstGeom>
        </p:spPr>
      </p:pic>
    </p:spTree>
    <p:custDataLst>
      <p:tags r:id="rId7"/>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additive="base">
                                        <p:cTn id="7" dur="500" fill="hold"/>
                                        <p:tgtEl>
                                          <p:spTgt spid="17"/>
                                        </p:tgtEl>
                                        <p:attrNameLst>
                                          <p:attrName>ppt_x</p:attrName>
                                        </p:attrNameLst>
                                      </p:cBhvr>
                                      <p:tavLst>
                                        <p:tav tm="0">
                                          <p:val>
                                            <p:strVal val="#ppt_x"/>
                                          </p:val>
                                        </p:tav>
                                        <p:tav tm="100000">
                                          <p:val>
                                            <p:strVal val="#ppt_x"/>
                                          </p:val>
                                        </p:tav>
                                      </p:tavLst>
                                    </p:anim>
                                    <p:anim calcmode="lin" valueType="num">
                                      <p:cBhvr additive="base">
                                        <p:cTn id="8"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anim calcmode="lin" valueType="num">
                                      <p:cBhvr additive="base">
                                        <p:cTn id="13" dur="500" fill="hold"/>
                                        <p:tgtEl>
                                          <p:spTgt spid="18"/>
                                        </p:tgtEl>
                                        <p:attrNameLst>
                                          <p:attrName>ppt_x</p:attrName>
                                        </p:attrNameLst>
                                      </p:cBhvr>
                                      <p:tavLst>
                                        <p:tav tm="0">
                                          <p:val>
                                            <p:strVal val="#ppt_x"/>
                                          </p:val>
                                        </p:tav>
                                        <p:tav tm="100000">
                                          <p:val>
                                            <p:strVal val="#ppt_x"/>
                                          </p:val>
                                        </p:tav>
                                      </p:tavLst>
                                    </p:anim>
                                    <p:anim calcmode="lin" valueType="num">
                                      <p:cBhvr additive="base">
                                        <p:cTn id="14"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bldLvl="0" animBg="1"/>
      <p:bldP spid="17" grpId="1" animBg="1"/>
      <p:bldP spid="18" grpId="0" bldLvl="0" animBg="1"/>
      <p:bldP spid="18"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3660" y="71755"/>
            <a:ext cx="10515600" cy="1325563"/>
          </a:xfrm>
        </p:spPr>
        <p:txBody>
          <a:bodyPr/>
          <a:p>
            <a:r>
              <a:rPr lang="zh-CN" altLang="en-US">
                <a:sym typeface="+mn-ea"/>
              </a:rPr>
              <a:t>交叉熵构建损失函数</a:t>
            </a:r>
            <a:endParaRPr lang="zh-CN" altLang="en-US"/>
          </a:p>
        </p:txBody>
      </p:sp>
      <p:sp>
        <p:nvSpPr>
          <p:cNvPr id="3" name="文本占位符 2"/>
          <p:cNvSpPr>
            <a:spLocks noGrp="1"/>
          </p:cNvSpPr>
          <p:nvPr>
            <p:ph type="body" idx="1"/>
          </p:nvPr>
        </p:nvSpPr>
        <p:spPr>
          <a:xfrm>
            <a:off x="236855" y="1267460"/>
            <a:ext cx="11737340" cy="4952365"/>
          </a:xfrm>
        </p:spPr>
        <p:txBody>
          <a:bodyPr/>
          <a:p>
            <a:pPr marL="0" indent="0">
              <a:buNone/>
            </a:pPr>
            <a:r>
              <a:rPr lang="zh-CN" altLang="en-US"/>
              <a:t>利用</a:t>
            </a:r>
            <a:r>
              <a:rPr lang="zh-CN" altLang="en-US" b="1"/>
              <a:t>交叉熵</a:t>
            </a:r>
            <a:r>
              <a:rPr lang="zh-CN" altLang="en-US"/>
              <a:t>构建损失函数</a:t>
            </a:r>
            <a:endParaRPr lang="zh-CN" altLang="en-US"/>
          </a:p>
          <a:p>
            <a:pPr marL="0" indent="0">
              <a:buNone/>
            </a:pPr>
            <a:r>
              <a:rPr lang="zh-CN" altLang="en-US"/>
              <a:t>对于一个样本，交叉熵为</a:t>
            </a:r>
            <a:endParaRPr lang="zh-CN" altLang="en-US"/>
          </a:p>
          <a:p>
            <a:pPr marL="0" indent="0">
              <a:buNone/>
            </a:pPr>
            <a:r>
              <a:rPr lang="zh-CN" altLang="en-US"/>
              <a:t> </a:t>
            </a:r>
            <a:r>
              <a:rPr lang="en-US" altLang="zh-CN"/>
              <a:t>     </a:t>
            </a:r>
            <a:endParaRPr lang="zh-CN" altLang="en-US"/>
          </a:p>
          <a:p>
            <a:pPr marL="0" indent="0">
              <a:buNone/>
            </a:pPr>
            <a:r>
              <a:rPr lang="en-US" altLang="zh-CN"/>
              <a:t> </a:t>
            </a:r>
            <a:endParaRPr lang="en-US" altLang="zh-CN"/>
          </a:p>
          <a:p>
            <a:pPr marL="0" indent="0">
              <a:buNone/>
            </a:pPr>
            <a:endParaRPr lang="zh-CN" altLang="en-US"/>
          </a:p>
          <a:p>
            <a:pPr marL="0" indent="0">
              <a:buNone/>
            </a:pPr>
            <a:r>
              <a:rPr lang="zh-CN" altLang="en-US"/>
              <a:t>由于 </a:t>
            </a:r>
            <a:r>
              <a:rPr lang="en-US" altLang="zh-CN"/>
              <a:t>one-hot </a:t>
            </a:r>
            <a:r>
              <a:rPr lang="zh-CN" altLang="en-US"/>
              <a:t>标签只有真实类别的位置为 1，公式最终简化为</a:t>
            </a:r>
            <a:endParaRPr lang="zh-CN" altLang="en-US"/>
          </a:p>
          <a:p>
            <a:pPr marL="0" indent="0">
              <a:buNone/>
            </a:pP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graphicFrame>
        <p:nvGraphicFramePr>
          <p:cNvPr id="5" name="对象 4"/>
          <p:cNvGraphicFramePr/>
          <p:nvPr/>
        </p:nvGraphicFramePr>
        <p:xfrm>
          <a:off x="4586605" y="1325880"/>
          <a:ext cx="2268220" cy="1013460"/>
        </p:xfrm>
        <a:graphic>
          <a:graphicData uri="http://schemas.openxmlformats.org/presentationml/2006/ole">
            <mc:AlternateContent xmlns:mc="http://schemas.openxmlformats.org/markup-compatibility/2006">
              <mc:Choice xmlns:v="urn:schemas-microsoft-com:vml" Requires="v">
                <p:oleObj spid="_x0000_s6" name="" r:id="rId1" imgW="1428115" imgH="659130" progId="Equation.DSMT4">
                  <p:embed/>
                </p:oleObj>
              </mc:Choice>
              <mc:Fallback>
                <p:oleObj name="" r:id="rId1" imgW="1428115" imgH="659130" progId="Equation.DSMT4">
                  <p:embed/>
                  <p:pic>
                    <p:nvPicPr>
                      <p:cNvPr id="0" name="图片 5"/>
                      <p:cNvPicPr/>
                      <p:nvPr/>
                    </p:nvPicPr>
                    <p:blipFill>
                      <a:blip r:embed="rId2"/>
                      <a:stretch>
                        <a:fillRect/>
                      </a:stretch>
                    </p:blipFill>
                    <p:spPr>
                      <a:xfrm>
                        <a:off x="4586605" y="1325880"/>
                        <a:ext cx="2268220" cy="1013460"/>
                      </a:xfrm>
                      <a:prstGeom prst="rect">
                        <a:avLst/>
                      </a:prstGeom>
                    </p:spPr>
                  </p:pic>
                </p:oleObj>
              </mc:Fallback>
            </mc:AlternateContent>
          </a:graphicData>
        </a:graphic>
      </p:graphicFrame>
      <p:sp>
        <p:nvSpPr>
          <p:cNvPr id="11" name="文本框 10"/>
          <p:cNvSpPr txBox="1"/>
          <p:nvPr/>
        </p:nvSpPr>
        <p:spPr>
          <a:xfrm>
            <a:off x="1698625" y="2962275"/>
            <a:ext cx="394017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sym typeface="+mn-ea"/>
              </a:rPr>
              <a:t>代表真实标签的one-hot值</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cxnSp>
        <p:nvCxnSpPr>
          <p:cNvPr id="12" name="直接箭头连接符 11"/>
          <p:cNvCxnSpPr/>
          <p:nvPr/>
        </p:nvCxnSpPr>
        <p:spPr>
          <a:xfrm flipH="1">
            <a:off x="4586605" y="2197100"/>
            <a:ext cx="743585" cy="73596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13" name="直接箭头连接符 12"/>
          <p:cNvCxnSpPr/>
          <p:nvPr/>
        </p:nvCxnSpPr>
        <p:spPr>
          <a:xfrm>
            <a:off x="6200775" y="2197100"/>
            <a:ext cx="760730" cy="61341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14" name="文本框 13"/>
          <p:cNvSpPr txBox="1"/>
          <p:nvPr/>
        </p:nvSpPr>
        <p:spPr>
          <a:xfrm>
            <a:off x="6096000" y="2933065"/>
            <a:ext cx="394017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模型预测的类别概率</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aphicFrame>
        <p:nvGraphicFramePr>
          <p:cNvPr id="15" name="对象 14"/>
          <p:cNvGraphicFramePr/>
          <p:nvPr/>
        </p:nvGraphicFramePr>
        <p:xfrm>
          <a:off x="8766810" y="3424555"/>
          <a:ext cx="1628140" cy="563880"/>
        </p:xfrm>
        <a:graphic>
          <a:graphicData uri="http://schemas.openxmlformats.org/presentationml/2006/ole">
            <mc:AlternateContent xmlns:mc="http://schemas.openxmlformats.org/markup-compatibility/2006">
              <mc:Choice xmlns:v="urn:schemas-microsoft-com:vml" Requires="v">
                <p:oleObj spid="_x0000_s16" name="" r:id="rId3" imgW="1590040" imgH="530225" progId="Equation.DSMT4">
                  <p:embed/>
                </p:oleObj>
              </mc:Choice>
              <mc:Fallback>
                <p:oleObj name="" r:id="rId3" imgW="1590040" imgH="530225" progId="Equation.DSMT4">
                  <p:embed/>
                  <p:pic>
                    <p:nvPicPr>
                      <p:cNvPr id="0" name="图片 15"/>
                      <p:cNvPicPr/>
                      <p:nvPr/>
                    </p:nvPicPr>
                    <p:blipFill>
                      <a:blip r:embed="rId4"/>
                      <a:stretch>
                        <a:fillRect/>
                      </a:stretch>
                    </p:blipFill>
                    <p:spPr>
                      <a:xfrm>
                        <a:off x="8766810" y="3424555"/>
                        <a:ext cx="1628140" cy="563880"/>
                      </a:xfrm>
                      <a:prstGeom prst="rect">
                        <a:avLst/>
                      </a:prstGeom>
                    </p:spPr>
                  </p:pic>
                </p:oleObj>
              </mc:Fallback>
            </mc:AlternateContent>
          </a:graphicData>
        </a:graphic>
      </p:graphicFrame>
      <p:sp>
        <p:nvSpPr>
          <p:cNvPr id="17" name="文本框 16"/>
          <p:cNvSpPr txBox="1"/>
          <p:nvPr/>
        </p:nvSpPr>
        <p:spPr>
          <a:xfrm>
            <a:off x="8461375" y="4696460"/>
            <a:ext cx="373062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模型分配给真实类别的概率</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cxnSp>
        <p:nvCxnSpPr>
          <p:cNvPr id="19" name="直接箭头连接符 18"/>
          <p:cNvCxnSpPr>
            <a:endCxn id="17" idx="0"/>
          </p:cNvCxnSpPr>
          <p:nvPr/>
        </p:nvCxnSpPr>
        <p:spPr>
          <a:xfrm>
            <a:off x="10197465" y="3941445"/>
            <a:ext cx="129540" cy="75501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pic>
        <p:nvPicPr>
          <p:cNvPr id="21" name="图片 20"/>
          <p:cNvPicPr>
            <a:picLocks noChangeAspect="1"/>
          </p:cNvPicPr>
          <p:nvPr/>
        </p:nvPicPr>
        <p:blipFill>
          <a:blip r:embed="rId5"/>
          <a:stretch>
            <a:fillRect/>
          </a:stretch>
        </p:blipFill>
        <p:spPr>
          <a:xfrm>
            <a:off x="6694170" y="0"/>
            <a:ext cx="3435985" cy="1587500"/>
          </a:xfrm>
          <a:prstGeom prst="rect">
            <a:avLst/>
          </a:prstGeom>
        </p:spPr>
      </p:pic>
      <p:sp>
        <p:nvSpPr>
          <p:cNvPr id="23" name="文本框 22"/>
          <p:cNvSpPr txBox="1"/>
          <p:nvPr/>
        </p:nvSpPr>
        <p:spPr>
          <a:xfrm>
            <a:off x="113030" y="6015355"/>
            <a:ext cx="11597005" cy="52959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线性分类器流程：x——&gt;Wx+b</a:t>
            </a: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——&gt;Logits——&gt;Softmax</a:t>
            </a: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概率</a:t>
            </a: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——&gt;</a:t>
            </a: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损失函数设计</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pic>
        <p:nvPicPr>
          <p:cNvPr id="7" name="图片 6"/>
          <p:cNvPicPr>
            <a:picLocks noChangeAspect="1"/>
          </p:cNvPicPr>
          <p:nvPr/>
        </p:nvPicPr>
        <p:blipFill>
          <a:blip r:embed="rId6"/>
          <a:stretch>
            <a:fillRect/>
          </a:stretch>
        </p:blipFill>
        <p:spPr>
          <a:xfrm>
            <a:off x="1737360" y="3183890"/>
            <a:ext cx="8298815" cy="2831465"/>
          </a:xfrm>
          <a:prstGeom prst="rect">
            <a:avLst/>
          </a:prstGeom>
        </p:spPr>
      </p:pic>
    </p:spTree>
    <p:custDataLst>
      <p:tags r:id="rId7"/>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7"/>
                                        </p:tgtEl>
                                        <p:attrNameLst>
                                          <p:attrName>ppt_x</p:attrName>
                                        </p:attrNameLst>
                                      </p:cBhvr>
                                      <p:tavLst>
                                        <p:tav tm="0">
                                          <p:val>
                                            <p:strVal val="ppt_x"/>
                                          </p:val>
                                        </p:tav>
                                        <p:tav tm="100000">
                                          <p:val>
                                            <p:strVal val="ppt_x"/>
                                          </p:val>
                                        </p:tav>
                                      </p:tavLst>
                                    </p:anim>
                                    <p:anim calcmode="lin" valueType="num">
                                      <p:cBhvr additive="base">
                                        <p:cTn id="13" dur="500"/>
                                        <p:tgtEl>
                                          <p:spTgt spid="7"/>
                                        </p:tgtEl>
                                        <p:attrNameLst>
                                          <p:attrName>ppt_y</p:attrName>
                                        </p:attrNameLst>
                                      </p:cBhvr>
                                      <p:tavLst>
                                        <p:tav tm="0">
                                          <p:val>
                                            <p:strVal val="ppt_y"/>
                                          </p:val>
                                        </p:tav>
                                        <p:tav tm="100000">
                                          <p:val>
                                            <p:strVal val="1+ppt_h/2"/>
                                          </p:val>
                                        </p:tav>
                                      </p:tavLst>
                                    </p:anim>
                                    <p:set>
                                      <p:cBhvr>
                                        <p:cTn id="14" dur="1" fill="hold">
                                          <p:stCondLst>
                                            <p:cond delay="499"/>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3190" y="136525"/>
            <a:ext cx="10515600" cy="1325563"/>
          </a:xfrm>
        </p:spPr>
        <p:txBody>
          <a:bodyPr/>
          <a:p>
            <a:r>
              <a:rPr lang="zh-CN" altLang="en-US"/>
              <a:t>总结</a:t>
            </a:r>
            <a:endParaRPr lang="zh-CN" altLang="en-US"/>
          </a:p>
        </p:txBody>
      </p:sp>
      <p:sp>
        <p:nvSpPr>
          <p:cNvPr id="3" name="文本占位符 2"/>
          <p:cNvSpPr>
            <a:spLocks noGrp="1"/>
          </p:cNvSpPr>
          <p:nvPr>
            <p:ph type="body" idx="1"/>
          </p:nvPr>
        </p:nvSpPr>
        <p:spPr>
          <a:xfrm>
            <a:off x="123190" y="1758315"/>
            <a:ext cx="11851005" cy="4918710"/>
          </a:xfrm>
        </p:spPr>
        <p:txBody>
          <a:bodyPr/>
          <a:p>
            <a:pPr marL="0" indent="0">
              <a:buNone/>
            </a:pPr>
            <a:r>
              <a:rPr lang="zh-CN" altLang="en-US"/>
              <a:t>对于第</a:t>
            </a:r>
            <a:r>
              <a:rPr lang="en-US" altLang="zh-CN"/>
              <a:t> i </a:t>
            </a:r>
            <a:r>
              <a:rPr lang="zh-CN" altLang="en-US"/>
              <a:t>个输入样本</a:t>
            </a:r>
            <a:r>
              <a:rPr lang="en-US" altLang="zh-CN"/>
              <a:t>，</a:t>
            </a:r>
            <a:r>
              <a:rPr lang="zh-CN" altLang="en-US"/>
              <a:t>线性模型会为第 </a:t>
            </a:r>
            <a:r>
              <a:rPr lang="en-US" altLang="zh-CN"/>
              <a:t>j </a:t>
            </a:r>
            <a:r>
              <a:rPr lang="zh-CN" altLang="en-US"/>
              <a:t>个类别算出一个原始得分</a:t>
            </a:r>
            <a:r>
              <a:rPr lang="en-US" altLang="zh-CN"/>
              <a:t> Logit</a:t>
            </a:r>
            <a:endParaRPr lang="en-US" altLang="zh-CN"/>
          </a:p>
          <a:p>
            <a:pPr marL="0" indent="0">
              <a:buFont typeface="Wingdings" panose="05000000000000000000" charset="0"/>
              <a:buNone/>
            </a:pPr>
            <a:endParaRPr lang="en-US" altLang="zh-CN"/>
          </a:p>
          <a:p>
            <a:pPr marL="0" indent="0">
              <a:buFont typeface="Wingdings" panose="05000000000000000000" charset="0"/>
              <a:buNone/>
            </a:pPr>
            <a:endParaRPr lang="en-US" altLang="zh-CN"/>
          </a:p>
          <a:p>
            <a:pPr marL="0" indent="0">
              <a:buFont typeface="Wingdings" panose="05000000000000000000" charset="0"/>
              <a:buNone/>
            </a:pPr>
            <a:r>
              <a:rPr lang="zh-CN" altLang="en-US"/>
              <a:t>通过</a:t>
            </a:r>
            <a:r>
              <a:rPr lang="en-US" altLang="zh-CN"/>
              <a:t>Softmax</a:t>
            </a:r>
            <a:r>
              <a:rPr lang="zh-CN" altLang="en-US"/>
              <a:t>函数转化为概率分布</a:t>
            </a:r>
            <a:endParaRPr lang="zh-CN" altLang="en-US"/>
          </a:p>
          <a:p>
            <a:pPr marL="0" indent="0">
              <a:buFont typeface="Wingdings" panose="05000000000000000000" charset="0"/>
              <a:buNone/>
            </a:pPr>
            <a:endParaRPr lang="zh-CN" altLang="en-US"/>
          </a:p>
          <a:p>
            <a:pPr marL="0" indent="0">
              <a:buFont typeface="Wingdings" panose="05000000000000000000" charset="0"/>
              <a:buNone/>
            </a:pPr>
            <a:endParaRPr lang="zh-CN" altLang="en-US"/>
          </a:p>
          <a:p>
            <a:pPr marL="0" indent="0">
              <a:buFont typeface="Wingdings" panose="05000000000000000000" charset="0"/>
              <a:buNone/>
            </a:pPr>
            <a:r>
              <a:rPr lang="zh-CN" altLang="en-US"/>
              <a:t>通过交叉熵来计算损失函数</a:t>
            </a: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graphicFrame>
        <p:nvGraphicFramePr>
          <p:cNvPr id="5" name="对象 4"/>
          <p:cNvGraphicFramePr/>
          <p:nvPr/>
        </p:nvGraphicFramePr>
        <p:xfrm>
          <a:off x="10181590" y="1677670"/>
          <a:ext cx="1757045" cy="591185"/>
        </p:xfrm>
        <a:graphic>
          <a:graphicData uri="http://schemas.openxmlformats.org/presentationml/2006/ole">
            <mc:AlternateContent xmlns:mc="http://schemas.openxmlformats.org/markup-compatibility/2006">
              <mc:Choice xmlns:v="urn:schemas-microsoft-com:vml" Requires="v">
                <p:oleObj spid="_x0000_s6" name="" r:id="rId1" imgW="2566035" imgH="782955" progId="Equation.DSMT4">
                  <p:embed/>
                </p:oleObj>
              </mc:Choice>
              <mc:Fallback>
                <p:oleObj name="" r:id="rId1" imgW="2566035" imgH="782955" progId="Equation.DSMT4">
                  <p:embed/>
                  <p:pic>
                    <p:nvPicPr>
                      <p:cNvPr id="0" name="图片 5"/>
                      <p:cNvPicPr/>
                      <p:nvPr/>
                    </p:nvPicPr>
                    <p:blipFill>
                      <a:blip r:embed="rId2"/>
                      <a:stretch>
                        <a:fillRect/>
                      </a:stretch>
                    </p:blipFill>
                    <p:spPr>
                      <a:xfrm>
                        <a:off x="10181590" y="1677670"/>
                        <a:ext cx="1757045" cy="591185"/>
                      </a:xfrm>
                      <a:prstGeom prst="rect">
                        <a:avLst/>
                      </a:prstGeom>
                    </p:spPr>
                  </p:pic>
                </p:oleObj>
              </mc:Fallback>
            </mc:AlternateContent>
          </a:graphicData>
        </a:graphic>
      </p:graphicFrame>
      <p:graphicFrame>
        <p:nvGraphicFramePr>
          <p:cNvPr id="7" name="对象 6"/>
          <p:cNvGraphicFramePr/>
          <p:nvPr/>
        </p:nvGraphicFramePr>
        <p:xfrm>
          <a:off x="5160645" y="2576830"/>
          <a:ext cx="1411605" cy="1378585"/>
        </p:xfrm>
        <a:graphic>
          <a:graphicData uri="http://schemas.openxmlformats.org/presentationml/2006/ole">
            <mc:AlternateContent xmlns:mc="http://schemas.openxmlformats.org/markup-compatibility/2006">
              <mc:Choice xmlns:v="urn:schemas-microsoft-com:vml" Requires="v">
                <p:oleObj spid="_x0000_s8" name="" r:id="rId3" imgW="1464310" imgH="1386205" progId="Equation.DSMT4">
                  <p:embed/>
                </p:oleObj>
              </mc:Choice>
              <mc:Fallback>
                <p:oleObj name="" r:id="rId3" imgW="1464310" imgH="1386205" progId="Equation.DSMT4">
                  <p:embed/>
                  <p:pic>
                    <p:nvPicPr>
                      <p:cNvPr id="0" name="图片 7"/>
                      <p:cNvPicPr/>
                      <p:nvPr/>
                    </p:nvPicPr>
                    <p:blipFill>
                      <a:blip r:embed="rId4"/>
                      <a:stretch>
                        <a:fillRect/>
                      </a:stretch>
                    </p:blipFill>
                    <p:spPr>
                      <a:xfrm>
                        <a:off x="5160645" y="2576830"/>
                        <a:ext cx="1411605" cy="1378585"/>
                      </a:xfrm>
                      <a:prstGeom prst="rect">
                        <a:avLst/>
                      </a:prstGeom>
                    </p:spPr>
                  </p:pic>
                </p:oleObj>
              </mc:Fallback>
            </mc:AlternateContent>
          </a:graphicData>
        </a:graphic>
      </p:graphicFrame>
      <p:graphicFrame>
        <p:nvGraphicFramePr>
          <p:cNvPr id="9" name="对象 8"/>
          <p:cNvGraphicFramePr/>
          <p:nvPr/>
        </p:nvGraphicFramePr>
        <p:xfrm>
          <a:off x="4551045" y="4358640"/>
          <a:ext cx="2832100" cy="992505"/>
        </p:xfrm>
        <a:graphic>
          <a:graphicData uri="http://schemas.openxmlformats.org/presentationml/2006/ole">
            <mc:AlternateContent xmlns:mc="http://schemas.openxmlformats.org/markup-compatibility/2006">
              <mc:Choice xmlns:v="urn:schemas-microsoft-com:vml" Requires="v">
                <p:oleObj spid="_x0000_s10" name="" r:id="rId5" imgW="3321050" imgH="916305" progId="Equation.DSMT4">
                  <p:embed/>
                </p:oleObj>
              </mc:Choice>
              <mc:Fallback>
                <p:oleObj name="" r:id="rId5" imgW="3321050" imgH="916305" progId="Equation.DSMT4">
                  <p:embed/>
                  <p:pic>
                    <p:nvPicPr>
                      <p:cNvPr id="0" name="图片 9"/>
                      <p:cNvPicPr/>
                      <p:nvPr/>
                    </p:nvPicPr>
                    <p:blipFill>
                      <a:blip r:embed="rId6"/>
                      <a:stretch>
                        <a:fillRect/>
                      </a:stretch>
                    </p:blipFill>
                    <p:spPr>
                      <a:xfrm>
                        <a:off x="4551045" y="4358640"/>
                        <a:ext cx="2832100" cy="992505"/>
                      </a:xfrm>
                      <a:prstGeom prst="rect">
                        <a:avLst/>
                      </a:prstGeom>
                    </p:spPr>
                  </p:pic>
                </p:oleObj>
              </mc:Fallback>
            </mc:AlternateContent>
          </a:graphicData>
        </a:graphic>
      </p:graphicFrame>
    </p:spTree>
    <p:custDataLst>
      <p:tags r:id="rId7"/>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p:tgtEl>
                                          <p:spTgt spid="5"/>
                                        </p:tgtEl>
                                        <p:attrNameLst>
                                          <p:attrName>ppt_y</p:attrName>
                                        </p:attrNameLst>
                                      </p:cBhvr>
                                      <p:tavLst>
                                        <p:tav tm="0">
                                          <p:val>
                                            <p:strVal val="#ppt_y+#ppt_h*1.125000"/>
                                          </p:val>
                                        </p:tav>
                                        <p:tav tm="100000">
                                          <p:val>
                                            <p:strVal val="#ppt_y"/>
                                          </p:val>
                                        </p:tav>
                                      </p:tavLst>
                                    </p:anim>
                                    <p:animEffect transition="in" filter="wipe(up)">
                                      <p:cBhvr>
                                        <p:cTn id="8" dur="500"/>
                                        <p:tgtEl>
                                          <p:spTgt spid="5"/>
                                        </p:tgtEl>
                                      </p:cBhvr>
                                    </p:animEffect>
                                  </p:childTnLst>
                                </p:cTn>
                              </p:par>
                            </p:childTnLst>
                          </p:cTn>
                        </p:par>
                      </p:childTnLst>
                    </p:cTn>
                  </p:par>
                  <p:par>
                    <p:cTn id="9" fill="hold">
                      <p:stCondLst>
                        <p:cond delay="indefinite"/>
                      </p:stCondLst>
                      <p:childTnLst>
                        <p:par>
                          <p:cTn id="10" fill="hold">
                            <p:stCondLst>
                              <p:cond delay="0"/>
                            </p:stCondLst>
                            <p:childTnLst>
                              <p:par>
                                <p:cTn id="11" presetID="12" presetClass="entr" presetSubtype="4"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p:tgtEl>
                                          <p:spTgt spid="7"/>
                                        </p:tgtEl>
                                        <p:attrNameLst>
                                          <p:attrName>ppt_y</p:attrName>
                                        </p:attrNameLst>
                                      </p:cBhvr>
                                      <p:tavLst>
                                        <p:tav tm="0">
                                          <p:val>
                                            <p:strVal val="#ppt_y+#ppt_h*1.125000"/>
                                          </p:val>
                                        </p:tav>
                                        <p:tav tm="100000">
                                          <p:val>
                                            <p:strVal val="#ppt_y"/>
                                          </p:val>
                                        </p:tav>
                                      </p:tavLst>
                                    </p:anim>
                                    <p:animEffect transition="in" filter="wipe(up)">
                                      <p:cBhvr>
                                        <p:cTn id="14" dur="500"/>
                                        <p:tgtEl>
                                          <p:spTgt spid="7"/>
                                        </p:tgtEl>
                                      </p:cBhvr>
                                    </p:animEffect>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p:tgtEl>
                                          <p:spTgt spid="9"/>
                                        </p:tgtEl>
                                        <p:attrNameLst>
                                          <p:attrName>ppt_y</p:attrName>
                                        </p:attrNameLst>
                                      </p:cBhvr>
                                      <p:tavLst>
                                        <p:tav tm="0">
                                          <p:val>
                                            <p:strVal val="#ppt_y+#ppt_h*1.125000"/>
                                          </p:val>
                                        </p:tav>
                                        <p:tav tm="100000">
                                          <p:val>
                                            <p:strVal val="#ppt_y"/>
                                          </p:val>
                                        </p:tav>
                                      </p:tavLst>
                                    </p:anim>
                                    <p:animEffect transition="in" filter="wipe(up)">
                                      <p:cBhvr>
                                        <p:cTn id="2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45110" y="136525"/>
            <a:ext cx="10515600" cy="1325563"/>
          </a:xfrm>
        </p:spPr>
        <p:txBody>
          <a:bodyPr/>
          <a:p>
            <a:r>
              <a:rPr lang="zh-CN" altLang="en-US"/>
              <a:t>梯度下降</a:t>
            </a:r>
            <a:endParaRPr lang="zh-CN" altLang="en-US"/>
          </a:p>
        </p:txBody>
      </p:sp>
      <p:sp>
        <p:nvSpPr>
          <p:cNvPr id="3" name="文本占位符 2"/>
          <p:cNvSpPr>
            <a:spLocks noGrp="1"/>
          </p:cNvSpPr>
          <p:nvPr>
            <p:ph type="body" idx="1"/>
          </p:nvPr>
        </p:nvSpPr>
        <p:spPr>
          <a:xfrm>
            <a:off x="342265" y="1258570"/>
            <a:ext cx="11631930" cy="4961255"/>
          </a:xfrm>
        </p:spPr>
        <p:txBody>
          <a:bodyPr/>
          <a:p>
            <a:pPr marL="0" indent="0">
              <a:buNone/>
            </a:pPr>
            <a:r>
              <a:rPr lang="zh-CN" altLang="en-US"/>
              <a:t>计算损失后，开始进行反向传播，通过梯度下降的方法对参数进行更新</a:t>
            </a:r>
            <a:endParaRPr lang="zh-CN" altLang="en-US"/>
          </a:p>
          <a:p>
            <a:pPr marL="0" indent="0">
              <a:buNone/>
            </a:pPr>
            <a:r>
              <a:rPr lang="zh-CN" altLang="en-US" b="1"/>
              <a:t>梯度下降</a:t>
            </a:r>
            <a:endParaRPr lang="zh-CN" altLang="en-US" b="1"/>
          </a:p>
          <a:p>
            <a:pPr>
              <a:buFont typeface="Wingdings" panose="05000000000000000000" charset="0"/>
              <a:buChar char="Ø"/>
            </a:pPr>
            <a:r>
              <a:rPr lang="zh-CN" altLang="en-US"/>
              <a:t>目的：用于寻找目标函数的局部极小值</a:t>
            </a:r>
            <a:endParaRPr lang="zh-CN" altLang="en-US"/>
          </a:p>
          <a:p>
            <a:pPr>
              <a:buFont typeface="Wingdings" panose="05000000000000000000" charset="0"/>
              <a:buChar char="Ø"/>
            </a:pPr>
            <a:r>
              <a:rPr lang="zh-CN" altLang="en-US"/>
              <a:t>方法：在当前参数位置，沿着目标函数梯度的反方向迈出一步，因为这是函数值下降最快的方向</a:t>
            </a: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443865" y="3540125"/>
            <a:ext cx="4203065" cy="2568575"/>
          </a:xfrm>
          <a:prstGeom prst="rect">
            <a:avLst/>
          </a:prstGeom>
        </p:spPr>
      </p:pic>
      <p:graphicFrame>
        <p:nvGraphicFramePr>
          <p:cNvPr id="6" name="对象 5"/>
          <p:cNvGraphicFramePr/>
          <p:nvPr/>
        </p:nvGraphicFramePr>
        <p:xfrm>
          <a:off x="5817870" y="3639185"/>
          <a:ext cx="5125085" cy="1674495"/>
        </p:xfrm>
        <a:graphic>
          <a:graphicData uri="http://schemas.openxmlformats.org/presentationml/2006/ole">
            <mc:AlternateContent xmlns:mc="http://schemas.openxmlformats.org/markup-compatibility/2006">
              <mc:Choice xmlns:v="urn:schemas-microsoft-com:vml" Requires="v">
                <p:oleObj spid="_x0000_s7" name="" r:id="rId2" imgW="4688205" imgH="1377950" progId="Equation.DSMT4">
                  <p:embed/>
                </p:oleObj>
              </mc:Choice>
              <mc:Fallback>
                <p:oleObj name="" r:id="rId2" imgW="4688205" imgH="1377950" progId="Equation.DSMT4">
                  <p:embed/>
                  <p:pic>
                    <p:nvPicPr>
                      <p:cNvPr id="0" name="图片 6"/>
                      <p:cNvPicPr/>
                      <p:nvPr/>
                    </p:nvPicPr>
                    <p:blipFill>
                      <a:blip r:embed="rId3"/>
                      <a:stretch>
                        <a:fillRect/>
                      </a:stretch>
                    </p:blipFill>
                    <p:spPr>
                      <a:xfrm>
                        <a:off x="5817870" y="3639185"/>
                        <a:ext cx="5125085" cy="1674495"/>
                      </a:xfrm>
                      <a:prstGeom prst="rect">
                        <a:avLst/>
                      </a:prstGeom>
                    </p:spPr>
                  </p:pic>
                </p:oleObj>
              </mc:Fallback>
            </mc:AlternateContent>
          </a:graphicData>
        </a:graphic>
      </p:graphicFrame>
    </p:spTree>
    <p:custDataLst>
      <p:tags r:id="rId4"/>
    </p:custData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15570" y="136525"/>
            <a:ext cx="10515600" cy="1325563"/>
          </a:xfrm>
        </p:spPr>
        <p:txBody>
          <a:bodyPr/>
          <a:p>
            <a:r>
              <a:rPr lang="zh-CN" altLang="en-US">
                <a:sym typeface="+mn-ea"/>
              </a:rPr>
              <a:t>随机梯度下降</a:t>
            </a:r>
            <a:r>
              <a:rPr lang="en-US" altLang="zh-CN">
                <a:sym typeface="+mn-ea"/>
              </a:rPr>
              <a:t>SGD</a:t>
            </a:r>
            <a:r>
              <a:rPr lang="zh-CN" altLang="en-US">
                <a:sym typeface="+mn-ea"/>
              </a:rPr>
              <a:t>方法</a:t>
            </a:r>
            <a:endParaRPr lang="zh-CN" altLang="en-US"/>
          </a:p>
        </p:txBody>
      </p:sp>
      <p:sp>
        <p:nvSpPr>
          <p:cNvPr id="3" name="文本占位符 2"/>
          <p:cNvSpPr>
            <a:spLocks noGrp="1"/>
          </p:cNvSpPr>
          <p:nvPr>
            <p:ph type="body" idx="1"/>
          </p:nvPr>
        </p:nvSpPr>
        <p:spPr>
          <a:xfrm>
            <a:off x="115570" y="1625600"/>
            <a:ext cx="11858625" cy="4594225"/>
          </a:xfrm>
        </p:spPr>
        <p:txBody>
          <a:bodyPr>
            <a:normAutofit lnSpcReduction="20000"/>
          </a:bodyPr>
          <a:p>
            <a:pPr marL="0" indent="0">
              <a:buNone/>
            </a:pPr>
            <a:r>
              <a:rPr lang="zh-CN" altLang="en-US"/>
              <a:t>方法：首先在训练前，我们要随机找到一个初始位置点，找到后根据梯度来逐步寻找梯</a:t>
            </a:r>
            <a:endParaRPr lang="zh-CN" altLang="en-US"/>
          </a:p>
          <a:p>
            <a:pPr marL="0" indent="0">
              <a:buNone/>
            </a:pPr>
            <a:r>
              <a:rPr lang="zh-CN" altLang="en-US"/>
              <a:t>度为0的点</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r>
              <a:rPr lang="zh-CN" altLang="en-US"/>
              <a:t>实际过程：批量梯度下降</a:t>
            </a: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513080" y="2865755"/>
            <a:ext cx="4114800" cy="2514600"/>
          </a:xfrm>
          <a:prstGeom prst="rect">
            <a:avLst/>
          </a:prstGeom>
        </p:spPr>
      </p:pic>
      <p:pic>
        <p:nvPicPr>
          <p:cNvPr id="6" name="图片 5"/>
          <p:cNvPicPr>
            <a:picLocks noChangeAspect="1"/>
          </p:cNvPicPr>
          <p:nvPr/>
        </p:nvPicPr>
        <p:blipFill>
          <a:blip r:embed="rId2"/>
          <a:stretch>
            <a:fillRect/>
          </a:stretch>
        </p:blipFill>
        <p:spPr>
          <a:xfrm>
            <a:off x="6199505" y="3319145"/>
            <a:ext cx="3691255" cy="1325880"/>
          </a:xfrm>
          <a:prstGeom prst="rect">
            <a:avLst/>
          </a:prstGeom>
        </p:spPr>
      </p:pic>
      <p:graphicFrame>
        <p:nvGraphicFramePr>
          <p:cNvPr id="7" name="对象 6"/>
          <p:cNvGraphicFramePr/>
          <p:nvPr/>
        </p:nvGraphicFramePr>
        <p:xfrm>
          <a:off x="6322695" y="2334260"/>
          <a:ext cx="2893060" cy="532130"/>
        </p:xfrm>
        <a:graphic>
          <a:graphicData uri="http://schemas.openxmlformats.org/presentationml/2006/ole">
            <mc:AlternateContent xmlns:mc="http://schemas.openxmlformats.org/markup-compatibility/2006">
              <mc:Choice xmlns:v="urn:schemas-microsoft-com:vml" Requires="v">
                <p:oleObj spid="_x0000_s8" name="" r:id="rId3" imgW="3738245" imgH="741045" progId="Equation.DSMT4">
                  <p:embed/>
                </p:oleObj>
              </mc:Choice>
              <mc:Fallback>
                <p:oleObj name="" r:id="rId3" imgW="3738245" imgH="741045" progId="Equation.DSMT4">
                  <p:embed/>
                  <p:pic>
                    <p:nvPicPr>
                      <p:cNvPr id="0" name="图片 7"/>
                      <p:cNvPicPr/>
                      <p:nvPr/>
                    </p:nvPicPr>
                    <p:blipFill>
                      <a:blip r:embed="rId4"/>
                      <a:stretch>
                        <a:fillRect/>
                      </a:stretch>
                    </p:blipFill>
                    <p:spPr>
                      <a:xfrm>
                        <a:off x="6322695" y="2334260"/>
                        <a:ext cx="2893060" cy="532130"/>
                      </a:xfrm>
                      <a:prstGeom prst="rect">
                        <a:avLst/>
                      </a:prstGeom>
                    </p:spPr>
                  </p:pic>
                </p:oleObj>
              </mc:Fallback>
            </mc:AlternateContent>
          </a:graphicData>
        </a:graphic>
      </p:graphicFrame>
      <p:pic>
        <p:nvPicPr>
          <p:cNvPr id="9" name="图片 8"/>
          <p:cNvPicPr>
            <a:picLocks noChangeAspect="1"/>
          </p:cNvPicPr>
          <p:nvPr/>
        </p:nvPicPr>
        <p:blipFill>
          <a:blip r:embed="rId5"/>
          <a:stretch>
            <a:fillRect/>
          </a:stretch>
        </p:blipFill>
        <p:spPr>
          <a:xfrm>
            <a:off x="236220" y="2714625"/>
            <a:ext cx="5318760" cy="2665730"/>
          </a:xfrm>
          <a:prstGeom prst="rect">
            <a:avLst/>
          </a:prstGeom>
        </p:spPr>
      </p:pic>
    </p:spTree>
    <p:custDataLst>
      <p:tags r:id="rId6"/>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2870" y="93980"/>
            <a:ext cx="10515600" cy="1325563"/>
          </a:xfrm>
        </p:spPr>
        <p:txBody>
          <a:bodyPr/>
          <a:p>
            <a:r>
              <a:rPr lang="zh-CN" altLang="en-US">
                <a:sym typeface="+mn-ea"/>
              </a:rPr>
              <a:t>动量</a:t>
            </a:r>
            <a:r>
              <a:rPr lang="en-US" altLang="zh-CN">
                <a:sym typeface="+mn-ea"/>
              </a:rPr>
              <a:t>Momentum</a:t>
            </a:r>
            <a:r>
              <a:rPr lang="zh-CN" altLang="en-US">
                <a:sym typeface="+mn-ea"/>
              </a:rPr>
              <a:t>方法优化</a:t>
            </a:r>
            <a:endParaRPr lang="zh-CN" altLang="en-US"/>
          </a:p>
        </p:txBody>
      </p:sp>
      <p:sp>
        <p:nvSpPr>
          <p:cNvPr id="3" name="文本占位符 2"/>
          <p:cNvSpPr>
            <a:spLocks noGrp="1"/>
          </p:cNvSpPr>
          <p:nvPr>
            <p:ph type="body" idx="1"/>
          </p:nvPr>
        </p:nvSpPr>
        <p:spPr>
          <a:xfrm>
            <a:off x="102870" y="1591310"/>
            <a:ext cx="11871325" cy="4628515"/>
          </a:xfrm>
        </p:spPr>
        <p:txBody>
          <a:bodyPr/>
          <a:p>
            <a:pPr marL="0" indent="0">
              <a:buNone/>
            </a:pPr>
            <a:r>
              <a:rPr lang="zh-CN" altLang="en-US"/>
              <a:t>大体还是使用随机梯度下降，但是引入了动量，就是让这个点更新时考虑惯性</a:t>
            </a: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graphicFrame>
        <p:nvGraphicFramePr>
          <p:cNvPr id="5" name="对象 4"/>
          <p:cNvGraphicFramePr/>
          <p:nvPr/>
        </p:nvGraphicFramePr>
        <p:xfrm>
          <a:off x="5789295" y="2541905"/>
          <a:ext cx="2532380" cy="1024255"/>
        </p:xfrm>
        <a:graphic>
          <a:graphicData uri="http://schemas.openxmlformats.org/presentationml/2006/ole">
            <mc:AlternateContent xmlns:mc="http://schemas.openxmlformats.org/markup-compatibility/2006">
              <mc:Choice xmlns:v="urn:schemas-microsoft-com:vml" Requires="v">
                <p:oleObj spid="_x0000_s6" name="" r:id="rId1" imgW="1143000" imgH="457200" progId="Equation.DSMT4">
                  <p:embed/>
                </p:oleObj>
              </mc:Choice>
              <mc:Fallback>
                <p:oleObj name="" r:id="rId1" imgW="1143000" imgH="457200" progId="Equation.DSMT4">
                  <p:embed/>
                  <p:pic>
                    <p:nvPicPr>
                      <p:cNvPr id="0" name="图片 5"/>
                      <p:cNvPicPr/>
                      <p:nvPr/>
                    </p:nvPicPr>
                    <p:blipFill>
                      <a:blip r:embed="rId2"/>
                      <a:stretch>
                        <a:fillRect/>
                      </a:stretch>
                    </p:blipFill>
                    <p:spPr>
                      <a:xfrm>
                        <a:off x="5789295" y="2541905"/>
                        <a:ext cx="2532380" cy="1024255"/>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8502650" y="2235200"/>
            <a:ext cx="3413125" cy="1638300"/>
          </a:xfrm>
          <a:prstGeom prst="rect">
            <a:avLst/>
          </a:prstGeom>
        </p:spPr>
      </p:pic>
      <p:pic>
        <p:nvPicPr>
          <p:cNvPr id="9" name="图片 8"/>
          <p:cNvPicPr>
            <a:picLocks noChangeAspect="1"/>
          </p:cNvPicPr>
          <p:nvPr/>
        </p:nvPicPr>
        <p:blipFill>
          <a:blip r:embed="rId4"/>
          <a:stretch>
            <a:fillRect/>
          </a:stretch>
        </p:blipFill>
        <p:spPr>
          <a:xfrm>
            <a:off x="102870" y="2351405"/>
            <a:ext cx="5318760" cy="2665730"/>
          </a:xfrm>
          <a:prstGeom prst="rect">
            <a:avLst/>
          </a:prstGeom>
        </p:spPr>
      </p:pic>
      <p:sp>
        <p:nvSpPr>
          <p:cNvPr id="10" name="文本框 9"/>
          <p:cNvSpPr txBox="1"/>
          <p:nvPr/>
        </p:nvSpPr>
        <p:spPr>
          <a:xfrm>
            <a:off x="266700" y="5342255"/>
            <a:ext cx="370268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指数加权平均动量法</a:t>
            </a:r>
            <a:endParaRPr kumimoji="0" lang="zh-CN" altLang="en-US" sz="2400" b="1"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aphicFrame>
        <p:nvGraphicFramePr>
          <p:cNvPr id="11" name="对象 10"/>
          <p:cNvGraphicFramePr/>
          <p:nvPr/>
        </p:nvGraphicFramePr>
        <p:xfrm>
          <a:off x="3124200" y="5199380"/>
          <a:ext cx="3539490" cy="654685"/>
        </p:xfrm>
        <a:graphic>
          <a:graphicData uri="http://schemas.openxmlformats.org/presentationml/2006/ole">
            <mc:AlternateContent xmlns:mc="http://schemas.openxmlformats.org/markup-compatibility/2006">
              <mc:Choice xmlns:v="urn:schemas-microsoft-com:vml" Requires="v">
                <p:oleObj spid="_x0000_s12" name="" r:id="rId5" imgW="3589020" imgH="592455" progId="Equation.DSMT4">
                  <p:embed/>
                </p:oleObj>
              </mc:Choice>
              <mc:Fallback>
                <p:oleObj name="" r:id="rId5" imgW="3589020" imgH="592455" progId="Equation.DSMT4">
                  <p:embed/>
                  <p:pic>
                    <p:nvPicPr>
                      <p:cNvPr id="0" name="图片 11"/>
                      <p:cNvPicPr/>
                      <p:nvPr/>
                    </p:nvPicPr>
                    <p:blipFill>
                      <a:blip r:embed="rId6"/>
                      <a:stretch>
                        <a:fillRect/>
                      </a:stretch>
                    </p:blipFill>
                    <p:spPr>
                      <a:xfrm>
                        <a:off x="3124200" y="5199380"/>
                        <a:ext cx="3539490" cy="654685"/>
                      </a:xfrm>
                      <a:prstGeom prst="rect">
                        <a:avLst/>
                      </a:prstGeom>
                    </p:spPr>
                  </p:pic>
                </p:oleObj>
              </mc:Fallback>
            </mc:AlternateContent>
          </a:graphicData>
        </a:graphic>
      </p:graphicFrame>
    </p:spTree>
    <p:custDataLst>
      <p:tags r:id="rId7"/>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11455" y="144780"/>
            <a:ext cx="10515600" cy="1325563"/>
          </a:xfrm>
        </p:spPr>
        <p:txBody>
          <a:bodyPr/>
          <a:p>
            <a:r>
              <a:rPr lang="zh-CN" altLang="en-US">
                <a:sym typeface="+mn-ea"/>
              </a:rPr>
              <a:t>均方根反向传播法</a:t>
            </a:r>
            <a:r>
              <a:rPr lang="en-US" altLang="zh-CN">
                <a:sym typeface="+mn-ea"/>
              </a:rPr>
              <a:t>RMSProp</a:t>
            </a:r>
            <a:endParaRPr lang="zh-CN" altLang="en-US"/>
          </a:p>
        </p:txBody>
      </p:sp>
      <p:sp>
        <p:nvSpPr>
          <p:cNvPr id="3" name="文本占位符 2"/>
          <p:cNvSpPr>
            <a:spLocks noGrp="1"/>
          </p:cNvSpPr>
          <p:nvPr>
            <p:ph type="body" idx="1"/>
          </p:nvPr>
        </p:nvSpPr>
        <p:spPr>
          <a:xfrm>
            <a:off x="211455" y="1572260"/>
            <a:ext cx="11762740" cy="4978400"/>
          </a:xfrm>
        </p:spPr>
        <p:txBody>
          <a:bodyPr/>
          <a:p>
            <a:pPr marL="0" indent="0">
              <a:buNone/>
            </a:pPr>
            <a:r>
              <a:rPr lang="zh-CN" altLang="en-US"/>
              <a:t>根据在几何意义上的陡峭程度来调整步长，在陡峭的地方迈小步，在平缓的地方迈大步</a:t>
            </a: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5548630" y="3171190"/>
            <a:ext cx="6525260" cy="1228725"/>
          </a:xfrm>
          <a:prstGeom prst="rect">
            <a:avLst/>
          </a:prstGeom>
        </p:spPr>
      </p:pic>
      <p:graphicFrame>
        <p:nvGraphicFramePr>
          <p:cNvPr id="6" name="对象 5"/>
          <p:cNvGraphicFramePr/>
          <p:nvPr/>
        </p:nvGraphicFramePr>
        <p:xfrm>
          <a:off x="6096000" y="2339340"/>
          <a:ext cx="3665220" cy="758190"/>
        </p:xfrm>
        <a:graphic>
          <a:graphicData uri="http://schemas.openxmlformats.org/presentationml/2006/ole">
            <mc:AlternateContent xmlns:mc="http://schemas.openxmlformats.org/markup-compatibility/2006">
              <mc:Choice xmlns:v="urn:schemas-microsoft-com:vml" Requires="v">
                <p:oleObj spid="_x0000_s7" name="" r:id="rId2" imgW="2519045" imgH="514985" progId="Equation.DSMT4">
                  <p:embed/>
                </p:oleObj>
              </mc:Choice>
              <mc:Fallback>
                <p:oleObj name="" r:id="rId2" imgW="2519045" imgH="514985" progId="Equation.DSMT4">
                  <p:embed/>
                  <p:pic>
                    <p:nvPicPr>
                      <p:cNvPr id="0" name="图片 6"/>
                      <p:cNvPicPr/>
                      <p:nvPr/>
                    </p:nvPicPr>
                    <p:blipFill>
                      <a:blip r:embed="rId3"/>
                      <a:stretch>
                        <a:fillRect/>
                      </a:stretch>
                    </p:blipFill>
                    <p:spPr>
                      <a:xfrm>
                        <a:off x="6096000" y="2339340"/>
                        <a:ext cx="3665220" cy="758190"/>
                      </a:xfrm>
                      <a:prstGeom prst="rect">
                        <a:avLst/>
                      </a:prstGeom>
                    </p:spPr>
                  </p:pic>
                </p:oleObj>
              </mc:Fallback>
            </mc:AlternateContent>
          </a:graphicData>
        </a:graphic>
      </p:graphicFrame>
      <p:pic>
        <p:nvPicPr>
          <p:cNvPr id="9" name="图片 8"/>
          <p:cNvPicPr>
            <a:picLocks noChangeAspect="1"/>
          </p:cNvPicPr>
          <p:nvPr/>
        </p:nvPicPr>
        <p:blipFill>
          <a:blip r:embed="rId4"/>
          <a:stretch>
            <a:fillRect/>
          </a:stretch>
        </p:blipFill>
        <p:spPr>
          <a:xfrm>
            <a:off x="51435" y="2629535"/>
            <a:ext cx="5318760" cy="2665730"/>
          </a:xfrm>
          <a:prstGeom prst="rect">
            <a:avLst/>
          </a:prstGeom>
        </p:spPr>
      </p:pic>
    </p:spTree>
    <p:custDataLst>
      <p:tags r:id="rId5"/>
    </p:custData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p:tgtEl>
                                          <p:spTgt spid="9"/>
                                        </p:tgtEl>
                                        <p:attrNameLst>
                                          <p:attrName>ppt_y</p:attrName>
                                        </p:attrNameLst>
                                      </p:cBhvr>
                                      <p:tavLst>
                                        <p:tav tm="0">
                                          <p:val>
                                            <p:strVal val="#ppt_y+#ppt_h*1.125000"/>
                                          </p:val>
                                        </p:tav>
                                        <p:tav tm="100000">
                                          <p:val>
                                            <p:strVal val="#ppt_y"/>
                                          </p:val>
                                        </p:tav>
                                      </p:tavLst>
                                    </p:anim>
                                    <p:animEffect transition="in" filter="wipe(up)">
                                      <p:cBhvr>
                                        <p:cTn id="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76200" y="55880"/>
            <a:ext cx="10515600" cy="1325563"/>
          </a:xfrm>
        </p:spPr>
        <p:txBody>
          <a:bodyPr/>
          <a:p>
            <a:r>
              <a:rPr lang="en-US" altLang="zh-CN"/>
              <a:t>adam</a:t>
            </a:r>
            <a:r>
              <a:rPr lang="zh-CN" altLang="en-US"/>
              <a:t>优化器</a:t>
            </a:r>
            <a:endParaRPr lang="zh-CN" altLang="en-US"/>
          </a:p>
        </p:txBody>
      </p:sp>
      <p:sp>
        <p:nvSpPr>
          <p:cNvPr id="3" name="文本占位符 2"/>
          <p:cNvSpPr>
            <a:spLocks noGrp="1"/>
          </p:cNvSpPr>
          <p:nvPr>
            <p:ph type="body" idx="1"/>
          </p:nvPr>
        </p:nvSpPr>
        <p:spPr>
          <a:xfrm>
            <a:off x="198755" y="1537970"/>
            <a:ext cx="11775440" cy="5003165"/>
          </a:xfrm>
        </p:spPr>
        <p:txBody>
          <a:bodyPr/>
          <a:p>
            <a:pPr marL="0" indent="0">
              <a:buNone/>
            </a:pPr>
            <a:r>
              <a:rPr lang="en-US" altLang="zh-CN" b="1"/>
              <a:t>adam</a:t>
            </a:r>
            <a:r>
              <a:rPr lang="zh-CN" altLang="en-US"/>
              <a:t>完美地结合了 </a:t>
            </a:r>
            <a:r>
              <a:rPr lang="en-US" altLang="zh-CN"/>
              <a:t>Momentum </a:t>
            </a:r>
            <a:r>
              <a:rPr lang="zh-CN" altLang="en-US"/>
              <a:t>和 </a:t>
            </a:r>
            <a:r>
              <a:rPr lang="en-US" altLang="zh-CN"/>
              <a:t>RMSProp </a:t>
            </a:r>
            <a:r>
              <a:rPr lang="zh-CN" altLang="en-US"/>
              <a:t>这两种方法的优点，是很流行的优化器</a:t>
            </a:r>
            <a:endParaRPr lang="zh-CN" altLang="en-US"/>
          </a:p>
          <a:p>
            <a:pPr marL="0" indent="0">
              <a:buNone/>
            </a:pP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cxnSp>
        <p:nvCxnSpPr>
          <p:cNvPr id="6" name="直接箭头连接符 5"/>
          <p:cNvCxnSpPr>
            <a:stCxn id="13" idx="1"/>
          </p:cNvCxnSpPr>
          <p:nvPr/>
        </p:nvCxnSpPr>
        <p:spPr>
          <a:xfrm flipH="1">
            <a:off x="1096010" y="3169920"/>
            <a:ext cx="528955" cy="120205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7" name="文本框 6"/>
          <p:cNvSpPr txBox="1"/>
          <p:nvPr/>
        </p:nvSpPr>
        <p:spPr>
          <a:xfrm>
            <a:off x="199390" y="4584700"/>
            <a:ext cx="2369185" cy="719455"/>
          </a:xfrm>
          <a:prstGeom prst="rect">
            <a:avLst/>
          </a:prstGeom>
        </p:spPr>
        <p:txBody>
          <a:bodyPr wrap="square">
            <a:noAutofit/>
          </a:bodyPr>
          <a:p>
            <a:r>
              <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计算历史梯度的</a:t>
            </a:r>
            <a:endPar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r>
              <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指数移动平均值</a:t>
            </a:r>
            <a:endPar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9" name="文本框 8"/>
          <p:cNvSpPr txBox="1"/>
          <p:nvPr/>
        </p:nvSpPr>
        <p:spPr>
          <a:xfrm>
            <a:off x="3519170" y="5304155"/>
            <a:ext cx="2294890" cy="829945"/>
          </a:xfrm>
          <a:prstGeom prst="rect">
            <a:avLst/>
          </a:prstGeom>
        </p:spPr>
        <p:txBody>
          <a:bodyPr wrap="square">
            <a:spAutoFit/>
          </a:bodyPr>
          <a:p>
            <a:r>
              <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记录了历史梯度的平方和</a:t>
            </a:r>
            <a:endPar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1" name="文本框 10"/>
          <p:cNvSpPr txBox="1"/>
          <p:nvPr/>
        </p:nvSpPr>
        <p:spPr>
          <a:xfrm>
            <a:off x="6170930" y="5395913"/>
            <a:ext cx="5080000" cy="829945"/>
          </a:xfrm>
          <a:prstGeom prst="rect">
            <a:avLst/>
          </a:prstGeom>
        </p:spPr>
        <p:txBody>
          <a:bodyPr>
            <a:spAutoFit/>
          </a:bodyPr>
          <a:p>
            <a:r>
              <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为了放大起步阶段的数值，强行把它拉回到正常水平</a:t>
            </a:r>
            <a:endParaRPr lang="en-US" altLang="zh-CN"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3" name="图片 12"/>
          <p:cNvPicPr>
            <a:picLocks noChangeAspect="1"/>
          </p:cNvPicPr>
          <p:nvPr/>
        </p:nvPicPr>
        <p:blipFill>
          <a:blip r:embed="rId1"/>
          <a:stretch>
            <a:fillRect/>
          </a:stretch>
        </p:blipFill>
        <p:spPr>
          <a:xfrm>
            <a:off x="1624965" y="2045970"/>
            <a:ext cx="6724650" cy="2247900"/>
          </a:xfrm>
          <a:prstGeom prst="rect">
            <a:avLst/>
          </a:prstGeom>
        </p:spPr>
      </p:pic>
      <p:cxnSp>
        <p:nvCxnSpPr>
          <p:cNvPr id="8" name="直接箭头连接符 7"/>
          <p:cNvCxnSpPr/>
          <p:nvPr/>
        </p:nvCxnSpPr>
        <p:spPr>
          <a:xfrm>
            <a:off x="4132580" y="3445510"/>
            <a:ext cx="396875" cy="195072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10" name="直接箭头连接符 9"/>
          <p:cNvCxnSpPr/>
          <p:nvPr/>
        </p:nvCxnSpPr>
        <p:spPr>
          <a:xfrm flipH="1">
            <a:off x="7677785" y="3690620"/>
            <a:ext cx="603250" cy="170561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Tree>
    <p:custDataLst>
      <p:tags r:id="rId2"/>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93345" y="153035"/>
            <a:ext cx="10515600" cy="1325563"/>
          </a:xfrm>
        </p:spPr>
        <p:txBody>
          <a:bodyPr/>
          <a:p>
            <a:r>
              <a:rPr lang="zh-CN" altLang="en-US"/>
              <a:t>过拟合问题</a:t>
            </a:r>
            <a:endParaRPr lang="en-US" altLang="zh-CN"/>
          </a:p>
        </p:txBody>
      </p:sp>
      <p:sp>
        <p:nvSpPr>
          <p:cNvPr id="3" name="文本占位符 2"/>
          <p:cNvSpPr>
            <a:spLocks noGrp="1"/>
          </p:cNvSpPr>
          <p:nvPr>
            <p:ph type="body" idx="1"/>
          </p:nvPr>
        </p:nvSpPr>
        <p:spPr>
          <a:xfrm>
            <a:off x="253365" y="1309370"/>
            <a:ext cx="11720830" cy="4910455"/>
          </a:xfrm>
        </p:spPr>
        <p:txBody>
          <a:bodyPr/>
          <a:p>
            <a:pPr marL="0" indent="0">
              <a:buNone/>
            </a:pPr>
            <a:r>
              <a:rPr lang="zh-CN" altLang="en-US"/>
              <a:t>损失函数的优化</a:t>
            </a:r>
            <a:endParaRPr lang="zh-CN" altLang="en-US"/>
          </a:p>
          <a:p>
            <a:pPr marL="0" indent="0">
              <a:buNone/>
            </a:pPr>
            <a:r>
              <a:rPr lang="zh-CN" altLang="en-US"/>
              <a:t>引入背景：太复杂的模型（就是指参数特别多，模型，层数深度也很广的模型）很容易导致</a:t>
            </a:r>
            <a:r>
              <a:rPr lang="zh-CN" altLang="en-US" b="1"/>
              <a:t>过拟合</a:t>
            </a:r>
            <a:r>
              <a:rPr lang="zh-CN" altLang="en-US"/>
              <a:t>，因此我们不会去首选比较复杂的模型来进行训练推理</a:t>
            </a:r>
            <a:endParaRPr lang="zh-CN" altLang="en-US"/>
          </a:p>
          <a:p>
            <a:pPr marL="0" indent="0">
              <a:buNone/>
            </a:pPr>
            <a:endParaRPr lang="zh-CN" altLang="en-US"/>
          </a:p>
          <a:p>
            <a:pPr marL="0" indent="0">
              <a:buNone/>
            </a:pP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sp>
        <p:nvSpPr>
          <p:cNvPr id="5" name="文本框 4"/>
          <p:cNvSpPr txBox="1"/>
          <p:nvPr/>
        </p:nvSpPr>
        <p:spPr>
          <a:xfrm>
            <a:off x="252730" y="3905568"/>
            <a:ext cx="5080000" cy="922020"/>
          </a:xfrm>
          <a:prstGeom prst="rect">
            <a:avLst/>
          </a:prstGeom>
        </p:spPr>
        <p:txBody>
          <a:bodyPr>
            <a:spAutoFit/>
          </a:bodyPr>
          <a:p>
            <a:r>
              <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模型在训练数据上表现得“过于完美”，把数据里的噪声、偶然波动和无关细节都死记硬背了下来，导致它丧失了举一反三的能力，泛化能力差</a:t>
            </a:r>
            <a:endParaRPr lang="zh-CN" altLang="en-US">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cxnSp>
        <p:nvCxnSpPr>
          <p:cNvPr id="6" name="直接箭头连接符 5"/>
          <p:cNvCxnSpPr/>
          <p:nvPr/>
        </p:nvCxnSpPr>
        <p:spPr>
          <a:xfrm>
            <a:off x="1814195" y="2905760"/>
            <a:ext cx="459105" cy="91821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pic>
        <p:nvPicPr>
          <p:cNvPr id="7" name="图片 6"/>
          <p:cNvPicPr>
            <a:picLocks noChangeAspect="1"/>
          </p:cNvPicPr>
          <p:nvPr/>
        </p:nvPicPr>
        <p:blipFill>
          <a:blip r:embed="rId1"/>
          <a:stretch>
            <a:fillRect/>
          </a:stretch>
        </p:blipFill>
        <p:spPr>
          <a:xfrm>
            <a:off x="5833745" y="2599690"/>
            <a:ext cx="5817870" cy="2954020"/>
          </a:xfrm>
          <a:prstGeom prst="rect">
            <a:avLst/>
          </a:prstGeom>
        </p:spPr>
      </p:pic>
    </p:spTree>
    <p:custDataLst>
      <p:tags r:id="rId2"/>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0965" y="153035"/>
            <a:ext cx="10515600" cy="1325563"/>
          </a:xfrm>
        </p:spPr>
        <p:txBody>
          <a:bodyPr/>
          <a:p>
            <a:r>
              <a:rPr lang="zh-CN" altLang="en-US"/>
              <a:t>损失函数的正则化</a:t>
            </a:r>
            <a:endParaRPr lang="zh-CN" altLang="en-US"/>
          </a:p>
        </p:txBody>
      </p:sp>
      <p:sp>
        <p:nvSpPr>
          <p:cNvPr id="3" name="文本占位符 2"/>
          <p:cNvSpPr>
            <a:spLocks noGrp="1"/>
          </p:cNvSpPr>
          <p:nvPr>
            <p:ph type="body" idx="1"/>
          </p:nvPr>
        </p:nvSpPr>
        <p:spPr>
          <a:xfrm>
            <a:off x="191770" y="1208405"/>
            <a:ext cx="11782425" cy="5011420"/>
          </a:xfrm>
        </p:spPr>
        <p:txBody>
          <a:bodyPr/>
          <a:p>
            <a:pPr marL="0" indent="0">
              <a:buNone/>
            </a:pPr>
            <a:endParaRPr lang="zh-CN" altLang="en-US"/>
          </a:p>
          <a:p>
            <a:pPr marL="0" indent="0">
              <a:buNone/>
            </a:pP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graphicFrame>
        <p:nvGraphicFramePr>
          <p:cNvPr id="5" name="对象 4"/>
          <p:cNvGraphicFramePr/>
          <p:nvPr/>
        </p:nvGraphicFramePr>
        <p:xfrm>
          <a:off x="2519680" y="1404620"/>
          <a:ext cx="5677535" cy="1054100"/>
        </p:xfrm>
        <a:graphic>
          <a:graphicData uri="http://schemas.openxmlformats.org/presentationml/2006/ole">
            <mc:AlternateContent xmlns:mc="http://schemas.openxmlformats.org/markup-compatibility/2006">
              <mc:Choice xmlns:v="urn:schemas-microsoft-com:vml" Requires="v">
                <p:oleObj spid="_x0000_s6" name="" r:id="rId1" imgW="5466715" imgH="916940" progId="Equation.DSMT4">
                  <p:embed/>
                </p:oleObj>
              </mc:Choice>
              <mc:Fallback>
                <p:oleObj name="" r:id="rId1" imgW="5466715" imgH="916940" progId="Equation.DSMT4">
                  <p:embed/>
                  <p:pic>
                    <p:nvPicPr>
                      <p:cNvPr id="0" name="图片 5"/>
                      <p:cNvPicPr/>
                      <p:nvPr/>
                    </p:nvPicPr>
                    <p:blipFill>
                      <a:blip r:embed="rId2"/>
                      <a:stretch>
                        <a:fillRect/>
                      </a:stretch>
                    </p:blipFill>
                    <p:spPr>
                      <a:xfrm>
                        <a:off x="2519680" y="1404620"/>
                        <a:ext cx="5677535" cy="1054100"/>
                      </a:xfrm>
                      <a:prstGeom prst="rect">
                        <a:avLst/>
                      </a:prstGeom>
                    </p:spPr>
                  </p:pic>
                </p:oleObj>
              </mc:Fallback>
            </mc:AlternateContent>
          </a:graphicData>
        </a:graphic>
      </p:graphicFrame>
      <p:sp>
        <p:nvSpPr>
          <p:cNvPr id="7" name="矩形 6"/>
          <p:cNvSpPr/>
          <p:nvPr/>
        </p:nvSpPr>
        <p:spPr>
          <a:xfrm>
            <a:off x="6959600" y="1478915"/>
            <a:ext cx="1237615" cy="906145"/>
          </a:xfrm>
          <a:prstGeom prst="rect">
            <a:avLst/>
          </a:prstGeom>
          <a:noFill/>
          <a:ln w="28575" cap="flat">
            <a:solidFill>
              <a:srgbClr val="FF0000"/>
            </a:solidFill>
            <a:prstDash val="solid"/>
            <a:miter lim="800000"/>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aphicFrame>
        <p:nvGraphicFramePr>
          <p:cNvPr id="8" name="对象 7"/>
          <p:cNvGraphicFramePr/>
          <p:nvPr/>
        </p:nvGraphicFramePr>
        <p:xfrm>
          <a:off x="2437130" y="4394200"/>
          <a:ext cx="2087880" cy="708025"/>
        </p:xfrm>
        <a:graphic>
          <a:graphicData uri="http://schemas.openxmlformats.org/presentationml/2006/ole">
            <mc:AlternateContent xmlns:mc="http://schemas.openxmlformats.org/markup-compatibility/2006">
              <mc:Choice xmlns:v="urn:schemas-microsoft-com:vml" Requires="v">
                <p:oleObj spid="_x0000_s9" name="" r:id="rId3" imgW="3020695" imgH="927100" progId="Equation.DSMT4">
                  <p:embed/>
                </p:oleObj>
              </mc:Choice>
              <mc:Fallback>
                <p:oleObj name="" r:id="rId3" imgW="3020695" imgH="927100" progId="Equation.DSMT4">
                  <p:embed/>
                  <p:pic>
                    <p:nvPicPr>
                      <p:cNvPr id="0" name="图片 8"/>
                      <p:cNvPicPr/>
                      <p:nvPr/>
                    </p:nvPicPr>
                    <p:blipFill>
                      <a:blip r:embed="rId4"/>
                      <a:stretch>
                        <a:fillRect/>
                      </a:stretch>
                    </p:blipFill>
                    <p:spPr>
                      <a:xfrm>
                        <a:off x="2437130" y="4394200"/>
                        <a:ext cx="2087880" cy="708025"/>
                      </a:xfrm>
                      <a:prstGeom prst="rect">
                        <a:avLst/>
                      </a:prstGeom>
                    </p:spPr>
                  </p:pic>
                </p:oleObj>
              </mc:Fallback>
            </mc:AlternateContent>
          </a:graphicData>
        </a:graphic>
      </p:graphicFrame>
      <p:graphicFrame>
        <p:nvGraphicFramePr>
          <p:cNvPr id="10" name="对象 9"/>
          <p:cNvGraphicFramePr/>
          <p:nvPr/>
        </p:nvGraphicFramePr>
        <p:xfrm>
          <a:off x="2437130" y="2983230"/>
          <a:ext cx="2194560" cy="757555"/>
        </p:xfrm>
        <a:graphic>
          <a:graphicData uri="http://schemas.openxmlformats.org/presentationml/2006/ole">
            <mc:AlternateContent xmlns:mc="http://schemas.openxmlformats.org/markup-compatibility/2006">
              <mc:Choice xmlns:v="urn:schemas-microsoft-com:vml" Requires="v">
                <p:oleObj spid="_x0000_s11" name="" r:id="rId5" imgW="2945765" imgH="1102995" progId="Equation.DSMT4">
                  <p:embed/>
                </p:oleObj>
              </mc:Choice>
              <mc:Fallback>
                <p:oleObj name="" r:id="rId5" imgW="2945765" imgH="1102995" progId="Equation.DSMT4">
                  <p:embed/>
                  <p:pic>
                    <p:nvPicPr>
                      <p:cNvPr id="0" name="图片 10"/>
                      <p:cNvPicPr/>
                      <p:nvPr/>
                    </p:nvPicPr>
                    <p:blipFill>
                      <a:blip r:embed="rId6"/>
                      <a:stretch>
                        <a:fillRect/>
                      </a:stretch>
                    </p:blipFill>
                    <p:spPr>
                      <a:xfrm>
                        <a:off x="2437130" y="2983230"/>
                        <a:ext cx="2194560" cy="757555"/>
                      </a:xfrm>
                      <a:prstGeom prst="rect">
                        <a:avLst/>
                      </a:prstGeom>
                    </p:spPr>
                  </p:pic>
                </p:oleObj>
              </mc:Fallback>
            </mc:AlternateContent>
          </a:graphicData>
        </a:graphic>
      </p:graphicFrame>
      <p:sp>
        <p:nvSpPr>
          <p:cNvPr id="12" name="文本框 11"/>
          <p:cNvSpPr txBox="1"/>
          <p:nvPr/>
        </p:nvSpPr>
        <p:spPr>
          <a:xfrm>
            <a:off x="763270" y="2983230"/>
            <a:ext cx="1570990" cy="48958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L1正则化</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3" name="文本框 12"/>
          <p:cNvSpPr txBox="1"/>
          <p:nvPr/>
        </p:nvSpPr>
        <p:spPr>
          <a:xfrm>
            <a:off x="763270" y="4394835"/>
            <a:ext cx="1673860" cy="5734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L2正则化</a:t>
            </a:r>
            <a:endParaRPr kumimoji="0" lang="zh-CN" altLang="en-US" sz="24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4" name="文本框 13"/>
          <p:cNvSpPr txBox="1"/>
          <p:nvPr/>
        </p:nvSpPr>
        <p:spPr>
          <a:xfrm>
            <a:off x="6023610" y="3048953"/>
            <a:ext cx="5080000" cy="423545"/>
          </a:xfrm>
          <a:prstGeom prst="rect">
            <a:avLst/>
          </a:prstGeom>
        </p:spPr>
        <p:txBody>
          <a:bodyPr>
            <a:spAutoFit/>
          </a:bodyPr>
          <a:p>
            <a:pPr algn="l" hangingPunct="1">
              <a:lnSpc>
                <a:spcPct val="90000"/>
              </a:lnSpc>
              <a:spcBef>
                <a:spcPts val="1000"/>
              </a:spcBef>
              <a:buFont typeface="Arial" panose="020B0604020202020204"/>
            </a:pPr>
            <a:r>
              <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这种方法不经常用，忽略了无关特征</a:t>
            </a:r>
            <a:endPar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5" name="文本框 14"/>
          <p:cNvSpPr txBox="1"/>
          <p:nvPr/>
        </p:nvSpPr>
        <p:spPr>
          <a:xfrm>
            <a:off x="4968240" y="4394200"/>
            <a:ext cx="7075170" cy="460375"/>
          </a:xfrm>
          <a:prstGeom prst="rect">
            <a:avLst/>
          </a:prstGeom>
        </p:spPr>
        <p:txBody>
          <a:bodyPr wrap="square">
            <a:spAutoFit/>
          </a:bodyPr>
          <a:p>
            <a:r>
              <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决策过程更平滑，不容易被单个输入特征剧烈影响</a:t>
            </a:r>
            <a:endPar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6" name="文本框 15"/>
          <p:cNvSpPr txBox="1"/>
          <p:nvPr/>
        </p:nvSpPr>
        <p:spPr>
          <a:xfrm>
            <a:off x="763270" y="5890260"/>
            <a:ext cx="9079230" cy="460375"/>
          </a:xfrm>
          <a:prstGeom prst="rect">
            <a:avLst/>
          </a:prstGeom>
        </p:spPr>
        <p:txBody>
          <a:bodyPr wrap="square">
            <a:spAutoFit/>
          </a:bodyPr>
          <a:p>
            <a:pPr>
              <a:buFont typeface="Arial" panose="020B0604020202020204"/>
            </a:pPr>
            <a:r>
              <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还有一些方法比如Dropout和Early Stopping</a:t>
            </a:r>
            <a:endPar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ustDataLst>
      <p:tags r:id="rId7"/>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00" y="93980"/>
            <a:ext cx="10515600" cy="1325563"/>
          </a:xfrm>
        </p:spPr>
        <p:txBody>
          <a:bodyPr/>
          <a:p>
            <a:r>
              <a:rPr lang="en-US" altLang="zh-CN">
                <a:sym typeface="+mn-ea"/>
              </a:rPr>
              <a:t>AdamW</a:t>
            </a:r>
            <a:r>
              <a:rPr lang="zh-CN" altLang="en-US">
                <a:sym typeface="+mn-ea"/>
              </a:rPr>
              <a:t>优化器</a:t>
            </a:r>
            <a:endParaRPr lang="zh-CN" altLang="en-US">
              <a:sym typeface="+mn-ea"/>
            </a:endParaRPr>
          </a:p>
        </p:txBody>
      </p:sp>
      <p:sp>
        <p:nvSpPr>
          <p:cNvPr id="3" name="文本占位符 2"/>
          <p:cNvSpPr>
            <a:spLocks noGrp="1"/>
          </p:cNvSpPr>
          <p:nvPr>
            <p:ph type="body" idx="1"/>
          </p:nvPr>
        </p:nvSpPr>
        <p:spPr>
          <a:xfrm>
            <a:off x="309880" y="1580515"/>
            <a:ext cx="11571605" cy="4994910"/>
          </a:xfrm>
        </p:spPr>
        <p:txBody>
          <a:bodyPr/>
          <a:p>
            <a:pPr marL="0" indent="0">
              <a:buNone/>
            </a:pPr>
            <a:r>
              <a:rPr lang="zh-CN" altLang="en-US"/>
              <a:t>背景问题：为了防止模型过拟合，我们使用 </a:t>
            </a:r>
            <a:r>
              <a:rPr lang="en-US" altLang="zh-CN"/>
              <a:t>L2 </a:t>
            </a:r>
            <a:r>
              <a:rPr lang="zh-CN" altLang="en-US"/>
              <a:t>正则化，一般是在在损失函数后面加上一个惩罚项，</a:t>
            </a:r>
            <a:r>
              <a:rPr lang="en-US" altLang="zh-CN"/>
              <a:t>Adam </a:t>
            </a:r>
            <a:r>
              <a:rPr lang="zh-CN" altLang="en-US"/>
              <a:t>内部集成了 </a:t>
            </a:r>
            <a:r>
              <a:rPr lang="en-US" altLang="zh-CN"/>
              <a:t>RMSProp</a:t>
            </a:r>
            <a:r>
              <a:rPr lang="zh-CN" altLang="en-US"/>
              <a:t>，它的原理是把梯度除以一个历史梯度的均方根，经过除法一缩放，原本用来惩罚它的权重衰减力度被严重削弱了</a:t>
            </a:r>
            <a:endParaRPr lang="zh-CN" altLang="en-US"/>
          </a:p>
          <a:p>
            <a:pPr marL="0" indent="0">
              <a:buNone/>
            </a:pPr>
            <a:r>
              <a:rPr lang="en-US" altLang="zh-CN"/>
              <a:t>AdamW</a:t>
            </a:r>
            <a:endParaRPr lang="zh-CN" altLang="en-US"/>
          </a:p>
          <a:p>
            <a:pPr>
              <a:buFont typeface="Wingdings" panose="05000000000000000000" charset="0"/>
              <a:buChar char="Ø"/>
            </a:pPr>
            <a:r>
              <a:rPr lang="zh-CN" altLang="en-US"/>
              <a:t>纯净算梯度： 按照最原始的 </a:t>
            </a:r>
            <a:r>
              <a:rPr lang="en-US" altLang="zh-CN"/>
              <a:t>Loss </a:t>
            </a:r>
            <a:r>
              <a:rPr lang="zh-CN" altLang="en-US"/>
              <a:t>算出纯净的梯度，让 </a:t>
            </a:r>
            <a:r>
              <a:rPr lang="en-US" altLang="zh-CN"/>
              <a:t>Adam </a:t>
            </a:r>
            <a:r>
              <a:rPr lang="zh-CN" altLang="en-US"/>
              <a:t>原封不动地执行它的动量加速和 </a:t>
            </a:r>
            <a:r>
              <a:rPr lang="en-US" altLang="zh-CN"/>
              <a:t>RMSProp </a:t>
            </a:r>
            <a:r>
              <a:rPr lang="zh-CN" altLang="en-US"/>
              <a:t>自适应除法</a:t>
            </a:r>
            <a:endParaRPr lang="en-US" altLang="zh-CN"/>
          </a:p>
          <a:p>
            <a:pPr>
              <a:buFont typeface="Wingdings" panose="05000000000000000000" charset="0"/>
              <a:buChar char="Ø"/>
            </a:pPr>
            <a:r>
              <a:rPr lang="zh-CN" altLang="en-US"/>
              <a:t>独立做衰减： 在 </a:t>
            </a:r>
            <a:r>
              <a:rPr lang="en-US" altLang="zh-CN"/>
              <a:t>Adam </a:t>
            </a:r>
            <a:r>
              <a:rPr lang="zh-CN" altLang="en-US"/>
              <a:t>算出当前这步应该走多远之后，在真正修改参数的前一瞬间，直接在参数本身上扣掉一个固定的比例</a:t>
            </a:r>
            <a:endParaRPr lang="zh-CN" altLang="en-US"/>
          </a:p>
        </p:txBody>
      </p:sp>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graphicFrame>
        <p:nvGraphicFramePr>
          <p:cNvPr id="5" name="对象 4"/>
          <p:cNvGraphicFramePr/>
          <p:nvPr/>
        </p:nvGraphicFramePr>
        <p:xfrm>
          <a:off x="1250950" y="4664710"/>
          <a:ext cx="5814695" cy="1755140"/>
        </p:xfrm>
        <a:graphic>
          <a:graphicData uri="http://schemas.openxmlformats.org/presentationml/2006/ole">
            <mc:AlternateContent xmlns:mc="http://schemas.openxmlformats.org/markup-compatibility/2006">
              <mc:Choice xmlns:v="urn:schemas-microsoft-com:vml" Requires="v">
                <p:oleObj spid="_x0000_s6" name="" r:id="rId1" imgW="4391025" imgH="1088390" progId="Equation.DSMT4">
                  <p:embed/>
                </p:oleObj>
              </mc:Choice>
              <mc:Fallback>
                <p:oleObj name="" r:id="rId1" imgW="4391025" imgH="1088390" progId="Equation.DSMT4">
                  <p:embed/>
                  <p:pic>
                    <p:nvPicPr>
                      <p:cNvPr id="0" name="图片 5"/>
                      <p:cNvPicPr/>
                      <p:nvPr/>
                    </p:nvPicPr>
                    <p:blipFill>
                      <a:blip r:embed="rId2"/>
                      <a:stretch>
                        <a:fillRect/>
                      </a:stretch>
                    </p:blipFill>
                    <p:spPr>
                      <a:xfrm>
                        <a:off x="1250950" y="4664710"/>
                        <a:ext cx="5814695" cy="1755140"/>
                      </a:xfrm>
                      <a:prstGeom prst="rect">
                        <a:avLst/>
                      </a:prstGeom>
                    </p:spPr>
                  </p:pic>
                </p:oleObj>
              </mc:Fallback>
            </mc:AlternateContent>
          </a:graphicData>
        </a:graphic>
      </p:graphicFrame>
      <p:sp>
        <p:nvSpPr>
          <p:cNvPr id="7" name="文本框 6"/>
          <p:cNvSpPr txBox="1"/>
          <p:nvPr/>
        </p:nvSpPr>
        <p:spPr>
          <a:xfrm>
            <a:off x="8695690" y="5357495"/>
            <a:ext cx="308800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解耦出来的权重衰减</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cxnSp>
        <p:nvCxnSpPr>
          <p:cNvPr id="8" name="直接箭头连接符 7"/>
          <p:cNvCxnSpPr/>
          <p:nvPr/>
        </p:nvCxnSpPr>
        <p:spPr>
          <a:xfrm flipH="1" flipV="1">
            <a:off x="7880985" y="5083175"/>
            <a:ext cx="532765" cy="39243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Tree>
    <p:custDataLst>
      <p:tags r:id="rId3"/>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pic>
        <p:nvPicPr>
          <p:cNvPr id="5" name="图片 4"/>
          <p:cNvPicPr/>
          <p:nvPr/>
        </p:nvPicPr>
        <p:blipFill>
          <a:blip r:embed="rId1"/>
          <a:stretch>
            <a:fillRect/>
          </a:stretch>
        </p:blipFill>
        <p:spPr>
          <a:xfrm>
            <a:off x="407670" y="1073150"/>
            <a:ext cx="5376545" cy="5487035"/>
          </a:xfrm>
          <a:prstGeom prst="rect">
            <a:avLst/>
          </a:prstGeom>
        </p:spPr>
      </p:pic>
      <p:pic>
        <p:nvPicPr>
          <p:cNvPr id="6" name="图片 5"/>
          <p:cNvPicPr/>
          <p:nvPr/>
        </p:nvPicPr>
        <p:blipFill>
          <a:blip r:embed="rId2"/>
          <a:stretch>
            <a:fillRect/>
          </a:stretch>
        </p:blipFill>
        <p:spPr>
          <a:xfrm>
            <a:off x="6477635" y="1073150"/>
            <a:ext cx="5338445" cy="5487035"/>
          </a:xfrm>
          <a:prstGeom prst="rect">
            <a:avLst/>
          </a:prstGeom>
        </p:spPr>
      </p:pic>
    </p:spTree>
    <p:custDataLst>
      <p:tags r:id="rId3"/>
    </p:custData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pic>
        <p:nvPicPr>
          <p:cNvPr id="5" name="图片 4"/>
          <p:cNvPicPr/>
          <p:nvPr/>
        </p:nvPicPr>
        <p:blipFill>
          <a:blip r:embed="rId1"/>
          <a:stretch>
            <a:fillRect/>
          </a:stretch>
        </p:blipFill>
        <p:spPr>
          <a:xfrm>
            <a:off x="394335" y="1090295"/>
            <a:ext cx="5471795" cy="5483860"/>
          </a:xfrm>
          <a:prstGeom prst="rect">
            <a:avLst/>
          </a:prstGeom>
        </p:spPr>
      </p:pic>
      <p:pic>
        <p:nvPicPr>
          <p:cNvPr id="6" name="图片 5"/>
          <p:cNvPicPr/>
          <p:nvPr/>
        </p:nvPicPr>
        <p:blipFill>
          <a:blip r:embed="rId2"/>
          <a:stretch>
            <a:fillRect/>
          </a:stretch>
        </p:blipFill>
        <p:spPr>
          <a:xfrm>
            <a:off x="6666230" y="1090295"/>
            <a:ext cx="5220970" cy="5483225"/>
          </a:xfrm>
          <a:prstGeom prst="rect">
            <a:avLst/>
          </a:prstGeom>
        </p:spPr>
      </p:pic>
    </p:spTree>
    <p:custDataLst>
      <p:tags r:id="rId3"/>
    </p:custData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灯片编号占位符 3"/>
          <p:cNvSpPr>
            <a:spLocks noGrp="1"/>
          </p:cNvSpPr>
          <p:nvPr>
            <p:ph type="sldNum" sz="quarter" idx="2"/>
          </p:nvPr>
        </p:nvSpPr>
        <p:spPr>
          <a:xfrm>
            <a:off x="11103611" y="6401118"/>
            <a:ext cx="250190" cy="275590"/>
          </a:xfrm>
        </p:spPr>
        <p:txBody>
          <a:bodyPr/>
          <a:p>
            <a:fld id="{86CB4B4D-7CA3-9044-876B-883B54F8677D}" type="slidenum">
              <a:rPr/>
            </a:fld>
            <a:endParaRPr/>
          </a:p>
        </p:txBody>
      </p:sp>
      <p:pic>
        <p:nvPicPr>
          <p:cNvPr id="5" name="图片 4"/>
          <p:cNvPicPr/>
          <p:nvPr/>
        </p:nvPicPr>
        <p:blipFill>
          <a:blip r:embed="rId1"/>
          <a:stretch>
            <a:fillRect/>
          </a:stretch>
        </p:blipFill>
        <p:spPr>
          <a:xfrm>
            <a:off x="364490" y="1093470"/>
            <a:ext cx="5542915" cy="5513070"/>
          </a:xfrm>
          <a:prstGeom prst="rect">
            <a:avLst/>
          </a:prstGeom>
        </p:spPr>
      </p:pic>
      <p:pic>
        <p:nvPicPr>
          <p:cNvPr id="6" name="图片 5"/>
          <p:cNvPicPr/>
          <p:nvPr/>
        </p:nvPicPr>
        <p:blipFill>
          <a:blip r:embed="rId2"/>
          <a:stretch>
            <a:fillRect/>
          </a:stretch>
        </p:blipFill>
        <p:spPr>
          <a:xfrm>
            <a:off x="6651625" y="1093470"/>
            <a:ext cx="5139055" cy="5513070"/>
          </a:xfrm>
          <a:prstGeom prst="rect">
            <a:avLst/>
          </a:prstGeom>
        </p:spPr>
      </p:pic>
    </p:spTree>
    <p:custDataLst>
      <p:tags r:id="rId3"/>
    </p:custData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45745" y="76200"/>
            <a:ext cx="10515600" cy="1325563"/>
          </a:xfrm>
        </p:spPr>
        <p:txBody>
          <a:bodyPr/>
          <a:p>
            <a:r>
              <a:rPr lang="zh-CN" altLang="en-US"/>
              <a:t>训练流程总结</a:t>
            </a:r>
            <a:endParaRPr lang="zh-CN" altLang="en-US"/>
          </a:p>
        </p:txBody>
      </p:sp>
      <p:sp>
        <p:nvSpPr>
          <p:cNvPr id="3" name="文本占位符 2"/>
          <p:cNvSpPr>
            <a:spLocks noGrp="1"/>
          </p:cNvSpPr>
          <p:nvPr>
            <p:ph type="body" idx="1"/>
          </p:nvPr>
        </p:nvSpPr>
        <p:spPr>
          <a:xfrm>
            <a:off x="345122" y="1201737"/>
            <a:ext cx="11140214" cy="4351338"/>
          </a:xfrm>
        </p:spPr>
        <p:txBody>
          <a:bodyPr>
            <a:noAutofit/>
          </a:bodyPr>
          <a:p>
            <a:pPr marL="0" indent="0">
              <a:buNone/>
            </a:pPr>
            <a:r>
              <a:rPr lang="zh-CN" altLang="en-US" sz="1400"/>
              <a:t>准备数据</a:t>
            </a:r>
            <a:endParaRPr lang="zh-CN" altLang="en-US" sz="1400"/>
          </a:p>
          <a:p>
            <a:pPr marL="0" indent="0">
              <a:buNone/>
            </a:pPr>
            <a:r>
              <a:rPr lang="en-US" altLang="zh-CN" sz="1400"/>
              <a:t>  ↓</a:t>
            </a:r>
            <a:endParaRPr lang="en-US" altLang="zh-CN" sz="1400"/>
          </a:p>
          <a:p>
            <a:pPr marL="0" indent="0">
              <a:buNone/>
            </a:pPr>
            <a:r>
              <a:rPr lang="zh-CN" altLang="en-US" sz="1400"/>
              <a:t>图像预处理与数据增强</a:t>
            </a:r>
            <a:endParaRPr lang="zh-CN" altLang="en-US" sz="1400"/>
          </a:p>
          <a:p>
            <a:pPr marL="0" indent="0">
              <a:buNone/>
            </a:pPr>
            <a:r>
              <a:rPr lang="en-US" altLang="zh-CN" sz="1400"/>
              <a:t>  ↓</a:t>
            </a:r>
            <a:endParaRPr lang="en-US" altLang="zh-CN" sz="1400"/>
          </a:p>
          <a:p>
            <a:pPr marL="0" indent="0">
              <a:buNone/>
            </a:pPr>
            <a:r>
              <a:rPr lang="zh-CN" altLang="en-US" sz="1400"/>
              <a:t>把数据传入 </a:t>
            </a:r>
            <a:r>
              <a:rPr lang="en-US" altLang="zh-CN" sz="1400"/>
              <a:t>GPU</a:t>
            </a:r>
            <a:endParaRPr lang="en-US" altLang="zh-CN" sz="1400"/>
          </a:p>
          <a:p>
            <a:pPr marL="0" indent="0">
              <a:buNone/>
            </a:pPr>
            <a:r>
              <a:rPr lang="en-US" altLang="zh-CN" sz="1400"/>
              <a:t>  ↓</a:t>
            </a:r>
            <a:endParaRPr lang="en-US" altLang="zh-CN" sz="1400"/>
          </a:p>
          <a:p>
            <a:pPr marL="0" indent="0">
              <a:buNone/>
            </a:pPr>
            <a:r>
              <a:rPr lang="zh-CN" altLang="en-US" sz="1400"/>
              <a:t>模型前向传播</a:t>
            </a:r>
            <a:endParaRPr lang="zh-CN" altLang="en-US" sz="1400"/>
          </a:p>
          <a:p>
            <a:pPr marL="0" indent="0">
              <a:buNone/>
            </a:pPr>
            <a:r>
              <a:rPr lang="en-US" altLang="zh-CN" sz="1400"/>
              <a:t>  ↓</a:t>
            </a:r>
            <a:endParaRPr lang="en-US" altLang="zh-CN" sz="1400"/>
          </a:p>
          <a:p>
            <a:pPr marL="0" indent="0">
              <a:buNone/>
            </a:pPr>
            <a:r>
              <a:rPr lang="zh-CN" altLang="en-US" sz="1400"/>
              <a:t>得到 </a:t>
            </a:r>
            <a:r>
              <a:rPr lang="en-US" altLang="zh-CN" sz="1400"/>
              <a:t>Logits</a:t>
            </a:r>
            <a:endParaRPr lang="en-US" altLang="zh-CN" sz="1400"/>
          </a:p>
          <a:p>
            <a:pPr marL="0" indent="0">
              <a:buNone/>
            </a:pPr>
            <a:r>
              <a:rPr lang="en-US" altLang="zh-CN" sz="1400"/>
              <a:t>  ↓</a:t>
            </a:r>
            <a:endParaRPr lang="en-US" altLang="zh-CN" sz="1400"/>
          </a:p>
          <a:p>
            <a:pPr marL="0" indent="0">
              <a:buNone/>
            </a:pPr>
            <a:r>
              <a:rPr lang="zh-CN" altLang="en-US" sz="1400"/>
              <a:t>计算交叉熵损失</a:t>
            </a:r>
            <a:endParaRPr lang="zh-CN" altLang="en-US" sz="1400"/>
          </a:p>
          <a:p>
            <a:pPr marL="0" indent="0">
              <a:buNone/>
            </a:pPr>
            <a:r>
              <a:rPr lang="en-US" altLang="zh-CN" sz="1400"/>
              <a:t>  ↓</a:t>
            </a:r>
            <a:endParaRPr lang="en-US" altLang="zh-CN" sz="1400"/>
          </a:p>
          <a:p>
            <a:pPr marL="0" indent="0">
              <a:buNone/>
            </a:pPr>
            <a:r>
              <a:rPr lang="zh-CN" altLang="en-US" sz="1400"/>
              <a:t>反向传播计算梯度</a:t>
            </a:r>
            <a:endParaRPr lang="zh-CN" altLang="en-US" sz="1400"/>
          </a:p>
          <a:p>
            <a:pPr marL="0" indent="0">
              <a:buNone/>
            </a:pPr>
            <a:r>
              <a:rPr lang="en-US" altLang="zh-CN" sz="1400"/>
              <a:t>  ↓</a:t>
            </a:r>
            <a:endParaRPr lang="en-US" altLang="zh-CN" sz="1400"/>
          </a:p>
          <a:p>
            <a:pPr marL="0" indent="0">
              <a:buNone/>
            </a:pPr>
            <a:r>
              <a:rPr lang="zh-CN" altLang="en-US" sz="1400"/>
              <a:t>优化器更新参数</a:t>
            </a:r>
            <a:endParaRPr lang="zh-CN" altLang="en-US" sz="1400"/>
          </a:p>
          <a:p>
            <a:pPr marL="0" indent="0">
              <a:buNone/>
            </a:pPr>
            <a:r>
              <a:rPr lang="en-US" altLang="zh-CN" sz="1400"/>
              <a:t>  ↓</a:t>
            </a:r>
            <a:endParaRPr lang="en-US" altLang="zh-CN" sz="1400"/>
          </a:p>
          <a:p>
            <a:pPr marL="0" indent="0">
              <a:buNone/>
            </a:pPr>
            <a:r>
              <a:rPr lang="zh-CN" altLang="en-US" sz="1400"/>
              <a:t>进入下一个 </a:t>
            </a:r>
            <a:r>
              <a:rPr lang="en-US" altLang="zh-CN" sz="1400"/>
              <a:t>Bat</a:t>
            </a:r>
            <a:r>
              <a:rPr lang="en-US" altLang="zh-CN" sz="1400"/>
              <a:t>ch</a:t>
            </a:r>
            <a:endParaRPr lang="en-US" altLang="zh-CN" sz="1400"/>
          </a:p>
        </p:txBody>
      </p:sp>
      <p:sp>
        <p:nvSpPr>
          <p:cNvPr id="4" name="灯片编号占位符 3"/>
          <p:cNvSpPr>
            <a:spLocks noGrp="1"/>
          </p:cNvSpPr>
          <p:nvPr>
            <p:ph type="sldNum" sz="quarter" idx="2"/>
          </p:nvPr>
        </p:nvSpPr>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2287270" y="1458595"/>
            <a:ext cx="4595495" cy="4512310"/>
          </a:xfrm>
          <a:prstGeom prst="rect">
            <a:avLst/>
          </a:prstGeom>
        </p:spPr>
      </p:pic>
      <p:pic>
        <p:nvPicPr>
          <p:cNvPr id="6" name="图片 5"/>
          <p:cNvPicPr>
            <a:picLocks noChangeAspect="1"/>
          </p:cNvPicPr>
          <p:nvPr/>
        </p:nvPicPr>
        <p:blipFill>
          <a:blip r:embed="rId2"/>
          <a:stretch>
            <a:fillRect/>
          </a:stretch>
        </p:blipFill>
        <p:spPr>
          <a:xfrm>
            <a:off x="7196455" y="1814830"/>
            <a:ext cx="4505960" cy="4494530"/>
          </a:xfrm>
          <a:prstGeom prst="rect">
            <a:avLst/>
          </a:prstGeom>
        </p:spPr>
      </p:pic>
      <p:sp>
        <p:nvSpPr>
          <p:cNvPr id="9" name="矩形 8"/>
          <p:cNvSpPr/>
          <p:nvPr/>
        </p:nvSpPr>
        <p:spPr>
          <a:xfrm>
            <a:off x="1971675" y="5197475"/>
            <a:ext cx="4979035" cy="304800"/>
          </a:xfrm>
          <a:prstGeom prst="rect">
            <a:avLst/>
          </a:prstGeom>
          <a:noFill/>
          <a:ln w="28575" cap="flat">
            <a:solidFill>
              <a:srgbClr val="FF0000"/>
            </a:solidFill>
            <a:prstDash val="solid"/>
            <a:miter lim="800000"/>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7" name="矩形 6"/>
          <p:cNvSpPr/>
          <p:nvPr/>
        </p:nvSpPr>
        <p:spPr>
          <a:xfrm>
            <a:off x="7018020" y="3691255"/>
            <a:ext cx="4928235" cy="787400"/>
          </a:xfrm>
          <a:prstGeom prst="rect">
            <a:avLst/>
          </a:prstGeom>
          <a:noFill/>
          <a:ln w="28575" cap="flat">
            <a:solidFill>
              <a:srgbClr val="FF0000"/>
            </a:solidFill>
            <a:prstDash val="solid"/>
            <a:miter lim="800000"/>
          </a:ln>
          <a:extLst>
            <a:ext uri="{909E8E84-426E-40DD-AFC4-6F175D3DCCD1}">
              <a14:hiddenFill xmlns:a14="http://schemas.microsoft.com/office/drawing/2010/main">
                <a:solidFill>
                  <a:srgbClr val="FFFFFF"/>
                </a:solidFill>
              </a14:hiddenFill>
            </a:ext>
          </a:extLst>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212090" y="145415"/>
            <a:ext cx="10515600" cy="1325563"/>
          </a:xfrm>
        </p:spPr>
        <p:txBody>
          <a:bodyPr/>
          <a:p>
            <a:r>
              <a:rPr lang="zh-CN" altLang="en-US"/>
              <a:t>常见线性模型</a:t>
            </a:r>
            <a:endParaRPr lang="zh-CN" altLang="en-US"/>
          </a:p>
        </p:txBody>
      </p:sp>
      <p:sp>
        <p:nvSpPr>
          <p:cNvPr id="4" name="灯片编号占位符 3"/>
          <p:cNvSpPr>
            <a:spLocks noGrp="1"/>
          </p:cNvSpPr>
          <p:nvPr>
            <p:ph type="sldNum" sz="quarter" idx="2"/>
          </p:nvPr>
        </p:nvSpPr>
        <p:spPr/>
        <p:txBody>
          <a:bodyPr/>
          <a:p>
            <a:fld id="{86CB4B4D-7CA3-9044-876B-883B54F8677D}" type="slidenum">
              <a:rPr/>
            </a:fld>
            <a:endParaRPr/>
          </a:p>
        </p:txBody>
      </p:sp>
      <p:graphicFrame>
        <p:nvGraphicFramePr>
          <p:cNvPr id="7" name="表格 6"/>
          <p:cNvGraphicFramePr>
            <a:graphicFrameLocks noGrp="1"/>
          </p:cNvGraphicFramePr>
          <p:nvPr>
            <p:custDataLst>
              <p:tags r:id="rId1"/>
            </p:custDataLst>
          </p:nvPr>
        </p:nvGraphicFramePr>
        <p:xfrm>
          <a:off x="170815" y="1983105"/>
          <a:ext cx="11824335" cy="1981200"/>
        </p:xfrm>
        <a:graphic>
          <a:graphicData uri="http://schemas.openxmlformats.org/drawingml/2006/table">
            <a:tbl>
              <a:tblPr firstRow="1" firstCol="1">
                <a:tableStyleId>{CF821DB8-F4EB-4A41-A1BA-3FCAFE7338EE}</a:tableStyleId>
              </a:tblPr>
              <a:tblGrid>
                <a:gridCol w="2252980"/>
                <a:gridCol w="2489200"/>
                <a:gridCol w="7082155"/>
              </a:tblGrid>
              <a:tr h="0">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模型名称</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主要任务</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a:latin typeface="微软雅黑" panose="020B0503020204020204" pitchFamily="34" charset="-122"/>
                          <a:ea typeface="微软雅黑" panose="020B0503020204020204" pitchFamily="34" charset="-122"/>
                          <a:cs typeface="Arial" panose="020B0604020202020204" pitchFamily="34" charset="0"/>
                        </a:rPr>
                        <a:t>核心思想</a:t>
                      </a:r>
                      <a:endParaRPr lang="zh-CN" altLang="en-US" sz="20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sz="2000" b="0" dirty="0">
                          <a:latin typeface="微软雅黑" panose="020B0503020204020204" pitchFamily="34" charset="-122"/>
                          <a:ea typeface="微软雅黑" panose="020B0503020204020204" pitchFamily="34" charset="-122"/>
                          <a:cs typeface="Arial" panose="020B0604020202020204" pitchFamily="34" charset="0"/>
                        </a:rPr>
                        <a:t>线性回归</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回归</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寻找一个超平面，使得所有数据点到该平面的误差平方和最小</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岭回归</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回归</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压缩权重，防止参数膨胀导致的过拟合</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a:latin typeface="微软雅黑" panose="020B0503020204020204" pitchFamily="34" charset="-122"/>
                          <a:ea typeface="微软雅黑" panose="020B0503020204020204" pitchFamily="34" charset="-122"/>
                          <a:cs typeface="Arial" panose="020B0604020202020204" pitchFamily="34" charset="0"/>
                        </a:rPr>
                        <a:t>逻辑回归</a:t>
                      </a:r>
                      <a:endParaRPr lang="zh-CN" altLang="en-US" sz="2000" b="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将线性结果通过映射为概率，最大化当前数据集发生的概率</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线性</a:t>
                      </a:r>
                      <a:r>
                        <a:rPr lang="en-US" altLang="zh-CN" sz="2000" b="0" dirty="0">
                          <a:latin typeface="微软雅黑" panose="020B0503020204020204" pitchFamily="34" charset="-122"/>
                          <a:ea typeface="微软雅黑" panose="020B0503020204020204" pitchFamily="34" charset="-122"/>
                          <a:cs typeface="Arial" panose="020B0604020202020204" pitchFamily="34" charset="0"/>
                        </a:rPr>
                        <a:t>SVM</a:t>
                      </a:r>
                      <a:endParaRPr lang="en-US" alt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分类</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找一个能将两类数据隔开且安全间隔最大的超平面。</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60325" y="76200"/>
            <a:ext cx="10515600" cy="1325563"/>
          </a:xfrm>
        </p:spPr>
        <p:txBody>
          <a:bodyPr/>
          <a:p>
            <a:r>
              <a:rPr lang="zh-CN" altLang="en-US"/>
              <a:t>线性回归模型</a:t>
            </a:r>
            <a:endParaRPr lang="zh-CN" altLang="en-US"/>
          </a:p>
        </p:txBody>
      </p:sp>
      <p:sp>
        <p:nvSpPr>
          <p:cNvPr id="3" name="文本占位符 2"/>
          <p:cNvSpPr>
            <a:spLocks noGrp="1"/>
          </p:cNvSpPr>
          <p:nvPr>
            <p:ph type="body" idx="1"/>
          </p:nvPr>
        </p:nvSpPr>
        <p:spPr>
          <a:xfrm>
            <a:off x="107632" y="1571942"/>
            <a:ext cx="11140214" cy="4351338"/>
          </a:xfrm>
        </p:spPr>
        <p:txBody>
          <a:bodyPr/>
          <a:p>
            <a:pPr marL="0" indent="0">
              <a:buNone/>
            </a:pPr>
            <a:r>
              <a:rPr lang="zh-CN" altLang="en-US"/>
              <a:t>线性回归用于解决回归问题（预测连续值），目标是找到一条能够最好地拟合样本数据的直线</a:t>
            </a:r>
            <a:endParaRPr lang="zh-CN" altLang="en-US"/>
          </a:p>
        </p:txBody>
      </p:sp>
      <p:sp>
        <p:nvSpPr>
          <p:cNvPr id="4" name="灯片编号占位符 3"/>
          <p:cNvSpPr>
            <a:spLocks noGrp="1"/>
          </p:cNvSpPr>
          <p:nvPr>
            <p:ph type="sldNum" sz="quarter" idx="2"/>
          </p:nvPr>
        </p:nvSpPr>
        <p:spPr/>
        <p:txBody>
          <a:bodyPr/>
          <a:p>
            <a:fld id="{86CB4B4D-7CA3-9044-876B-883B54F8677D}" type="slidenum">
              <a:rPr/>
            </a:fld>
            <a:endParaRPr/>
          </a:p>
        </p:txBody>
      </p:sp>
      <p:pic>
        <p:nvPicPr>
          <p:cNvPr id="5" name="图片 4"/>
          <p:cNvPicPr>
            <a:picLocks noChangeAspect="1"/>
          </p:cNvPicPr>
          <p:nvPr/>
        </p:nvPicPr>
        <p:blipFill>
          <a:blip r:embed="rId1"/>
          <a:stretch>
            <a:fillRect/>
          </a:stretch>
        </p:blipFill>
        <p:spPr>
          <a:xfrm>
            <a:off x="0" y="2753995"/>
            <a:ext cx="6553200" cy="2368550"/>
          </a:xfrm>
          <a:prstGeom prst="rect">
            <a:avLst/>
          </a:prstGeom>
        </p:spPr>
      </p:pic>
      <p:graphicFrame>
        <p:nvGraphicFramePr>
          <p:cNvPr id="7" name="对象 6"/>
          <p:cNvGraphicFramePr/>
          <p:nvPr/>
        </p:nvGraphicFramePr>
        <p:xfrm>
          <a:off x="6894195" y="3831590"/>
          <a:ext cx="4575810" cy="1047115"/>
        </p:xfrm>
        <a:graphic>
          <a:graphicData uri="http://schemas.openxmlformats.org/presentationml/2006/ole">
            <mc:AlternateContent xmlns:mc="http://schemas.openxmlformats.org/markup-compatibility/2006">
              <mc:Choice xmlns:v="urn:schemas-microsoft-com:vml" Requires="v">
                <p:oleObj spid="_x0000_s8" name="" r:id="rId2" imgW="4415155" imgH="977265" progId="Equation.DSMT4">
                  <p:embed/>
                </p:oleObj>
              </mc:Choice>
              <mc:Fallback>
                <p:oleObj name="" r:id="rId2" imgW="4415155" imgH="977265" progId="Equation.DSMT4">
                  <p:embed/>
                  <p:pic>
                    <p:nvPicPr>
                      <p:cNvPr id="0" name="图片 7"/>
                      <p:cNvPicPr/>
                      <p:nvPr/>
                    </p:nvPicPr>
                    <p:blipFill>
                      <a:blip r:embed="rId3"/>
                      <a:stretch>
                        <a:fillRect/>
                      </a:stretch>
                    </p:blipFill>
                    <p:spPr>
                      <a:xfrm>
                        <a:off x="6894195" y="3831590"/>
                        <a:ext cx="4575810" cy="1047115"/>
                      </a:xfrm>
                      <a:prstGeom prst="rect">
                        <a:avLst/>
                      </a:prstGeom>
                    </p:spPr>
                  </p:pic>
                </p:oleObj>
              </mc:Fallback>
            </mc:AlternateContent>
          </a:graphicData>
        </a:graphic>
      </p:graphicFrame>
      <p:sp>
        <p:nvSpPr>
          <p:cNvPr id="9" name="文本框 8"/>
          <p:cNvSpPr txBox="1"/>
          <p:nvPr/>
        </p:nvSpPr>
        <p:spPr>
          <a:xfrm>
            <a:off x="6718935" y="2680335"/>
            <a:ext cx="5346065" cy="73850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损失函数设计：</a:t>
            </a: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MSE——</a:t>
            </a: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预测误差平方的平均值</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27000" y="135890"/>
            <a:ext cx="10515600" cy="1325563"/>
          </a:xfrm>
        </p:spPr>
        <p:txBody>
          <a:bodyPr/>
          <a:p>
            <a:r>
              <a:rPr lang="zh-CN" altLang="en-US"/>
              <a:t>岭回归模型</a:t>
            </a:r>
            <a:endParaRPr lang="zh-CN" altLang="en-US"/>
          </a:p>
        </p:txBody>
      </p:sp>
      <p:sp>
        <p:nvSpPr>
          <p:cNvPr id="3" name="文本占位符 2"/>
          <p:cNvSpPr>
            <a:spLocks noGrp="1"/>
          </p:cNvSpPr>
          <p:nvPr>
            <p:ph type="body" idx="1"/>
          </p:nvPr>
        </p:nvSpPr>
        <p:spPr>
          <a:xfrm>
            <a:off x="75247" y="1593532"/>
            <a:ext cx="11140214" cy="4351338"/>
          </a:xfrm>
        </p:spPr>
        <p:txBody>
          <a:bodyPr/>
          <a:p>
            <a:pPr marL="0" indent="0">
              <a:buNone/>
            </a:pPr>
            <a:r>
              <a:rPr lang="zh-CN" altLang="en-US"/>
              <a:t>当数据特征维度极高，或者特征之间存在强相关性时，普通的线性回归极易过拟合</a:t>
            </a:r>
            <a:endParaRPr lang="zh-CN" altLang="en-US"/>
          </a:p>
          <a:p>
            <a:pPr marL="0" indent="0">
              <a:buNone/>
            </a:pPr>
            <a:r>
              <a:rPr lang="zh-CN" altLang="en-US"/>
              <a:t>为了限制模型的复杂度，我们会在损失函数中加入惩罚项（正则化项）</a:t>
            </a:r>
            <a:endParaRPr lang="zh-CN" altLang="en-US"/>
          </a:p>
          <a:p>
            <a:pPr marL="0" indent="0">
              <a:buNone/>
            </a:pPr>
            <a:endParaRPr lang="zh-CN" altLang="en-US"/>
          </a:p>
          <a:p>
            <a:pPr marL="0" indent="0">
              <a:buNone/>
            </a:pPr>
            <a:r>
              <a:rPr lang="zh-CN" altLang="en-US"/>
              <a:t>损失函数设计：在 </a:t>
            </a:r>
            <a:r>
              <a:rPr lang="en-US" altLang="zh-CN"/>
              <a:t>MSE </a:t>
            </a:r>
            <a:r>
              <a:rPr lang="zh-CN" altLang="en-US"/>
              <a:t>的基础上加上参数平方和</a:t>
            </a:r>
            <a:endParaRPr lang="zh-CN" altLang="en-US"/>
          </a:p>
        </p:txBody>
      </p:sp>
      <p:sp>
        <p:nvSpPr>
          <p:cNvPr id="4" name="灯片编号占位符 3"/>
          <p:cNvSpPr>
            <a:spLocks noGrp="1"/>
          </p:cNvSpPr>
          <p:nvPr>
            <p:ph type="sldNum" sz="quarter" idx="2"/>
          </p:nvPr>
        </p:nvSpPr>
        <p:spPr/>
        <p:txBody>
          <a:bodyPr/>
          <a:p>
            <a:fld id="{86CB4B4D-7CA3-9044-876B-883B54F8677D}" type="slidenum">
              <a:rPr/>
            </a:fld>
            <a:endParaRPr/>
          </a:p>
        </p:txBody>
      </p:sp>
      <p:graphicFrame>
        <p:nvGraphicFramePr>
          <p:cNvPr id="5" name="对象 4"/>
          <p:cNvGraphicFramePr/>
          <p:nvPr/>
        </p:nvGraphicFramePr>
        <p:xfrm>
          <a:off x="3569970" y="3719195"/>
          <a:ext cx="4150360" cy="1033145"/>
        </p:xfrm>
        <a:graphic>
          <a:graphicData uri="http://schemas.openxmlformats.org/presentationml/2006/ole">
            <mc:AlternateContent xmlns:mc="http://schemas.openxmlformats.org/markup-compatibility/2006">
              <mc:Choice xmlns:v="urn:schemas-microsoft-com:vml" Requires="v">
                <p:oleObj spid="_x0000_s6" name="" r:id="rId1" imgW="3444240" imgH="1035050" progId="Equation.DSMT4">
                  <p:embed/>
                </p:oleObj>
              </mc:Choice>
              <mc:Fallback>
                <p:oleObj name="" r:id="rId1" imgW="3444240" imgH="1035050" progId="Equation.DSMT4">
                  <p:embed/>
                  <p:pic>
                    <p:nvPicPr>
                      <p:cNvPr id="0" name="图片 5"/>
                      <p:cNvPicPr/>
                      <p:nvPr/>
                    </p:nvPicPr>
                    <p:blipFill>
                      <a:blip r:embed="rId2"/>
                      <a:stretch>
                        <a:fillRect/>
                      </a:stretch>
                    </p:blipFill>
                    <p:spPr>
                      <a:xfrm>
                        <a:off x="3569970" y="3719195"/>
                        <a:ext cx="4150360" cy="1033145"/>
                      </a:xfrm>
                      <a:prstGeom prst="rect">
                        <a:avLst/>
                      </a:prstGeom>
                    </p:spPr>
                  </p:pic>
                </p:oleObj>
              </mc:Fallback>
            </mc:AlternateContent>
          </a:graphicData>
        </a:graphic>
      </p:graphicFrame>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64465" y="135255"/>
            <a:ext cx="10515600" cy="1325563"/>
          </a:xfrm>
        </p:spPr>
        <p:txBody>
          <a:bodyPr/>
          <a:p>
            <a:r>
              <a:rPr lang="zh-CN" altLang="en-US"/>
              <a:t>逻辑回归</a:t>
            </a:r>
            <a:endParaRPr lang="zh-CN" altLang="en-US"/>
          </a:p>
        </p:txBody>
      </p:sp>
      <p:sp>
        <p:nvSpPr>
          <p:cNvPr id="3" name="文本占位符 2"/>
          <p:cNvSpPr>
            <a:spLocks noGrp="1"/>
          </p:cNvSpPr>
          <p:nvPr>
            <p:ph type="body" idx="1"/>
          </p:nvPr>
        </p:nvSpPr>
        <p:spPr>
          <a:xfrm>
            <a:off x="213677" y="1349692"/>
            <a:ext cx="11140214" cy="4351338"/>
          </a:xfrm>
        </p:spPr>
        <p:txBody>
          <a:bodyPr/>
          <a:p>
            <a:pPr marL="0" indent="0">
              <a:buNone/>
            </a:pPr>
            <a:r>
              <a:rPr lang="zh-CN" altLang="en-US"/>
              <a:t>它在线性回归的输出结果上，套用了一个非线性映射，将其转化为概率</a:t>
            </a:r>
            <a:endParaRPr lang="zh-CN" altLang="en-US"/>
          </a:p>
          <a:p>
            <a:pPr marL="0" indent="0">
              <a:buNone/>
            </a:pPr>
            <a:r>
              <a:rPr lang="zh-CN" altLang="en-US"/>
              <a:t>对于一个样本，结果为正类或者负类</a:t>
            </a:r>
            <a:endParaRPr lang="zh-CN" altLang="en-US"/>
          </a:p>
          <a:p>
            <a:pPr marL="0" indent="0">
              <a:buNone/>
            </a:pPr>
            <a:endParaRPr lang="zh-CN" altLang="en-US"/>
          </a:p>
          <a:p>
            <a:pPr marL="0" indent="0">
              <a:buNone/>
            </a:pPr>
            <a:r>
              <a:rPr lang="zh-CN" altLang="en-US"/>
              <a:t>整个数据集发生的总概率</a:t>
            </a:r>
            <a:endParaRPr lang="zh-CN" altLang="en-US"/>
          </a:p>
          <a:p>
            <a:pPr marL="0" indent="0">
              <a:buNone/>
            </a:pPr>
            <a:endParaRPr lang="zh-CN" altLang="en-US"/>
          </a:p>
          <a:p>
            <a:pPr marL="0" indent="0">
              <a:buNone/>
            </a:pPr>
            <a:r>
              <a:rPr lang="zh-CN" altLang="en-US"/>
              <a:t>取自然对数后，我们得到对数似然函数</a:t>
            </a:r>
            <a:endParaRPr lang="zh-CN" altLang="en-US"/>
          </a:p>
          <a:p>
            <a:pPr marL="0" indent="0">
              <a:buNone/>
            </a:pPr>
            <a:endParaRPr lang="zh-CN" altLang="en-US"/>
          </a:p>
          <a:p>
            <a:pPr marL="0" indent="0">
              <a:buNone/>
            </a:pPr>
            <a:r>
              <a:rPr lang="zh-CN" altLang="en-US"/>
              <a:t>对数损失函数</a:t>
            </a:r>
            <a:r>
              <a:rPr lang="en-US" altLang="zh-CN"/>
              <a:t> </a:t>
            </a:r>
            <a:endParaRPr lang="en-US" altLang="zh-CN"/>
          </a:p>
        </p:txBody>
      </p:sp>
      <p:sp>
        <p:nvSpPr>
          <p:cNvPr id="4" name="灯片编号占位符 3"/>
          <p:cNvSpPr>
            <a:spLocks noGrp="1"/>
          </p:cNvSpPr>
          <p:nvPr>
            <p:ph type="sldNum" sz="quarter" idx="2"/>
          </p:nvPr>
        </p:nvSpPr>
        <p:spPr/>
        <p:txBody>
          <a:bodyPr/>
          <a:p>
            <a:fld id="{86CB4B4D-7CA3-9044-876B-883B54F8677D}" type="slidenum">
              <a:rPr/>
            </a:fld>
            <a:endParaRPr/>
          </a:p>
        </p:txBody>
      </p:sp>
      <p:graphicFrame>
        <p:nvGraphicFramePr>
          <p:cNvPr id="5" name="对象 4"/>
          <p:cNvGraphicFramePr/>
          <p:nvPr/>
        </p:nvGraphicFramePr>
        <p:xfrm>
          <a:off x="5306695" y="1797050"/>
          <a:ext cx="2715260" cy="410210"/>
        </p:xfrm>
        <a:graphic>
          <a:graphicData uri="http://schemas.openxmlformats.org/presentationml/2006/ole">
            <mc:AlternateContent xmlns:mc="http://schemas.openxmlformats.org/markup-compatibility/2006">
              <mc:Choice xmlns:v="urn:schemas-microsoft-com:vml" Requires="v">
                <p:oleObj spid="_x0000_s6" name="" r:id="rId1" imgW="2282190" imgH="427990" progId="Equation.DSMT4">
                  <p:embed/>
                </p:oleObj>
              </mc:Choice>
              <mc:Fallback>
                <p:oleObj name="" r:id="rId1" imgW="2282190" imgH="427990" progId="Equation.DSMT4">
                  <p:embed/>
                  <p:pic>
                    <p:nvPicPr>
                      <p:cNvPr id="0" name="图片 5"/>
                      <p:cNvPicPr/>
                      <p:nvPr/>
                    </p:nvPicPr>
                    <p:blipFill>
                      <a:blip r:embed="rId2"/>
                      <a:stretch>
                        <a:fillRect/>
                      </a:stretch>
                    </p:blipFill>
                    <p:spPr>
                      <a:xfrm>
                        <a:off x="5306695" y="1797050"/>
                        <a:ext cx="2715260" cy="410210"/>
                      </a:xfrm>
                      <a:prstGeom prst="rect">
                        <a:avLst/>
                      </a:prstGeom>
                    </p:spPr>
                  </p:pic>
                </p:oleObj>
              </mc:Fallback>
            </mc:AlternateContent>
          </a:graphicData>
        </a:graphic>
      </p:graphicFrame>
      <p:graphicFrame>
        <p:nvGraphicFramePr>
          <p:cNvPr id="7" name="对象 6"/>
          <p:cNvGraphicFramePr/>
          <p:nvPr/>
        </p:nvGraphicFramePr>
        <p:xfrm>
          <a:off x="3891915" y="2543175"/>
          <a:ext cx="3362960" cy="765175"/>
        </p:xfrm>
        <a:graphic>
          <a:graphicData uri="http://schemas.openxmlformats.org/presentationml/2006/ole">
            <mc:AlternateContent xmlns:mc="http://schemas.openxmlformats.org/markup-compatibility/2006">
              <mc:Choice xmlns:v="urn:schemas-microsoft-com:vml" Requires="v">
                <p:oleObj spid="_x0000_s8" name="" r:id="rId3" imgW="3295015" imgH="682625" progId="Equation.DSMT4">
                  <p:embed/>
                </p:oleObj>
              </mc:Choice>
              <mc:Fallback>
                <p:oleObj name="" r:id="rId3" imgW="3295015" imgH="682625" progId="Equation.DSMT4">
                  <p:embed/>
                  <p:pic>
                    <p:nvPicPr>
                      <p:cNvPr id="0" name="图片 7"/>
                      <p:cNvPicPr/>
                      <p:nvPr/>
                    </p:nvPicPr>
                    <p:blipFill>
                      <a:blip r:embed="rId4"/>
                      <a:stretch>
                        <a:fillRect/>
                      </a:stretch>
                    </p:blipFill>
                    <p:spPr>
                      <a:xfrm>
                        <a:off x="3891915" y="2543175"/>
                        <a:ext cx="3362960" cy="765175"/>
                      </a:xfrm>
                      <a:prstGeom prst="rect">
                        <a:avLst/>
                      </a:prstGeom>
                    </p:spPr>
                  </p:pic>
                </p:oleObj>
              </mc:Fallback>
            </mc:AlternateContent>
          </a:graphicData>
        </a:graphic>
      </p:graphicFrame>
      <p:graphicFrame>
        <p:nvGraphicFramePr>
          <p:cNvPr id="9" name="对象 8"/>
          <p:cNvGraphicFramePr/>
          <p:nvPr/>
        </p:nvGraphicFramePr>
        <p:xfrm>
          <a:off x="5543550" y="3493770"/>
          <a:ext cx="4281170" cy="683260"/>
        </p:xfrm>
        <a:graphic>
          <a:graphicData uri="http://schemas.openxmlformats.org/presentationml/2006/ole">
            <mc:AlternateContent xmlns:mc="http://schemas.openxmlformats.org/markup-compatibility/2006">
              <mc:Choice xmlns:v="urn:schemas-microsoft-com:vml" Requires="v">
                <p:oleObj spid="_x0000_s10" name="" r:id="rId5" imgW="4161155" imgH="688340" progId="Equation.DSMT4">
                  <p:embed/>
                </p:oleObj>
              </mc:Choice>
              <mc:Fallback>
                <p:oleObj name="" r:id="rId5" imgW="4161155" imgH="688340" progId="Equation.DSMT4">
                  <p:embed/>
                  <p:pic>
                    <p:nvPicPr>
                      <p:cNvPr id="0" name="图片 9"/>
                      <p:cNvPicPr/>
                      <p:nvPr/>
                    </p:nvPicPr>
                    <p:blipFill>
                      <a:blip r:embed="rId6"/>
                      <a:stretch>
                        <a:fillRect/>
                      </a:stretch>
                    </p:blipFill>
                    <p:spPr>
                      <a:xfrm>
                        <a:off x="5543550" y="3493770"/>
                        <a:ext cx="4281170" cy="683260"/>
                      </a:xfrm>
                      <a:prstGeom prst="rect">
                        <a:avLst/>
                      </a:prstGeom>
                    </p:spPr>
                  </p:pic>
                </p:oleObj>
              </mc:Fallback>
            </mc:AlternateContent>
          </a:graphicData>
        </a:graphic>
      </p:graphicFrame>
      <p:graphicFrame>
        <p:nvGraphicFramePr>
          <p:cNvPr id="11" name="对象 10"/>
          <p:cNvGraphicFramePr/>
          <p:nvPr/>
        </p:nvGraphicFramePr>
        <p:xfrm>
          <a:off x="2190750" y="4295775"/>
          <a:ext cx="6300470" cy="895350"/>
        </p:xfrm>
        <a:graphic>
          <a:graphicData uri="http://schemas.openxmlformats.org/presentationml/2006/ole">
            <mc:AlternateContent xmlns:mc="http://schemas.openxmlformats.org/markup-compatibility/2006">
              <mc:Choice xmlns:v="urn:schemas-microsoft-com:vml" Requires="v">
                <p:oleObj spid="_x0000_s12" name="" r:id="rId7" imgW="5544185" imgH="703580" progId="Equation.DSMT4">
                  <p:embed/>
                </p:oleObj>
              </mc:Choice>
              <mc:Fallback>
                <p:oleObj name="" r:id="rId7" imgW="5544185" imgH="703580" progId="Equation.DSMT4">
                  <p:embed/>
                  <p:pic>
                    <p:nvPicPr>
                      <p:cNvPr id="0" name="图片 11"/>
                      <p:cNvPicPr/>
                      <p:nvPr/>
                    </p:nvPicPr>
                    <p:blipFill>
                      <a:blip r:embed="rId8"/>
                      <a:stretch>
                        <a:fillRect/>
                      </a:stretch>
                    </p:blipFill>
                    <p:spPr>
                      <a:xfrm>
                        <a:off x="2190750" y="4295775"/>
                        <a:ext cx="6300470" cy="895350"/>
                      </a:xfrm>
                      <a:prstGeom prst="rect">
                        <a:avLst/>
                      </a:prstGeom>
                    </p:spPr>
                  </p:pic>
                </p:oleObj>
              </mc:Fallback>
            </mc:AlternateContent>
          </a:graphicData>
        </a:graphic>
      </p:graphicFrame>
      <p:pic>
        <p:nvPicPr>
          <p:cNvPr id="13" name="图片 12"/>
          <p:cNvPicPr>
            <a:picLocks noChangeAspect="1"/>
          </p:cNvPicPr>
          <p:nvPr/>
        </p:nvPicPr>
        <p:blipFill>
          <a:blip r:embed="rId9"/>
          <a:stretch>
            <a:fillRect/>
          </a:stretch>
        </p:blipFill>
        <p:spPr>
          <a:xfrm>
            <a:off x="8853170" y="1784350"/>
            <a:ext cx="2599055" cy="1709420"/>
          </a:xfrm>
          <a:prstGeom prst="rect">
            <a:avLst/>
          </a:prstGeom>
        </p:spPr>
      </p:pic>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41605" y="98425"/>
            <a:ext cx="10515600" cy="1325563"/>
          </a:xfrm>
        </p:spPr>
        <p:txBody>
          <a:bodyPr/>
          <a:p>
            <a:r>
              <a:rPr lang="zh-CN" altLang="en-US"/>
              <a:t>线性</a:t>
            </a:r>
            <a:r>
              <a:rPr lang="en-US" altLang="zh-CN"/>
              <a:t>SVM</a:t>
            </a:r>
            <a:r>
              <a:rPr lang="zh-CN" altLang="en-US"/>
              <a:t>模型</a:t>
            </a:r>
            <a:endParaRPr lang="zh-CN" altLang="en-US"/>
          </a:p>
        </p:txBody>
      </p:sp>
      <p:sp>
        <p:nvSpPr>
          <p:cNvPr id="3" name="文本占位符 2"/>
          <p:cNvSpPr>
            <a:spLocks noGrp="1"/>
          </p:cNvSpPr>
          <p:nvPr>
            <p:ph type="body" idx="1"/>
          </p:nvPr>
        </p:nvSpPr>
        <p:spPr>
          <a:xfrm>
            <a:off x="141922" y="1616392"/>
            <a:ext cx="11140214" cy="4351338"/>
          </a:xfrm>
        </p:spPr>
        <p:txBody>
          <a:bodyPr/>
          <a:p>
            <a:pPr marL="0" indent="0">
              <a:buNone/>
            </a:pPr>
            <a:r>
              <a:rPr lang="zh-CN" altLang="en-US"/>
              <a:t>寻找一个超平面</a:t>
            </a:r>
            <a:r>
              <a:rPr lang="en-US" altLang="zh-CN"/>
              <a:t>                       </a:t>
            </a:r>
            <a:r>
              <a:rPr lang="zh-CN" altLang="en-US"/>
              <a:t>使得距离这个平面最近的样本点（这些点被称为支持向量）到平面的距离最大化</a:t>
            </a:r>
            <a:endParaRPr lang="zh-CN" altLang="en-US"/>
          </a:p>
          <a:p>
            <a:pPr marL="0" indent="0">
              <a:buNone/>
            </a:pPr>
            <a:endParaRPr lang="zh-CN" altLang="en-US"/>
          </a:p>
          <a:p>
            <a:pPr marL="0" indent="0">
              <a:buNone/>
            </a:pPr>
            <a:endParaRPr lang="zh-CN" altLang="en-US"/>
          </a:p>
          <a:p>
            <a:pPr marL="0" indent="0">
              <a:buNone/>
            </a:pPr>
            <a:r>
              <a:rPr lang="zh-CN" altLang="en-US"/>
              <a:t>将真实标签与得到</a:t>
            </a:r>
            <a:r>
              <a:rPr lang="en-US" altLang="zh-CN"/>
              <a:t>              </a:t>
            </a:r>
            <a:r>
              <a:rPr lang="zh-CN" altLang="en-US"/>
              <a:t>一个关键指标</a:t>
            </a:r>
            <a:endParaRPr lang="zh-CN" altLang="en-US"/>
          </a:p>
        </p:txBody>
      </p:sp>
      <p:sp>
        <p:nvSpPr>
          <p:cNvPr id="4" name="灯片编号占位符 3"/>
          <p:cNvSpPr>
            <a:spLocks noGrp="1"/>
          </p:cNvSpPr>
          <p:nvPr>
            <p:ph type="sldNum" sz="quarter" idx="2"/>
          </p:nvPr>
        </p:nvSpPr>
        <p:spPr/>
        <p:txBody>
          <a:bodyPr/>
          <a:p>
            <a:fld id="{86CB4B4D-7CA3-9044-876B-883B54F8677D}" type="slidenum">
              <a:rPr/>
            </a:fld>
            <a:endParaRPr/>
          </a:p>
        </p:txBody>
      </p:sp>
      <p:graphicFrame>
        <p:nvGraphicFramePr>
          <p:cNvPr id="5" name="对象 4"/>
          <p:cNvGraphicFramePr/>
          <p:nvPr/>
        </p:nvGraphicFramePr>
        <p:xfrm>
          <a:off x="2566670" y="1616075"/>
          <a:ext cx="1570355" cy="381635"/>
        </p:xfrm>
        <a:graphic>
          <a:graphicData uri="http://schemas.openxmlformats.org/presentationml/2006/ole">
            <mc:AlternateContent xmlns:mc="http://schemas.openxmlformats.org/markup-compatibility/2006">
              <mc:Choice xmlns:v="urn:schemas-microsoft-com:vml" Requires="v">
                <p:oleObj spid="_x0000_s6" name="" r:id="rId1" imgW="1881505" imgH="454660" progId="Equation.DSMT4">
                  <p:embed/>
                </p:oleObj>
              </mc:Choice>
              <mc:Fallback>
                <p:oleObj name="" r:id="rId1" imgW="1881505" imgH="454660" progId="Equation.DSMT4">
                  <p:embed/>
                  <p:pic>
                    <p:nvPicPr>
                      <p:cNvPr id="0" name="图片 5"/>
                      <p:cNvPicPr/>
                      <p:nvPr/>
                    </p:nvPicPr>
                    <p:blipFill>
                      <a:blip r:embed="rId2"/>
                      <a:stretch>
                        <a:fillRect/>
                      </a:stretch>
                    </p:blipFill>
                    <p:spPr>
                      <a:xfrm>
                        <a:off x="2566670" y="1616075"/>
                        <a:ext cx="1570355" cy="381635"/>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5368925" y="114300"/>
            <a:ext cx="3067050" cy="1489075"/>
          </a:xfrm>
          <a:prstGeom prst="rect">
            <a:avLst/>
          </a:prstGeom>
        </p:spPr>
      </p:pic>
      <p:graphicFrame>
        <p:nvGraphicFramePr>
          <p:cNvPr id="8" name="对象 7"/>
          <p:cNvGraphicFramePr/>
          <p:nvPr/>
        </p:nvGraphicFramePr>
        <p:xfrm>
          <a:off x="1999615" y="2571115"/>
          <a:ext cx="3611880" cy="563880"/>
        </p:xfrm>
        <a:graphic>
          <a:graphicData uri="http://schemas.openxmlformats.org/presentationml/2006/ole">
            <mc:AlternateContent xmlns:mc="http://schemas.openxmlformats.org/markup-compatibility/2006">
              <mc:Choice xmlns:v="urn:schemas-microsoft-com:vml" Requires="v">
                <p:oleObj spid="_x0000_s9" name="" r:id="rId4" imgW="2860675" imgH="434975" progId="Equation.DSMT4">
                  <p:embed/>
                </p:oleObj>
              </mc:Choice>
              <mc:Fallback>
                <p:oleObj name="" r:id="rId4" imgW="2860675" imgH="434975" progId="Equation.DSMT4">
                  <p:embed/>
                  <p:pic>
                    <p:nvPicPr>
                      <p:cNvPr id="0" name="图片 8"/>
                      <p:cNvPicPr/>
                      <p:nvPr/>
                    </p:nvPicPr>
                    <p:blipFill>
                      <a:blip r:embed="rId5"/>
                      <a:stretch>
                        <a:fillRect/>
                      </a:stretch>
                    </p:blipFill>
                    <p:spPr>
                      <a:xfrm>
                        <a:off x="1999615" y="2571115"/>
                        <a:ext cx="3611880" cy="563880"/>
                      </a:xfrm>
                      <a:prstGeom prst="rect">
                        <a:avLst/>
                      </a:prstGeom>
                    </p:spPr>
                  </p:pic>
                </p:oleObj>
              </mc:Fallback>
            </mc:AlternateContent>
          </a:graphicData>
        </a:graphic>
      </p:graphicFrame>
      <p:graphicFrame>
        <p:nvGraphicFramePr>
          <p:cNvPr id="10" name="对象 9"/>
          <p:cNvGraphicFramePr/>
          <p:nvPr/>
        </p:nvGraphicFramePr>
        <p:xfrm>
          <a:off x="2662555" y="3303905"/>
          <a:ext cx="1181735" cy="368935"/>
        </p:xfrm>
        <a:graphic>
          <a:graphicData uri="http://schemas.openxmlformats.org/presentationml/2006/ole">
            <mc:AlternateContent xmlns:mc="http://schemas.openxmlformats.org/markup-compatibility/2006">
              <mc:Choice xmlns:v="urn:schemas-microsoft-com:vml" Requires="v">
                <p:oleObj spid="_x0000_s11" name="" r:id="rId6" imgW="1377315" imgH="506730" progId="Equation.DSMT4">
                  <p:embed/>
                </p:oleObj>
              </mc:Choice>
              <mc:Fallback>
                <p:oleObj name="" r:id="rId6" imgW="1377315" imgH="506730" progId="Equation.DSMT4">
                  <p:embed/>
                  <p:pic>
                    <p:nvPicPr>
                      <p:cNvPr id="0" name="图片 10"/>
                      <p:cNvPicPr/>
                      <p:nvPr/>
                    </p:nvPicPr>
                    <p:blipFill>
                      <a:blip r:embed="rId7"/>
                      <a:stretch>
                        <a:fillRect/>
                      </a:stretch>
                    </p:blipFill>
                    <p:spPr>
                      <a:xfrm>
                        <a:off x="2662555" y="3303905"/>
                        <a:ext cx="1181735" cy="368935"/>
                      </a:xfrm>
                      <a:prstGeom prst="rect">
                        <a:avLst/>
                      </a:prstGeom>
                    </p:spPr>
                  </p:pic>
                </p:oleObj>
              </mc:Fallback>
            </mc:AlternateContent>
          </a:graphicData>
        </a:graphic>
      </p:graphicFrame>
      <p:graphicFrame>
        <p:nvGraphicFramePr>
          <p:cNvPr id="12" name="对象 11"/>
          <p:cNvGraphicFramePr/>
          <p:nvPr/>
        </p:nvGraphicFramePr>
        <p:xfrm>
          <a:off x="5695950" y="3221990"/>
          <a:ext cx="1316990" cy="532130"/>
        </p:xfrm>
        <a:graphic>
          <a:graphicData uri="http://schemas.openxmlformats.org/presentationml/2006/ole">
            <mc:AlternateContent xmlns:mc="http://schemas.openxmlformats.org/markup-compatibility/2006">
              <mc:Choice xmlns:v="urn:schemas-microsoft-com:vml" Requires="v">
                <p:oleObj spid="_x0000_s13" name="" r:id="rId8" imgW="853440" imgH="466725" progId="Equation.DSMT4">
                  <p:embed/>
                </p:oleObj>
              </mc:Choice>
              <mc:Fallback>
                <p:oleObj name="" r:id="rId8" imgW="853440" imgH="466725" progId="Equation.DSMT4">
                  <p:embed/>
                  <p:pic>
                    <p:nvPicPr>
                      <p:cNvPr id="0" name="图片 12"/>
                      <p:cNvPicPr/>
                      <p:nvPr/>
                    </p:nvPicPr>
                    <p:blipFill>
                      <a:blip r:embed="rId9"/>
                      <a:stretch>
                        <a:fillRect/>
                      </a:stretch>
                    </p:blipFill>
                    <p:spPr>
                      <a:xfrm>
                        <a:off x="5695950" y="3221990"/>
                        <a:ext cx="1316990" cy="532130"/>
                      </a:xfrm>
                      <a:prstGeom prst="rect">
                        <a:avLst/>
                      </a:prstGeom>
                    </p:spPr>
                  </p:pic>
                </p:oleObj>
              </mc:Fallback>
            </mc:AlternateContent>
          </a:graphicData>
        </a:graphic>
      </p:graphicFrame>
      <p:graphicFrame>
        <p:nvGraphicFramePr>
          <p:cNvPr id="14" name="对象 13"/>
          <p:cNvGraphicFramePr/>
          <p:nvPr/>
        </p:nvGraphicFramePr>
        <p:xfrm>
          <a:off x="377190" y="3841750"/>
          <a:ext cx="1499235" cy="393065"/>
        </p:xfrm>
        <a:graphic>
          <a:graphicData uri="http://schemas.openxmlformats.org/presentationml/2006/ole">
            <mc:AlternateContent xmlns:mc="http://schemas.openxmlformats.org/markup-compatibility/2006">
              <mc:Choice xmlns:v="urn:schemas-microsoft-com:vml" Requires="v">
                <p:oleObj spid="_x0000_s15" name="" r:id="rId10" imgW="1838325" imgH="476250" progId="Equation.DSMT4">
                  <p:embed/>
                </p:oleObj>
              </mc:Choice>
              <mc:Fallback>
                <p:oleObj name="" r:id="rId10" imgW="1838325" imgH="476250" progId="Equation.DSMT4">
                  <p:embed/>
                  <p:pic>
                    <p:nvPicPr>
                      <p:cNvPr id="0" name="图片 14"/>
                      <p:cNvPicPr/>
                      <p:nvPr/>
                    </p:nvPicPr>
                    <p:blipFill>
                      <a:blip r:embed="rId11"/>
                      <a:stretch>
                        <a:fillRect/>
                      </a:stretch>
                    </p:blipFill>
                    <p:spPr>
                      <a:xfrm>
                        <a:off x="377190" y="3841750"/>
                        <a:ext cx="1499235" cy="393065"/>
                      </a:xfrm>
                      <a:prstGeom prst="rect">
                        <a:avLst/>
                      </a:prstGeom>
                    </p:spPr>
                  </p:pic>
                </p:oleObj>
              </mc:Fallback>
            </mc:AlternateContent>
          </a:graphicData>
        </a:graphic>
      </p:graphicFrame>
      <p:graphicFrame>
        <p:nvGraphicFramePr>
          <p:cNvPr id="16" name="对象 15"/>
          <p:cNvGraphicFramePr/>
          <p:nvPr/>
        </p:nvGraphicFramePr>
        <p:xfrm>
          <a:off x="335915" y="4379595"/>
          <a:ext cx="1540510" cy="448945"/>
        </p:xfrm>
        <a:graphic>
          <a:graphicData uri="http://schemas.openxmlformats.org/presentationml/2006/ole">
            <mc:AlternateContent xmlns:mc="http://schemas.openxmlformats.org/markup-compatibility/2006">
              <mc:Choice xmlns:v="urn:schemas-microsoft-com:vml" Requires="v">
                <p:oleObj spid="_x0000_s17" name="" r:id="rId12" imgW="1788795" imgH="461645" progId="Equation.DSMT4">
                  <p:embed/>
                </p:oleObj>
              </mc:Choice>
              <mc:Fallback>
                <p:oleObj name="" r:id="rId12" imgW="1788795" imgH="461645" progId="Equation.DSMT4">
                  <p:embed/>
                  <p:pic>
                    <p:nvPicPr>
                      <p:cNvPr id="0" name="图片 16"/>
                      <p:cNvPicPr/>
                      <p:nvPr/>
                    </p:nvPicPr>
                    <p:blipFill>
                      <a:blip r:embed="rId13"/>
                      <a:stretch>
                        <a:fillRect/>
                      </a:stretch>
                    </p:blipFill>
                    <p:spPr>
                      <a:xfrm>
                        <a:off x="335915" y="4379595"/>
                        <a:ext cx="1540510" cy="448945"/>
                      </a:xfrm>
                      <a:prstGeom prst="rect">
                        <a:avLst/>
                      </a:prstGeom>
                    </p:spPr>
                  </p:pic>
                </p:oleObj>
              </mc:Fallback>
            </mc:AlternateContent>
          </a:graphicData>
        </a:graphic>
      </p:graphicFrame>
      <p:cxnSp>
        <p:nvCxnSpPr>
          <p:cNvPr id="19" name="直接箭头连接符 18"/>
          <p:cNvCxnSpPr/>
          <p:nvPr/>
        </p:nvCxnSpPr>
        <p:spPr>
          <a:xfrm flipV="1">
            <a:off x="2046605" y="4020820"/>
            <a:ext cx="1523365" cy="2286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20" name="直接箭头连接符 19"/>
          <p:cNvCxnSpPr/>
          <p:nvPr/>
        </p:nvCxnSpPr>
        <p:spPr>
          <a:xfrm flipV="1">
            <a:off x="2046605" y="4533265"/>
            <a:ext cx="1523365" cy="2286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21" name="文本框 20"/>
          <p:cNvSpPr txBox="1"/>
          <p:nvPr/>
        </p:nvSpPr>
        <p:spPr>
          <a:xfrm>
            <a:off x="3740150" y="3841750"/>
            <a:ext cx="95567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正确</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22" name="文本框 21"/>
          <p:cNvSpPr txBox="1"/>
          <p:nvPr/>
        </p:nvSpPr>
        <p:spPr>
          <a:xfrm>
            <a:off x="3740150" y="4379595"/>
            <a:ext cx="95567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错误</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aphicFrame>
        <p:nvGraphicFramePr>
          <p:cNvPr id="23" name="对象 22"/>
          <p:cNvGraphicFramePr/>
          <p:nvPr/>
        </p:nvGraphicFramePr>
        <p:xfrm>
          <a:off x="4695825" y="4005580"/>
          <a:ext cx="3496945" cy="550545"/>
        </p:xfrm>
        <a:graphic>
          <a:graphicData uri="http://schemas.openxmlformats.org/presentationml/2006/ole">
            <mc:AlternateContent xmlns:mc="http://schemas.openxmlformats.org/markup-compatibility/2006">
              <mc:Choice xmlns:v="urn:schemas-microsoft-com:vml" Requires="v">
                <p:oleObj spid="_x0000_s24" name="" r:id="rId14" imgW="3585845" imgH="561340" progId="Equation.DSMT4">
                  <p:embed/>
                </p:oleObj>
              </mc:Choice>
              <mc:Fallback>
                <p:oleObj name="" r:id="rId14" imgW="3585845" imgH="561340" progId="Equation.DSMT4">
                  <p:embed/>
                  <p:pic>
                    <p:nvPicPr>
                      <p:cNvPr id="0" name="图片 23"/>
                      <p:cNvPicPr/>
                      <p:nvPr/>
                    </p:nvPicPr>
                    <p:blipFill>
                      <a:blip r:embed="rId15"/>
                      <a:stretch>
                        <a:fillRect/>
                      </a:stretch>
                    </p:blipFill>
                    <p:spPr>
                      <a:xfrm>
                        <a:off x="4695825" y="4005580"/>
                        <a:ext cx="3496945" cy="550545"/>
                      </a:xfrm>
                      <a:prstGeom prst="rect">
                        <a:avLst/>
                      </a:prstGeom>
                    </p:spPr>
                  </p:pic>
                </p:oleObj>
              </mc:Fallback>
            </mc:AlternateContent>
          </a:graphicData>
        </a:graphic>
      </p:graphicFrame>
      <p:graphicFrame>
        <p:nvGraphicFramePr>
          <p:cNvPr id="25" name="对象 24"/>
          <p:cNvGraphicFramePr/>
          <p:nvPr/>
        </p:nvGraphicFramePr>
        <p:xfrm>
          <a:off x="1821180" y="4837430"/>
          <a:ext cx="6563360" cy="1478915"/>
        </p:xfrm>
        <a:graphic>
          <a:graphicData uri="http://schemas.openxmlformats.org/presentationml/2006/ole">
            <mc:AlternateContent xmlns:mc="http://schemas.openxmlformats.org/markup-compatibility/2006">
              <mc:Choice xmlns:v="urn:schemas-microsoft-com:vml" Requires="v">
                <p:oleObj spid="_x0000_s26" name="" r:id="rId16" imgW="4594225" imgH="1024890" progId="Equation.DSMT4">
                  <p:embed/>
                </p:oleObj>
              </mc:Choice>
              <mc:Fallback>
                <p:oleObj name="" r:id="rId16" imgW="4594225" imgH="1024890" progId="Equation.DSMT4">
                  <p:embed/>
                  <p:pic>
                    <p:nvPicPr>
                      <p:cNvPr id="0" name="图片 25"/>
                      <p:cNvPicPr/>
                      <p:nvPr/>
                    </p:nvPicPr>
                    <p:blipFill>
                      <a:blip r:embed="rId17"/>
                      <a:stretch>
                        <a:fillRect/>
                      </a:stretch>
                    </p:blipFill>
                    <p:spPr>
                      <a:xfrm>
                        <a:off x="1821180" y="4837430"/>
                        <a:ext cx="6563360" cy="1478915"/>
                      </a:xfrm>
                      <a:prstGeom prst="rect">
                        <a:avLst/>
                      </a:prstGeom>
                    </p:spPr>
                  </p:pic>
                </p:oleObj>
              </mc:Fallback>
            </mc:AlternateContent>
          </a:graphicData>
        </a:graphic>
      </p:graphicFrame>
      <p:pic>
        <p:nvPicPr>
          <p:cNvPr id="27" name="图片 26"/>
          <p:cNvPicPr>
            <a:picLocks noChangeAspect="1"/>
          </p:cNvPicPr>
          <p:nvPr/>
        </p:nvPicPr>
        <p:blipFill>
          <a:blip r:embed="rId18"/>
          <a:stretch>
            <a:fillRect/>
          </a:stretch>
        </p:blipFill>
        <p:spPr>
          <a:xfrm>
            <a:off x="8561070" y="2463800"/>
            <a:ext cx="3298190" cy="2364740"/>
          </a:xfrm>
          <a:prstGeom prst="rect">
            <a:avLst/>
          </a:prstGeom>
        </p:spPr>
      </p:pic>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非线性模型</a:t>
            </a:r>
            <a:endParaRPr lang="zh-CN" altLang="en-US"/>
          </a:p>
        </p:txBody>
      </p:sp>
      <p:sp>
        <p:nvSpPr>
          <p:cNvPr id="5" name="文本占位符 4"/>
          <p:cNvSpPr>
            <a:spLocks noGrp="1"/>
          </p:cNvSpPr>
          <p:nvPr>
            <p:ph type="body" idx="1"/>
          </p:nvPr>
        </p:nvSpPr>
        <p:spPr/>
        <p:txBody>
          <a:bodyPr/>
          <a:lstStyle/>
          <a:p>
            <a:pPr>
              <a:buFont typeface="Wingdings" panose="05000000000000000000" charset="0"/>
              <a:buChar char="ü"/>
            </a:pPr>
            <a:r>
              <a:rPr lang="zh-CN" altLang="en-US"/>
              <a:t>现实中的数据高度复杂、非结构化</a:t>
            </a:r>
            <a:endParaRPr lang="zh-CN" altLang="en-US"/>
          </a:p>
          <a:p>
            <a:pPr>
              <a:buFont typeface="Wingdings" panose="05000000000000000000" charset="0"/>
              <a:buChar char="ü"/>
            </a:pPr>
            <a:r>
              <a:rPr lang="zh-CN" altLang="en-US"/>
              <a:t>不仅需要线性网络，同时也需要非线性网络</a:t>
            </a:r>
            <a:endParaRPr lang="zh-CN" altLang="en-US"/>
          </a:p>
          <a:p>
            <a:pPr marL="0" indent="0">
              <a:buNone/>
            </a:pPr>
            <a:endParaRPr lang="zh-CN" altLang="en-US"/>
          </a:p>
        </p:txBody>
      </p:sp>
      <p:sp>
        <p:nvSpPr>
          <p:cNvPr id="3" name="灯片编号占位符 2"/>
          <p:cNvSpPr>
            <a:spLocks noGrp="1"/>
          </p:cNvSpPr>
          <p:nvPr>
            <p:ph type="sldNum" sz="quarter" idx="2"/>
          </p:nvPr>
        </p:nvSpPr>
        <p:spPr>
          <a:xfrm>
            <a:off x="11183621" y="6401118"/>
            <a:ext cx="170180" cy="275590"/>
          </a:xfrm>
        </p:spPr>
        <p:txBody>
          <a:bodyPr/>
          <a:lstStyle/>
          <a:p>
            <a:fld id="{86CB4B4D-7CA3-9044-876B-883B54F8677D}" type="slidenum">
              <a:rPr/>
            </a:fld>
            <a:endParaRPr/>
          </a:p>
        </p:txBody>
      </p:sp>
      <p:pic>
        <p:nvPicPr>
          <p:cNvPr id="6" name="图片 5"/>
          <p:cNvPicPr>
            <a:picLocks noChangeAspect="1"/>
          </p:cNvPicPr>
          <p:nvPr/>
        </p:nvPicPr>
        <p:blipFill>
          <a:blip r:embed="rId1"/>
          <a:stretch>
            <a:fillRect/>
          </a:stretch>
        </p:blipFill>
        <p:spPr>
          <a:xfrm>
            <a:off x="5912485" y="165735"/>
            <a:ext cx="1938020" cy="1927860"/>
          </a:xfrm>
          <a:prstGeom prst="rect">
            <a:avLst/>
          </a:prstGeom>
        </p:spPr>
      </p:pic>
      <p:grpSp>
        <p:nvGrpSpPr>
          <p:cNvPr id="15" name="组合 14"/>
          <p:cNvGrpSpPr/>
          <p:nvPr/>
        </p:nvGrpSpPr>
        <p:grpSpPr>
          <a:xfrm>
            <a:off x="5792470" y="2784475"/>
            <a:ext cx="1447800" cy="1257300"/>
            <a:chOff x="9122" y="4385"/>
            <a:chExt cx="2280" cy="1980"/>
          </a:xfrm>
        </p:grpSpPr>
        <p:cxnSp>
          <p:nvCxnSpPr>
            <p:cNvPr id="7" name="直接箭头连接符 6"/>
            <p:cNvCxnSpPr/>
            <p:nvPr/>
          </p:nvCxnSpPr>
          <p:spPr>
            <a:xfrm flipH="1">
              <a:off x="10052" y="4385"/>
              <a:ext cx="12" cy="1292"/>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8" name="文本框 7"/>
            <p:cNvSpPr txBox="1"/>
            <p:nvPr/>
          </p:nvSpPr>
          <p:spPr>
            <a:xfrm>
              <a:off x="9122" y="5833"/>
              <a:ext cx="2281" cy="53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神经网络</a:t>
              </a: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pic>
        <p:nvPicPr>
          <p:cNvPr id="10" name="图片 9"/>
          <p:cNvPicPr>
            <a:picLocks noChangeAspect="1"/>
          </p:cNvPicPr>
          <p:nvPr/>
        </p:nvPicPr>
        <p:blipFill>
          <a:blip r:embed="rId2"/>
          <a:stretch>
            <a:fillRect/>
          </a:stretch>
        </p:blipFill>
        <p:spPr>
          <a:xfrm>
            <a:off x="7850505" y="165735"/>
            <a:ext cx="1936750" cy="1927225"/>
          </a:xfrm>
          <a:prstGeom prst="rect">
            <a:avLst/>
          </a:prstGeom>
        </p:spPr>
      </p:pic>
      <p:grpSp>
        <p:nvGrpSpPr>
          <p:cNvPr id="14" name="组合 13"/>
          <p:cNvGrpSpPr/>
          <p:nvPr/>
        </p:nvGrpSpPr>
        <p:grpSpPr>
          <a:xfrm>
            <a:off x="7240905" y="2378710"/>
            <a:ext cx="4800600" cy="3348355"/>
            <a:chOff x="11403" y="3746"/>
            <a:chExt cx="7560" cy="5273"/>
          </a:xfrm>
        </p:grpSpPr>
        <p:sp>
          <p:nvSpPr>
            <p:cNvPr id="9" name="左大括号 8"/>
            <p:cNvSpPr/>
            <p:nvPr/>
          </p:nvSpPr>
          <p:spPr>
            <a:xfrm>
              <a:off x="11403" y="3842"/>
              <a:ext cx="724" cy="4886"/>
            </a:xfrm>
            <a:prstGeom prst="leftBrace">
              <a:avLst/>
            </a:prstGeom>
            <a:no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91439" tIns="45719" rIns="91439" bIns="45719" numCol="1" spcCol="38100" rtlCol="0" anchor="t" forceAA="0">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1" name="文本框 10"/>
            <p:cNvSpPr txBox="1"/>
            <p:nvPr/>
          </p:nvSpPr>
          <p:spPr>
            <a:xfrm>
              <a:off x="12187" y="3746"/>
              <a:ext cx="5188" cy="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前向传播——做出预测</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2" name="文本框 11"/>
            <p:cNvSpPr txBox="1"/>
            <p:nvPr/>
          </p:nvSpPr>
          <p:spPr>
            <a:xfrm>
              <a:off x="12187" y="5784"/>
              <a:ext cx="5188" cy="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损失计算——衡量误差</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3" name="文本框 12"/>
            <p:cNvSpPr txBox="1"/>
            <p:nvPr/>
          </p:nvSpPr>
          <p:spPr>
            <a:xfrm>
              <a:off x="12127" y="8065"/>
              <a:ext cx="6837" cy="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反向传播与优化</a:t>
              </a:r>
              <a:r>
                <a:rPr kumimoji="0" lang="en-US" altLang="zh-CN"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a:t>
              </a: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纠正错误</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6" presetClass="entr" presetSubtype="21"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barn(inVertical)">
                                      <p:cBhvr>
                                        <p:cTn id="1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神经网络</a:t>
            </a:r>
            <a:endParaRPr lang="zh-CN" altLang="en-US"/>
          </a:p>
        </p:txBody>
      </p:sp>
      <p:sp>
        <p:nvSpPr>
          <p:cNvPr id="3" name="文本占位符 2"/>
          <p:cNvSpPr>
            <a:spLocks noGrp="1"/>
          </p:cNvSpPr>
          <p:nvPr>
            <p:ph type="body" idx="1"/>
          </p:nvPr>
        </p:nvSpPr>
        <p:spPr>
          <a:xfrm>
            <a:off x="833755" y="1868170"/>
            <a:ext cx="11140440" cy="4879975"/>
          </a:xfrm>
        </p:spPr>
        <p:txBody>
          <a:bodyPr>
            <a:normAutofit/>
          </a:bodyPr>
          <a:lstStyle/>
          <a:p>
            <a:pPr marL="0" indent="0">
              <a:buNone/>
            </a:pPr>
            <a:r>
              <a:rPr lang="zh-CN" altLang="en-US"/>
              <a:t>最基础的计算单元是神经元（节点）</a:t>
            </a: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marL="0" indent="0">
              <a:buNone/>
            </a:pPr>
            <a:endParaRPr lang="zh-CN" altLang="en-US"/>
          </a:p>
          <a:p>
            <a:pPr>
              <a:buFont typeface="Wingdings" panose="05000000000000000000" charset="0"/>
              <a:buChar char="Ø"/>
            </a:pPr>
            <a:r>
              <a:rPr lang="zh-CN" altLang="en-US"/>
              <a:t>权重 (</a:t>
            </a:r>
            <a:r>
              <a:rPr lang="en-US" altLang="zh-CN"/>
              <a:t>w)： </a:t>
            </a:r>
            <a:r>
              <a:rPr lang="zh-CN" altLang="en-US"/>
              <a:t>决定了来自上一层某个输入信号对当前神经元的影响力大小</a:t>
            </a:r>
            <a:endParaRPr lang="zh-CN" altLang="en-US"/>
          </a:p>
          <a:p>
            <a:pPr>
              <a:buFont typeface="Wingdings" panose="05000000000000000000" charset="0"/>
              <a:buChar char="Ø"/>
            </a:pPr>
            <a:r>
              <a:rPr lang="zh-CN" altLang="en-US"/>
              <a:t>偏置 (</a:t>
            </a:r>
            <a:r>
              <a:rPr lang="en-US" altLang="zh-CN"/>
              <a:t>b)： </a:t>
            </a:r>
            <a:r>
              <a:rPr lang="zh-CN" altLang="en-US"/>
              <a:t>用于平移激活函数的触发阈值</a:t>
            </a:r>
            <a:endParaRPr lang="zh-CN" altLang="en-US"/>
          </a:p>
          <a:p>
            <a:pPr marL="0" indent="0">
              <a:buNone/>
            </a:pPr>
            <a:endParaRPr lang="zh-CN" altLang="en-US"/>
          </a:p>
        </p:txBody>
      </p:sp>
      <p:sp>
        <p:nvSpPr>
          <p:cNvPr id="4" name="灯片编号占位符 3"/>
          <p:cNvSpPr>
            <a:spLocks noGrp="1"/>
          </p:cNvSpPr>
          <p:nvPr>
            <p:ph type="sldNum" sz="quarter" idx="2"/>
          </p:nvPr>
        </p:nvSpPr>
        <p:spPr/>
        <p:txBody>
          <a:bodyPr/>
          <a:lstStyle/>
          <a:p>
            <a:fld id="{86CB4B4D-7CA3-9044-876B-883B54F8677D}" type="slidenum">
              <a:rPr/>
            </a:fld>
            <a:endParaRPr/>
          </a:p>
        </p:txBody>
      </p:sp>
      <p:pic>
        <p:nvPicPr>
          <p:cNvPr id="5" name="图片 4"/>
          <p:cNvPicPr>
            <a:picLocks noChangeAspect="1"/>
          </p:cNvPicPr>
          <p:nvPr/>
        </p:nvPicPr>
        <p:blipFill>
          <a:blip r:embed="rId1"/>
          <a:srcRect l="908" t="459"/>
          <a:stretch>
            <a:fillRect/>
          </a:stretch>
        </p:blipFill>
        <p:spPr>
          <a:xfrm>
            <a:off x="1013460" y="2368550"/>
            <a:ext cx="3951605" cy="2338705"/>
          </a:xfrm>
          <a:prstGeom prst="rect">
            <a:avLst/>
          </a:prstGeom>
        </p:spPr>
      </p:pic>
      <p:graphicFrame>
        <p:nvGraphicFramePr>
          <p:cNvPr id="7" name="对象 6"/>
          <p:cNvGraphicFramePr/>
          <p:nvPr/>
        </p:nvGraphicFramePr>
        <p:xfrm>
          <a:off x="5742940" y="2643505"/>
          <a:ext cx="1911985" cy="785495"/>
        </p:xfrm>
        <a:graphic>
          <a:graphicData uri="http://schemas.openxmlformats.org/presentationml/2006/ole">
            <mc:AlternateContent xmlns:mc="http://schemas.openxmlformats.org/markup-compatibility/2006">
              <mc:Choice xmlns:v="urn:schemas-microsoft-com:vml" Requires="v">
                <p:oleObj spid="_x0000_s1089" name="" r:id="rId2" imgW="2066290" imgH="827405" progId="Equation.DSMT4">
                  <p:embed/>
                </p:oleObj>
              </mc:Choice>
              <mc:Fallback>
                <p:oleObj name="" r:id="rId2" imgW="2066290" imgH="827405" progId="Equation.DSMT4">
                  <p:embed/>
                  <p:pic>
                    <p:nvPicPr>
                      <p:cNvPr id="0" name="图片 7"/>
                      <p:cNvPicPr/>
                      <p:nvPr/>
                    </p:nvPicPr>
                    <p:blipFill>
                      <a:blip r:embed="rId3"/>
                      <a:stretch>
                        <a:fillRect/>
                      </a:stretch>
                    </p:blipFill>
                    <p:spPr>
                      <a:xfrm>
                        <a:off x="5742940" y="2643505"/>
                        <a:ext cx="1911985" cy="785495"/>
                      </a:xfrm>
                      <a:prstGeom prst="rect">
                        <a:avLst/>
                      </a:prstGeom>
                    </p:spPr>
                  </p:pic>
                </p:oleObj>
              </mc:Fallback>
            </mc:AlternateContent>
          </a:graphicData>
        </a:graphic>
      </p:graphicFrame>
      <p:cxnSp>
        <p:nvCxnSpPr>
          <p:cNvPr id="10" name="直接箭头连接符 9"/>
          <p:cNvCxnSpPr>
            <a:endCxn id="7" idx="1"/>
          </p:cNvCxnSpPr>
          <p:nvPr/>
        </p:nvCxnSpPr>
        <p:spPr>
          <a:xfrm flipV="1">
            <a:off x="4965065" y="3036570"/>
            <a:ext cx="777875" cy="58102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aphicFrame>
        <p:nvGraphicFramePr>
          <p:cNvPr id="17" name="对象 16"/>
          <p:cNvGraphicFramePr/>
          <p:nvPr/>
        </p:nvGraphicFramePr>
        <p:xfrm>
          <a:off x="8442325" y="2692400"/>
          <a:ext cx="1397635" cy="537210"/>
        </p:xfrm>
        <a:graphic>
          <a:graphicData uri="http://schemas.openxmlformats.org/presentationml/2006/ole">
            <mc:AlternateContent xmlns:mc="http://schemas.openxmlformats.org/markup-compatibility/2006">
              <mc:Choice xmlns:v="urn:schemas-microsoft-com:vml" Requires="v">
                <p:oleObj spid="_x0000_s1090" name="" r:id="rId4" imgW="1350645" imgH="507365" progId="Equation.DSMT4">
                  <p:embed/>
                </p:oleObj>
              </mc:Choice>
              <mc:Fallback>
                <p:oleObj name="" r:id="rId4" imgW="1350645" imgH="507365" progId="Equation.DSMT4">
                  <p:embed/>
                  <p:pic>
                    <p:nvPicPr>
                      <p:cNvPr id="0" name="图片 17"/>
                      <p:cNvPicPr/>
                      <p:nvPr/>
                    </p:nvPicPr>
                    <p:blipFill>
                      <a:blip r:embed="rId5"/>
                      <a:stretch>
                        <a:fillRect/>
                      </a:stretch>
                    </p:blipFill>
                    <p:spPr>
                      <a:xfrm>
                        <a:off x="8442325" y="2692400"/>
                        <a:ext cx="1397635" cy="537210"/>
                      </a:xfrm>
                      <a:prstGeom prst="rect">
                        <a:avLst/>
                      </a:prstGeom>
                    </p:spPr>
                  </p:pic>
                </p:oleObj>
              </mc:Fallback>
            </mc:AlternateContent>
          </a:graphicData>
        </a:graphic>
      </p:graphicFrame>
      <p:sp>
        <p:nvSpPr>
          <p:cNvPr id="19" name="文本框 18"/>
          <p:cNvSpPr txBox="1"/>
          <p:nvPr/>
        </p:nvSpPr>
        <p:spPr>
          <a:xfrm>
            <a:off x="6497955" y="3429000"/>
            <a:ext cx="711835" cy="3841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线性</a:t>
            </a: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0" name="文本框 19"/>
          <p:cNvSpPr txBox="1"/>
          <p:nvPr/>
        </p:nvSpPr>
        <p:spPr>
          <a:xfrm>
            <a:off x="8640445" y="3429000"/>
            <a:ext cx="1064260" cy="3841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非线性</a:t>
            </a: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cxnSp>
        <p:nvCxnSpPr>
          <p:cNvPr id="21" name="曲线连接符 20"/>
          <p:cNvCxnSpPr>
            <a:stCxn id="19" idx="2"/>
            <a:endCxn id="20" idx="2"/>
          </p:cNvCxnSpPr>
          <p:nvPr/>
        </p:nvCxnSpPr>
        <p:spPr>
          <a:xfrm rot="5400000" flipV="1">
            <a:off x="8013065" y="2653665"/>
            <a:ext cx="3175" cy="2318385"/>
          </a:xfrm>
          <a:prstGeom prst="curvedConnector3">
            <a:avLst>
              <a:gd name="adj1" fmla="val 7540000"/>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22" name="文本框 21"/>
          <p:cNvSpPr txBox="1"/>
          <p:nvPr/>
        </p:nvSpPr>
        <p:spPr>
          <a:xfrm>
            <a:off x="7325360" y="4116070"/>
            <a:ext cx="1261110" cy="38417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algn="l" defTabSz="914400" rtl="0" fontAlgn="auto" latinLnBrk="0" hangingPunct="0">
              <a:lnSpc>
                <a:spcPct val="100000"/>
              </a:lnSpc>
              <a:spcBef>
                <a:spcPts val="0"/>
              </a:spcBef>
              <a:spcAft>
                <a:spcPts val="0"/>
              </a:spcAft>
              <a:buClrTx/>
              <a:buSzTx/>
              <a:buFontTx/>
              <a:buNone/>
            </a:pPr>
            <a:r>
              <a:rPr kumimoji="0" lang="zh-CN" altLang="en-US" sz="2400" b="1" i="0" u="none" strike="noStrike" cap="none" spc="0" normalizeH="0" baseline="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激活函数</a:t>
            </a:r>
            <a:endParaRPr kumimoji="0" lang="zh-CN" altLang="en-US" sz="2400" b="1" i="0" u="none" strike="noStrike" cap="none" spc="0" normalizeH="0" baseline="0">
              <a:ln>
                <a:noFill/>
              </a:ln>
              <a:solidFill>
                <a:srgbClr val="FF0000"/>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cxnSp>
        <p:nvCxnSpPr>
          <p:cNvPr id="24" name="直接箭头连接符 23"/>
          <p:cNvCxnSpPr/>
          <p:nvPr/>
        </p:nvCxnSpPr>
        <p:spPr>
          <a:xfrm flipV="1">
            <a:off x="9531985" y="2413000"/>
            <a:ext cx="620395" cy="25273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25" name="文本框 24"/>
          <p:cNvSpPr txBox="1"/>
          <p:nvPr/>
        </p:nvSpPr>
        <p:spPr>
          <a:xfrm>
            <a:off x="7393940" y="1867853"/>
            <a:ext cx="5080000" cy="460375"/>
          </a:xfrm>
          <a:prstGeom prst="rect">
            <a:avLst/>
          </a:prstGeom>
        </p:spPr>
        <p:txBody>
          <a:bodyPr>
            <a:spAutoFit/>
          </a:bodyPr>
          <a:lstStyle/>
          <a:p>
            <a:pPr algn="l"/>
            <a:r>
              <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作为输出，传递给下一层的神经元</a:t>
            </a:r>
            <a:endParaRPr lang="zh-CN" altLang="en-US" sz="240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p:tgtEl>
                                          <p:spTgt spid="22"/>
                                        </p:tgtEl>
                                        <p:attrNameLst>
                                          <p:attrName>ppt_y</p:attrName>
                                        </p:attrNameLst>
                                      </p:cBhvr>
                                      <p:tavLst>
                                        <p:tav tm="0">
                                          <p:val>
                                            <p:strVal val="#ppt_y+#ppt_h*1.125000"/>
                                          </p:val>
                                        </p:tav>
                                        <p:tav tm="100000">
                                          <p:val>
                                            <p:strVal val="#ppt_y"/>
                                          </p:val>
                                        </p:tav>
                                      </p:tavLst>
                                    </p:anim>
                                    <p:animEffect transition="in" filter="wipe(up)">
                                      <p:cBhvr>
                                        <p:cTn id="8"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bldLvl="0" animBg="1"/>
      <p:bldP spid="22"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激活函数</a:t>
            </a:r>
            <a:endParaRPr lang="zh-CN" altLang="en-US"/>
          </a:p>
        </p:txBody>
      </p:sp>
      <p:sp>
        <p:nvSpPr>
          <p:cNvPr id="3" name="文本占位符 2"/>
          <p:cNvSpPr>
            <a:spLocks noGrp="1"/>
          </p:cNvSpPr>
          <p:nvPr>
            <p:ph type="body" idx="1"/>
          </p:nvPr>
        </p:nvSpPr>
        <p:spPr/>
        <p:txBody>
          <a:bodyPr/>
          <a:lstStyle/>
          <a:p>
            <a:pPr marL="0" indent="0">
              <a:buNone/>
            </a:pPr>
            <a:r>
              <a:rPr lang="zh-CN" altLang="en-US"/>
              <a:t>常用的激活函数</a:t>
            </a:r>
            <a:endParaRPr lang="zh-CN" altLang="en-US"/>
          </a:p>
        </p:txBody>
      </p:sp>
      <p:sp>
        <p:nvSpPr>
          <p:cNvPr id="4" name="灯片编号占位符 3"/>
          <p:cNvSpPr>
            <a:spLocks noGrp="1"/>
          </p:cNvSpPr>
          <p:nvPr>
            <p:ph type="sldNum" sz="quarter" idx="2"/>
          </p:nvPr>
        </p:nvSpPr>
        <p:spPr/>
        <p:txBody>
          <a:bodyPr/>
          <a:lstStyle/>
          <a:p>
            <a:fld id="{86CB4B4D-7CA3-9044-876B-883B54F8677D}" type="slidenum">
              <a:rPr/>
            </a:fld>
            <a:endParaRPr/>
          </a:p>
        </p:txBody>
      </p:sp>
      <p:pic>
        <p:nvPicPr>
          <p:cNvPr id="5" name="图片 4"/>
          <p:cNvPicPr>
            <a:picLocks noChangeAspect="1"/>
          </p:cNvPicPr>
          <p:nvPr/>
        </p:nvPicPr>
        <p:blipFill>
          <a:blip r:embed="rId1"/>
          <a:stretch>
            <a:fillRect/>
          </a:stretch>
        </p:blipFill>
        <p:spPr>
          <a:xfrm>
            <a:off x="277495" y="2434590"/>
            <a:ext cx="4059555" cy="2708910"/>
          </a:xfrm>
          <a:prstGeom prst="rect">
            <a:avLst/>
          </a:prstGeom>
        </p:spPr>
      </p:pic>
      <p:pic>
        <p:nvPicPr>
          <p:cNvPr id="7" name="图片 6"/>
          <p:cNvPicPr>
            <a:picLocks noChangeAspect="1"/>
          </p:cNvPicPr>
          <p:nvPr/>
        </p:nvPicPr>
        <p:blipFill>
          <a:blip r:embed="rId2"/>
          <a:stretch>
            <a:fillRect/>
          </a:stretch>
        </p:blipFill>
        <p:spPr>
          <a:xfrm>
            <a:off x="4617720" y="2569845"/>
            <a:ext cx="3983355" cy="2619375"/>
          </a:xfrm>
          <a:prstGeom prst="rect">
            <a:avLst/>
          </a:prstGeom>
        </p:spPr>
      </p:pic>
      <p:pic>
        <p:nvPicPr>
          <p:cNvPr id="8" name="图片 7"/>
          <p:cNvPicPr>
            <a:picLocks noChangeAspect="1"/>
          </p:cNvPicPr>
          <p:nvPr/>
        </p:nvPicPr>
        <p:blipFill>
          <a:blip r:embed="rId3"/>
          <a:stretch>
            <a:fillRect/>
          </a:stretch>
        </p:blipFill>
        <p:spPr>
          <a:xfrm>
            <a:off x="9368790" y="4184015"/>
            <a:ext cx="2484120" cy="1642745"/>
          </a:xfrm>
          <a:prstGeom prst="rect">
            <a:avLst/>
          </a:prstGeom>
        </p:spPr>
      </p:pic>
      <p:pic>
        <p:nvPicPr>
          <p:cNvPr id="9" name="图片 8"/>
          <p:cNvPicPr>
            <a:picLocks noChangeAspect="1"/>
          </p:cNvPicPr>
          <p:nvPr/>
        </p:nvPicPr>
        <p:blipFill>
          <a:blip r:embed="rId4"/>
          <a:srcRect r="-720" b="4414"/>
          <a:stretch>
            <a:fillRect/>
          </a:stretch>
        </p:blipFill>
        <p:spPr>
          <a:xfrm>
            <a:off x="5253990" y="205740"/>
            <a:ext cx="2576195" cy="1553845"/>
          </a:xfrm>
          <a:prstGeom prst="rect">
            <a:avLst/>
          </a:prstGeom>
        </p:spPr>
      </p:pic>
      <p:pic>
        <p:nvPicPr>
          <p:cNvPr id="10" name="图片 9"/>
          <p:cNvPicPr>
            <a:picLocks noChangeAspect="1"/>
          </p:cNvPicPr>
          <p:nvPr/>
        </p:nvPicPr>
        <p:blipFill>
          <a:blip r:embed="rId5"/>
          <a:srcRect b="6154"/>
          <a:stretch>
            <a:fillRect/>
          </a:stretch>
        </p:blipFill>
        <p:spPr>
          <a:xfrm>
            <a:off x="2959735" y="280035"/>
            <a:ext cx="2294255" cy="1403985"/>
          </a:xfrm>
          <a:prstGeom prst="rect">
            <a:avLst/>
          </a:prstGeom>
        </p:spPr>
      </p:pic>
      <p:pic>
        <p:nvPicPr>
          <p:cNvPr id="11" name="图片 10"/>
          <p:cNvPicPr>
            <a:picLocks noChangeAspect="1"/>
          </p:cNvPicPr>
          <p:nvPr/>
        </p:nvPicPr>
        <p:blipFill>
          <a:blip r:embed="rId6"/>
          <a:stretch>
            <a:fillRect/>
          </a:stretch>
        </p:blipFill>
        <p:spPr>
          <a:xfrm>
            <a:off x="7811770" y="172085"/>
            <a:ext cx="2303780" cy="1587500"/>
          </a:xfrm>
          <a:prstGeom prst="rect">
            <a:avLst/>
          </a:prstGeom>
        </p:spPr>
      </p:pic>
      <p:pic>
        <p:nvPicPr>
          <p:cNvPr id="12" name="图片 11"/>
          <p:cNvPicPr>
            <a:picLocks noChangeAspect="1"/>
          </p:cNvPicPr>
          <p:nvPr/>
        </p:nvPicPr>
        <p:blipFill>
          <a:blip r:embed="rId7"/>
          <a:stretch>
            <a:fillRect/>
          </a:stretch>
        </p:blipFill>
        <p:spPr>
          <a:xfrm>
            <a:off x="9318625" y="2137410"/>
            <a:ext cx="2476500" cy="16002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 calcmode="lin" valueType="num">
                                      <p:cBhvr additive="base">
                                        <p:cTn id="19" dur="500" fill="hold"/>
                                        <p:tgtEl>
                                          <p:spTgt spid="11"/>
                                        </p:tgtEl>
                                        <p:attrNameLst>
                                          <p:attrName>ppt_x</p:attrName>
                                        </p:attrNameLst>
                                      </p:cBhvr>
                                      <p:tavLst>
                                        <p:tav tm="0">
                                          <p:val>
                                            <p:strVal val="#ppt_x"/>
                                          </p:val>
                                        </p:tav>
                                        <p:tav tm="100000">
                                          <p:val>
                                            <p:strVal val="#ppt_x"/>
                                          </p:val>
                                        </p:tav>
                                      </p:tavLst>
                                    </p:anim>
                                    <p:anim calcmode="lin" valueType="num">
                                      <p:cBhvr additive="base">
                                        <p:cTn id="20"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edge">
                                      <p:cBhvr>
                                        <p:cTn id="25" dur="20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0"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edge">
                                      <p:cBhvr>
                                        <p:cTn id="30"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矩形 113"/>
          <p:cNvSpPr/>
          <p:nvPr/>
        </p:nvSpPr>
        <p:spPr>
          <a:xfrm>
            <a:off x="8172450" y="107315"/>
            <a:ext cx="2057400" cy="1320800"/>
          </a:xfrm>
          <a:prstGeom prst="rect">
            <a:avLst/>
          </a:prstGeom>
          <a:solidFill>
            <a:srgbClr val="FFC000"/>
          </a:solidFill>
          <a:ln w="12700" cap="flat">
            <a:no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4" name="灯片编号占位符 3"/>
          <p:cNvSpPr>
            <a:spLocks noGrp="1"/>
          </p:cNvSpPr>
          <p:nvPr>
            <p:ph type="sldNum" sz="quarter" idx="2"/>
          </p:nvPr>
        </p:nvSpPr>
        <p:spPr/>
        <p:txBody>
          <a:bodyPr/>
          <a:lstStyle/>
          <a:p>
            <a:fld id="{86CB4B4D-7CA3-9044-876B-883B54F8677D}" type="slidenum">
              <a:rPr/>
            </a:fld>
            <a:endParaRPr/>
          </a:p>
        </p:txBody>
      </p:sp>
      <p:grpSp>
        <p:nvGrpSpPr>
          <p:cNvPr id="14" name="组合 13"/>
          <p:cNvGrpSpPr/>
          <p:nvPr/>
        </p:nvGrpSpPr>
        <p:grpSpPr>
          <a:xfrm>
            <a:off x="6970395" y="2103120"/>
            <a:ext cx="6624320" cy="2054860"/>
            <a:chOff x="11403" y="5784"/>
            <a:chExt cx="10432" cy="3236"/>
          </a:xfrm>
        </p:grpSpPr>
        <p:sp>
          <p:nvSpPr>
            <p:cNvPr id="9" name="左大括号 8"/>
            <p:cNvSpPr/>
            <p:nvPr/>
          </p:nvSpPr>
          <p:spPr>
            <a:xfrm>
              <a:off x="11403" y="5784"/>
              <a:ext cx="724" cy="2944"/>
            </a:xfrm>
            <a:prstGeom prst="leftBrace">
              <a:avLst/>
            </a:prstGeom>
            <a:no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91439" tIns="45719" rIns="91439" bIns="45719" numCol="1" spcCol="38100" rtlCol="0" anchor="t" forceAA="0">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1" name="文本框 10"/>
            <p:cNvSpPr txBox="1"/>
            <p:nvPr/>
          </p:nvSpPr>
          <p:spPr>
            <a:xfrm>
              <a:off x="12127" y="5784"/>
              <a:ext cx="9282" cy="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2000" b="1" i="0" u="none" strike="noStrike" cap="none" spc="0" normalizeH="0" baseline="0">
                  <a:solidFill>
                    <a:srgbClr val="C00000"/>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input layer</a:t>
              </a:r>
              <a:r>
                <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——接收外部的原始数据</a:t>
              </a:r>
              <a:endPar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2" name="文本框 11"/>
            <p:cNvSpPr txBox="1"/>
            <p:nvPr/>
          </p:nvSpPr>
          <p:spPr>
            <a:xfrm>
              <a:off x="12167" y="6924"/>
              <a:ext cx="9643" cy="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2000" b="1" i="0" u="none" strike="noStrike" cap="none" spc="0" normalizeH="0" baseline="0">
                  <a:solidFill>
                    <a:srgbClr val="00B0F0"/>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Hidden Layers</a:t>
              </a:r>
              <a:r>
                <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——特征提取与模式识别</a:t>
              </a:r>
              <a:endPar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13" name="文本框 12"/>
            <p:cNvSpPr txBox="1"/>
            <p:nvPr/>
          </p:nvSpPr>
          <p:spPr>
            <a:xfrm>
              <a:off x="12127" y="8065"/>
              <a:ext cx="9708" cy="9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2000" b="1" i="0" u="none" strike="noStrike" cap="none" spc="0" normalizeH="0" baseline="0">
                  <a:solidFill>
                    <a:srgbClr val="92D050"/>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Output Layer</a:t>
              </a:r>
              <a:r>
                <a:rPr kumimoji="0" lang="en-US" altLang="zh-CN"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a:t>
              </a:r>
              <a:r>
                <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输出模型最终预测结果</a:t>
              </a:r>
              <a:endPar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graphicFrame>
        <p:nvGraphicFramePr>
          <p:cNvPr id="7" name="对象 6"/>
          <p:cNvGraphicFramePr/>
          <p:nvPr/>
        </p:nvGraphicFramePr>
        <p:xfrm>
          <a:off x="8234045" y="107315"/>
          <a:ext cx="1934210" cy="840740"/>
        </p:xfrm>
        <a:graphic>
          <a:graphicData uri="http://schemas.openxmlformats.org/presentationml/2006/ole">
            <mc:AlternateContent xmlns:mc="http://schemas.openxmlformats.org/markup-compatibility/2006">
              <mc:Choice xmlns:v="urn:schemas-microsoft-com:vml" Requires="v">
                <p:oleObj spid="_x0000_s2239" name="" r:id="rId1" imgW="2066290" imgH="827405" progId="Equation.DSMT4">
                  <p:embed/>
                </p:oleObj>
              </mc:Choice>
              <mc:Fallback>
                <p:oleObj name="" r:id="rId1" imgW="2066290" imgH="827405" progId="Equation.DSMT4">
                  <p:embed/>
                  <p:pic>
                    <p:nvPicPr>
                      <p:cNvPr id="0" name="图片 7"/>
                      <p:cNvPicPr/>
                      <p:nvPr/>
                    </p:nvPicPr>
                    <p:blipFill>
                      <a:blip r:embed="rId2"/>
                      <a:stretch>
                        <a:fillRect/>
                      </a:stretch>
                    </p:blipFill>
                    <p:spPr>
                      <a:xfrm>
                        <a:off x="8234045" y="107315"/>
                        <a:ext cx="1934210" cy="840740"/>
                      </a:xfrm>
                      <a:prstGeom prst="rect">
                        <a:avLst/>
                      </a:prstGeom>
                    </p:spPr>
                  </p:pic>
                </p:oleObj>
              </mc:Fallback>
            </mc:AlternateContent>
          </a:graphicData>
        </a:graphic>
      </p:graphicFrame>
      <p:graphicFrame>
        <p:nvGraphicFramePr>
          <p:cNvPr id="17" name="对象 16"/>
          <p:cNvGraphicFramePr/>
          <p:nvPr/>
        </p:nvGraphicFramePr>
        <p:xfrm>
          <a:off x="8670290" y="948055"/>
          <a:ext cx="1061085" cy="445770"/>
        </p:xfrm>
        <a:graphic>
          <a:graphicData uri="http://schemas.openxmlformats.org/presentationml/2006/ole">
            <mc:AlternateContent xmlns:mc="http://schemas.openxmlformats.org/markup-compatibility/2006">
              <mc:Choice xmlns:v="urn:schemas-microsoft-com:vml" Requires="v">
                <p:oleObj spid="_x0000_s2240" name="" r:id="rId3" imgW="1350645" imgH="507365" progId="Equation.DSMT4">
                  <p:embed/>
                </p:oleObj>
              </mc:Choice>
              <mc:Fallback>
                <p:oleObj name="" r:id="rId3" imgW="1350645" imgH="507365" progId="Equation.DSMT4">
                  <p:embed/>
                  <p:pic>
                    <p:nvPicPr>
                      <p:cNvPr id="0" name="图片 17"/>
                      <p:cNvPicPr/>
                      <p:nvPr/>
                    </p:nvPicPr>
                    <p:blipFill>
                      <a:blip r:embed="rId4"/>
                      <a:stretch>
                        <a:fillRect/>
                      </a:stretch>
                    </p:blipFill>
                    <p:spPr>
                      <a:xfrm>
                        <a:off x="8670290" y="948055"/>
                        <a:ext cx="1061085" cy="445770"/>
                      </a:xfrm>
                      <a:prstGeom prst="rect">
                        <a:avLst/>
                      </a:prstGeom>
                    </p:spPr>
                  </p:pic>
                </p:oleObj>
              </mc:Fallback>
            </mc:AlternateContent>
          </a:graphicData>
        </a:graphic>
      </p:graphicFrame>
      <p:grpSp>
        <p:nvGrpSpPr>
          <p:cNvPr id="85" name="组合 84"/>
          <p:cNvGrpSpPr/>
          <p:nvPr>
            <p:custDataLst>
              <p:tags r:id="rId5"/>
            </p:custDataLst>
          </p:nvPr>
        </p:nvGrpSpPr>
        <p:grpSpPr>
          <a:xfrm>
            <a:off x="758190" y="1551305"/>
            <a:ext cx="722630" cy="3712210"/>
            <a:chOff x="1904" y="3437"/>
            <a:chExt cx="1138" cy="5846"/>
          </a:xfrm>
        </p:grpSpPr>
        <p:sp>
          <p:nvSpPr>
            <p:cNvPr id="19" name="椭圆 18"/>
            <p:cNvSpPr/>
            <p:nvPr>
              <p:custDataLst>
                <p:tags r:id="rId6"/>
              </p:custDataLst>
            </p:nvPr>
          </p:nvSpPr>
          <p:spPr>
            <a:xfrm>
              <a:off x="1904" y="3437"/>
              <a:ext cx="1054" cy="993"/>
            </a:xfrm>
            <a:prstGeom prst="ellipse">
              <a:avLst/>
            </a:prstGeom>
            <a:solidFill>
              <a:srgbClr val="C0000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0" name="椭圆 19"/>
            <p:cNvSpPr/>
            <p:nvPr>
              <p:custDataLst>
                <p:tags r:id="rId7"/>
              </p:custDataLst>
            </p:nvPr>
          </p:nvSpPr>
          <p:spPr>
            <a:xfrm>
              <a:off x="1904" y="5701"/>
              <a:ext cx="1054" cy="993"/>
            </a:xfrm>
            <a:prstGeom prst="ellipse">
              <a:avLst/>
            </a:prstGeom>
            <a:solidFill>
              <a:srgbClr val="C0000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1" name="椭圆 20"/>
            <p:cNvSpPr/>
            <p:nvPr>
              <p:custDataLst>
                <p:tags r:id="rId8"/>
              </p:custDataLst>
            </p:nvPr>
          </p:nvSpPr>
          <p:spPr>
            <a:xfrm>
              <a:off x="1988" y="8291"/>
              <a:ext cx="1054" cy="993"/>
            </a:xfrm>
            <a:prstGeom prst="ellipse">
              <a:avLst/>
            </a:prstGeom>
            <a:solidFill>
              <a:srgbClr val="C0000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grpSp>
        <p:nvGrpSpPr>
          <p:cNvPr id="56" name="组合 55"/>
          <p:cNvGrpSpPr/>
          <p:nvPr>
            <p:custDataLst>
              <p:tags r:id="rId9"/>
            </p:custDataLst>
          </p:nvPr>
        </p:nvGrpSpPr>
        <p:grpSpPr>
          <a:xfrm>
            <a:off x="1427480" y="1882140"/>
            <a:ext cx="1552575" cy="3067050"/>
            <a:chOff x="2958" y="3958"/>
            <a:chExt cx="2445" cy="4830"/>
          </a:xfrm>
        </p:grpSpPr>
        <p:cxnSp>
          <p:nvCxnSpPr>
            <p:cNvPr id="35" name="直接箭头连接符 34"/>
            <p:cNvCxnSpPr>
              <a:endCxn id="25" idx="2"/>
            </p:cNvCxnSpPr>
            <p:nvPr>
              <p:custDataLst>
                <p:tags r:id="rId10"/>
              </p:custDataLst>
            </p:nvPr>
          </p:nvCxnSpPr>
          <p:spPr>
            <a:xfrm>
              <a:off x="2966" y="3958"/>
              <a:ext cx="2283" cy="3233"/>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39" name="直接箭头连接符 38"/>
            <p:cNvCxnSpPr>
              <a:stCxn id="20" idx="6"/>
              <a:endCxn id="25" idx="2"/>
            </p:cNvCxnSpPr>
            <p:nvPr>
              <p:custDataLst>
                <p:tags r:id="rId11"/>
              </p:custDataLst>
            </p:nvPr>
          </p:nvCxnSpPr>
          <p:spPr>
            <a:xfrm>
              <a:off x="2958" y="6198"/>
              <a:ext cx="2291" cy="993"/>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43" name="直接箭头连接符 42"/>
            <p:cNvCxnSpPr>
              <a:stCxn id="21" idx="6"/>
              <a:endCxn id="25" idx="3"/>
            </p:cNvCxnSpPr>
            <p:nvPr>
              <p:custDataLst>
                <p:tags r:id="rId12"/>
              </p:custDataLst>
            </p:nvPr>
          </p:nvCxnSpPr>
          <p:spPr>
            <a:xfrm flipV="1">
              <a:off x="3042" y="7542"/>
              <a:ext cx="2361" cy="1246"/>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55" name="组合 54"/>
          <p:cNvGrpSpPr/>
          <p:nvPr>
            <p:custDataLst>
              <p:tags r:id="rId13"/>
            </p:custDataLst>
          </p:nvPr>
        </p:nvGrpSpPr>
        <p:grpSpPr>
          <a:xfrm>
            <a:off x="1427480" y="1866900"/>
            <a:ext cx="1454785" cy="3877945"/>
            <a:chOff x="2958" y="3934"/>
            <a:chExt cx="2291" cy="6107"/>
          </a:xfrm>
        </p:grpSpPr>
        <p:cxnSp>
          <p:nvCxnSpPr>
            <p:cNvPr id="36" name="直接箭头连接符 35"/>
            <p:cNvCxnSpPr>
              <a:stCxn id="19" idx="6"/>
              <a:endCxn id="24" idx="2"/>
            </p:cNvCxnSpPr>
            <p:nvPr>
              <p:custDataLst>
                <p:tags r:id="rId14"/>
              </p:custDataLst>
            </p:nvPr>
          </p:nvCxnSpPr>
          <p:spPr>
            <a:xfrm>
              <a:off x="2958" y="3934"/>
              <a:ext cx="2291" cy="6107"/>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40" name="直接箭头连接符 39"/>
            <p:cNvCxnSpPr>
              <a:stCxn id="20" idx="6"/>
              <a:endCxn id="24" idx="2"/>
            </p:cNvCxnSpPr>
            <p:nvPr>
              <p:custDataLst>
                <p:tags r:id="rId15"/>
              </p:custDataLst>
            </p:nvPr>
          </p:nvCxnSpPr>
          <p:spPr>
            <a:xfrm>
              <a:off x="2958" y="6198"/>
              <a:ext cx="2291" cy="3843"/>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44" name="直接箭头连接符 43"/>
            <p:cNvCxnSpPr>
              <a:stCxn id="21" idx="6"/>
              <a:endCxn id="24" idx="2"/>
            </p:cNvCxnSpPr>
            <p:nvPr>
              <p:custDataLst>
                <p:tags r:id="rId16"/>
              </p:custDataLst>
            </p:nvPr>
          </p:nvCxnSpPr>
          <p:spPr>
            <a:xfrm>
              <a:off x="3042" y="8788"/>
              <a:ext cx="2207" cy="1253"/>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91" name="组合 90"/>
          <p:cNvGrpSpPr/>
          <p:nvPr/>
        </p:nvGrpSpPr>
        <p:grpSpPr>
          <a:xfrm>
            <a:off x="6668770" y="1318895"/>
            <a:ext cx="669290" cy="3759200"/>
            <a:chOff x="11212" y="3071"/>
            <a:chExt cx="1054" cy="5920"/>
          </a:xfrm>
        </p:grpSpPr>
        <p:sp>
          <p:nvSpPr>
            <p:cNvPr id="32" name="椭圆 31"/>
            <p:cNvSpPr/>
            <p:nvPr/>
          </p:nvSpPr>
          <p:spPr>
            <a:xfrm>
              <a:off x="11212" y="3071"/>
              <a:ext cx="1054" cy="993"/>
            </a:xfrm>
            <a:prstGeom prst="ellipse">
              <a:avLst/>
            </a:prstGeom>
            <a:solidFill>
              <a:schemeClr val="accent6"/>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45" name="椭圆 44"/>
            <p:cNvSpPr/>
            <p:nvPr/>
          </p:nvSpPr>
          <p:spPr>
            <a:xfrm>
              <a:off x="11212" y="7999"/>
              <a:ext cx="1054" cy="993"/>
            </a:xfrm>
            <a:prstGeom prst="ellipse">
              <a:avLst/>
            </a:prstGeom>
            <a:solidFill>
              <a:schemeClr val="accent6"/>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grpSp>
        <p:nvGrpSpPr>
          <p:cNvPr id="52" name="组合 51"/>
          <p:cNvGrpSpPr/>
          <p:nvPr>
            <p:custDataLst>
              <p:tags r:id="rId17"/>
            </p:custDataLst>
          </p:nvPr>
        </p:nvGrpSpPr>
        <p:grpSpPr>
          <a:xfrm>
            <a:off x="1427480" y="852805"/>
            <a:ext cx="1718945" cy="4096385"/>
            <a:chOff x="2958" y="2337"/>
            <a:chExt cx="2707" cy="6451"/>
          </a:xfrm>
        </p:grpSpPr>
        <p:cxnSp>
          <p:nvCxnSpPr>
            <p:cNvPr id="33" name="直接箭头连接符 32"/>
            <p:cNvCxnSpPr>
              <a:stCxn id="19" idx="6"/>
              <a:endCxn id="22" idx="2"/>
            </p:cNvCxnSpPr>
            <p:nvPr>
              <p:custDataLst>
                <p:tags r:id="rId18"/>
              </p:custDataLst>
            </p:nvPr>
          </p:nvCxnSpPr>
          <p:spPr>
            <a:xfrm flipV="1">
              <a:off x="2958" y="2337"/>
              <a:ext cx="2291" cy="1597"/>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37" name="直接箭头连接符 36"/>
            <p:cNvCxnSpPr>
              <a:stCxn id="20" idx="6"/>
              <a:endCxn id="22" idx="2"/>
            </p:cNvCxnSpPr>
            <p:nvPr>
              <p:custDataLst>
                <p:tags r:id="rId19"/>
              </p:custDataLst>
            </p:nvPr>
          </p:nvCxnSpPr>
          <p:spPr>
            <a:xfrm flipV="1">
              <a:off x="2958" y="2337"/>
              <a:ext cx="2291" cy="3861"/>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41" name="直接箭头连接符 40"/>
            <p:cNvCxnSpPr>
              <a:stCxn id="21" idx="6"/>
              <a:endCxn id="22" idx="3"/>
            </p:cNvCxnSpPr>
            <p:nvPr>
              <p:custDataLst>
                <p:tags r:id="rId20"/>
              </p:custDataLst>
            </p:nvPr>
          </p:nvCxnSpPr>
          <p:spPr>
            <a:xfrm flipV="1">
              <a:off x="3042" y="2688"/>
              <a:ext cx="2361" cy="610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46" name="文本框 45"/>
            <p:cNvSpPr txBox="1"/>
            <p:nvPr>
              <p:custDataLst>
                <p:tags r:id="rId21"/>
              </p:custDataLst>
            </p:nvPr>
          </p:nvSpPr>
          <p:spPr>
            <a:xfrm>
              <a:off x="3359" y="2848"/>
              <a:ext cx="595" cy="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w11</a:t>
              </a:r>
              <a:endPar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47" name="文本框 46"/>
            <p:cNvSpPr txBox="1"/>
            <p:nvPr>
              <p:custDataLst>
                <p:tags r:id="rId22"/>
              </p:custDataLst>
            </p:nvPr>
          </p:nvSpPr>
          <p:spPr>
            <a:xfrm>
              <a:off x="3954" y="3450"/>
              <a:ext cx="595" cy="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w1</a:t>
              </a:r>
              <a:r>
                <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2</a:t>
              </a:r>
              <a:endPar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48" name="文本框 47"/>
            <p:cNvSpPr txBox="1"/>
            <p:nvPr>
              <p:custDataLst>
                <p:tags r:id="rId23"/>
              </p:custDataLst>
            </p:nvPr>
          </p:nvSpPr>
          <p:spPr>
            <a:xfrm>
              <a:off x="5070" y="3198"/>
              <a:ext cx="595" cy="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w1</a:t>
              </a:r>
              <a:r>
                <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3</a:t>
              </a:r>
              <a:endPar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grpSp>
        <p:nvGrpSpPr>
          <p:cNvPr id="53" name="组合 52"/>
          <p:cNvGrpSpPr/>
          <p:nvPr>
            <p:custDataLst>
              <p:tags r:id="rId24"/>
            </p:custDataLst>
          </p:nvPr>
        </p:nvGrpSpPr>
        <p:grpSpPr>
          <a:xfrm>
            <a:off x="1427480" y="1828165"/>
            <a:ext cx="1612900" cy="3121025"/>
            <a:chOff x="2958" y="3873"/>
            <a:chExt cx="2540" cy="4915"/>
          </a:xfrm>
        </p:grpSpPr>
        <p:cxnSp>
          <p:nvCxnSpPr>
            <p:cNvPr id="34" name="直接箭头连接符 33"/>
            <p:cNvCxnSpPr>
              <a:stCxn id="19" idx="6"/>
              <a:endCxn id="26" idx="2"/>
            </p:cNvCxnSpPr>
            <p:nvPr>
              <p:custDataLst>
                <p:tags r:id="rId25"/>
              </p:custDataLst>
            </p:nvPr>
          </p:nvCxnSpPr>
          <p:spPr>
            <a:xfrm>
              <a:off x="2958" y="3934"/>
              <a:ext cx="2291" cy="83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38" name="直接箭头连接符 37"/>
            <p:cNvCxnSpPr>
              <a:stCxn id="20" idx="6"/>
              <a:endCxn id="26" idx="2"/>
            </p:cNvCxnSpPr>
            <p:nvPr>
              <p:custDataLst>
                <p:tags r:id="rId26"/>
              </p:custDataLst>
            </p:nvPr>
          </p:nvCxnSpPr>
          <p:spPr>
            <a:xfrm flipV="1">
              <a:off x="2958" y="4764"/>
              <a:ext cx="2291" cy="1434"/>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42" name="直接箭头连接符 41"/>
            <p:cNvCxnSpPr>
              <a:stCxn id="21" idx="6"/>
              <a:endCxn id="26" idx="3"/>
            </p:cNvCxnSpPr>
            <p:nvPr>
              <p:custDataLst>
                <p:tags r:id="rId27"/>
              </p:custDataLst>
            </p:nvPr>
          </p:nvCxnSpPr>
          <p:spPr>
            <a:xfrm flipV="1">
              <a:off x="3042" y="5115"/>
              <a:ext cx="2361" cy="3673"/>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49" name="文本框 48"/>
            <p:cNvSpPr txBox="1"/>
            <p:nvPr>
              <p:custDataLst>
                <p:tags r:id="rId28"/>
              </p:custDataLst>
            </p:nvPr>
          </p:nvSpPr>
          <p:spPr>
            <a:xfrm>
              <a:off x="3203" y="3873"/>
              <a:ext cx="595" cy="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w</a:t>
              </a:r>
              <a:r>
                <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21</a:t>
              </a:r>
              <a:endPar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50" name="文本框 49"/>
            <p:cNvSpPr txBox="1"/>
            <p:nvPr>
              <p:custDataLst>
                <p:tags r:id="rId29"/>
              </p:custDataLst>
            </p:nvPr>
          </p:nvSpPr>
          <p:spPr>
            <a:xfrm>
              <a:off x="4549" y="5005"/>
              <a:ext cx="595" cy="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w</a:t>
              </a:r>
              <a:r>
                <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22</a:t>
              </a:r>
              <a:endPar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51" name="文本框 50"/>
            <p:cNvSpPr txBox="1"/>
            <p:nvPr>
              <p:custDataLst>
                <p:tags r:id="rId30"/>
              </p:custDataLst>
            </p:nvPr>
          </p:nvSpPr>
          <p:spPr>
            <a:xfrm>
              <a:off x="4903" y="5701"/>
              <a:ext cx="595" cy="3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w</a:t>
              </a:r>
              <a:r>
                <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23</a:t>
              </a:r>
              <a:endParaRPr kumimoji="0" lang="en-US" altLang="zh-CN" sz="1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grpSp>
        <p:nvGrpSpPr>
          <p:cNvPr id="73" name="组合 72"/>
          <p:cNvGrpSpPr/>
          <p:nvPr>
            <p:custDataLst>
              <p:tags r:id="rId31"/>
            </p:custDataLst>
          </p:nvPr>
        </p:nvGrpSpPr>
        <p:grpSpPr>
          <a:xfrm>
            <a:off x="3551555" y="852805"/>
            <a:ext cx="1247775" cy="4892040"/>
            <a:chOff x="6303" y="2337"/>
            <a:chExt cx="1965" cy="7704"/>
          </a:xfrm>
        </p:grpSpPr>
        <p:cxnSp>
          <p:nvCxnSpPr>
            <p:cNvPr id="57" name="直接箭头连接符 56"/>
            <p:cNvCxnSpPr>
              <a:stCxn id="22" idx="6"/>
              <a:endCxn id="23" idx="2"/>
            </p:cNvCxnSpPr>
            <p:nvPr>
              <p:custDataLst>
                <p:tags r:id="rId32"/>
              </p:custDataLst>
            </p:nvPr>
          </p:nvCxnSpPr>
          <p:spPr>
            <a:xfrm>
              <a:off x="6303" y="2337"/>
              <a:ext cx="1965" cy="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1" name="直接箭头连接符 60"/>
            <p:cNvCxnSpPr>
              <a:stCxn id="26" idx="6"/>
            </p:cNvCxnSpPr>
            <p:nvPr>
              <p:custDataLst>
                <p:tags r:id="rId33"/>
              </p:custDataLst>
            </p:nvPr>
          </p:nvCxnSpPr>
          <p:spPr>
            <a:xfrm flipV="1">
              <a:off x="6303" y="2370"/>
              <a:ext cx="1910" cy="2394"/>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5" name="直接箭头连接符 64"/>
            <p:cNvCxnSpPr>
              <a:stCxn id="25" idx="6"/>
              <a:endCxn id="23" idx="2"/>
            </p:cNvCxnSpPr>
            <p:nvPr>
              <p:custDataLst>
                <p:tags r:id="rId34"/>
              </p:custDataLst>
            </p:nvPr>
          </p:nvCxnSpPr>
          <p:spPr>
            <a:xfrm flipV="1">
              <a:off x="6303" y="2337"/>
              <a:ext cx="1965" cy="4854"/>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9" name="直接箭头连接符 68"/>
            <p:cNvCxnSpPr>
              <a:stCxn id="24" idx="6"/>
            </p:cNvCxnSpPr>
            <p:nvPr>
              <p:custDataLst>
                <p:tags r:id="rId35"/>
              </p:custDataLst>
            </p:nvPr>
          </p:nvCxnSpPr>
          <p:spPr>
            <a:xfrm flipV="1">
              <a:off x="6303" y="2382"/>
              <a:ext cx="1947" cy="7659"/>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74" name="组合 73"/>
          <p:cNvGrpSpPr/>
          <p:nvPr>
            <p:custDataLst>
              <p:tags r:id="rId36"/>
            </p:custDataLst>
          </p:nvPr>
        </p:nvGrpSpPr>
        <p:grpSpPr>
          <a:xfrm>
            <a:off x="3551555" y="852805"/>
            <a:ext cx="1247775" cy="4894580"/>
            <a:chOff x="6303" y="2337"/>
            <a:chExt cx="1965" cy="7708"/>
          </a:xfrm>
        </p:grpSpPr>
        <p:cxnSp>
          <p:nvCxnSpPr>
            <p:cNvPr id="58" name="直接箭头连接符 57"/>
            <p:cNvCxnSpPr>
              <a:stCxn id="22" idx="6"/>
              <a:endCxn id="27" idx="2"/>
            </p:cNvCxnSpPr>
            <p:nvPr>
              <p:custDataLst>
                <p:tags r:id="rId37"/>
              </p:custDataLst>
            </p:nvPr>
          </p:nvCxnSpPr>
          <p:spPr>
            <a:xfrm>
              <a:off x="6303" y="2337"/>
              <a:ext cx="1965" cy="2427"/>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2" name="直接箭头连接符 61"/>
            <p:cNvCxnSpPr>
              <a:endCxn id="27" idx="2"/>
            </p:cNvCxnSpPr>
            <p:nvPr>
              <p:custDataLst>
                <p:tags r:id="rId38"/>
              </p:custDataLst>
            </p:nvPr>
          </p:nvCxnSpPr>
          <p:spPr>
            <a:xfrm flipV="1">
              <a:off x="6386" y="4764"/>
              <a:ext cx="1882" cy="22"/>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6" name="直接箭头连接符 65"/>
            <p:cNvCxnSpPr/>
            <p:nvPr>
              <p:custDataLst>
                <p:tags r:id="rId39"/>
              </p:custDataLst>
            </p:nvPr>
          </p:nvCxnSpPr>
          <p:spPr>
            <a:xfrm flipV="1">
              <a:off x="6337" y="4786"/>
              <a:ext cx="1889" cy="239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70" name="直接箭头连接符 69"/>
            <p:cNvCxnSpPr/>
            <p:nvPr>
              <p:custDataLst>
                <p:tags r:id="rId40"/>
              </p:custDataLst>
            </p:nvPr>
          </p:nvCxnSpPr>
          <p:spPr>
            <a:xfrm flipV="1">
              <a:off x="6399" y="4736"/>
              <a:ext cx="1851" cy="5309"/>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75" name="组合 74"/>
          <p:cNvGrpSpPr/>
          <p:nvPr>
            <p:custDataLst>
              <p:tags r:id="rId41"/>
            </p:custDataLst>
          </p:nvPr>
        </p:nvGrpSpPr>
        <p:grpSpPr>
          <a:xfrm>
            <a:off x="3551555" y="852805"/>
            <a:ext cx="1247775" cy="4918075"/>
            <a:chOff x="6303" y="2337"/>
            <a:chExt cx="1965" cy="7745"/>
          </a:xfrm>
        </p:grpSpPr>
        <p:cxnSp>
          <p:nvCxnSpPr>
            <p:cNvPr id="59" name="直接箭头连接符 58"/>
            <p:cNvCxnSpPr>
              <a:stCxn id="22" idx="6"/>
              <a:endCxn id="28" idx="2"/>
            </p:cNvCxnSpPr>
            <p:nvPr>
              <p:custDataLst>
                <p:tags r:id="rId42"/>
              </p:custDataLst>
            </p:nvPr>
          </p:nvCxnSpPr>
          <p:spPr>
            <a:xfrm>
              <a:off x="6303" y="2337"/>
              <a:ext cx="1965" cy="4854"/>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3" name="直接箭头连接符 62"/>
            <p:cNvCxnSpPr>
              <a:stCxn id="26" idx="6"/>
            </p:cNvCxnSpPr>
            <p:nvPr>
              <p:custDataLst>
                <p:tags r:id="rId43"/>
              </p:custDataLst>
            </p:nvPr>
          </p:nvCxnSpPr>
          <p:spPr>
            <a:xfrm>
              <a:off x="6303" y="4764"/>
              <a:ext cx="1959" cy="2388"/>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7" name="直接箭头连接符 66"/>
            <p:cNvCxnSpPr/>
            <p:nvPr>
              <p:custDataLst>
                <p:tags r:id="rId44"/>
              </p:custDataLst>
            </p:nvPr>
          </p:nvCxnSpPr>
          <p:spPr>
            <a:xfrm flipV="1">
              <a:off x="6337" y="7164"/>
              <a:ext cx="1925" cy="12"/>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71" name="直接箭头连接符 70"/>
            <p:cNvCxnSpPr/>
            <p:nvPr>
              <p:custDataLst>
                <p:tags r:id="rId45"/>
              </p:custDataLst>
            </p:nvPr>
          </p:nvCxnSpPr>
          <p:spPr>
            <a:xfrm flipV="1">
              <a:off x="6423" y="7152"/>
              <a:ext cx="1803" cy="293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76" name="组合 75"/>
          <p:cNvGrpSpPr/>
          <p:nvPr>
            <p:custDataLst>
              <p:tags r:id="rId46"/>
            </p:custDataLst>
          </p:nvPr>
        </p:nvGrpSpPr>
        <p:grpSpPr>
          <a:xfrm>
            <a:off x="3557905" y="866140"/>
            <a:ext cx="1166495" cy="4866005"/>
            <a:chOff x="6313" y="2358"/>
            <a:chExt cx="1837" cy="7663"/>
          </a:xfrm>
        </p:grpSpPr>
        <p:cxnSp>
          <p:nvCxnSpPr>
            <p:cNvPr id="60" name="直接箭头连接符 59"/>
            <p:cNvCxnSpPr>
              <a:endCxn id="29" idx="2"/>
            </p:cNvCxnSpPr>
            <p:nvPr>
              <p:custDataLst>
                <p:tags r:id="rId47"/>
              </p:custDataLst>
            </p:nvPr>
          </p:nvCxnSpPr>
          <p:spPr>
            <a:xfrm>
              <a:off x="6337" y="2358"/>
              <a:ext cx="1813" cy="7601"/>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4" name="直接箭头连接符 63"/>
            <p:cNvCxnSpPr/>
            <p:nvPr>
              <p:custDataLst>
                <p:tags r:id="rId48"/>
              </p:custDataLst>
            </p:nvPr>
          </p:nvCxnSpPr>
          <p:spPr>
            <a:xfrm>
              <a:off x="6313" y="4786"/>
              <a:ext cx="1827" cy="5149"/>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8" name="直接箭头连接符 67"/>
            <p:cNvCxnSpPr/>
            <p:nvPr>
              <p:custDataLst>
                <p:tags r:id="rId49"/>
              </p:custDataLst>
            </p:nvPr>
          </p:nvCxnSpPr>
          <p:spPr>
            <a:xfrm>
              <a:off x="6325" y="7164"/>
              <a:ext cx="1778" cy="2734"/>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72" name="直接箭头连接符 71"/>
            <p:cNvCxnSpPr>
              <a:endCxn id="29" idx="2"/>
            </p:cNvCxnSpPr>
            <p:nvPr>
              <p:custDataLst>
                <p:tags r:id="rId50"/>
              </p:custDataLst>
            </p:nvPr>
          </p:nvCxnSpPr>
          <p:spPr>
            <a:xfrm flipV="1">
              <a:off x="6350" y="9959"/>
              <a:ext cx="1800" cy="62"/>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101" name="组合 100"/>
          <p:cNvGrpSpPr/>
          <p:nvPr/>
        </p:nvGrpSpPr>
        <p:grpSpPr>
          <a:xfrm>
            <a:off x="5393690" y="852805"/>
            <a:ext cx="1275080" cy="4839970"/>
            <a:chOff x="9204" y="2337"/>
            <a:chExt cx="2008" cy="7622"/>
          </a:xfrm>
        </p:grpSpPr>
        <p:cxnSp>
          <p:nvCxnSpPr>
            <p:cNvPr id="77" name="直接箭头连接符 76"/>
            <p:cNvCxnSpPr>
              <a:stCxn id="23" idx="6"/>
              <a:endCxn id="32" idx="2"/>
            </p:cNvCxnSpPr>
            <p:nvPr/>
          </p:nvCxnSpPr>
          <p:spPr>
            <a:xfrm>
              <a:off x="9322" y="2337"/>
              <a:ext cx="1890" cy="1231"/>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78" name="直接箭头连接符 77"/>
            <p:cNvCxnSpPr>
              <a:stCxn id="27" idx="6"/>
              <a:endCxn id="32" idx="2"/>
            </p:cNvCxnSpPr>
            <p:nvPr/>
          </p:nvCxnSpPr>
          <p:spPr>
            <a:xfrm flipV="1">
              <a:off x="9322" y="3568"/>
              <a:ext cx="1890" cy="1196"/>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79" name="直接箭头连接符 78"/>
            <p:cNvCxnSpPr>
              <a:stCxn id="28" idx="6"/>
            </p:cNvCxnSpPr>
            <p:nvPr/>
          </p:nvCxnSpPr>
          <p:spPr>
            <a:xfrm flipV="1">
              <a:off x="9322" y="3650"/>
              <a:ext cx="1838" cy="3541"/>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80" name="直接箭头连接符 79"/>
            <p:cNvCxnSpPr>
              <a:stCxn id="29" idx="6"/>
            </p:cNvCxnSpPr>
            <p:nvPr/>
          </p:nvCxnSpPr>
          <p:spPr>
            <a:xfrm flipV="1">
              <a:off x="9204" y="3600"/>
              <a:ext cx="2006" cy="6359"/>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102" name="组合 101"/>
          <p:cNvGrpSpPr/>
          <p:nvPr/>
        </p:nvGrpSpPr>
        <p:grpSpPr>
          <a:xfrm>
            <a:off x="5297170" y="570865"/>
            <a:ext cx="1469390" cy="5147310"/>
            <a:chOff x="9052" y="1853"/>
            <a:chExt cx="2314" cy="8106"/>
          </a:xfrm>
        </p:grpSpPr>
        <p:cxnSp>
          <p:nvCxnSpPr>
            <p:cNvPr id="81" name="直接箭头连接符 80"/>
            <p:cNvCxnSpPr/>
            <p:nvPr/>
          </p:nvCxnSpPr>
          <p:spPr>
            <a:xfrm>
              <a:off x="9052" y="1853"/>
              <a:ext cx="2291" cy="6306"/>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82" name="直接箭头连接符 81"/>
            <p:cNvCxnSpPr>
              <a:stCxn id="27" idx="6"/>
            </p:cNvCxnSpPr>
            <p:nvPr/>
          </p:nvCxnSpPr>
          <p:spPr>
            <a:xfrm>
              <a:off x="9322" y="4724"/>
              <a:ext cx="2034" cy="3421"/>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83" name="直接箭头连接符 82"/>
            <p:cNvCxnSpPr>
              <a:stCxn id="28" idx="6"/>
              <a:endCxn id="45" idx="1"/>
            </p:cNvCxnSpPr>
            <p:nvPr/>
          </p:nvCxnSpPr>
          <p:spPr>
            <a:xfrm>
              <a:off x="9322" y="7191"/>
              <a:ext cx="2044" cy="953"/>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84" name="直接箭头连接符 83"/>
            <p:cNvCxnSpPr>
              <a:stCxn id="29" idx="6"/>
            </p:cNvCxnSpPr>
            <p:nvPr/>
          </p:nvCxnSpPr>
          <p:spPr>
            <a:xfrm flipV="1">
              <a:off x="9204" y="8140"/>
              <a:ext cx="2116" cy="1819"/>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grpSp>
      <p:grpSp>
        <p:nvGrpSpPr>
          <p:cNvPr id="100" name="组合 99"/>
          <p:cNvGrpSpPr/>
          <p:nvPr>
            <p:custDataLst>
              <p:tags r:id="rId51"/>
            </p:custDataLst>
          </p:nvPr>
        </p:nvGrpSpPr>
        <p:grpSpPr>
          <a:xfrm>
            <a:off x="2882265" y="537210"/>
            <a:ext cx="2586355" cy="5521960"/>
            <a:chOff x="5249" y="1840"/>
            <a:chExt cx="4073" cy="8696"/>
          </a:xfrm>
        </p:grpSpPr>
        <p:sp>
          <p:nvSpPr>
            <p:cNvPr id="22" name="椭圆 21"/>
            <p:cNvSpPr/>
            <p:nvPr>
              <p:custDataLst>
                <p:tags r:id="rId52"/>
              </p:custDataLst>
            </p:nvPr>
          </p:nvSpPr>
          <p:spPr>
            <a:xfrm>
              <a:off x="5249" y="1840"/>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4" name="椭圆 23"/>
            <p:cNvSpPr/>
            <p:nvPr>
              <p:custDataLst>
                <p:tags r:id="rId53"/>
              </p:custDataLst>
            </p:nvPr>
          </p:nvSpPr>
          <p:spPr>
            <a:xfrm>
              <a:off x="5249" y="9544"/>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6" name="椭圆 25"/>
            <p:cNvSpPr/>
            <p:nvPr>
              <p:custDataLst>
                <p:tags r:id="rId54"/>
              </p:custDataLst>
            </p:nvPr>
          </p:nvSpPr>
          <p:spPr>
            <a:xfrm>
              <a:off x="5249" y="4267"/>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5" name="椭圆 24"/>
            <p:cNvSpPr/>
            <p:nvPr>
              <p:custDataLst>
                <p:tags r:id="rId55"/>
              </p:custDataLst>
            </p:nvPr>
          </p:nvSpPr>
          <p:spPr>
            <a:xfrm>
              <a:off x="5249" y="6694"/>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3" name="椭圆 22"/>
            <p:cNvSpPr/>
            <p:nvPr>
              <p:custDataLst>
                <p:tags r:id="rId56"/>
              </p:custDataLst>
            </p:nvPr>
          </p:nvSpPr>
          <p:spPr>
            <a:xfrm>
              <a:off x="8268" y="1840"/>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7" name="椭圆 26"/>
            <p:cNvSpPr/>
            <p:nvPr>
              <p:custDataLst>
                <p:tags r:id="rId57"/>
              </p:custDataLst>
            </p:nvPr>
          </p:nvSpPr>
          <p:spPr>
            <a:xfrm>
              <a:off x="8268" y="4267"/>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8" name="椭圆 27"/>
            <p:cNvSpPr/>
            <p:nvPr>
              <p:custDataLst>
                <p:tags r:id="rId58"/>
              </p:custDataLst>
            </p:nvPr>
          </p:nvSpPr>
          <p:spPr>
            <a:xfrm>
              <a:off x="8268" y="6694"/>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9" name="椭圆 28"/>
            <p:cNvSpPr/>
            <p:nvPr>
              <p:custDataLst>
                <p:tags r:id="rId59"/>
              </p:custDataLst>
            </p:nvPr>
          </p:nvSpPr>
          <p:spPr>
            <a:xfrm>
              <a:off x="8150" y="9462"/>
              <a:ext cx="1054" cy="993"/>
            </a:xfrm>
            <a:prstGeom prst="ellipse">
              <a:avLst/>
            </a:prstGeom>
            <a:solidFill>
              <a:srgbClr val="00B0F0"/>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graphicFrame>
        <p:nvGraphicFramePr>
          <p:cNvPr id="105" name="对象 104"/>
          <p:cNvGraphicFramePr/>
          <p:nvPr/>
        </p:nvGraphicFramePr>
        <p:xfrm>
          <a:off x="2358390" y="-163830"/>
          <a:ext cx="3436620" cy="701040"/>
        </p:xfrm>
        <a:graphic>
          <a:graphicData uri="http://schemas.openxmlformats.org/presentationml/2006/ole">
            <mc:AlternateContent xmlns:mc="http://schemas.openxmlformats.org/markup-compatibility/2006">
              <mc:Choice xmlns:v="urn:schemas-microsoft-com:vml" Requires="v">
                <p:oleObj spid="_x0000_s2241" name="" r:id="rId60" imgW="2578100" imgH="452755" progId="Equation.DSMT4">
                  <p:embed/>
                </p:oleObj>
              </mc:Choice>
              <mc:Fallback>
                <p:oleObj name="" r:id="rId60" imgW="2578100" imgH="452755" progId="Equation.DSMT4">
                  <p:embed/>
                  <p:pic>
                    <p:nvPicPr>
                      <p:cNvPr id="0" name="图片 105"/>
                      <p:cNvPicPr/>
                      <p:nvPr/>
                    </p:nvPicPr>
                    <p:blipFill>
                      <a:blip r:embed="rId61"/>
                      <a:stretch>
                        <a:fillRect/>
                      </a:stretch>
                    </p:blipFill>
                    <p:spPr>
                      <a:xfrm>
                        <a:off x="2358390" y="-163830"/>
                        <a:ext cx="3436620" cy="701040"/>
                      </a:xfrm>
                      <a:prstGeom prst="rect">
                        <a:avLst/>
                      </a:prstGeom>
                    </p:spPr>
                  </p:pic>
                </p:oleObj>
              </mc:Fallback>
            </mc:AlternateContent>
          </a:graphicData>
        </a:graphic>
      </p:graphicFrame>
      <p:graphicFrame>
        <p:nvGraphicFramePr>
          <p:cNvPr id="107" name="对象 106"/>
          <p:cNvGraphicFramePr/>
          <p:nvPr/>
        </p:nvGraphicFramePr>
        <p:xfrm>
          <a:off x="979805" y="6159500"/>
          <a:ext cx="2166620" cy="716915"/>
        </p:xfrm>
        <a:graphic>
          <a:graphicData uri="http://schemas.openxmlformats.org/presentationml/2006/ole">
            <mc:AlternateContent xmlns:mc="http://schemas.openxmlformats.org/markup-compatibility/2006">
              <mc:Choice xmlns:v="urn:schemas-microsoft-com:vml" Requires="v">
                <p:oleObj spid="_x0000_s2242" name="" r:id="rId62" imgW="3305810" imgH="1132840" progId="Equation.DSMT4">
                  <p:embed/>
                </p:oleObj>
              </mc:Choice>
              <mc:Fallback>
                <p:oleObj name="" r:id="rId62" imgW="3305810" imgH="1132840" progId="Equation.DSMT4">
                  <p:embed/>
                  <p:pic>
                    <p:nvPicPr>
                      <p:cNvPr id="0" name="图片 107"/>
                      <p:cNvPicPr/>
                      <p:nvPr/>
                    </p:nvPicPr>
                    <p:blipFill>
                      <a:blip r:embed="rId63"/>
                      <a:stretch>
                        <a:fillRect/>
                      </a:stretch>
                    </p:blipFill>
                    <p:spPr>
                      <a:xfrm>
                        <a:off x="979805" y="6159500"/>
                        <a:ext cx="2166620" cy="716915"/>
                      </a:xfrm>
                      <a:prstGeom prst="rect">
                        <a:avLst/>
                      </a:prstGeom>
                    </p:spPr>
                  </p:pic>
                </p:oleObj>
              </mc:Fallback>
            </mc:AlternateContent>
          </a:graphicData>
        </a:graphic>
      </p:graphicFrame>
      <p:graphicFrame>
        <p:nvGraphicFramePr>
          <p:cNvPr id="109" name="对象 108"/>
          <p:cNvGraphicFramePr/>
          <p:nvPr/>
        </p:nvGraphicFramePr>
        <p:xfrm>
          <a:off x="3796030" y="6159500"/>
          <a:ext cx="3174365" cy="563880"/>
        </p:xfrm>
        <a:graphic>
          <a:graphicData uri="http://schemas.openxmlformats.org/presentationml/2006/ole">
            <mc:AlternateContent xmlns:mc="http://schemas.openxmlformats.org/markup-compatibility/2006">
              <mc:Choice xmlns:v="urn:schemas-microsoft-com:vml" Requires="v">
                <p:oleObj spid="_x0000_s2243" name="" r:id="rId64" imgW="3486785" imgH="614045" progId="Equation.DSMT4">
                  <p:embed/>
                </p:oleObj>
              </mc:Choice>
              <mc:Fallback>
                <p:oleObj name="" r:id="rId64" imgW="3486785" imgH="614045" progId="Equation.DSMT4">
                  <p:embed/>
                  <p:pic>
                    <p:nvPicPr>
                      <p:cNvPr id="0" name="图片 109"/>
                      <p:cNvPicPr/>
                      <p:nvPr/>
                    </p:nvPicPr>
                    <p:blipFill>
                      <a:blip r:embed="rId65"/>
                      <a:stretch>
                        <a:fillRect/>
                      </a:stretch>
                    </p:blipFill>
                    <p:spPr>
                      <a:xfrm>
                        <a:off x="3796030" y="6159500"/>
                        <a:ext cx="3174365" cy="563880"/>
                      </a:xfrm>
                      <a:prstGeom prst="rect">
                        <a:avLst/>
                      </a:prstGeom>
                    </p:spPr>
                  </p:pic>
                </p:oleObj>
              </mc:Fallback>
            </mc:AlternateContent>
          </a:graphicData>
        </a:graphic>
      </p:graphicFrame>
      <p:graphicFrame>
        <p:nvGraphicFramePr>
          <p:cNvPr id="111" name="对象 110"/>
          <p:cNvGraphicFramePr/>
          <p:nvPr/>
        </p:nvGraphicFramePr>
        <p:xfrm>
          <a:off x="6970395" y="5078730"/>
          <a:ext cx="4656455" cy="686435"/>
        </p:xfrm>
        <a:graphic>
          <a:graphicData uri="http://schemas.openxmlformats.org/presentationml/2006/ole">
            <mc:AlternateContent xmlns:mc="http://schemas.openxmlformats.org/markup-compatibility/2006">
              <mc:Choice xmlns:v="urn:schemas-microsoft-com:vml" Requires="v">
                <p:oleObj spid="_x0000_s2244" name="" r:id="rId66" imgW="6337300" imgH="1037590" progId="Equation.DSMT4">
                  <p:embed/>
                </p:oleObj>
              </mc:Choice>
              <mc:Fallback>
                <p:oleObj name="" r:id="rId66" imgW="6337300" imgH="1037590" progId="Equation.DSMT4">
                  <p:embed/>
                  <p:pic>
                    <p:nvPicPr>
                      <p:cNvPr id="0" name="图片 111"/>
                      <p:cNvPicPr/>
                      <p:nvPr/>
                    </p:nvPicPr>
                    <p:blipFill>
                      <a:blip r:embed="rId67"/>
                      <a:stretch>
                        <a:fillRect/>
                      </a:stretch>
                    </p:blipFill>
                    <p:spPr>
                      <a:xfrm>
                        <a:off x="6970395" y="5078730"/>
                        <a:ext cx="4656455" cy="686435"/>
                      </a:xfrm>
                      <a:prstGeom prst="rect">
                        <a:avLst/>
                      </a:prstGeom>
                    </p:spPr>
                  </p:pic>
                </p:oleObj>
              </mc:Fallback>
            </mc:AlternateContent>
          </a:graphicData>
        </a:graphic>
      </p:graphicFrame>
      <p:grpSp>
        <p:nvGrpSpPr>
          <p:cNvPr id="5" name="组合 4"/>
          <p:cNvGrpSpPr/>
          <p:nvPr/>
        </p:nvGrpSpPr>
        <p:grpSpPr>
          <a:xfrm>
            <a:off x="8562340" y="4407535"/>
            <a:ext cx="2680335" cy="718820"/>
            <a:chOff x="13484" y="6941"/>
            <a:chExt cx="4221" cy="1132"/>
          </a:xfrm>
        </p:grpSpPr>
        <p:cxnSp>
          <p:nvCxnSpPr>
            <p:cNvPr id="2" name="直接箭头连接符 1"/>
            <p:cNvCxnSpPr/>
            <p:nvPr/>
          </p:nvCxnSpPr>
          <p:spPr>
            <a:xfrm flipH="1">
              <a:off x="13484" y="7373"/>
              <a:ext cx="1575" cy="70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3" name="文本框 2"/>
            <p:cNvSpPr txBox="1"/>
            <p:nvPr/>
          </p:nvSpPr>
          <p:spPr>
            <a:xfrm>
              <a:off x="15455" y="6941"/>
              <a:ext cx="2251" cy="58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激活函数</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 calcmode="lin" valueType="num">
                                      <p:cBhvr additive="base">
                                        <p:cTn id="7" dur="500" fill="hold"/>
                                        <p:tgtEl>
                                          <p:spTgt spid="85"/>
                                        </p:tgtEl>
                                        <p:attrNameLst>
                                          <p:attrName>ppt_x</p:attrName>
                                        </p:attrNameLst>
                                      </p:cBhvr>
                                      <p:tavLst>
                                        <p:tav tm="0">
                                          <p:val>
                                            <p:strVal val="#ppt_x"/>
                                          </p:val>
                                        </p:tav>
                                        <p:tav tm="100000">
                                          <p:val>
                                            <p:strVal val="#ppt_x"/>
                                          </p:val>
                                        </p:tav>
                                      </p:tavLst>
                                    </p:anim>
                                    <p:anim calcmode="lin" valueType="num">
                                      <p:cBhvr additive="base">
                                        <p:cTn id="8" dur="500" fill="hold"/>
                                        <p:tgtEl>
                                          <p:spTgt spid="8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0"/>
                                        </p:tgtEl>
                                        <p:attrNameLst>
                                          <p:attrName>style.visibility</p:attrName>
                                        </p:attrNameLst>
                                      </p:cBhvr>
                                      <p:to>
                                        <p:strVal val="visible"/>
                                      </p:to>
                                    </p:set>
                                    <p:anim calcmode="lin" valueType="num">
                                      <p:cBhvr additive="base">
                                        <p:cTn id="13" dur="500" fill="hold"/>
                                        <p:tgtEl>
                                          <p:spTgt spid="100"/>
                                        </p:tgtEl>
                                        <p:attrNameLst>
                                          <p:attrName>ppt_x</p:attrName>
                                        </p:attrNameLst>
                                      </p:cBhvr>
                                      <p:tavLst>
                                        <p:tav tm="0">
                                          <p:val>
                                            <p:strVal val="#ppt_x"/>
                                          </p:val>
                                        </p:tav>
                                        <p:tav tm="100000">
                                          <p:val>
                                            <p:strVal val="#ppt_x"/>
                                          </p:val>
                                        </p:tav>
                                      </p:tavLst>
                                    </p:anim>
                                    <p:anim calcmode="lin" valueType="num">
                                      <p:cBhvr additive="base">
                                        <p:cTn id="14" dur="500" fill="hold"/>
                                        <p:tgtEl>
                                          <p:spTgt spid="100"/>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1"/>
                                        </p:tgtEl>
                                        <p:attrNameLst>
                                          <p:attrName>style.visibility</p:attrName>
                                        </p:attrNameLst>
                                      </p:cBhvr>
                                      <p:to>
                                        <p:strVal val="visible"/>
                                      </p:to>
                                    </p:set>
                                    <p:anim calcmode="lin" valueType="num">
                                      <p:cBhvr additive="base">
                                        <p:cTn id="19" dur="500" fill="hold"/>
                                        <p:tgtEl>
                                          <p:spTgt spid="91"/>
                                        </p:tgtEl>
                                        <p:attrNameLst>
                                          <p:attrName>ppt_x</p:attrName>
                                        </p:attrNameLst>
                                      </p:cBhvr>
                                      <p:tavLst>
                                        <p:tav tm="0">
                                          <p:val>
                                            <p:strVal val="#ppt_x"/>
                                          </p:val>
                                        </p:tav>
                                        <p:tav tm="100000">
                                          <p:val>
                                            <p:strVal val="#ppt_x"/>
                                          </p:val>
                                        </p:tav>
                                      </p:tavLst>
                                    </p:anim>
                                    <p:anim calcmode="lin" valueType="num">
                                      <p:cBhvr additive="base">
                                        <p:cTn id="20" dur="500" fill="hold"/>
                                        <p:tgtEl>
                                          <p:spTgt spid="91"/>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anim calcmode="lin" valueType="num">
                                      <p:cBhvr additive="base">
                                        <p:cTn id="29" dur="500" fill="hold"/>
                                        <p:tgtEl>
                                          <p:spTgt spid="52"/>
                                        </p:tgtEl>
                                        <p:attrNameLst>
                                          <p:attrName>ppt_x</p:attrName>
                                        </p:attrNameLst>
                                      </p:cBhvr>
                                      <p:tavLst>
                                        <p:tav tm="0">
                                          <p:val>
                                            <p:strVal val="#ppt_x"/>
                                          </p:val>
                                        </p:tav>
                                        <p:tav tm="100000">
                                          <p:val>
                                            <p:strVal val="#ppt_x"/>
                                          </p:val>
                                        </p:tav>
                                      </p:tavLst>
                                    </p:anim>
                                    <p:anim calcmode="lin" valueType="num">
                                      <p:cBhvr additive="base">
                                        <p:cTn id="30" dur="500" fill="hold"/>
                                        <p:tgtEl>
                                          <p:spTgt spid="52"/>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2" presetClass="entr" presetSubtype="4" fill="hold" nodeType="clickEffect">
                                  <p:stCondLst>
                                    <p:cond delay="0"/>
                                  </p:stCondLst>
                                  <p:childTnLst>
                                    <p:set>
                                      <p:cBhvr>
                                        <p:cTn id="34" dur="1" fill="hold">
                                          <p:stCondLst>
                                            <p:cond delay="0"/>
                                          </p:stCondLst>
                                        </p:cTn>
                                        <p:tgtEl>
                                          <p:spTgt spid="105"/>
                                        </p:tgtEl>
                                        <p:attrNameLst>
                                          <p:attrName>style.visibility</p:attrName>
                                        </p:attrNameLst>
                                      </p:cBhvr>
                                      <p:to>
                                        <p:strVal val="visible"/>
                                      </p:to>
                                    </p:set>
                                    <p:anim calcmode="lin" valueType="num">
                                      <p:cBhvr additive="base">
                                        <p:cTn id="35" dur="500"/>
                                        <p:tgtEl>
                                          <p:spTgt spid="105"/>
                                        </p:tgtEl>
                                        <p:attrNameLst>
                                          <p:attrName>ppt_y</p:attrName>
                                        </p:attrNameLst>
                                      </p:cBhvr>
                                      <p:tavLst>
                                        <p:tav tm="0">
                                          <p:val>
                                            <p:strVal val="#ppt_y+#ppt_h*1.125000"/>
                                          </p:val>
                                        </p:tav>
                                        <p:tav tm="100000">
                                          <p:val>
                                            <p:strVal val="#ppt_y"/>
                                          </p:val>
                                        </p:tav>
                                      </p:tavLst>
                                    </p:anim>
                                    <p:animEffect transition="in" filter="wipe(up)">
                                      <p:cBhvr>
                                        <p:cTn id="36" dur="500"/>
                                        <p:tgtEl>
                                          <p:spTgt spid="105"/>
                                        </p:tgtEl>
                                      </p:cBhvr>
                                    </p:animEffect>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nodeType="clickEffect">
                                  <p:stCondLst>
                                    <p:cond delay="0"/>
                                  </p:stCondLst>
                                  <p:childTnLst>
                                    <p:set>
                                      <p:cBhvr>
                                        <p:cTn id="40" dur="1" fill="hold">
                                          <p:stCondLst>
                                            <p:cond delay="0"/>
                                          </p:stCondLst>
                                        </p:cTn>
                                        <p:tgtEl>
                                          <p:spTgt spid="53"/>
                                        </p:tgtEl>
                                        <p:attrNameLst>
                                          <p:attrName>style.visibility</p:attrName>
                                        </p:attrNameLst>
                                      </p:cBhvr>
                                      <p:to>
                                        <p:strVal val="visible"/>
                                      </p:to>
                                    </p:set>
                                    <p:anim calcmode="lin" valueType="num">
                                      <p:cBhvr additive="base">
                                        <p:cTn id="41" dur="500" fill="hold"/>
                                        <p:tgtEl>
                                          <p:spTgt spid="53"/>
                                        </p:tgtEl>
                                        <p:attrNameLst>
                                          <p:attrName>ppt_x</p:attrName>
                                        </p:attrNameLst>
                                      </p:cBhvr>
                                      <p:tavLst>
                                        <p:tav tm="0">
                                          <p:val>
                                            <p:strVal val="#ppt_x"/>
                                          </p:val>
                                        </p:tav>
                                        <p:tav tm="100000">
                                          <p:val>
                                            <p:strVal val="#ppt_x"/>
                                          </p:val>
                                        </p:tav>
                                      </p:tavLst>
                                    </p:anim>
                                    <p:anim calcmode="lin" valueType="num">
                                      <p:cBhvr additive="base">
                                        <p:cTn id="42"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56"/>
                                        </p:tgtEl>
                                        <p:attrNameLst>
                                          <p:attrName>style.visibility</p:attrName>
                                        </p:attrNameLst>
                                      </p:cBhvr>
                                      <p:to>
                                        <p:strVal val="visible"/>
                                      </p:to>
                                    </p:set>
                                    <p:anim calcmode="lin" valueType="num">
                                      <p:cBhvr additive="base">
                                        <p:cTn id="47" dur="500" fill="hold"/>
                                        <p:tgtEl>
                                          <p:spTgt spid="56"/>
                                        </p:tgtEl>
                                        <p:attrNameLst>
                                          <p:attrName>ppt_x</p:attrName>
                                        </p:attrNameLst>
                                      </p:cBhvr>
                                      <p:tavLst>
                                        <p:tav tm="0">
                                          <p:val>
                                            <p:strVal val="#ppt_x"/>
                                          </p:val>
                                        </p:tav>
                                        <p:tav tm="100000">
                                          <p:val>
                                            <p:strVal val="#ppt_x"/>
                                          </p:val>
                                        </p:tav>
                                      </p:tavLst>
                                    </p:anim>
                                    <p:anim calcmode="lin" valueType="num">
                                      <p:cBhvr additive="base">
                                        <p:cTn id="48"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55"/>
                                        </p:tgtEl>
                                        <p:attrNameLst>
                                          <p:attrName>style.visibility</p:attrName>
                                        </p:attrNameLst>
                                      </p:cBhvr>
                                      <p:to>
                                        <p:strVal val="visible"/>
                                      </p:to>
                                    </p:set>
                                    <p:anim calcmode="lin" valueType="num">
                                      <p:cBhvr additive="base">
                                        <p:cTn id="53" dur="500" fill="hold"/>
                                        <p:tgtEl>
                                          <p:spTgt spid="55"/>
                                        </p:tgtEl>
                                        <p:attrNameLst>
                                          <p:attrName>ppt_x</p:attrName>
                                        </p:attrNameLst>
                                      </p:cBhvr>
                                      <p:tavLst>
                                        <p:tav tm="0">
                                          <p:val>
                                            <p:strVal val="#ppt_x"/>
                                          </p:val>
                                        </p:tav>
                                        <p:tav tm="100000">
                                          <p:val>
                                            <p:strVal val="#ppt_x"/>
                                          </p:val>
                                        </p:tav>
                                      </p:tavLst>
                                    </p:anim>
                                    <p:anim calcmode="lin" valueType="num">
                                      <p:cBhvr additive="base">
                                        <p:cTn id="54" dur="500" fill="hold"/>
                                        <p:tgtEl>
                                          <p:spTgt spid="55"/>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16" presetClass="entr" presetSubtype="21" fill="hold" nodeType="clickEffect">
                                  <p:stCondLst>
                                    <p:cond delay="0"/>
                                  </p:stCondLst>
                                  <p:childTnLst>
                                    <p:set>
                                      <p:cBhvr>
                                        <p:cTn id="58" dur="1" fill="hold">
                                          <p:stCondLst>
                                            <p:cond delay="0"/>
                                          </p:stCondLst>
                                        </p:cTn>
                                        <p:tgtEl>
                                          <p:spTgt spid="73"/>
                                        </p:tgtEl>
                                        <p:attrNameLst>
                                          <p:attrName>style.visibility</p:attrName>
                                        </p:attrNameLst>
                                      </p:cBhvr>
                                      <p:to>
                                        <p:strVal val="visible"/>
                                      </p:to>
                                    </p:set>
                                    <p:animEffect transition="in" filter="barn(inVertical)">
                                      <p:cBhvr>
                                        <p:cTn id="59" dur="500"/>
                                        <p:tgtEl>
                                          <p:spTgt spid="73"/>
                                        </p:tgtEl>
                                      </p:cBhvr>
                                    </p:animEffect>
                                  </p:childTnLst>
                                </p:cTn>
                              </p:par>
                            </p:childTnLst>
                          </p:cTn>
                        </p:par>
                      </p:childTnLst>
                    </p:cTn>
                  </p:par>
                  <p:par>
                    <p:cTn id="60" fill="hold">
                      <p:stCondLst>
                        <p:cond delay="indefinite"/>
                      </p:stCondLst>
                      <p:childTnLst>
                        <p:par>
                          <p:cTn id="61" fill="hold">
                            <p:stCondLst>
                              <p:cond delay="0"/>
                            </p:stCondLst>
                            <p:childTnLst>
                              <p:par>
                                <p:cTn id="62" presetID="16" presetClass="entr" presetSubtype="21" fill="hold" nodeType="clickEffect">
                                  <p:stCondLst>
                                    <p:cond delay="0"/>
                                  </p:stCondLst>
                                  <p:childTnLst>
                                    <p:set>
                                      <p:cBhvr>
                                        <p:cTn id="63" dur="1" fill="hold">
                                          <p:stCondLst>
                                            <p:cond delay="0"/>
                                          </p:stCondLst>
                                        </p:cTn>
                                        <p:tgtEl>
                                          <p:spTgt spid="74"/>
                                        </p:tgtEl>
                                        <p:attrNameLst>
                                          <p:attrName>style.visibility</p:attrName>
                                        </p:attrNameLst>
                                      </p:cBhvr>
                                      <p:to>
                                        <p:strVal val="visible"/>
                                      </p:to>
                                    </p:set>
                                    <p:animEffect transition="in" filter="barn(inVertical)">
                                      <p:cBhvr>
                                        <p:cTn id="64" dur="500"/>
                                        <p:tgtEl>
                                          <p:spTgt spid="74"/>
                                        </p:tgtEl>
                                      </p:cBhvr>
                                    </p:animEffect>
                                  </p:childTnLst>
                                </p:cTn>
                              </p:par>
                            </p:childTnLst>
                          </p:cTn>
                        </p:par>
                      </p:childTnLst>
                    </p:cTn>
                  </p:par>
                  <p:par>
                    <p:cTn id="65" fill="hold">
                      <p:stCondLst>
                        <p:cond delay="indefinite"/>
                      </p:stCondLst>
                      <p:childTnLst>
                        <p:par>
                          <p:cTn id="66" fill="hold">
                            <p:stCondLst>
                              <p:cond delay="0"/>
                            </p:stCondLst>
                            <p:childTnLst>
                              <p:par>
                                <p:cTn id="67" presetID="16" presetClass="entr" presetSubtype="21" fill="hold" nodeType="clickEffect">
                                  <p:stCondLst>
                                    <p:cond delay="0"/>
                                  </p:stCondLst>
                                  <p:childTnLst>
                                    <p:set>
                                      <p:cBhvr>
                                        <p:cTn id="68" dur="1" fill="hold">
                                          <p:stCondLst>
                                            <p:cond delay="0"/>
                                          </p:stCondLst>
                                        </p:cTn>
                                        <p:tgtEl>
                                          <p:spTgt spid="75"/>
                                        </p:tgtEl>
                                        <p:attrNameLst>
                                          <p:attrName>style.visibility</p:attrName>
                                        </p:attrNameLst>
                                      </p:cBhvr>
                                      <p:to>
                                        <p:strVal val="visible"/>
                                      </p:to>
                                    </p:set>
                                    <p:animEffect transition="in" filter="barn(inVertical)">
                                      <p:cBhvr>
                                        <p:cTn id="69" dur="500"/>
                                        <p:tgtEl>
                                          <p:spTgt spid="75"/>
                                        </p:tgtEl>
                                      </p:cBhvr>
                                    </p:animEffect>
                                  </p:childTnLst>
                                </p:cTn>
                              </p:par>
                            </p:childTnLst>
                          </p:cTn>
                        </p:par>
                      </p:childTnLst>
                    </p:cTn>
                  </p:par>
                  <p:par>
                    <p:cTn id="70" fill="hold">
                      <p:stCondLst>
                        <p:cond delay="indefinite"/>
                      </p:stCondLst>
                      <p:childTnLst>
                        <p:par>
                          <p:cTn id="71" fill="hold">
                            <p:stCondLst>
                              <p:cond delay="0"/>
                            </p:stCondLst>
                            <p:childTnLst>
                              <p:par>
                                <p:cTn id="72" presetID="16" presetClass="entr" presetSubtype="21" fill="hold" nodeType="clickEffect">
                                  <p:stCondLst>
                                    <p:cond delay="0"/>
                                  </p:stCondLst>
                                  <p:childTnLst>
                                    <p:set>
                                      <p:cBhvr>
                                        <p:cTn id="73" dur="1" fill="hold">
                                          <p:stCondLst>
                                            <p:cond delay="0"/>
                                          </p:stCondLst>
                                        </p:cTn>
                                        <p:tgtEl>
                                          <p:spTgt spid="76"/>
                                        </p:tgtEl>
                                        <p:attrNameLst>
                                          <p:attrName>style.visibility</p:attrName>
                                        </p:attrNameLst>
                                      </p:cBhvr>
                                      <p:to>
                                        <p:strVal val="visible"/>
                                      </p:to>
                                    </p:set>
                                    <p:animEffect transition="in" filter="barn(inVertical)">
                                      <p:cBhvr>
                                        <p:cTn id="74" dur="500"/>
                                        <p:tgtEl>
                                          <p:spTgt spid="76"/>
                                        </p:tgtEl>
                                      </p:cBhvr>
                                    </p:animEffect>
                                  </p:childTnLst>
                                </p:cTn>
                              </p:par>
                            </p:childTnLst>
                          </p:cTn>
                        </p:par>
                      </p:childTnLst>
                    </p:cTn>
                  </p:par>
                  <p:par>
                    <p:cTn id="75" fill="hold">
                      <p:stCondLst>
                        <p:cond delay="indefinite"/>
                      </p:stCondLst>
                      <p:childTnLst>
                        <p:par>
                          <p:cTn id="76" fill="hold">
                            <p:stCondLst>
                              <p:cond delay="0"/>
                            </p:stCondLst>
                            <p:childTnLst>
                              <p:par>
                                <p:cTn id="77" presetID="16" presetClass="entr" presetSubtype="21" fill="hold" nodeType="clickEffect">
                                  <p:stCondLst>
                                    <p:cond delay="0"/>
                                  </p:stCondLst>
                                  <p:childTnLst>
                                    <p:set>
                                      <p:cBhvr>
                                        <p:cTn id="78" dur="1" fill="hold">
                                          <p:stCondLst>
                                            <p:cond delay="0"/>
                                          </p:stCondLst>
                                        </p:cTn>
                                        <p:tgtEl>
                                          <p:spTgt spid="101"/>
                                        </p:tgtEl>
                                        <p:attrNameLst>
                                          <p:attrName>style.visibility</p:attrName>
                                        </p:attrNameLst>
                                      </p:cBhvr>
                                      <p:to>
                                        <p:strVal val="visible"/>
                                      </p:to>
                                    </p:set>
                                    <p:animEffect transition="in" filter="barn(inVertical)">
                                      <p:cBhvr>
                                        <p:cTn id="79" dur="500"/>
                                        <p:tgtEl>
                                          <p:spTgt spid="101"/>
                                        </p:tgtEl>
                                      </p:cBhvr>
                                    </p:animEffect>
                                  </p:childTnLst>
                                </p:cTn>
                              </p:par>
                            </p:childTnLst>
                          </p:cTn>
                        </p:par>
                      </p:childTnLst>
                    </p:cTn>
                  </p:par>
                  <p:par>
                    <p:cTn id="80" fill="hold">
                      <p:stCondLst>
                        <p:cond delay="indefinite"/>
                      </p:stCondLst>
                      <p:childTnLst>
                        <p:par>
                          <p:cTn id="81" fill="hold">
                            <p:stCondLst>
                              <p:cond delay="0"/>
                            </p:stCondLst>
                            <p:childTnLst>
                              <p:par>
                                <p:cTn id="82" presetID="16" presetClass="entr" presetSubtype="21" fill="hold" nodeType="clickEffect">
                                  <p:stCondLst>
                                    <p:cond delay="0"/>
                                  </p:stCondLst>
                                  <p:childTnLst>
                                    <p:set>
                                      <p:cBhvr>
                                        <p:cTn id="83" dur="1" fill="hold">
                                          <p:stCondLst>
                                            <p:cond delay="0"/>
                                          </p:stCondLst>
                                        </p:cTn>
                                        <p:tgtEl>
                                          <p:spTgt spid="102"/>
                                        </p:tgtEl>
                                        <p:attrNameLst>
                                          <p:attrName>style.visibility</p:attrName>
                                        </p:attrNameLst>
                                      </p:cBhvr>
                                      <p:to>
                                        <p:strVal val="visible"/>
                                      </p:to>
                                    </p:set>
                                    <p:animEffect transition="in" filter="barn(inVertical)">
                                      <p:cBhvr>
                                        <p:cTn id="84" dur="500"/>
                                        <p:tgtEl>
                                          <p:spTgt spid="102"/>
                                        </p:tgtEl>
                                      </p:cBhvr>
                                    </p:animEffect>
                                  </p:childTnLst>
                                </p:cTn>
                              </p:par>
                            </p:childTnLst>
                          </p:cTn>
                        </p:par>
                      </p:childTnLst>
                    </p:cTn>
                  </p:par>
                  <p:par>
                    <p:cTn id="85" fill="hold">
                      <p:stCondLst>
                        <p:cond delay="indefinite"/>
                      </p:stCondLst>
                      <p:childTnLst>
                        <p:par>
                          <p:cTn id="86" fill="hold">
                            <p:stCondLst>
                              <p:cond delay="0"/>
                            </p:stCondLst>
                            <p:childTnLst>
                              <p:par>
                                <p:cTn id="87" presetID="12" presetClass="entr" presetSubtype="4" fill="hold" nodeType="clickEffect">
                                  <p:stCondLst>
                                    <p:cond delay="0"/>
                                  </p:stCondLst>
                                  <p:childTnLst>
                                    <p:set>
                                      <p:cBhvr>
                                        <p:cTn id="88" dur="1" fill="hold">
                                          <p:stCondLst>
                                            <p:cond delay="0"/>
                                          </p:stCondLst>
                                        </p:cTn>
                                        <p:tgtEl>
                                          <p:spTgt spid="107"/>
                                        </p:tgtEl>
                                        <p:attrNameLst>
                                          <p:attrName>style.visibility</p:attrName>
                                        </p:attrNameLst>
                                      </p:cBhvr>
                                      <p:to>
                                        <p:strVal val="visible"/>
                                      </p:to>
                                    </p:set>
                                    <p:anim calcmode="lin" valueType="num">
                                      <p:cBhvr additive="base">
                                        <p:cTn id="89" dur="500"/>
                                        <p:tgtEl>
                                          <p:spTgt spid="107"/>
                                        </p:tgtEl>
                                        <p:attrNameLst>
                                          <p:attrName>ppt_y</p:attrName>
                                        </p:attrNameLst>
                                      </p:cBhvr>
                                      <p:tavLst>
                                        <p:tav tm="0">
                                          <p:val>
                                            <p:strVal val="#ppt_y+#ppt_h*1.125000"/>
                                          </p:val>
                                        </p:tav>
                                        <p:tav tm="100000">
                                          <p:val>
                                            <p:strVal val="#ppt_y"/>
                                          </p:val>
                                        </p:tav>
                                      </p:tavLst>
                                    </p:anim>
                                    <p:animEffect transition="in" filter="wipe(up)">
                                      <p:cBhvr>
                                        <p:cTn id="90" dur="500"/>
                                        <p:tgtEl>
                                          <p:spTgt spid="107"/>
                                        </p:tgtEl>
                                      </p:cBhvr>
                                    </p:animEffect>
                                  </p:childTnLst>
                                </p:cTn>
                              </p:par>
                            </p:childTnLst>
                          </p:cTn>
                        </p:par>
                      </p:childTnLst>
                    </p:cTn>
                  </p:par>
                  <p:par>
                    <p:cTn id="91" fill="hold">
                      <p:stCondLst>
                        <p:cond delay="indefinite"/>
                      </p:stCondLst>
                      <p:childTnLst>
                        <p:par>
                          <p:cTn id="92" fill="hold">
                            <p:stCondLst>
                              <p:cond delay="0"/>
                            </p:stCondLst>
                            <p:childTnLst>
                              <p:par>
                                <p:cTn id="93" presetID="12" presetClass="entr" presetSubtype="4" fill="hold" nodeType="clickEffect">
                                  <p:stCondLst>
                                    <p:cond delay="0"/>
                                  </p:stCondLst>
                                  <p:childTnLst>
                                    <p:set>
                                      <p:cBhvr>
                                        <p:cTn id="94" dur="1" fill="hold">
                                          <p:stCondLst>
                                            <p:cond delay="0"/>
                                          </p:stCondLst>
                                        </p:cTn>
                                        <p:tgtEl>
                                          <p:spTgt spid="109"/>
                                        </p:tgtEl>
                                        <p:attrNameLst>
                                          <p:attrName>style.visibility</p:attrName>
                                        </p:attrNameLst>
                                      </p:cBhvr>
                                      <p:to>
                                        <p:strVal val="visible"/>
                                      </p:to>
                                    </p:set>
                                    <p:anim calcmode="lin" valueType="num">
                                      <p:cBhvr additive="base">
                                        <p:cTn id="95" dur="500"/>
                                        <p:tgtEl>
                                          <p:spTgt spid="109"/>
                                        </p:tgtEl>
                                        <p:attrNameLst>
                                          <p:attrName>ppt_y</p:attrName>
                                        </p:attrNameLst>
                                      </p:cBhvr>
                                      <p:tavLst>
                                        <p:tav tm="0">
                                          <p:val>
                                            <p:strVal val="#ppt_y+#ppt_h*1.125000"/>
                                          </p:val>
                                        </p:tav>
                                        <p:tav tm="100000">
                                          <p:val>
                                            <p:strVal val="#ppt_y"/>
                                          </p:val>
                                        </p:tav>
                                      </p:tavLst>
                                    </p:anim>
                                    <p:animEffect transition="in" filter="wipe(up)">
                                      <p:cBhvr>
                                        <p:cTn id="96" dur="500"/>
                                        <p:tgtEl>
                                          <p:spTgt spid="109"/>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nodeType="clickEffect">
                                  <p:stCondLst>
                                    <p:cond delay="0"/>
                                  </p:stCondLst>
                                  <p:childTnLst>
                                    <p:set>
                                      <p:cBhvr>
                                        <p:cTn id="100" dur="1" fill="hold">
                                          <p:stCondLst>
                                            <p:cond delay="0"/>
                                          </p:stCondLst>
                                        </p:cTn>
                                        <p:tgtEl>
                                          <p:spTgt spid="111"/>
                                        </p:tgtEl>
                                        <p:attrNameLst>
                                          <p:attrName>style.visibility</p:attrName>
                                        </p:attrNameLst>
                                      </p:cBhvr>
                                      <p:to>
                                        <p:strVal val="visible"/>
                                      </p:to>
                                    </p:set>
                                    <p:anim calcmode="lin" valueType="num">
                                      <p:cBhvr additive="base">
                                        <p:cTn id="101" dur="500"/>
                                        <p:tgtEl>
                                          <p:spTgt spid="111"/>
                                        </p:tgtEl>
                                        <p:attrNameLst>
                                          <p:attrName>ppt_y</p:attrName>
                                        </p:attrNameLst>
                                      </p:cBhvr>
                                      <p:tavLst>
                                        <p:tav tm="0">
                                          <p:val>
                                            <p:strVal val="#ppt_y+#ppt_h*1.125000"/>
                                          </p:val>
                                        </p:tav>
                                        <p:tav tm="100000">
                                          <p:val>
                                            <p:strVal val="#ppt_y"/>
                                          </p:val>
                                        </p:tav>
                                      </p:tavLst>
                                    </p:anim>
                                    <p:animEffect transition="in" filter="wipe(up)">
                                      <p:cBhvr>
                                        <p:cTn id="102" dur="500"/>
                                        <p:tgtEl>
                                          <p:spTgt spid="111"/>
                                        </p:tgtEl>
                                      </p:cBhvr>
                                    </p:animEffect>
                                  </p:childTnLst>
                                </p:cTn>
                              </p:par>
                            </p:childTnLst>
                          </p:cTn>
                        </p:par>
                      </p:childTnLst>
                    </p:cTn>
                  </p:par>
                  <p:par>
                    <p:cTn id="103" fill="hold">
                      <p:stCondLst>
                        <p:cond delay="indefinite"/>
                      </p:stCondLst>
                      <p:childTnLst>
                        <p:par>
                          <p:cTn id="104" fill="hold">
                            <p:stCondLst>
                              <p:cond delay="0"/>
                            </p:stCondLst>
                            <p:childTnLst>
                              <p:par>
                                <p:cTn id="105" presetID="2" presetClass="entr" presetSubtype="4" fill="hold" nodeType="clickEffect">
                                  <p:stCondLst>
                                    <p:cond delay="0"/>
                                  </p:stCondLst>
                                  <p:childTnLst>
                                    <p:set>
                                      <p:cBhvr>
                                        <p:cTn id="106" dur="1" fill="hold">
                                          <p:stCondLst>
                                            <p:cond delay="0"/>
                                          </p:stCondLst>
                                        </p:cTn>
                                        <p:tgtEl>
                                          <p:spTgt spid="5"/>
                                        </p:tgtEl>
                                        <p:attrNameLst>
                                          <p:attrName>style.visibility</p:attrName>
                                        </p:attrNameLst>
                                      </p:cBhvr>
                                      <p:to>
                                        <p:strVal val="visible"/>
                                      </p:to>
                                    </p:set>
                                    <p:anim calcmode="lin" valueType="num">
                                      <p:cBhvr additive="base">
                                        <p:cTn id="107" dur="500" fill="hold"/>
                                        <p:tgtEl>
                                          <p:spTgt spid="5"/>
                                        </p:tgtEl>
                                        <p:attrNameLst>
                                          <p:attrName>ppt_x</p:attrName>
                                        </p:attrNameLst>
                                      </p:cBhvr>
                                      <p:tavLst>
                                        <p:tav tm="0">
                                          <p:val>
                                            <p:strVal val="#ppt_x"/>
                                          </p:val>
                                        </p:tav>
                                        <p:tav tm="100000">
                                          <p:val>
                                            <p:strVal val="#ppt_x"/>
                                          </p:val>
                                        </p:tav>
                                      </p:tavLst>
                                    </p:anim>
                                    <p:anim calcmode="lin" valueType="num">
                                      <p:cBhvr additive="base">
                                        <p:cTn id="10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962025" y="365125"/>
            <a:ext cx="10515600" cy="1325563"/>
          </a:xfrm>
        </p:spPr>
        <p:txBody>
          <a:bodyPr/>
          <a:lstStyle/>
          <a:p>
            <a:r>
              <a:rPr lang="zh-CN" altLang="en-US"/>
              <a:t>反向传播</a:t>
            </a:r>
            <a:endParaRPr lang="zh-CN" altLang="en-US"/>
          </a:p>
        </p:txBody>
      </p:sp>
      <p:sp>
        <p:nvSpPr>
          <p:cNvPr id="3" name="文本占位符 2"/>
          <p:cNvSpPr>
            <a:spLocks noGrp="1"/>
          </p:cNvSpPr>
          <p:nvPr>
            <p:ph type="body" idx="1"/>
          </p:nvPr>
        </p:nvSpPr>
        <p:spPr>
          <a:xfrm>
            <a:off x="838517" y="1522412"/>
            <a:ext cx="11140214" cy="4351338"/>
          </a:xfrm>
        </p:spPr>
        <p:txBody>
          <a:bodyPr/>
          <a:lstStyle/>
          <a:p>
            <a:pPr marL="0" indent="0">
              <a:buNone/>
            </a:pPr>
            <a:r>
              <a:rPr lang="zh-CN" altLang="en-US" dirty="0"/>
              <a:t>原理：复合函数的求导</a:t>
            </a:r>
            <a:endParaRPr lang="zh-CN" altLang="en-US" dirty="0"/>
          </a:p>
          <a:p>
            <a:pPr marL="0" indent="0">
              <a:buNone/>
            </a:pPr>
            <a:r>
              <a:rPr lang="zh-CN" altLang="en-US" dirty="0"/>
              <a:t>内层函数</a:t>
            </a:r>
            <a:r>
              <a:rPr lang="en-US" altLang="zh-CN" dirty="0"/>
              <a:t>                </a:t>
            </a:r>
            <a:r>
              <a:rPr lang="zh-CN" altLang="en-US" dirty="0"/>
              <a:t>外层函数</a:t>
            </a:r>
            <a:r>
              <a:rPr lang="en-US" altLang="zh-CN" dirty="0"/>
              <a:t>              </a:t>
            </a:r>
            <a:r>
              <a:rPr lang="zh-CN" altLang="en-US" dirty="0"/>
              <a:t>链式法则指出</a:t>
            </a:r>
            <a:endParaRPr lang="zh-CN" altLang="en-US" dirty="0"/>
          </a:p>
          <a:p>
            <a:pPr marL="0" indent="0">
              <a:buNone/>
            </a:pPr>
            <a:endParaRPr lang="en-US" altLang="zh-CN" dirty="0"/>
          </a:p>
          <a:p>
            <a:pPr marL="0" indent="0">
              <a:buNone/>
            </a:pPr>
            <a:r>
              <a:rPr lang="en-US" altLang="zh-CN" dirty="0"/>
              <a:t>example</a:t>
            </a:r>
            <a:r>
              <a:rPr lang="zh-CN" altLang="en-US" dirty="0"/>
              <a:t>：</a:t>
            </a:r>
            <a:r>
              <a:rPr lang="en-US" altLang="zh-CN" dirty="0"/>
              <a:t>                 </a:t>
            </a:r>
            <a:r>
              <a:rPr lang="zh-CN" altLang="en-US" dirty="0"/>
              <a:t>令</a:t>
            </a:r>
            <a:r>
              <a:rPr lang="en-US" altLang="zh-CN" dirty="0"/>
              <a:t>                </a:t>
            </a:r>
            <a:r>
              <a:rPr lang="zh-CN" altLang="en-US" dirty="0"/>
              <a:t>则</a:t>
            </a:r>
            <a:r>
              <a:rPr lang="en-US" altLang="zh-CN" dirty="0"/>
              <a:t>           </a:t>
            </a:r>
            <a:endParaRPr lang="en-US" altLang="zh-CN" dirty="0"/>
          </a:p>
          <a:p>
            <a:pPr marL="0" indent="0">
              <a:buNone/>
            </a:pPr>
            <a:r>
              <a:rPr lang="en-US" altLang="zh-CN" dirty="0"/>
              <a:t>                 </a:t>
            </a:r>
            <a:endParaRPr lang="en-US" altLang="zh-CN" dirty="0"/>
          </a:p>
          <a:p>
            <a:pPr marL="0" indent="0">
              <a:buNone/>
            </a:pPr>
            <a:r>
              <a:rPr lang="zh-CN" altLang="en-US" dirty="0"/>
              <a:t>外层函数对中间变量求导</a:t>
            </a:r>
            <a:r>
              <a:rPr lang="en-US" altLang="zh-CN" dirty="0"/>
              <a:t>             </a:t>
            </a:r>
            <a:r>
              <a:rPr lang="zh-CN" altLang="en-US" dirty="0"/>
              <a:t>中间变量对输入求导</a:t>
            </a:r>
            <a:r>
              <a:rPr lang="en-US" altLang="zh-CN" dirty="0"/>
              <a:t> </a:t>
            </a:r>
            <a:endParaRPr lang="en-US" altLang="zh-CN" dirty="0"/>
          </a:p>
          <a:p>
            <a:pPr marL="0" indent="0">
              <a:buNone/>
            </a:pPr>
            <a:endParaRPr lang="en-US" altLang="zh-CN" dirty="0"/>
          </a:p>
          <a:p>
            <a:pPr marL="0" indent="0">
              <a:buNone/>
            </a:pPr>
            <a:r>
              <a:rPr lang="zh-CN" altLang="en-US" dirty="0"/>
              <a:t>将局部导数相乘</a:t>
            </a:r>
            <a:r>
              <a:rPr lang="en-US" altLang="zh-CN" dirty="0"/>
              <a:t> </a:t>
            </a:r>
            <a:endParaRPr lang="en-US" altLang="zh-CN" dirty="0"/>
          </a:p>
        </p:txBody>
      </p:sp>
      <p:sp>
        <p:nvSpPr>
          <p:cNvPr id="4" name="灯片编号占位符 3"/>
          <p:cNvSpPr>
            <a:spLocks noGrp="1"/>
          </p:cNvSpPr>
          <p:nvPr>
            <p:ph type="sldNum" sz="quarter" idx="2"/>
          </p:nvPr>
        </p:nvSpPr>
        <p:spPr/>
        <p:txBody>
          <a:bodyPr/>
          <a:lstStyle/>
          <a:p>
            <a:fld id="{86CB4B4D-7CA3-9044-876B-883B54F8677D}" type="slidenum">
              <a:rPr/>
            </a:fld>
            <a:endParaRPr/>
          </a:p>
        </p:txBody>
      </p:sp>
      <p:graphicFrame>
        <p:nvGraphicFramePr>
          <p:cNvPr id="5" name="对象 4"/>
          <p:cNvGraphicFramePr/>
          <p:nvPr/>
        </p:nvGraphicFramePr>
        <p:xfrm>
          <a:off x="3912235" y="1481454"/>
          <a:ext cx="1491618" cy="451486"/>
        </p:xfrm>
        <a:graphic>
          <a:graphicData uri="http://schemas.openxmlformats.org/presentationml/2006/ole">
            <mc:AlternateContent xmlns:mc="http://schemas.openxmlformats.org/markup-compatibility/2006">
              <mc:Choice xmlns:v="urn:schemas-microsoft-com:vml" Requires="v">
                <p:oleObj spid="_x0000_s3428" name="" r:id="rId1" imgW="1355090" imgH="436880" progId="Equation.DSMT4">
                  <p:embed/>
                </p:oleObj>
              </mc:Choice>
              <mc:Fallback>
                <p:oleObj name="" r:id="rId1" imgW="1355090" imgH="436880" progId="Equation.DSMT4">
                  <p:embed/>
                  <p:pic>
                    <p:nvPicPr>
                      <p:cNvPr id="0" name="图片 5"/>
                      <p:cNvPicPr/>
                      <p:nvPr/>
                    </p:nvPicPr>
                    <p:blipFill>
                      <a:blip r:embed="rId2"/>
                      <a:stretch>
                        <a:fillRect/>
                      </a:stretch>
                    </p:blipFill>
                    <p:spPr>
                      <a:xfrm>
                        <a:off x="3912235" y="1481454"/>
                        <a:ext cx="1491618" cy="451486"/>
                      </a:xfrm>
                      <a:prstGeom prst="rect">
                        <a:avLst/>
                      </a:prstGeom>
                    </p:spPr>
                  </p:pic>
                </p:oleObj>
              </mc:Fallback>
            </mc:AlternateContent>
          </a:graphicData>
        </a:graphic>
      </p:graphicFrame>
      <p:graphicFrame>
        <p:nvGraphicFramePr>
          <p:cNvPr id="7" name="对象 6"/>
          <p:cNvGraphicFramePr/>
          <p:nvPr/>
        </p:nvGraphicFramePr>
        <p:xfrm>
          <a:off x="2216785" y="1932940"/>
          <a:ext cx="1106805" cy="451485"/>
        </p:xfrm>
        <a:graphic>
          <a:graphicData uri="http://schemas.openxmlformats.org/presentationml/2006/ole">
            <mc:AlternateContent xmlns:mc="http://schemas.openxmlformats.org/markup-compatibility/2006">
              <mc:Choice xmlns:v="urn:schemas-microsoft-com:vml" Requires="v">
                <p:oleObj spid="_x0000_s3429" name="" r:id="rId3" imgW="1188720" imgH="439420" progId="Equation.DSMT4">
                  <p:embed/>
                </p:oleObj>
              </mc:Choice>
              <mc:Fallback>
                <p:oleObj name="" r:id="rId3" imgW="1188720" imgH="439420" progId="Equation.DSMT4">
                  <p:embed/>
                  <p:pic>
                    <p:nvPicPr>
                      <p:cNvPr id="0" name="图片 7"/>
                      <p:cNvPicPr/>
                      <p:nvPr/>
                    </p:nvPicPr>
                    <p:blipFill>
                      <a:blip r:embed="rId4"/>
                      <a:stretch>
                        <a:fillRect/>
                      </a:stretch>
                    </p:blipFill>
                    <p:spPr>
                      <a:xfrm>
                        <a:off x="2216785" y="1932940"/>
                        <a:ext cx="1106805" cy="451485"/>
                      </a:xfrm>
                      <a:prstGeom prst="rect">
                        <a:avLst/>
                      </a:prstGeom>
                    </p:spPr>
                  </p:pic>
                </p:oleObj>
              </mc:Fallback>
            </mc:AlternateContent>
          </a:graphicData>
        </a:graphic>
      </p:graphicFrame>
      <p:graphicFrame>
        <p:nvGraphicFramePr>
          <p:cNvPr id="9" name="对象 8"/>
          <p:cNvGraphicFramePr/>
          <p:nvPr/>
        </p:nvGraphicFramePr>
        <p:xfrm>
          <a:off x="4813300" y="1932940"/>
          <a:ext cx="1106805" cy="451485"/>
        </p:xfrm>
        <a:graphic>
          <a:graphicData uri="http://schemas.openxmlformats.org/presentationml/2006/ole">
            <mc:AlternateContent xmlns:mc="http://schemas.openxmlformats.org/markup-compatibility/2006">
              <mc:Choice xmlns:v="urn:schemas-microsoft-com:vml" Requires="v">
                <p:oleObj spid="_x0000_s3430" name="" r:id="rId5" imgW="1152525" imgH="439420" progId="Equation.DSMT4">
                  <p:embed/>
                </p:oleObj>
              </mc:Choice>
              <mc:Fallback>
                <p:oleObj name="" r:id="rId5" imgW="1152525" imgH="439420" progId="Equation.DSMT4">
                  <p:embed/>
                  <p:pic>
                    <p:nvPicPr>
                      <p:cNvPr id="0" name="图片 9"/>
                      <p:cNvPicPr/>
                      <p:nvPr/>
                    </p:nvPicPr>
                    <p:blipFill>
                      <a:blip r:embed="rId6"/>
                      <a:stretch>
                        <a:fillRect/>
                      </a:stretch>
                    </p:blipFill>
                    <p:spPr>
                      <a:xfrm>
                        <a:off x="4813300" y="1932940"/>
                        <a:ext cx="1106805" cy="451485"/>
                      </a:xfrm>
                      <a:prstGeom prst="rect">
                        <a:avLst/>
                      </a:prstGeom>
                    </p:spPr>
                  </p:pic>
                </p:oleObj>
              </mc:Fallback>
            </mc:AlternateContent>
          </a:graphicData>
        </a:graphic>
      </p:graphicFrame>
      <p:graphicFrame>
        <p:nvGraphicFramePr>
          <p:cNvPr id="13" name="对象 12"/>
          <p:cNvGraphicFramePr/>
          <p:nvPr/>
        </p:nvGraphicFramePr>
        <p:xfrm>
          <a:off x="7915910" y="1733550"/>
          <a:ext cx="1911985" cy="892810"/>
        </p:xfrm>
        <a:graphic>
          <a:graphicData uri="http://schemas.openxmlformats.org/presentationml/2006/ole">
            <mc:AlternateContent xmlns:mc="http://schemas.openxmlformats.org/markup-compatibility/2006">
              <mc:Choice xmlns:v="urn:schemas-microsoft-com:vml" Requires="v">
                <p:oleObj spid="_x0000_s3431" name="" r:id="rId7" imgW="1226185" imgH="668020" progId="Equation.DSMT4">
                  <p:embed/>
                </p:oleObj>
              </mc:Choice>
              <mc:Fallback>
                <p:oleObj name="" r:id="rId7" imgW="1226185" imgH="668020" progId="Equation.DSMT4">
                  <p:embed/>
                  <p:pic>
                    <p:nvPicPr>
                      <p:cNvPr id="0" name="图片 13"/>
                      <p:cNvPicPr/>
                      <p:nvPr/>
                    </p:nvPicPr>
                    <p:blipFill>
                      <a:blip r:embed="rId8"/>
                      <a:stretch>
                        <a:fillRect/>
                      </a:stretch>
                    </p:blipFill>
                    <p:spPr>
                      <a:xfrm>
                        <a:off x="7915910" y="1733550"/>
                        <a:ext cx="1911985" cy="892810"/>
                      </a:xfrm>
                      <a:prstGeom prst="rect">
                        <a:avLst/>
                      </a:prstGeom>
                    </p:spPr>
                  </p:pic>
                </p:oleObj>
              </mc:Fallback>
            </mc:AlternateContent>
          </a:graphicData>
        </a:graphic>
      </p:graphicFrame>
      <p:graphicFrame>
        <p:nvGraphicFramePr>
          <p:cNvPr id="15" name="对象 14"/>
          <p:cNvGraphicFramePr/>
          <p:nvPr/>
        </p:nvGraphicFramePr>
        <p:xfrm>
          <a:off x="2420617" y="2842894"/>
          <a:ext cx="1491618" cy="494031"/>
        </p:xfrm>
        <a:graphic>
          <a:graphicData uri="http://schemas.openxmlformats.org/presentationml/2006/ole">
            <mc:AlternateContent xmlns:mc="http://schemas.openxmlformats.org/markup-compatibility/2006">
              <mc:Choice xmlns:v="urn:schemas-microsoft-com:vml" Requires="v">
                <p:oleObj spid="_x0000_s3432" name="" r:id="rId9" imgW="1350645" imgH="458470" progId="Equation.DSMT4">
                  <p:embed/>
                </p:oleObj>
              </mc:Choice>
              <mc:Fallback>
                <p:oleObj name="" r:id="rId9" imgW="1350645" imgH="458470" progId="Equation.DSMT4">
                  <p:embed/>
                  <p:pic>
                    <p:nvPicPr>
                      <p:cNvPr id="0" name="图片 15"/>
                      <p:cNvPicPr/>
                      <p:nvPr/>
                    </p:nvPicPr>
                    <p:blipFill>
                      <a:blip r:embed="rId10"/>
                      <a:stretch>
                        <a:fillRect/>
                      </a:stretch>
                    </p:blipFill>
                    <p:spPr>
                      <a:xfrm>
                        <a:off x="2420617" y="2842894"/>
                        <a:ext cx="1491618" cy="494031"/>
                      </a:xfrm>
                      <a:prstGeom prst="rect">
                        <a:avLst/>
                      </a:prstGeom>
                    </p:spPr>
                  </p:pic>
                </p:oleObj>
              </mc:Fallback>
            </mc:AlternateContent>
          </a:graphicData>
        </a:graphic>
      </p:graphicFrame>
      <p:graphicFrame>
        <p:nvGraphicFramePr>
          <p:cNvPr id="17" name="对象 16"/>
          <p:cNvGraphicFramePr/>
          <p:nvPr/>
        </p:nvGraphicFramePr>
        <p:xfrm>
          <a:off x="4389121" y="2897823"/>
          <a:ext cx="1106806" cy="406717"/>
        </p:xfrm>
        <a:graphic>
          <a:graphicData uri="http://schemas.openxmlformats.org/presentationml/2006/ole">
            <mc:AlternateContent xmlns:mc="http://schemas.openxmlformats.org/markup-compatibility/2006">
              <mc:Choice xmlns:v="urn:schemas-microsoft-com:vml" Requires="v">
                <p:oleObj spid="_x0000_s3433" name="" r:id="rId11" imgW="1068070" imgH="382270" progId="Equation.DSMT4">
                  <p:embed/>
                </p:oleObj>
              </mc:Choice>
              <mc:Fallback>
                <p:oleObj name="" r:id="rId11" imgW="1068070" imgH="382270" progId="Equation.DSMT4">
                  <p:embed/>
                  <p:pic>
                    <p:nvPicPr>
                      <p:cNvPr id="0" name="图片 17"/>
                      <p:cNvPicPr/>
                      <p:nvPr/>
                    </p:nvPicPr>
                    <p:blipFill>
                      <a:blip r:embed="rId12"/>
                      <a:stretch>
                        <a:fillRect/>
                      </a:stretch>
                    </p:blipFill>
                    <p:spPr>
                      <a:xfrm>
                        <a:off x="4389121" y="2897823"/>
                        <a:ext cx="1106806" cy="406717"/>
                      </a:xfrm>
                      <a:prstGeom prst="rect">
                        <a:avLst/>
                      </a:prstGeom>
                    </p:spPr>
                  </p:pic>
                </p:oleObj>
              </mc:Fallback>
            </mc:AlternateContent>
          </a:graphicData>
        </a:graphic>
      </p:graphicFrame>
      <p:graphicFrame>
        <p:nvGraphicFramePr>
          <p:cNvPr id="19" name="对象 18"/>
          <p:cNvGraphicFramePr/>
          <p:nvPr/>
        </p:nvGraphicFramePr>
        <p:xfrm>
          <a:off x="6055995" y="2766060"/>
          <a:ext cx="955675" cy="538480"/>
        </p:xfrm>
        <a:graphic>
          <a:graphicData uri="http://schemas.openxmlformats.org/presentationml/2006/ole">
            <mc:AlternateContent xmlns:mc="http://schemas.openxmlformats.org/markup-compatibility/2006">
              <mc:Choice xmlns:v="urn:schemas-microsoft-com:vml" Requires="v">
                <p:oleObj spid="_x0000_s3434" name="" r:id="rId13" imgW="833120" imgH="509905" progId="Equation.DSMT4">
                  <p:embed/>
                </p:oleObj>
              </mc:Choice>
              <mc:Fallback>
                <p:oleObj name="" r:id="rId13" imgW="833120" imgH="509905" progId="Equation.DSMT4">
                  <p:embed/>
                  <p:pic>
                    <p:nvPicPr>
                      <p:cNvPr id="0" name="图片 19"/>
                      <p:cNvPicPr/>
                      <p:nvPr/>
                    </p:nvPicPr>
                    <p:blipFill>
                      <a:blip r:embed="rId14"/>
                      <a:stretch>
                        <a:fillRect/>
                      </a:stretch>
                    </p:blipFill>
                    <p:spPr>
                      <a:xfrm>
                        <a:off x="6055995" y="2766060"/>
                        <a:ext cx="955675" cy="538480"/>
                      </a:xfrm>
                      <a:prstGeom prst="rect">
                        <a:avLst/>
                      </a:prstGeom>
                    </p:spPr>
                  </p:pic>
                </p:oleObj>
              </mc:Fallback>
            </mc:AlternateContent>
          </a:graphicData>
        </a:graphic>
      </p:graphicFrame>
      <p:graphicFrame>
        <p:nvGraphicFramePr>
          <p:cNvPr id="21" name="对象 20"/>
          <p:cNvGraphicFramePr/>
          <p:nvPr/>
        </p:nvGraphicFramePr>
        <p:xfrm>
          <a:off x="4332605" y="3591560"/>
          <a:ext cx="1011555" cy="850265"/>
        </p:xfrm>
        <a:graphic>
          <a:graphicData uri="http://schemas.openxmlformats.org/presentationml/2006/ole">
            <mc:AlternateContent xmlns:mc="http://schemas.openxmlformats.org/markup-compatibility/2006">
              <mc:Choice xmlns:v="urn:schemas-microsoft-com:vml" Requires="v">
                <p:oleObj spid="_x0000_s3435" name="" r:id="rId15" imgW="1076960" imgH="845820" progId="Equation.DSMT4">
                  <p:embed/>
                </p:oleObj>
              </mc:Choice>
              <mc:Fallback>
                <p:oleObj name="" r:id="rId15" imgW="1076960" imgH="845820" progId="Equation.DSMT4">
                  <p:embed/>
                  <p:pic>
                    <p:nvPicPr>
                      <p:cNvPr id="0" name="图片 21"/>
                      <p:cNvPicPr/>
                      <p:nvPr/>
                    </p:nvPicPr>
                    <p:blipFill>
                      <a:blip r:embed="rId16"/>
                      <a:stretch>
                        <a:fillRect/>
                      </a:stretch>
                    </p:blipFill>
                    <p:spPr>
                      <a:xfrm>
                        <a:off x="4332605" y="3591560"/>
                        <a:ext cx="1011555" cy="850265"/>
                      </a:xfrm>
                      <a:prstGeom prst="rect">
                        <a:avLst/>
                      </a:prstGeom>
                    </p:spPr>
                  </p:pic>
                </p:oleObj>
              </mc:Fallback>
            </mc:AlternateContent>
          </a:graphicData>
        </a:graphic>
      </p:graphicFrame>
      <p:graphicFrame>
        <p:nvGraphicFramePr>
          <p:cNvPr id="23" name="对象 22"/>
          <p:cNvGraphicFramePr/>
          <p:nvPr/>
        </p:nvGraphicFramePr>
        <p:xfrm>
          <a:off x="8307070" y="3591560"/>
          <a:ext cx="1009650" cy="850265"/>
        </p:xfrm>
        <a:graphic>
          <a:graphicData uri="http://schemas.openxmlformats.org/presentationml/2006/ole">
            <mc:AlternateContent xmlns:mc="http://schemas.openxmlformats.org/markup-compatibility/2006">
              <mc:Choice xmlns:v="urn:schemas-microsoft-com:vml" Requires="v">
                <p:oleObj spid="_x0000_s3436" name="" r:id="rId17" imgW="775970" imgH="681355" progId="Equation.DSMT4">
                  <p:embed/>
                </p:oleObj>
              </mc:Choice>
              <mc:Fallback>
                <p:oleObj name="" r:id="rId17" imgW="775970" imgH="681355" progId="Equation.DSMT4">
                  <p:embed/>
                  <p:pic>
                    <p:nvPicPr>
                      <p:cNvPr id="0" name="图片 23"/>
                      <p:cNvPicPr/>
                      <p:nvPr/>
                    </p:nvPicPr>
                    <p:blipFill>
                      <a:blip r:embed="rId18"/>
                      <a:stretch>
                        <a:fillRect/>
                      </a:stretch>
                    </p:blipFill>
                    <p:spPr>
                      <a:xfrm>
                        <a:off x="8307070" y="3591560"/>
                        <a:ext cx="1009650" cy="850265"/>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071013" y="4531678"/>
          <a:ext cx="3641736" cy="803910"/>
        </p:xfrm>
        <a:graphic>
          <a:graphicData uri="http://schemas.openxmlformats.org/presentationml/2006/ole">
            <mc:AlternateContent xmlns:mc="http://schemas.openxmlformats.org/markup-compatibility/2006">
              <mc:Choice xmlns:v="urn:schemas-microsoft-com:vml" Requires="v">
                <p:oleObj spid="_x0000_s3437" name="Equation" r:id="rId19" imgW="1784985" imgH="398780" progId="Equation.DSMT4">
                  <p:embed/>
                </p:oleObj>
              </mc:Choice>
              <mc:Fallback>
                <p:oleObj name="Equation" r:id="rId19" imgW="1784985" imgH="398780" progId="Equation.DSMT4">
                  <p:embed/>
                  <p:pic>
                    <p:nvPicPr>
                      <p:cNvPr id="0" name="图片 3124"/>
                      <p:cNvPicPr/>
                      <p:nvPr/>
                    </p:nvPicPr>
                    <p:blipFill>
                      <a:blip r:embed="rId20"/>
                      <a:stretch>
                        <a:fillRect/>
                      </a:stretch>
                    </p:blipFill>
                    <p:spPr>
                      <a:xfrm>
                        <a:off x="3071013" y="4531678"/>
                        <a:ext cx="3641736" cy="80391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3071013" y="5367814"/>
          <a:ext cx="3225492" cy="820896"/>
        </p:xfrm>
        <a:graphic>
          <a:graphicData uri="http://schemas.openxmlformats.org/presentationml/2006/ole">
            <mc:AlternateContent xmlns:mc="http://schemas.openxmlformats.org/markup-compatibility/2006">
              <mc:Choice xmlns:v="urn:schemas-microsoft-com:vml" Requires="v">
                <p:oleObj spid="_x0000_s3438" name="Equation" r:id="rId21" imgW="1556385" imgH="398780" progId="Equation.DSMT4">
                  <p:embed/>
                </p:oleObj>
              </mc:Choice>
              <mc:Fallback>
                <p:oleObj name="Equation" r:id="rId21" imgW="1556385" imgH="398780" progId="Equation.DSMT4">
                  <p:embed/>
                  <p:pic>
                    <p:nvPicPr>
                      <p:cNvPr id="0" name="图片 3125"/>
                      <p:cNvPicPr/>
                      <p:nvPr/>
                    </p:nvPicPr>
                    <p:blipFill>
                      <a:blip r:embed="rId22"/>
                      <a:stretch>
                        <a:fillRect/>
                      </a:stretch>
                    </p:blipFill>
                    <p:spPr>
                      <a:xfrm>
                        <a:off x="3071013" y="5367814"/>
                        <a:ext cx="3225492" cy="820896"/>
                      </a:xfrm>
                      <a:prstGeom prst="rect">
                        <a:avLst/>
                      </a:prstGeom>
                    </p:spPr>
                  </p:pic>
                </p:oleObj>
              </mc:Fallback>
            </mc:AlternateContent>
          </a:graphicData>
        </a:graphic>
      </p:graphicFrame>
      <p:sp>
        <p:nvSpPr>
          <p:cNvPr id="11" name="矩形 10"/>
          <p:cNvSpPr/>
          <p:nvPr/>
        </p:nvSpPr>
        <p:spPr>
          <a:xfrm>
            <a:off x="7867627" y="1579086"/>
            <a:ext cx="2326990" cy="1375411"/>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反向传播</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498332" y="1452578"/>
            <a:ext cx="7195336" cy="5040297"/>
          </a:xfrm>
          <a:prstGeom prst="rect">
            <a:avLst/>
          </a:prstGeom>
        </p:spPr>
      </p:pic>
    </p:spTree>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0" y="0"/>
            <a:ext cx="4004254" cy="3039964"/>
          </a:xfrm>
          <a:prstGeom prst="rect">
            <a:avLst/>
          </a:prstGeom>
        </p:spPr>
      </p:pic>
      <p:graphicFrame>
        <p:nvGraphicFramePr>
          <p:cNvPr id="7" name="对象 6"/>
          <p:cNvGraphicFramePr>
            <a:graphicFrameLocks noChangeAspect="1"/>
          </p:cNvGraphicFramePr>
          <p:nvPr/>
        </p:nvGraphicFramePr>
        <p:xfrm>
          <a:off x="3857437" y="720621"/>
          <a:ext cx="2549419" cy="327002"/>
        </p:xfrm>
        <a:graphic>
          <a:graphicData uri="http://schemas.openxmlformats.org/presentationml/2006/ole">
            <mc:AlternateContent xmlns:mc="http://schemas.openxmlformats.org/markup-compatibility/2006">
              <mc:Choice xmlns:v="urn:schemas-microsoft-com:vml" Requires="v">
                <p:oleObj spid="_x0000_s12364" name="Equation" r:id="rId2" imgW="1721485" imgH="233680" progId="Equation.DSMT4">
                  <p:embed/>
                </p:oleObj>
              </mc:Choice>
              <mc:Fallback>
                <p:oleObj name="Equation" r:id="rId2" imgW="1721485" imgH="233680" progId="Equation.DSMT4">
                  <p:embed/>
                  <p:pic>
                    <p:nvPicPr>
                      <p:cNvPr id="0" name="图片 12363"/>
                      <p:cNvPicPr/>
                      <p:nvPr/>
                    </p:nvPicPr>
                    <p:blipFill>
                      <a:blip r:embed="rId3"/>
                      <a:stretch>
                        <a:fillRect/>
                      </a:stretch>
                    </p:blipFill>
                    <p:spPr>
                      <a:xfrm>
                        <a:off x="3857437" y="720621"/>
                        <a:ext cx="2549419" cy="32700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3857437" y="1096069"/>
          <a:ext cx="3893769" cy="327002"/>
        </p:xfrm>
        <a:graphic>
          <a:graphicData uri="http://schemas.openxmlformats.org/presentationml/2006/ole">
            <mc:AlternateContent xmlns:mc="http://schemas.openxmlformats.org/markup-compatibility/2006">
              <mc:Choice xmlns:v="urn:schemas-microsoft-com:vml" Requires="v">
                <p:oleObj spid="_x0000_s12365" name="Equation" r:id="rId4" imgW="2854960" imgH="233680" progId="Equation.DSMT4">
                  <p:embed/>
                </p:oleObj>
              </mc:Choice>
              <mc:Fallback>
                <p:oleObj name="Equation" r:id="rId4" imgW="2854960" imgH="233680" progId="Equation.DSMT4">
                  <p:embed/>
                  <p:pic>
                    <p:nvPicPr>
                      <p:cNvPr id="0" name="图片 12364"/>
                      <p:cNvPicPr/>
                      <p:nvPr/>
                    </p:nvPicPr>
                    <p:blipFill>
                      <a:blip r:embed="rId5"/>
                      <a:stretch>
                        <a:fillRect/>
                      </a:stretch>
                    </p:blipFill>
                    <p:spPr>
                      <a:xfrm>
                        <a:off x="3857437" y="1096069"/>
                        <a:ext cx="3893769" cy="327002"/>
                      </a:xfrm>
                      <a:prstGeom prst="rect">
                        <a:avLst/>
                      </a:prstGeom>
                    </p:spPr>
                  </p:pic>
                </p:oleObj>
              </mc:Fallback>
            </mc:AlternateContent>
          </a:graphicData>
        </a:graphic>
      </p:graphicFrame>
      <p:graphicFrame>
        <p:nvGraphicFramePr>
          <p:cNvPr id="9" name="对象 8"/>
          <p:cNvGraphicFramePr>
            <a:graphicFrameLocks noChangeAspect="1"/>
          </p:cNvGraphicFramePr>
          <p:nvPr/>
        </p:nvGraphicFramePr>
        <p:xfrm>
          <a:off x="3857437" y="1349216"/>
          <a:ext cx="3540125" cy="515937"/>
        </p:xfrm>
        <a:graphic>
          <a:graphicData uri="http://schemas.openxmlformats.org/presentationml/2006/ole">
            <mc:AlternateContent xmlns:mc="http://schemas.openxmlformats.org/markup-compatibility/2006">
              <mc:Choice xmlns:v="urn:schemas-microsoft-com:vml" Requires="v">
                <p:oleObj spid="_x0000_s12366" name="Equation" r:id="rId6" imgW="2719070" imgH="398780" progId="Equation.DSMT4">
                  <p:embed/>
                </p:oleObj>
              </mc:Choice>
              <mc:Fallback>
                <p:oleObj name="Equation" r:id="rId6" imgW="2719070" imgH="398780" progId="Equation.DSMT4">
                  <p:embed/>
                  <p:pic>
                    <p:nvPicPr>
                      <p:cNvPr id="0" name="图片 12365"/>
                      <p:cNvPicPr/>
                      <p:nvPr/>
                    </p:nvPicPr>
                    <p:blipFill>
                      <a:blip r:embed="rId7"/>
                      <a:stretch>
                        <a:fillRect/>
                      </a:stretch>
                    </p:blipFill>
                    <p:spPr>
                      <a:xfrm>
                        <a:off x="3857437" y="1349216"/>
                        <a:ext cx="3540125" cy="515937"/>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8092141" y="809513"/>
          <a:ext cx="1711325" cy="900113"/>
        </p:xfrm>
        <a:graphic>
          <a:graphicData uri="http://schemas.openxmlformats.org/presentationml/2006/ole">
            <mc:AlternateContent xmlns:mc="http://schemas.openxmlformats.org/markup-compatibility/2006">
              <mc:Choice xmlns:v="urn:schemas-microsoft-com:vml" Requires="v">
                <p:oleObj spid="_x0000_s12367" name="Equation" r:id="rId8" imgW="1318260" imgH="695325" progId="Equation.DSMT4">
                  <p:embed/>
                </p:oleObj>
              </mc:Choice>
              <mc:Fallback>
                <p:oleObj name="Equation" r:id="rId8" imgW="1318260" imgH="695325" progId="Equation.DSMT4">
                  <p:embed/>
                  <p:pic>
                    <p:nvPicPr>
                      <p:cNvPr id="0" name="图片 12366"/>
                      <p:cNvPicPr/>
                      <p:nvPr/>
                    </p:nvPicPr>
                    <p:blipFill>
                      <a:blip r:embed="rId9"/>
                      <a:stretch>
                        <a:fillRect/>
                      </a:stretch>
                    </p:blipFill>
                    <p:spPr>
                      <a:xfrm>
                        <a:off x="8092141" y="809513"/>
                        <a:ext cx="1711325" cy="900113"/>
                      </a:xfrm>
                      <a:prstGeom prst="rect">
                        <a:avLst/>
                      </a:prstGeom>
                    </p:spPr>
                  </p:pic>
                </p:oleObj>
              </mc:Fallback>
            </mc:AlternateContent>
          </a:graphicData>
        </a:graphic>
      </p:graphicFrame>
      <p:sp>
        <p:nvSpPr>
          <p:cNvPr id="11" name="文本框 10"/>
          <p:cNvSpPr txBox="1"/>
          <p:nvPr/>
        </p:nvSpPr>
        <p:spPr>
          <a:xfrm>
            <a:off x="3911936" y="224058"/>
            <a:ext cx="1144514"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b="1" dirty="0">
                <a:latin typeface="微软雅黑" panose="020B0503020204020204" pitchFamily="34" charset="-122"/>
                <a:ea typeface="微软雅黑" panose="020B0503020204020204" pitchFamily="34" charset="-122"/>
              </a:rPr>
              <a:t>前向传播</a:t>
            </a:r>
            <a:endParaRPr kumimoji="0" lang="zh-CN" altLang="en-US" sz="1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等线" panose="02010600030101010101" charset="-122"/>
            </a:endParaRPr>
          </a:p>
        </p:txBody>
      </p:sp>
      <p:sp>
        <p:nvSpPr>
          <p:cNvPr id="12" name="文本框 11"/>
          <p:cNvSpPr txBox="1"/>
          <p:nvPr/>
        </p:nvSpPr>
        <p:spPr>
          <a:xfrm>
            <a:off x="3911936" y="1979800"/>
            <a:ext cx="1144514"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b="1" dirty="0">
                <a:latin typeface="微软雅黑" panose="020B0503020204020204" pitchFamily="34" charset="-122"/>
                <a:ea typeface="微软雅黑" panose="020B0503020204020204" pitchFamily="34" charset="-122"/>
              </a:rPr>
              <a:t>计算误差</a:t>
            </a:r>
            <a:endParaRPr kumimoji="0" lang="zh-CN" altLang="en-US" sz="1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等线" panose="02010600030101010101" charset="-122"/>
            </a:endParaRPr>
          </a:p>
        </p:txBody>
      </p:sp>
      <p:graphicFrame>
        <p:nvGraphicFramePr>
          <p:cNvPr id="13" name="对象 12"/>
          <p:cNvGraphicFramePr>
            <a:graphicFrameLocks noChangeAspect="1"/>
          </p:cNvGraphicFramePr>
          <p:nvPr/>
        </p:nvGraphicFramePr>
        <p:xfrm>
          <a:off x="3868206" y="2290282"/>
          <a:ext cx="2376487" cy="515937"/>
        </p:xfrm>
        <a:graphic>
          <a:graphicData uri="http://schemas.openxmlformats.org/presentationml/2006/ole">
            <mc:AlternateContent xmlns:mc="http://schemas.openxmlformats.org/markup-compatibility/2006">
              <mc:Choice xmlns:v="urn:schemas-microsoft-com:vml" Requires="v">
                <p:oleObj spid="_x0000_s12368" name="Equation" r:id="rId10" imgW="1823720" imgH="398780" progId="Equation.DSMT4">
                  <p:embed/>
                </p:oleObj>
              </mc:Choice>
              <mc:Fallback>
                <p:oleObj name="Equation" r:id="rId10" imgW="1823720" imgH="398780" progId="Equation.DSMT4">
                  <p:embed/>
                  <p:pic>
                    <p:nvPicPr>
                      <p:cNvPr id="0" name="图片 12367"/>
                      <p:cNvPicPr/>
                      <p:nvPr/>
                    </p:nvPicPr>
                    <p:blipFill>
                      <a:blip r:embed="rId11"/>
                      <a:stretch>
                        <a:fillRect/>
                      </a:stretch>
                    </p:blipFill>
                    <p:spPr>
                      <a:xfrm>
                        <a:off x="3868206" y="2290282"/>
                        <a:ext cx="2376487" cy="515937"/>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6429234" y="2398231"/>
          <a:ext cx="5037137" cy="300037"/>
        </p:xfrm>
        <a:graphic>
          <a:graphicData uri="http://schemas.openxmlformats.org/presentationml/2006/ole">
            <mc:AlternateContent xmlns:mc="http://schemas.openxmlformats.org/markup-compatibility/2006">
              <mc:Choice xmlns:v="urn:schemas-microsoft-com:vml" Requires="v">
                <p:oleObj spid="_x0000_s12369" name="Equation" r:id="rId12" imgW="3862070" imgH="233680" progId="Equation.DSMT4">
                  <p:embed/>
                </p:oleObj>
              </mc:Choice>
              <mc:Fallback>
                <p:oleObj name="Equation" r:id="rId12" imgW="3862070" imgH="233680" progId="Equation.DSMT4">
                  <p:embed/>
                  <p:pic>
                    <p:nvPicPr>
                      <p:cNvPr id="0" name="图片 12368"/>
                      <p:cNvPicPr/>
                      <p:nvPr/>
                    </p:nvPicPr>
                    <p:blipFill>
                      <a:blip r:embed="rId13"/>
                      <a:stretch>
                        <a:fillRect/>
                      </a:stretch>
                    </p:blipFill>
                    <p:spPr>
                      <a:xfrm>
                        <a:off x="6429234" y="2398231"/>
                        <a:ext cx="5037137" cy="300037"/>
                      </a:xfrm>
                      <a:prstGeom prst="rect">
                        <a:avLst/>
                      </a:prstGeom>
                    </p:spPr>
                  </p:pic>
                </p:oleObj>
              </mc:Fallback>
            </mc:AlternateContent>
          </a:graphicData>
        </a:graphic>
      </p:graphicFrame>
      <p:sp>
        <p:nvSpPr>
          <p:cNvPr id="15" name="文本框 14"/>
          <p:cNvSpPr txBox="1"/>
          <p:nvPr/>
        </p:nvSpPr>
        <p:spPr>
          <a:xfrm>
            <a:off x="3912235" y="2834640"/>
            <a:ext cx="2263140" cy="27686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等线" panose="02010600030101010101" charset="-122"/>
              </a:rPr>
              <a:t>反向传播</a:t>
            </a:r>
            <a:endParaRPr kumimoji="0" lang="zh-CN" altLang="en-US" sz="1800" b="1" i="0" u="none" strike="noStrike" cap="none" spc="0" normalizeH="0" baseline="0" dirty="0">
              <a:ln>
                <a:noFill/>
              </a:ln>
              <a:solidFill>
                <a:srgbClr val="000000"/>
              </a:solidFill>
              <a:effectLst/>
              <a:uFillTx/>
              <a:latin typeface="微软雅黑" panose="020B0503020204020204" pitchFamily="34" charset="-122"/>
              <a:ea typeface="微软雅黑" panose="020B0503020204020204" pitchFamily="34" charset="-122"/>
              <a:sym typeface="等线" panose="02010600030101010101" charset="-122"/>
            </a:endParaRPr>
          </a:p>
        </p:txBody>
      </p:sp>
      <p:pic>
        <p:nvPicPr>
          <p:cNvPr id="16" name="图片 15"/>
          <p:cNvPicPr>
            <a:picLocks noChangeAspect="1"/>
          </p:cNvPicPr>
          <p:nvPr/>
        </p:nvPicPr>
        <p:blipFill>
          <a:blip r:embed="rId14"/>
          <a:stretch>
            <a:fillRect/>
          </a:stretch>
        </p:blipFill>
        <p:spPr>
          <a:xfrm>
            <a:off x="1406044" y="3481987"/>
            <a:ext cx="2383738" cy="1385099"/>
          </a:xfrm>
          <a:prstGeom prst="rect">
            <a:avLst/>
          </a:prstGeom>
        </p:spPr>
      </p:pic>
      <p:graphicFrame>
        <p:nvGraphicFramePr>
          <p:cNvPr id="17" name="对象 16"/>
          <p:cNvGraphicFramePr>
            <a:graphicFrameLocks noChangeAspect="1"/>
          </p:cNvGraphicFramePr>
          <p:nvPr/>
        </p:nvGraphicFramePr>
        <p:xfrm>
          <a:off x="3860558" y="3244175"/>
          <a:ext cx="2543175" cy="566737"/>
        </p:xfrm>
        <a:graphic>
          <a:graphicData uri="http://schemas.openxmlformats.org/presentationml/2006/ole">
            <mc:AlternateContent xmlns:mc="http://schemas.openxmlformats.org/markup-compatibility/2006">
              <mc:Choice xmlns:v="urn:schemas-microsoft-com:vml" Requires="v">
                <p:oleObj spid="_x0000_s12370" name="Equation" r:id="rId15" imgW="1950085" imgH="437515" progId="Equation.DSMT4">
                  <p:embed/>
                </p:oleObj>
              </mc:Choice>
              <mc:Fallback>
                <p:oleObj name="Equation" r:id="rId15" imgW="1950085" imgH="437515" progId="Equation.DSMT4">
                  <p:embed/>
                  <p:pic>
                    <p:nvPicPr>
                      <p:cNvPr id="0" name="图片 12369"/>
                      <p:cNvPicPr/>
                      <p:nvPr/>
                    </p:nvPicPr>
                    <p:blipFill>
                      <a:blip r:embed="rId16"/>
                      <a:stretch>
                        <a:fillRect/>
                      </a:stretch>
                    </p:blipFill>
                    <p:spPr>
                      <a:xfrm>
                        <a:off x="3860558" y="3244175"/>
                        <a:ext cx="2543175" cy="566737"/>
                      </a:xfrm>
                      <a:prstGeom prst="rect">
                        <a:avLst/>
                      </a:prstGeom>
                    </p:spPr>
                  </p:pic>
                </p:oleObj>
              </mc:Fallback>
            </mc:AlternateContent>
          </a:graphicData>
        </a:graphic>
      </p:graphicFrame>
      <p:graphicFrame>
        <p:nvGraphicFramePr>
          <p:cNvPr id="18" name="对象 17"/>
          <p:cNvGraphicFramePr>
            <a:graphicFrameLocks noChangeAspect="1"/>
          </p:cNvGraphicFramePr>
          <p:nvPr/>
        </p:nvGraphicFramePr>
        <p:xfrm>
          <a:off x="3789782" y="3822426"/>
          <a:ext cx="3375860" cy="923312"/>
        </p:xfrm>
        <a:graphic>
          <a:graphicData uri="http://schemas.openxmlformats.org/presentationml/2006/ole">
            <mc:AlternateContent xmlns:mc="http://schemas.openxmlformats.org/markup-compatibility/2006">
              <mc:Choice xmlns:v="urn:schemas-microsoft-com:vml" Requires="v">
                <p:oleObj spid="_x0000_s12371" name="Equation" r:id="rId17" imgW="71323200" imgH="19507200" progId="Equation.DSMT4">
                  <p:embed/>
                </p:oleObj>
              </mc:Choice>
              <mc:Fallback>
                <p:oleObj name="Equation" r:id="rId17" imgW="71323200" imgH="19507200" progId="Equation.DSMT4">
                  <p:embed/>
                  <p:pic>
                    <p:nvPicPr>
                      <p:cNvPr id="0" name="图片 12370"/>
                      <p:cNvPicPr/>
                      <p:nvPr/>
                    </p:nvPicPr>
                    <p:blipFill>
                      <a:blip r:embed="rId18"/>
                      <a:stretch>
                        <a:fillRect/>
                      </a:stretch>
                    </p:blipFill>
                    <p:spPr>
                      <a:xfrm>
                        <a:off x="3789782" y="3822426"/>
                        <a:ext cx="3375860" cy="923312"/>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3194809" y="4778270"/>
          <a:ext cx="4405313" cy="566737"/>
        </p:xfrm>
        <a:graphic>
          <a:graphicData uri="http://schemas.openxmlformats.org/presentationml/2006/ole">
            <mc:AlternateContent xmlns:mc="http://schemas.openxmlformats.org/markup-compatibility/2006">
              <mc:Choice xmlns:v="urn:schemas-microsoft-com:vml" Requires="v">
                <p:oleObj spid="_x0000_s12372" name="Equation" r:id="rId19" imgW="3380105" imgH="437515" progId="Equation.DSMT4">
                  <p:embed/>
                </p:oleObj>
              </mc:Choice>
              <mc:Fallback>
                <p:oleObj name="Equation" r:id="rId19" imgW="3380105" imgH="437515" progId="Equation.DSMT4">
                  <p:embed/>
                  <p:pic>
                    <p:nvPicPr>
                      <p:cNvPr id="0" name="图片 12371"/>
                      <p:cNvPicPr/>
                      <p:nvPr/>
                    </p:nvPicPr>
                    <p:blipFill>
                      <a:blip r:embed="rId20"/>
                      <a:stretch>
                        <a:fillRect/>
                      </a:stretch>
                    </p:blipFill>
                    <p:spPr>
                      <a:xfrm>
                        <a:off x="3194809" y="4778270"/>
                        <a:ext cx="4405313" cy="566737"/>
                      </a:xfrm>
                      <a:prstGeom prst="rect">
                        <a:avLst/>
                      </a:prstGeom>
                    </p:spPr>
                  </p:pic>
                </p:oleObj>
              </mc:Fallback>
            </mc:AlternateContent>
          </a:graphicData>
        </a:graphic>
      </p:graphicFrame>
      <p:graphicFrame>
        <p:nvGraphicFramePr>
          <p:cNvPr id="20" name="对象 19"/>
          <p:cNvGraphicFramePr>
            <a:graphicFrameLocks noChangeAspect="1"/>
          </p:cNvGraphicFramePr>
          <p:nvPr/>
        </p:nvGraphicFramePr>
        <p:xfrm>
          <a:off x="8065507" y="2940593"/>
          <a:ext cx="3058520" cy="1065638"/>
        </p:xfrm>
        <a:graphic>
          <a:graphicData uri="http://schemas.openxmlformats.org/presentationml/2006/ole">
            <mc:AlternateContent xmlns:mc="http://schemas.openxmlformats.org/markup-compatibility/2006">
              <mc:Choice xmlns:v="urn:schemas-microsoft-com:vml" Requires="v">
                <p:oleObj spid="_x0000_s12373" name="Equation" r:id="rId21" imgW="2421890" imgH="846455" progId="Equation.DSMT4">
                  <p:embed/>
                </p:oleObj>
              </mc:Choice>
              <mc:Fallback>
                <p:oleObj name="Equation" r:id="rId21" imgW="2421890" imgH="846455" progId="Equation.DSMT4">
                  <p:embed/>
                  <p:pic>
                    <p:nvPicPr>
                      <p:cNvPr id="0" name="图片 12372"/>
                      <p:cNvPicPr/>
                      <p:nvPr/>
                    </p:nvPicPr>
                    <p:blipFill>
                      <a:blip r:embed="rId22"/>
                      <a:stretch>
                        <a:fillRect/>
                      </a:stretch>
                    </p:blipFill>
                    <p:spPr>
                      <a:xfrm>
                        <a:off x="8065507" y="2940593"/>
                        <a:ext cx="3058520" cy="1065638"/>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8201446" y="4133767"/>
          <a:ext cx="2825750" cy="300037"/>
        </p:xfrm>
        <a:graphic>
          <a:graphicData uri="http://schemas.openxmlformats.org/presentationml/2006/ole">
            <mc:AlternateContent xmlns:mc="http://schemas.openxmlformats.org/markup-compatibility/2006">
              <mc:Choice xmlns:v="urn:schemas-microsoft-com:vml" Requires="v">
                <p:oleObj spid="_x0000_s12374" name="Equation" r:id="rId23" imgW="2169160" imgH="233680" progId="Equation.DSMT4">
                  <p:embed/>
                </p:oleObj>
              </mc:Choice>
              <mc:Fallback>
                <p:oleObj name="Equation" r:id="rId23" imgW="2169160" imgH="233680" progId="Equation.DSMT4">
                  <p:embed/>
                  <p:pic>
                    <p:nvPicPr>
                      <p:cNvPr id="0" name="图片 12373"/>
                      <p:cNvPicPr/>
                      <p:nvPr/>
                    </p:nvPicPr>
                    <p:blipFill>
                      <a:blip r:embed="rId24"/>
                      <a:stretch>
                        <a:fillRect/>
                      </a:stretch>
                    </p:blipFill>
                    <p:spPr>
                      <a:xfrm>
                        <a:off x="8201446" y="4133767"/>
                        <a:ext cx="2825750" cy="300037"/>
                      </a:xfrm>
                      <a:prstGeom prst="rect">
                        <a:avLst/>
                      </a:prstGeom>
                    </p:spPr>
                  </p:pic>
                </p:oleObj>
              </mc:Fallback>
            </mc:AlternateContent>
          </a:graphicData>
        </a:graphic>
      </p:graphicFrame>
      <p:graphicFrame>
        <p:nvGraphicFramePr>
          <p:cNvPr id="22" name="对象 21"/>
          <p:cNvGraphicFramePr>
            <a:graphicFrameLocks noChangeAspect="1"/>
          </p:cNvGraphicFramePr>
          <p:nvPr/>
        </p:nvGraphicFramePr>
        <p:xfrm>
          <a:off x="7760615" y="4484941"/>
          <a:ext cx="4256087" cy="566737"/>
        </p:xfrm>
        <a:graphic>
          <a:graphicData uri="http://schemas.openxmlformats.org/presentationml/2006/ole">
            <mc:AlternateContent xmlns:mc="http://schemas.openxmlformats.org/markup-compatibility/2006">
              <mc:Choice xmlns:v="urn:schemas-microsoft-com:vml" Requires="v">
                <p:oleObj spid="_x0000_s12375" name="Equation" r:id="rId25" imgW="3263900" imgH="437515" progId="Equation.DSMT4">
                  <p:embed/>
                </p:oleObj>
              </mc:Choice>
              <mc:Fallback>
                <p:oleObj name="Equation" r:id="rId25" imgW="3263900" imgH="437515" progId="Equation.DSMT4">
                  <p:embed/>
                  <p:pic>
                    <p:nvPicPr>
                      <p:cNvPr id="0" name="图片 12374"/>
                      <p:cNvPicPr/>
                      <p:nvPr/>
                    </p:nvPicPr>
                    <p:blipFill>
                      <a:blip r:embed="rId26"/>
                      <a:stretch>
                        <a:fillRect/>
                      </a:stretch>
                    </p:blipFill>
                    <p:spPr>
                      <a:xfrm>
                        <a:off x="7760615" y="4484941"/>
                        <a:ext cx="4256087" cy="566737"/>
                      </a:xfrm>
                      <a:prstGeom prst="rect">
                        <a:avLst/>
                      </a:prstGeom>
                    </p:spPr>
                  </p:pic>
                </p:oleObj>
              </mc:Fallback>
            </mc:AlternateContent>
          </a:graphicData>
        </a:graphic>
      </p:graphicFrame>
      <p:graphicFrame>
        <p:nvGraphicFramePr>
          <p:cNvPr id="23" name="对象 22"/>
          <p:cNvGraphicFramePr>
            <a:graphicFrameLocks noChangeAspect="1"/>
          </p:cNvGraphicFramePr>
          <p:nvPr/>
        </p:nvGraphicFramePr>
        <p:xfrm>
          <a:off x="4327946" y="5799125"/>
          <a:ext cx="5286375" cy="566737"/>
        </p:xfrm>
        <a:graphic>
          <a:graphicData uri="http://schemas.openxmlformats.org/presentationml/2006/ole">
            <mc:AlternateContent xmlns:mc="http://schemas.openxmlformats.org/markup-compatibility/2006">
              <mc:Choice xmlns:v="urn:schemas-microsoft-com:vml" Requires="v">
                <p:oleObj spid="_x0000_s12376" name="Equation" r:id="rId27" imgW="4051300" imgH="437515" progId="Equation.DSMT4">
                  <p:embed/>
                </p:oleObj>
              </mc:Choice>
              <mc:Fallback>
                <p:oleObj name="Equation" r:id="rId27" imgW="4051300" imgH="437515" progId="Equation.DSMT4">
                  <p:embed/>
                  <p:pic>
                    <p:nvPicPr>
                      <p:cNvPr id="0" name="图片 12375"/>
                      <p:cNvPicPr/>
                      <p:nvPr/>
                    </p:nvPicPr>
                    <p:blipFill>
                      <a:blip r:embed="rId28"/>
                      <a:stretch>
                        <a:fillRect/>
                      </a:stretch>
                    </p:blipFill>
                    <p:spPr>
                      <a:xfrm>
                        <a:off x="4327946" y="5799125"/>
                        <a:ext cx="5286375" cy="566737"/>
                      </a:xfrm>
                      <a:prstGeom prst="rect">
                        <a:avLst/>
                      </a:prstGeom>
                    </p:spPr>
                  </p:pic>
                </p:oleObj>
              </mc:Fallback>
            </mc:AlternateContent>
          </a:graphicData>
        </a:graphic>
      </p:graphicFrame>
      <p:sp>
        <p:nvSpPr>
          <p:cNvPr id="24" name="矩形 23"/>
          <p:cNvSpPr/>
          <p:nvPr/>
        </p:nvSpPr>
        <p:spPr>
          <a:xfrm>
            <a:off x="3055685" y="3810912"/>
            <a:ext cx="4559889" cy="1635740"/>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5" name="矩形 24"/>
          <p:cNvSpPr/>
          <p:nvPr/>
        </p:nvSpPr>
        <p:spPr>
          <a:xfrm>
            <a:off x="7805706" y="2929352"/>
            <a:ext cx="3509075" cy="1065637"/>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6" name="矩形 25"/>
          <p:cNvSpPr/>
          <p:nvPr/>
        </p:nvSpPr>
        <p:spPr>
          <a:xfrm>
            <a:off x="7804461" y="4133767"/>
            <a:ext cx="4212241" cy="1065637"/>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7" name="矩形 26"/>
          <p:cNvSpPr/>
          <p:nvPr/>
        </p:nvSpPr>
        <p:spPr>
          <a:xfrm>
            <a:off x="4257106" y="5638210"/>
            <a:ext cx="5474289" cy="888565"/>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5" grpId="0" bldLvl="0" animBg="1"/>
      <p:bldP spid="26" grpId="0" bldLvl="0" animBg="1"/>
      <p:bldP spid="27"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总结</a:t>
            </a:r>
            <a:r>
              <a:rPr lang="en-US" altLang="zh-CN" dirty="0"/>
              <a:t>——</a:t>
            </a:r>
            <a:r>
              <a:rPr lang="zh-CN" altLang="en-US" dirty="0"/>
              <a:t>神经网络</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r>
              <a:rPr lang="zh-CN" altLang="en-US" dirty="0"/>
              <a:t>神经网络由</a:t>
            </a:r>
            <a:r>
              <a:rPr lang="zh-CN" altLang="en-US" b="1" dirty="0"/>
              <a:t>输入层</a:t>
            </a:r>
            <a:r>
              <a:rPr lang="zh-CN" altLang="en-US" dirty="0"/>
              <a:t>、</a:t>
            </a:r>
            <a:r>
              <a:rPr lang="zh-CN" altLang="en-US" b="1" dirty="0"/>
              <a:t>隐藏层</a:t>
            </a:r>
            <a:r>
              <a:rPr lang="zh-CN" altLang="en-US" dirty="0"/>
              <a:t>、</a:t>
            </a:r>
            <a:r>
              <a:rPr lang="zh-CN" altLang="en-US" b="1" dirty="0"/>
              <a:t>输出层</a:t>
            </a:r>
            <a:r>
              <a:rPr lang="zh-CN" altLang="en-US" dirty="0"/>
              <a:t>来组成</a:t>
            </a:r>
            <a:endParaRPr lang="en-US" altLang="zh-CN" dirty="0"/>
          </a:p>
          <a:p>
            <a:r>
              <a:rPr lang="zh-CN" altLang="en-US" dirty="0"/>
              <a:t>每一个神经元通过加权求和（线性变换）和激活函数（非线性变换）来计算</a:t>
            </a:r>
            <a:endParaRPr lang="en-US" altLang="zh-CN" dirty="0"/>
          </a:p>
          <a:p>
            <a:r>
              <a:rPr lang="zh-CN" altLang="en-US" dirty="0"/>
              <a:t>神经网络通过前向传播计算、通过</a:t>
            </a:r>
            <a:r>
              <a:rPr lang="zh-CN" altLang="en-US" b="1" dirty="0"/>
              <a:t>反向传播</a:t>
            </a:r>
            <a:r>
              <a:rPr lang="zh-CN" altLang="en-US" dirty="0"/>
              <a:t>来学习（更新参数）</a:t>
            </a:r>
            <a:endParaRPr lang="en-US" altLang="zh-CN" dirty="0"/>
          </a:p>
          <a:p>
            <a:pPr marL="0" indent="0">
              <a:buNone/>
            </a:pPr>
            <a:endParaRPr lang="en-US" altLang="zh-CN" dirty="0"/>
          </a:p>
          <a:p>
            <a:pPr marL="0" indent="0">
              <a:buNone/>
            </a:pPr>
            <a:r>
              <a:rPr lang="zh-CN" altLang="en-US" dirty="0"/>
              <a:t>神经网络痛点</a:t>
            </a:r>
            <a:endParaRPr lang="en-US" altLang="zh-CN" dirty="0"/>
          </a:p>
          <a:p>
            <a:r>
              <a:rPr lang="zh-CN" altLang="en-US" dirty="0"/>
              <a:t>普通神经网络计算量非常大，消耗算力，并容易让模型导致过拟合</a:t>
            </a:r>
            <a:endParaRPr lang="en-US" altLang="zh-CN" dirty="0"/>
          </a:p>
          <a:p>
            <a:r>
              <a:rPr lang="zh-CN" altLang="en-US" dirty="0"/>
              <a:t>传统的网络把图像转换成一维向量，完全破坏了这种上下左右的相邻结构</a:t>
            </a:r>
            <a:endParaRPr lang="zh-CN" altLang="en-US" dirty="0"/>
          </a:p>
        </p:txBody>
      </p:sp>
      <p:pic>
        <p:nvPicPr>
          <p:cNvPr id="5" name="图片 4"/>
          <p:cNvPicPr>
            <a:picLocks noChangeAspect="1"/>
          </p:cNvPicPr>
          <p:nvPr/>
        </p:nvPicPr>
        <p:blipFill>
          <a:blip r:embed="rId1"/>
          <a:stretch>
            <a:fillRect/>
          </a:stretch>
        </p:blipFill>
        <p:spPr>
          <a:xfrm>
            <a:off x="5608251" y="258554"/>
            <a:ext cx="3031252" cy="1549192"/>
          </a:xfrm>
          <a:prstGeom prst="rect">
            <a:avLst/>
          </a:prstGeom>
        </p:spPr>
      </p:pic>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卷积神经网络 </a:t>
            </a:r>
            <a:r>
              <a:rPr lang="en-US" altLang="zh-CN" dirty="0"/>
              <a:t>CNN</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07206" y="1594348"/>
            <a:ext cx="12084794" cy="4351338"/>
          </a:xfrm>
        </p:spPr>
        <p:txBody>
          <a:bodyPr/>
          <a:lstStyle/>
          <a:p>
            <a:r>
              <a:rPr lang="zh-CN" altLang="en-US" dirty="0"/>
              <a:t>核心思想：图像有局部性，邻近像素更相关，所以不需要让每个神经元看整张图</a:t>
            </a:r>
            <a:endParaRPr lang="en-US" altLang="zh-CN" dirty="0"/>
          </a:p>
          <a:p>
            <a:r>
              <a:rPr lang="zh-CN" altLang="en-US" dirty="0"/>
              <a:t>具体操作：神经元不再与上一层的所有像素相连，而是仅连接一个局部区域</a:t>
            </a:r>
            <a:endParaRPr lang="zh-CN" altLang="en-US" dirty="0"/>
          </a:p>
        </p:txBody>
      </p:sp>
      <p:graphicFrame>
        <p:nvGraphicFramePr>
          <p:cNvPr id="7" name="表格 6"/>
          <p:cNvGraphicFramePr>
            <a:graphicFrameLocks noGrp="1"/>
          </p:cNvGraphicFramePr>
          <p:nvPr>
            <p:custDataLst>
              <p:tags r:id="rId1"/>
            </p:custDataLst>
          </p:nvPr>
        </p:nvGraphicFramePr>
        <p:xfrm>
          <a:off x="699989" y="2837792"/>
          <a:ext cx="10588121" cy="2425860"/>
        </p:xfrm>
        <a:graphic>
          <a:graphicData uri="http://schemas.openxmlformats.org/drawingml/2006/table">
            <a:tbl>
              <a:tblPr firstRow="1" firstCol="1">
                <a:tableStyleId>{CF821DB8-F4EB-4A41-A1BA-3FCAFE7338EE}</a:tableStyleId>
              </a:tblPr>
              <a:tblGrid>
                <a:gridCol w="2995429"/>
                <a:gridCol w="7592692"/>
              </a:tblGrid>
              <a:tr h="808620">
                <a:tc>
                  <a:txBody>
                    <a:bodyPr/>
                    <a:lstStyle/>
                    <a:p>
                      <a:pPr algn="ctr">
                        <a:buNone/>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CNN vs </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普通神经网络</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核心操作（具体解释）</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局部连接</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神经元不再与上一层的所有像素相连，而是仅连接一个局部区域</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权重共享</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每一个局部区域提取特征时用到的权重都相同</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10"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p:txBody>
      </p:sp>
      <p:grpSp>
        <p:nvGrpSpPr>
          <p:cNvPr id="19" name="组合 18"/>
          <p:cNvGrpSpPr/>
          <p:nvPr/>
        </p:nvGrpSpPr>
        <p:grpSpPr>
          <a:xfrm>
            <a:off x="1308449" y="4286250"/>
            <a:ext cx="2932387" cy="1790398"/>
            <a:chOff x="1308449" y="4286250"/>
            <a:chExt cx="2932387" cy="1790398"/>
          </a:xfrm>
        </p:grpSpPr>
        <p:sp>
          <p:nvSpPr>
            <p:cNvPr id="6" name="文本框 5"/>
            <p:cNvSpPr txBox="1"/>
            <p:nvPr/>
          </p:nvSpPr>
          <p:spPr>
            <a:xfrm>
              <a:off x="1308449" y="5707316"/>
              <a:ext cx="2932387"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rgbClr val="FF0000"/>
                  </a:solidFill>
                  <a:latin typeface="微软雅黑" panose="020B0503020204020204" pitchFamily="34" charset="-122"/>
                  <a:ea typeface="微软雅黑" panose="020B0503020204020204" pitchFamily="34" charset="-122"/>
                </a:rPr>
                <a:t>参数大幅度减少</a:t>
              </a:r>
              <a:endParaRPr lang="zh-CN" altLang="en-US" sz="2400" dirty="0">
                <a:solidFill>
                  <a:srgbClr val="FF0000"/>
                </a:solidFill>
                <a:latin typeface="微软雅黑" panose="020B0503020204020204" pitchFamily="34" charset="-122"/>
                <a:ea typeface="微软雅黑" panose="020B0503020204020204" pitchFamily="34" charset="-122"/>
              </a:endParaRPr>
            </a:p>
          </p:txBody>
        </p:sp>
        <p:cxnSp>
          <p:nvCxnSpPr>
            <p:cNvPr id="16" name="直接箭头连接符 15"/>
            <p:cNvCxnSpPr/>
            <p:nvPr/>
          </p:nvCxnSpPr>
          <p:spPr>
            <a:xfrm flipH="1">
              <a:off x="1492250" y="4286250"/>
              <a:ext cx="330200" cy="1263650"/>
            </a:xfrm>
            <a:prstGeom prst="straightConnector1">
              <a:avLst/>
            </a:prstGeom>
            <a:noFill/>
            <a:ln w="12700" cap="flat">
              <a:solidFill>
                <a:srgbClr val="FF0000"/>
              </a:solidFill>
              <a:prstDash val="solid"/>
              <a:miter lim="800000"/>
              <a:tailEnd type="triangle"/>
            </a:ln>
          </p:spPr>
          <p:style>
            <a:lnRef idx="0">
              <a:scrgbClr r="0" g="0" b="0"/>
            </a:lnRef>
            <a:fillRef idx="0">
              <a:scrgbClr r="0" g="0" b="0"/>
            </a:fillRef>
            <a:effectRef idx="0">
              <a:scrgbClr r="0" g="0" b="0"/>
            </a:effectRef>
            <a:fontRef idx="none"/>
          </p:style>
        </p:cxnSp>
      </p:grpSp>
      <p:grpSp>
        <p:nvGrpSpPr>
          <p:cNvPr id="20" name="组合 19"/>
          <p:cNvGrpSpPr/>
          <p:nvPr/>
        </p:nvGrpSpPr>
        <p:grpSpPr>
          <a:xfrm>
            <a:off x="2619003" y="4918075"/>
            <a:ext cx="6544047" cy="1058318"/>
            <a:chOff x="2619003" y="4918075"/>
            <a:chExt cx="6544047" cy="1058318"/>
          </a:xfrm>
        </p:grpSpPr>
        <p:sp>
          <p:nvSpPr>
            <p:cNvPr id="12" name="文本框 11"/>
            <p:cNvSpPr txBox="1"/>
            <p:nvPr/>
          </p:nvSpPr>
          <p:spPr>
            <a:xfrm>
              <a:off x="4800600" y="5607061"/>
              <a:ext cx="43624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zh-CN" altLang="en-US" sz="2400" dirty="0">
                  <a:solidFill>
                    <a:srgbClr val="FF0000"/>
                  </a:solidFill>
                  <a:latin typeface="微软雅黑" panose="020B0503020204020204" pitchFamily="34" charset="-122"/>
                  <a:ea typeface="微软雅黑" panose="020B0503020204020204" pitchFamily="34" charset="-122"/>
                </a:rPr>
                <a:t>同一个模型在不同位置被检测到</a:t>
              </a:r>
              <a:endParaRPr lang="zh-CN" altLang="en-US" sz="2400" dirty="0">
                <a:solidFill>
                  <a:srgbClr val="FF0000"/>
                </a:solidFill>
                <a:latin typeface="微软雅黑" panose="020B0503020204020204" pitchFamily="34" charset="-122"/>
                <a:ea typeface="微软雅黑" panose="020B0503020204020204" pitchFamily="34" charset="-122"/>
              </a:endParaRPr>
            </a:p>
          </p:txBody>
        </p:sp>
        <p:cxnSp>
          <p:nvCxnSpPr>
            <p:cNvPr id="17" name="直接箭头连接符 16"/>
            <p:cNvCxnSpPr/>
            <p:nvPr/>
          </p:nvCxnSpPr>
          <p:spPr>
            <a:xfrm>
              <a:off x="2619003" y="4918075"/>
              <a:ext cx="1857747" cy="631825"/>
            </a:xfrm>
            <a:prstGeom prst="straightConnector1">
              <a:avLst/>
            </a:prstGeom>
            <a:noFill/>
            <a:ln w="12700" cap="flat">
              <a:solidFill>
                <a:srgbClr val="FF0000"/>
              </a:solidFill>
              <a:prstDash val="solid"/>
              <a:miter lim="800000"/>
              <a:tailEnd type="triangle"/>
            </a:ln>
          </p:spPr>
          <p:style>
            <a:lnRef idx="0">
              <a:scrgbClr r="0" g="0" b="0"/>
            </a:lnRef>
            <a:fillRef idx="0">
              <a:scrgbClr r="0" g="0" b="0"/>
            </a:fillRef>
            <a:effectRef idx="0">
              <a:scrgbClr r="0" g="0" b="0"/>
            </a:effectRef>
            <a:fontRef idx="none"/>
          </p:style>
        </p:cxn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CNN</a:t>
            </a:r>
            <a:r>
              <a:rPr lang="zh-CN" altLang="en-US" dirty="0"/>
              <a:t>的四个主要阶段</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graphicFrame>
        <p:nvGraphicFramePr>
          <p:cNvPr id="5" name="表格 4"/>
          <p:cNvGraphicFramePr>
            <a:graphicFrameLocks noGrp="1"/>
          </p:cNvGraphicFramePr>
          <p:nvPr>
            <p:custDataLst>
              <p:tags r:id="rId1"/>
            </p:custDataLst>
          </p:nvPr>
        </p:nvGraphicFramePr>
        <p:xfrm>
          <a:off x="542334" y="1601775"/>
          <a:ext cx="10588121" cy="4043100"/>
        </p:xfrm>
        <a:graphic>
          <a:graphicData uri="http://schemas.openxmlformats.org/drawingml/2006/table">
            <a:tbl>
              <a:tblPr firstRow="1" firstCol="1">
                <a:tableStyleId>{CF821DB8-F4EB-4A41-A1BA-3FCAFE7338EE}</a:tableStyleId>
              </a:tblPr>
              <a:tblGrid>
                <a:gridCol w="2995429"/>
                <a:gridCol w="7592692"/>
              </a:tblGrid>
              <a:tr h="808620">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阶段</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核心作用</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卷积层</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提取图像局部特征，生成特征图 </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激活层</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引入非线性变换，赋予网络拟合复杂模式的能力</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池化层</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降维运算，压缩特征图尺寸</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全连接层</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汇聚全局特征，完成分类或回归决策</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9050"/>
            <a:ext cx="10515600" cy="1325563"/>
          </a:xfrm>
        </p:spPr>
        <p:txBody>
          <a:bodyPr/>
          <a:lstStyle/>
          <a:p>
            <a:r>
              <a:rPr lang="zh-CN" altLang="en-US" dirty="0"/>
              <a:t>卷积层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060012"/>
            <a:ext cx="12134850" cy="6166288"/>
          </a:xfrm>
        </p:spPr>
        <p:txBody>
          <a:bodyPr>
            <a:normAutofit/>
          </a:bodyPr>
          <a:lstStyle/>
          <a:p>
            <a:pPr>
              <a:lnSpc>
                <a:spcPct val="100000"/>
              </a:lnSpc>
              <a:spcBef>
                <a:spcPts val="0"/>
              </a:spcBef>
              <a:spcAft>
                <a:spcPts val="1800"/>
              </a:spcAft>
              <a:buFont typeface="Wingdings" panose="05000000000000000000" pitchFamily="2" charset="2"/>
              <a:buChar char="ü"/>
            </a:pPr>
            <a:endParaRPr lang="en-US" altLang="zh-CN" b="1" dirty="0"/>
          </a:p>
          <a:p>
            <a:pPr>
              <a:lnSpc>
                <a:spcPct val="100000"/>
              </a:lnSpc>
              <a:spcBef>
                <a:spcPts val="0"/>
              </a:spcBef>
              <a:spcAft>
                <a:spcPts val="1800"/>
              </a:spcAft>
              <a:buFont typeface="Wingdings" panose="05000000000000000000" pitchFamily="2" charset="2"/>
              <a:buChar char="ü"/>
            </a:pPr>
            <a:r>
              <a:rPr lang="zh-CN" altLang="en-US" b="1" dirty="0"/>
              <a:t>卷积操作</a:t>
            </a:r>
            <a:r>
              <a:rPr lang="zh-CN" altLang="en-US" dirty="0"/>
              <a:t>是指将一个可移动的小窗口与图像进行逐元素相乘然后相加的操作</a:t>
            </a:r>
            <a:endParaRPr lang="en-US" altLang="zh-CN" dirty="0"/>
          </a:p>
          <a:p>
            <a:pPr>
              <a:lnSpc>
                <a:spcPct val="100000"/>
              </a:lnSpc>
              <a:spcBef>
                <a:spcPts val="0"/>
              </a:spcBef>
              <a:spcAft>
                <a:spcPts val="1800"/>
              </a:spcAft>
              <a:buFont typeface="Wingdings" panose="05000000000000000000" pitchFamily="2" charset="2"/>
              <a:buChar char="ü"/>
            </a:pPr>
            <a:r>
              <a:rPr lang="zh-CN" altLang="en-US" dirty="0"/>
              <a:t>小窗口其实是一组固定的权重，它可以被看作是一个特定的</a:t>
            </a:r>
            <a:r>
              <a:rPr lang="zh-CN" altLang="en-US" b="1" dirty="0"/>
              <a:t>滤波器</a:t>
            </a:r>
            <a:r>
              <a:rPr lang="zh-CN" altLang="en-US" dirty="0"/>
              <a:t>或</a:t>
            </a:r>
            <a:r>
              <a:rPr lang="zh-CN" altLang="en-US" b="1" dirty="0"/>
              <a:t>卷积核</a:t>
            </a:r>
            <a:endParaRPr lang="en-US" altLang="zh-CN" b="1" dirty="0"/>
          </a:p>
          <a:p>
            <a:pPr>
              <a:spcBef>
                <a:spcPts val="0"/>
              </a:spcBef>
              <a:spcAft>
                <a:spcPts val="1800"/>
              </a:spcAft>
              <a:buFont typeface="Wingdings" panose="05000000000000000000" pitchFamily="2" charset="2"/>
              <a:buChar char="ü"/>
            </a:pPr>
            <a:r>
              <a:rPr lang="zh-CN" altLang="en-US" dirty="0"/>
              <a:t>卷积核</a:t>
            </a:r>
            <a:r>
              <a:rPr lang="zh-CN" altLang="en-US" b="1" dirty="0"/>
              <a:t>用于对单一输入通道</a:t>
            </a:r>
            <a:r>
              <a:rPr lang="zh-CN" altLang="en-US" dirty="0"/>
              <a:t>进行特征提取；滤波器</a:t>
            </a:r>
            <a:r>
              <a:rPr lang="zh-CN" altLang="en-US" b="1" dirty="0"/>
              <a:t>由多个卷积核堆叠而成，用于处理</a:t>
            </a:r>
            <a:r>
              <a:rPr lang="zh-CN" altLang="en-US" dirty="0"/>
              <a:t>所有输入通道</a:t>
            </a:r>
            <a:endParaRPr lang="en-US" altLang="zh-CN" dirty="0"/>
          </a:p>
          <a:p>
            <a:pPr marL="0" indent="0">
              <a:spcBef>
                <a:spcPts val="0"/>
              </a:spcBef>
              <a:spcAft>
                <a:spcPts val="1800"/>
              </a:spcAft>
              <a:buNone/>
            </a:pPr>
            <a:endParaRPr lang="en-US" altLang="zh-CN" dirty="0"/>
          </a:p>
          <a:p>
            <a:pPr marL="0" indent="0">
              <a:spcBef>
                <a:spcPts val="0"/>
              </a:spcBef>
              <a:spcAft>
                <a:spcPts val="1800"/>
              </a:spcAft>
              <a:buNone/>
            </a:pPr>
            <a:endParaRPr lang="en-US" altLang="zh-CN" dirty="0"/>
          </a:p>
          <a:p>
            <a:pPr marL="0" indent="0">
              <a:buNone/>
            </a:pPr>
            <a:endParaRPr lang="zh-CN" altLang="en-US" b="1" dirty="0"/>
          </a:p>
        </p:txBody>
      </p:sp>
      <p:pic>
        <p:nvPicPr>
          <p:cNvPr id="9" name="图片 8"/>
          <p:cNvPicPr>
            <a:picLocks noChangeAspect="1"/>
          </p:cNvPicPr>
          <p:nvPr/>
        </p:nvPicPr>
        <p:blipFill>
          <a:blip r:embed="rId1"/>
          <a:stretch>
            <a:fillRect/>
          </a:stretch>
        </p:blipFill>
        <p:spPr>
          <a:xfrm>
            <a:off x="5485130" y="3296285"/>
            <a:ext cx="4596130" cy="3390900"/>
          </a:xfrm>
          <a:prstGeom prst="rect">
            <a:avLst/>
          </a:prstGeom>
        </p:spPr>
      </p:pic>
      <p:sp>
        <p:nvSpPr>
          <p:cNvPr id="10" name="文本框 9"/>
          <p:cNvSpPr txBox="1"/>
          <p:nvPr/>
        </p:nvSpPr>
        <p:spPr>
          <a:xfrm>
            <a:off x="138737" y="6404292"/>
            <a:ext cx="2364827"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9050"/>
            <a:ext cx="10515600" cy="1325563"/>
          </a:xfrm>
        </p:spPr>
        <p:txBody>
          <a:bodyPr/>
          <a:lstStyle/>
          <a:p>
            <a:r>
              <a:rPr lang="zh-CN" altLang="en-US" dirty="0"/>
              <a:t>卷积层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060012"/>
            <a:ext cx="12134850" cy="6166288"/>
          </a:xfrm>
        </p:spPr>
        <p:txBody>
          <a:bodyPr>
            <a:normAutofit/>
          </a:bodyPr>
          <a:lstStyle/>
          <a:p>
            <a:pPr marL="0" indent="0">
              <a:spcBef>
                <a:spcPts val="0"/>
              </a:spcBef>
              <a:spcAft>
                <a:spcPts val="1800"/>
              </a:spcAft>
              <a:buNone/>
            </a:pPr>
            <a:endParaRPr lang="en-US" altLang="zh-CN" dirty="0"/>
          </a:p>
          <a:p>
            <a:pPr>
              <a:spcBef>
                <a:spcPts val="0"/>
              </a:spcBef>
              <a:spcAft>
                <a:spcPts val="1800"/>
              </a:spcAft>
            </a:pPr>
            <a:r>
              <a:rPr lang="zh-CN" altLang="en-US" dirty="0"/>
              <a:t>每个滤波器负责寻找一种特征（形状、纹理等）</a:t>
            </a:r>
            <a:endParaRPr lang="zh-CN" altLang="en-US" dirty="0"/>
          </a:p>
          <a:p>
            <a:pPr>
              <a:lnSpc>
                <a:spcPct val="50000"/>
              </a:lnSpc>
            </a:pPr>
            <a:r>
              <a:rPr lang="zh-CN" altLang="en-US" dirty="0"/>
              <a:t>每个滤波器会在图像上滑动，然后将每个位置上的参数和对应的像素值进行相乘后加和</a:t>
            </a:r>
            <a:endParaRPr lang="en-US" altLang="zh-CN" dirty="0"/>
          </a:p>
          <a:p>
            <a:pPr>
              <a:lnSpc>
                <a:spcPct val="50000"/>
              </a:lnSpc>
            </a:pPr>
            <a:endParaRPr lang="en-US" altLang="zh-CN" dirty="0"/>
          </a:p>
          <a:p>
            <a:pPr>
              <a:lnSpc>
                <a:spcPct val="50000"/>
              </a:lnSpc>
            </a:pPr>
            <a:r>
              <a:rPr lang="zh-CN" altLang="en-US" dirty="0"/>
              <a:t>滤波器的移动也是有步长的，比如移动</a:t>
            </a:r>
            <a:r>
              <a:rPr lang="en-US" altLang="zh-CN" dirty="0"/>
              <a:t>1</a:t>
            </a:r>
            <a:r>
              <a:rPr lang="zh-CN" altLang="en-US" dirty="0"/>
              <a:t>步、</a:t>
            </a:r>
            <a:r>
              <a:rPr lang="en-US" altLang="zh-CN" dirty="0"/>
              <a:t>2</a:t>
            </a:r>
            <a:r>
              <a:rPr lang="zh-CN" altLang="en-US" dirty="0"/>
              <a:t>步，步数是可以进行设置的</a:t>
            </a:r>
            <a:endParaRPr lang="en-US" altLang="zh-CN" dirty="0"/>
          </a:p>
          <a:p>
            <a:pPr>
              <a:lnSpc>
                <a:spcPct val="50000"/>
              </a:lnSpc>
            </a:pPr>
            <a:endParaRPr lang="en-US" altLang="zh-CN" dirty="0"/>
          </a:p>
          <a:p>
            <a:pPr>
              <a:lnSpc>
                <a:spcPct val="50000"/>
              </a:lnSpc>
            </a:pPr>
            <a:r>
              <a:rPr lang="zh-CN" altLang="en-US" dirty="0"/>
              <a:t>滤波器的移动规则就是从左上角开始移动，从左到右，然后再换到下边</a:t>
            </a:r>
            <a:endParaRPr lang="zh-CN" altLang="en-US" dirty="0"/>
          </a:p>
          <a:p>
            <a:pPr marL="0" indent="0">
              <a:buNone/>
            </a:pPr>
            <a:endParaRPr lang="zh-CN" altLang="en-US" b="1" dirty="0"/>
          </a:p>
        </p:txBody>
      </p:sp>
      <p:pic>
        <p:nvPicPr>
          <p:cNvPr id="7" name="20260815_14480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0" y="3911283"/>
            <a:ext cx="5727398" cy="2234180"/>
          </a:xfrm>
          <a:prstGeom prst="rect">
            <a:avLst/>
          </a:prstGeom>
        </p:spPr>
      </p:pic>
      <p:pic>
        <p:nvPicPr>
          <p:cNvPr id="8" name="20260815_145308">
            <a:hlinkClick r:id="" action="ppaction://media"/>
          </p:cNvPr>
          <p:cNvPicPr>
            <a:picLocks noChangeAspect="1"/>
          </p:cNvPicPr>
          <p:nvPr>
            <a:videoFile r:link="rId4"/>
            <p:extLst>
              <p:ext uri="{DAA4B4D4-6D71-4841-9C94-3DE7FCFB9230}">
                <p14:media xmlns:p14="http://schemas.microsoft.com/office/powerpoint/2010/main" r:embed="rId5"/>
              </p:ext>
            </p:extLst>
          </p:nvPr>
        </p:nvPicPr>
        <p:blipFill>
          <a:blip r:embed="rId6"/>
          <a:stretch>
            <a:fillRect/>
          </a:stretch>
        </p:blipFill>
        <p:spPr>
          <a:xfrm>
            <a:off x="5930495" y="3807110"/>
            <a:ext cx="6261505" cy="2442526"/>
          </a:xfrm>
          <a:prstGeom prst="rect">
            <a:avLst/>
          </a:prstGeom>
        </p:spPr>
      </p:pic>
      <p:sp>
        <p:nvSpPr>
          <p:cNvPr id="9" name="文本框 8"/>
          <p:cNvSpPr txBox="1"/>
          <p:nvPr/>
        </p:nvSpPr>
        <p:spPr>
          <a:xfrm>
            <a:off x="138737" y="6404292"/>
            <a:ext cx="2364827"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100" fill="hold"/>
                                        <p:tgtEl>
                                          <p:spTgt spid="7"/>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7750"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repeatCount="indefinite" fill="hold" display="0">
                  <p:stCondLst>
                    <p:cond delay="indefinite"/>
                  </p:stCondLst>
                </p:cTn>
                <p:tgtEl>
                  <p:spTgt spid="7"/>
                </p:tgtEl>
              </p:cMediaNode>
            </p:video>
            <p:seq concurrent="1" nextAc="seek">
              <p:cTn id="12" restart="whenNotActive" fill="hold" evtFilter="cancelBubble" nodeType="interactiveSeq">
                <p:stCondLst>
                  <p:cond evt="onClick" delay="0">
                    <p:tgtEl>
                      <p:spTgt spid="7"/>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7"/>
                                        </p:tgtEl>
                                      </p:cBhvr>
                                    </p:cmd>
                                  </p:childTnLst>
                                </p:cTn>
                              </p:par>
                            </p:childTnLst>
                          </p:cTn>
                        </p:par>
                      </p:childTnLst>
                    </p:cTn>
                  </p:par>
                </p:childTnLst>
              </p:cTn>
              <p:nextCondLst>
                <p:cond evt="onClick" delay="0">
                  <p:tgtEl>
                    <p:spTgt spid="7"/>
                  </p:tgtEl>
                </p:cond>
              </p:nextCondLst>
            </p:seq>
            <p:video>
              <p:cMediaNode vol="80000">
                <p:cTn id="17" fill="hold" display="0">
                  <p:stCondLst>
                    <p:cond delay="indefinite"/>
                  </p:stCondLst>
                </p:cTn>
                <p:tgtEl>
                  <p:spTgt spid="8"/>
                </p:tgtEl>
              </p:cMediaNode>
            </p:video>
            <p:seq concurrent="1" nextAc="seek">
              <p:cTn id="18" restart="whenNotActive" fill="hold" evtFilter="cancelBubble" nodeType="interactiveSeq">
                <p:stCondLst>
                  <p:cond evt="onClick" delay="0">
                    <p:tgtEl>
                      <p:spTgt spid="8"/>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8"/>
                                        </p:tgtEl>
                                      </p:cBhvr>
                                    </p:cmd>
                                  </p:childTnLst>
                                </p:cTn>
                              </p:par>
                            </p:childTnLst>
                          </p:cTn>
                        </p:par>
                      </p:childTnLst>
                    </p:cTn>
                  </p:par>
                </p:childTnLst>
              </p:cTn>
              <p:nextCondLst>
                <p:cond evt="onClick" delay="0">
                  <p:tgtEl>
                    <p:spTgt spid="8"/>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a:buFont typeface="Wingdings" panose="05000000000000000000" pitchFamily="2" charset="2"/>
              <a:buChar char="Ø"/>
            </a:pPr>
            <a:r>
              <a:rPr lang="zh-CN" altLang="en-US" dirty="0"/>
              <a:t>操作：卷积操作</a:t>
            </a:r>
            <a:endParaRPr lang="en-US" altLang="zh-CN" dirty="0"/>
          </a:p>
          <a:p>
            <a:pPr>
              <a:buFont typeface="Wingdings" panose="05000000000000000000" pitchFamily="2" charset="2"/>
              <a:buChar char="Ø"/>
            </a:pPr>
            <a:r>
              <a:rPr lang="zh-CN" altLang="en-US" dirty="0"/>
              <a:t>滤波器的尺寸：</a:t>
            </a:r>
            <a:r>
              <a:rPr lang="en-US" altLang="zh-CN" dirty="0"/>
              <a:t>3*3</a:t>
            </a:r>
            <a:endParaRPr lang="en-US" altLang="zh-CN" dirty="0"/>
          </a:p>
          <a:p>
            <a:endParaRPr lang="zh-CN" altLang="en-US" dirty="0"/>
          </a:p>
        </p:txBody>
      </p:sp>
      <p:pic>
        <p:nvPicPr>
          <p:cNvPr id="5" name="20260815_132122">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326554" y="1647103"/>
            <a:ext cx="6189046" cy="5153747"/>
          </a:xfrm>
          <a:prstGeom prst="rect">
            <a:avLst/>
          </a:prstGeom>
        </p:spPr>
      </p:pic>
      <p:sp>
        <p:nvSpPr>
          <p:cNvPr id="6" name="AutoShape 2" descr="飞书文档 - 图片"/>
          <p:cNvSpPr>
            <a:spLocks noChangeAspect="1" noChangeArrowheads="1"/>
          </p:cNvSpPr>
          <p:nvPr/>
        </p:nvSpPr>
        <p:spPr bwMode="auto">
          <a:xfrm>
            <a:off x="2022160" y="2154479"/>
            <a:ext cx="380156" cy="38015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sp>
        <p:nvSpPr>
          <p:cNvPr id="7" name="文本框 6"/>
          <p:cNvSpPr txBox="1"/>
          <p:nvPr/>
        </p:nvSpPr>
        <p:spPr>
          <a:xfrm>
            <a:off x="138737" y="6404292"/>
            <a:ext cx="2364827"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264"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438882" y="1789841"/>
            <a:ext cx="11889752" cy="4351338"/>
          </a:xfrm>
        </p:spPr>
        <p:txBody>
          <a:bodyPr/>
          <a:lstStyle/>
          <a:p>
            <a:pPr marL="0" indent="0">
              <a:buNone/>
            </a:pPr>
            <a:r>
              <a:rPr lang="en-US" altLang="zh-CN" b="1" dirty="0"/>
              <a:t>0 padding </a:t>
            </a:r>
            <a:r>
              <a:rPr lang="zh-CN" altLang="en-US" b="1" dirty="0"/>
              <a:t>填充法</a:t>
            </a:r>
            <a:endParaRPr lang="en-US" altLang="zh-CN" b="1" dirty="0"/>
          </a:p>
          <a:p>
            <a:pPr>
              <a:buFont typeface="Wingdings" panose="05000000000000000000" pitchFamily="2" charset="2"/>
              <a:buChar char="ü"/>
            </a:pPr>
            <a:r>
              <a:rPr lang="zh-CN" altLang="en-US" dirty="0"/>
              <a:t>定义：在图像边缘补</a:t>
            </a:r>
            <a:r>
              <a:rPr lang="en-US" altLang="zh-CN" dirty="0"/>
              <a:t>0</a:t>
            </a:r>
            <a:r>
              <a:rPr lang="zh-CN" altLang="en-US" dirty="0"/>
              <a:t>，让卷积核可以更好地处理边缘区域，并控制输出特征图的大小</a:t>
            </a:r>
            <a:endParaRPr lang="en-US" altLang="zh-CN" dirty="0"/>
          </a:p>
          <a:p>
            <a:pPr>
              <a:buFont typeface="Wingdings" panose="05000000000000000000" pitchFamily="2" charset="2"/>
              <a:buChar char="ü"/>
            </a:pPr>
            <a:r>
              <a:rPr lang="zh-CN" altLang="en-US" dirty="0"/>
              <a:t>核心作用：保护边缘信息，控制输出尺寸</a:t>
            </a:r>
            <a:endParaRPr lang="zh-CN" altLang="en-US" dirty="0"/>
          </a:p>
        </p:txBody>
      </p:sp>
      <p:sp>
        <p:nvSpPr>
          <p:cNvPr id="5" name="AutoShape 2" descr="飞书文档 - 图片"/>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7" name="图片 6"/>
          <p:cNvPicPr>
            <a:picLocks noChangeAspect="1"/>
          </p:cNvPicPr>
          <p:nvPr/>
        </p:nvPicPr>
        <p:blipFill>
          <a:blip r:embed="rId1"/>
          <a:stretch>
            <a:fillRect/>
          </a:stretch>
        </p:blipFill>
        <p:spPr>
          <a:xfrm>
            <a:off x="2717974" y="3186755"/>
            <a:ext cx="3530425" cy="3537228"/>
          </a:xfrm>
          <a:prstGeom prst="rect">
            <a:avLst/>
          </a:prstGeom>
        </p:spPr>
      </p:pic>
      <p:sp>
        <p:nvSpPr>
          <p:cNvPr id="8" name="文本框 7"/>
          <p:cNvSpPr txBox="1"/>
          <p:nvPr/>
        </p:nvSpPr>
        <p:spPr>
          <a:xfrm>
            <a:off x="138737" y="6404292"/>
            <a:ext cx="2364827"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7174"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758" y="2781037"/>
            <a:ext cx="5528964" cy="34146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卷积层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zh-CN" altLang="en-US" dirty="0"/>
              <a:t>重要概念</a:t>
            </a:r>
            <a:r>
              <a:rPr lang="en-US" altLang="zh-CN" dirty="0"/>
              <a:t>——</a:t>
            </a:r>
            <a:r>
              <a:rPr lang="zh-CN" altLang="en-US" b="1" dirty="0"/>
              <a:t>感受野</a:t>
            </a:r>
            <a:r>
              <a:rPr lang="zh-CN" altLang="en-US" dirty="0"/>
              <a:t>：某一层的一个神经元，能看到输入图像的多大范围</a:t>
            </a:r>
            <a:endParaRPr lang="zh-CN" altLang="en-US" dirty="0"/>
          </a:p>
        </p:txBody>
      </p:sp>
      <p:sp>
        <p:nvSpPr>
          <p:cNvPr id="6" name="文本框 5"/>
          <p:cNvSpPr txBox="1"/>
          <p:nvPr/>
        </p:nvSpPr>
        <p:spPr>
          <a:xfrm>
            <a:off x="7322735" y="2421366"/>
            <a:ext cx="1809882"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3*3</a:t>
            </a:r>
            <a:r>
              <a:rPr lang="zh-CN" altLang="en-US" sz="2400" dirty="0">
                <a:solidFill>
                  <a:schemeClr val="accent1"/>
                </a:solidFill>
                <a:latin typeface="微软雅黑" panose="020B0503020204020204" pitchFamily="34" charset="-122"/>
                <a:ea typeface="微软雅黑" panose="020B0503020204020204" pitchFamily="34" charset="-122"/>
              </a:rPr>
              <a:t>滤波器</a:t>
            </a:r>
            <a:r>
              <a:rPr lang="en-US" altLang="zh-CN" sz="2400" dirty="0">
                <a:solidFill>
                  <a:schemeClr val="accent1"/>
                </a:solidFill>
                <a:latin typeface="微软雅黑" panose="020B0503020204020204" pitchFamily="34" charset="-122"/>
                <a:ea typeface="微软雅黑" panose="020B0503020204020204" pitchFamily="34" charset="-122"/>
              </a:rPr>
              <a:t>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429694" y="2382651"/>
            <a:ext cx="6789684" cy="1804081"/>
          </a:xfrm>
          <a:prstGeom prst="rect">
            <a:avLst/>
          </a:prstGeom>
        </p:spPr>
      </p:pic>
      <p:sp>
        <p:nvSpPr>
          <p:cNvPr id="8" name="文本框 7"/>
          <p:cNvSpPr txBox="1"/>
          <p:nvPr/>
        </p:nvSpPr>
        <p:spPr>
          <a:xfrm>
            <a:off x="2666055" y="4251967"/>
            <a:ext cx="12488333" cy="213904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a:spcAft>
                <a:spcPts val="600"/>
              </a:spcAft>
            </a:pPr>
            <a:r>
              <a:rPr lang="en-US" altLang="zh-CN" sz="2400" dirty="0">
                <a:solidFill>
                  <a:schemeClr val="accent1"/>
                </a:solidFill>
                <a:latin typeface="微软雅黑" panose="020B0503020204020204" pitchFamily="34" charset="-122"/>
                <a:ea typeface="微软雅黑" panose="020B0503020204020204" pitchFamily="34" charset="-122"/>
              </a:rPr>
              <a:t>input</a:t>
            </a:r>
            <a:r>
              <a:rPr lang="zh-CN" altLang="en-US" sz="2400" dirty="0">
                <a:solidFill>
                  <a:schemeClr val="accent1"/>
                </a:solidFill>
                <a:latin typeface="微软雅黑" panose="020B0503020204020204" pitchFamily="34" charset="-122"/>
                <a:ea typeface="微软雅黑" panose="020B0503020204020204" pitchFamily="34" charset="-122"/>
              </a:rPr>
              <a:t>即图像本身</a:t>
            </a:r>
            <a:endParaRPr lang="en-US" altLang="zh-CN" sz="2400" dirty="0">
              <a:solidFill>
                <a:schemeClr val="accent1"/>
              </a:solidFill>
              <a:latin typeface="微软雅黑" panose="020B0503020204020204" pitchFamily="34" charset="-122"/>
              <a:ea typeface="微软雅黑" panose="020B0503020204020204" pitchFamily="34" charset="-122"/>
            </a:endParaRPr>
          </a:p>
          <a:p>
            <a:pPr>
              <a:spcAft>
                <a:spcPts val="600"/>
              </a:spcAft>
            </a:pPr>
            <a:r>
              <a:rPr lang="zh-CN" altLang="en-US" sz="2400" dirty="0">
                <a:solidFill>
                  <a:schemeClr val="accent1"/>
                </a:solidFill>
                <a:latin typeface="微软雅黑" panose="020B0503020204020204" pitchFamily="34" charset="-122"/>
                <a:ea typeface="微软雅黑" panose="020B0503020204020204" pitchFamily="34" charset="-122"/>
              </a:rPr>
              <a:t>通过第一层的卷积，单元格可以感受到原始图像单元格</a:t>
            </a:r>
            <a:r>
              <a:rPr lang="en-US" altLang="zh-CN" sz="2400" dirty="0">
                <a:solidFill>
                  <a:schemeClr val="accent1"/>
                </a:solidFill>
                <a:latin typeface="微软雅黑" panose="020B0503020204020204" pitchFamily="34" charset="-122"/>
                <a:ea typeface="微软雅黑" panose="020B0503020204020204" pitchFamily="34" charset="-122"/>
              </a:rPr>
              <a:t>3*3</a:t>
            </a:r>
            <a:r>
              <a:rPr lang="zh-CN" altLang="en-US" sz="2400" dirty="0">
                <a:solidFill>
                  <a:schemeClr val="accent1"/>
                </a:solidFill>
                <a:latin typeface="微软雅黑" panose="020B0503020204020204" pitchFamily="34" charset="-122"/>
                <a:ea typeface="微软雅黑" panose="020B0503020204020204" pitchFamily="34" charset="-122"/>
              </a:rPr>
              <a:t>的大小</a:t>
            </a:r>
            <a:endParaRPr lang="en-US" altLang="zh-CN" sz="2400" dirty="0">
              <a:solidFill>
                <a:schemeClr val="accent1"/>
              </a:solidFill>
              <a:latin typeface="微软雅黑" panose="020B0503020204020204" pitchFamily="34" charset="-122"/>
              <a:ea typeface="微软雅黑" panose="020B0503020204020204" pitchFamily="34" charset="-122"/>
            </a:endParaRPr>
          </a:p>
          <a:p>
            <a:pPr>
              <a:spcAft>
                <a:spcPts val="600"/>
              </a:spcAft>
            </a:pPr>
            <a:r>
              <a:rPr lang="zh-CN" altLang="en-US" sz="2400" dirty="0">
                <a:solidFill>
                  <a:schemeClr val="accent1"/>
                </a:solidFill>
                <a:latin typeface="微软雅黑" panose="020B0503020204020204" pitchFamily="34" charset="-122"/>
                <a:ea typeface="微软雅黑" panose="020B0503020204020204" pitchFamily="34" charset="-122"/>
              </a:rPr>
              <a:t>通过第二层的卷积，单元格可以感受到原始图像单元格</a:t>
            </a:r>
            <a:r>
              <a:rPr lang="en-US" altLang="zh-CN" sz="2400" dirty="0">
                <a:solidFill>
                  <a:schemeClr val="accent1"/>
                </a:solidFill>
                <a:latin typeface="微软雅黑" panose="020B0503020204020204" pitchFamily="34" charset="-122"/>
                <a:ea typeface="微软雅黑" panose="020B0503020204020204" pitchFamily="34" charset="-122"/>
              </a:rPr>
              <a:t>5*5</a:t>
            </a:r>
            <a:r>
              <a:rPr lang="zh-CN" altLang="en-US" sz="2400" dirty="0">
                <a:solidFill>
                  <a:schemeClr val="accent1"/>
                </a:solidFill>
                <a:latin typeface="微软雅黑" panose="020B0503020204020204" pitchFamily="34" charset="-122"/>
                <a:ea typeface="微软雅黑" panose="020B0503020204020204" pitchFamily="34" charset="-122"/>
              </a:rPr>
              <a:t>的大小</a:t>
            </a:r>
            <a:endParaRPr lang="en-US" altLang="zh-CN" sz="2400" dirty="0">
              <a:solidFill>
                <a:schemeClr val="accent1"/>
              </a:solidFill>
              <a:latin typeface="微软雅黑" panose="020B0503020204020204" pitchFamily="34" charset="-122"/>
              <a:ea typeface="微软雅黑" panose="020B0503020204020204" pitchFamily="34" charset="-122"/>
            </a:endParaRPr>
          </a:p>
          <a:p>
            <a:pPr>
              <a:spcAft>
                <a:spcPts val="600"/>
              </a:spcAft>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60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5" name="文本框 4"/>
          <p:cNvSpPr txBox="1"/>
          <p:nvPr/>
        </p:nvSpPr>
        <p:spPr>
          <a:xfrm>
            <a:off x="8910222" y="2736502"/>
            <a:ext cx="4149932" cy="138499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rgbClr val="FF0000"/>
                </a:solidFill>
                <a:latin typeface="微软雅黑" panose="020B0503020204020204" pitchFamily="34" charset="-122"/>
                <a:ea typeface="微软雅黑" panose="020B0503020204020204" pitchFamily="34" charset="-122"/>
              </a:rPr>
              <a:t>输入图像感受野是</a:t>
            </a:r>
            <a:r>
              <a:rPr lang="en-US" altLang="zh-CN" sz="2400" dirty="0">
                <a:solidFill>
                  <a:srgbClr val="FF0000"/>
                </a:solidFill>
                <a:latin typeface="微软雅黑" panose="020B0503020204020204" pitchFamily="34" charset="-122"/>
                <a:ea typeface="微软雅黑" panose="020B0503020204020204" pitchFamily="34" charset="-122"/>
              </a:rPr>
              <a:t>1</a:t>
            </a:r>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rPr>
              <a:t>第一层的感受野是</a:t>
            </a:r>
            <a:r>
              <a:rPr lang="en-US" altLang="zh-CN" sz="2400" dirty="0">
                <a:solidFill>
                  <a:srgbClr val="FF0000"/>
                </a:solidFill>
                <a:latin typeface="微软雅黑" panose="020B0503020204020204" pitchFamily="34" charset="-122"/>
                <a:ea typeface="微软雅黑" panose="020B0503020204020204" pitchFamily="34" charset="-122"/>
              </a:rPr>
              <a:t>3</a:t>
            </a:r>
            <a:endParaRPr lang="en-US" altLang="zh-CN" sz="2400" dirty="0">
              <a:solidFill>
                <a:srgbClr val="FF0000"/>
              </a:solidFill>
              <a:latin typeface="微软雅黑" panose="020B0503020204020204" pitchFamily="34" charset="-122"/>
              <a:ea typeface="微软雅黑" panose="020B0503020204020204" pitchFamily="34" charset="-122"/>
            </a:endParaRPr>
          </a:p>
          <a:p>
            <a:r>
              <a:rPr lang="zh-CN" altLang="en-US" sz="2400" dirty="0">
                <a:solidFill>
                  <a:srgbClr val="FF0000"/>
                </a:solidFill>
                <a:latin typeface="微软雅黑" panose="020B0503020204020204" pitchFamily="34" charset="-122"/>
                <a:ea typeface="微软雅黑" panose="020B0503020204020204" pitchFamily="34" charset="-122"/>
              </a:rPr>
              <a:t>第二层的感受野是</a:t>
            </a:r>
            <a:r>
              <a:rPr lang="en-US" altLang="zh-CN" sz="2400" dirty="0">
                <a:solidFill>
                  <a:srgbClr val="FF0000"/>
                </a:solidFill>
                <a:latin typeface="微软雅黑" panose="020B0503020204020204" pitchFamily="34" charset="-122"/>
                <a:ea typeface="微软雅黑" panose="020B0503020204020204" pitchFamily="34" charset="-122"/>
              </a:rPr>
              <a:t>5</a:t>
            </a:r>
            <a:endParaRPr lang="en-US" altLang="zh-CN" sz="2400" dirty="0">
              <a:solidFill>
                <a:srgbClr val="FF0000"/>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0" name="文本框 9"/>
          <p:cNvSpPr txBox="1"/>
          <p:nvPr/>
        </p:nvSpPr>
        <p:spPr>
          <a:xfrm>
            <a:off x="901700" y="5869562"/>
            <a:ext cx="10452100" cy="8309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spcAft>
                <a:spcPts val="600"/>
              </a:spcAft>
            </a:pPr>
            <a:r>
              <a:rPr lang="zh-CN" altLang="en-US" sz="2400" dirty="0">
                <a:solidFill>
                  <a:schemeClr val="accent1"/>
                </a:solidFill>
                <a:latin typeface="微软雅黑" panose="020B0503020204020204" pitchFamily="34" charset="-122"/>
                <a:ea typeface="微软雅黑" panose="020B0503020204020204" pitchFamily="34" charset="-122"/>
              </a:rPr>
              <a:t>随着网络加深，多个卷积层和池化层叠加起来，感受野不断扩大，最后就能整合更大范围的信息，用来识别物体整体语义</a:t>
            </a:r>
            <a:endParaRPr lang="en-US" altLang="zh-CN"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激活层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zh-CN" altLang="en-US" dirty="0"/>
              <a:t>当卷积核扫过图像，算出一张特征图后，特征图上的每一个数字都会被送进激活层，经过一个数学函数的处理，然后再输出给下一层</a:t>
            </a:r>
            <a:endParaRPr lang="en-US" altLang="zh-CN" dirty="0"/>
          </a:p>
          <a:p>
            <a:pPr marL="0" indent="0">
              <a:buNone/>
            </a:pPr>
            <a:endParaRPr lang="en-US" altLang="zh-CN" dirty="0"/>
          </a:p>
          <a:p>
            <a:pPr marL="0" indent="0">
              <a:buNone/>
            </a:pPr>
            <a:r>
              <a:rPr lang="zh-CN" altLang="en-US" dirty="0"/>
              <a:t>比较主流的激活函数举例 </a:t>
            </a:r>
            <a:r>
              <a:rPr lang="en-US" altLang="zh-CN" dirty="0" err="1"/>
              <a:t>ReLU</a:t>
            </a:r>
            <a:r>
              <a:rPr lang="en-US" altLang="zh-CN" dirty="0"/>
              <a:t> </a:t>
            </a:r>
            <a:r>
              <a:rPr lang="zh-CN" altLang="en-US" dirty="0"/>
              <a:t>函数</a:t>
            </a:r>
            <a:endParaRPr lang="zh-CN" altLang="en-US" dirty="0"/>
          </a:p>
        </p:txBody>
      </p:sp>
      <p:pic>
        <p:nvPicPr>
          <p:cNvPr id="5" name="图片 4"/>
          <p:cNvPicPr>
            <a:picLocks noChangeAspect="1"/>
          </p:cNvPicPr>
          <p:nvPr/>
        </p:nvPicPr>
        <p:blipFill>
          <a:blip r:embed="rId1"/>
          <a:stretch>
            <a:fillRect/>
          </a:stretch>
        </p:blipFill>
        <p:spPr>
          <a:xfrm>
            <a:off x="6096000" y="2863412"/>
            <a:ext cx="4059555" cy="2708910"/>
          </a:xfrm>
          <a:prstGeom prst="rect">
            <a:avLst/>
          </a:prstGeom>
        </p:spPr>
      </p:pic>
      <p:sp>
        <p:nvSpPr>
          <p:cNvPr id="6" name="文本框 5"/>
          <p:cNvSpPr txBox="1"/>
          <p:nvPr/>
        </p:nvSpPr>
        <p:spPr>
          <a:xfrm>
            <a:off x="138737" y="6404292"/>
            <a:ext cx="3512557"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激活层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池化层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zh-CN" altLang="en-US" dirty="0"/>
              <a:t>用一个“滑动窗口”在特征图上扫描，窗口扫到哪里，就对那里的数字做一个最简</a:t>
            </a:r>
            <a:endParaRPr lang="en-US" altLang="zh-CN" dirty="0"/>
          </a:p>
          <a:p>
            <a:pPr marL="0" indent="0">
              <a:buNone/>
            </a:pPr>
            <a:r>
              <a:rPr lang="zh-CN" altLang="en-US" dirty="0"/>
              <a:t>单的统计操作，输出一个单一的数字</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将卷积层提取出的特征图变小，同时尽可能保留最重要的特征信息</a:t>
            </a:r>
            <a:endParaRPr lang="zh-CN" altLang="en-US"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7001233" y="2565400"/>
            <a:ext cx="4749970" cy="2016654"/>
          </a:xfrm>
          <a:prstGeom prst="rect">
            <a:avLst/>
          </a:prstGeom>
        </p:spPr>
      </p:pic>
      <p:sp>
        <p:nvSpPr>
          <p:cNvPr id="6" name="文本框 5"/>
          <p:cNvSpPr txBox="1"/>
          <p:nvPr/>
        </p:nvSpPr>
        <p:spPr>
          <a:xfrm>
            <a:off x="138737" y="6404292"/>
            <a:ext cx="516986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激活层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池化层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池化层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6" name="图片 5"/>
          <p:cNvPicPr>
            <a:picLocks noChangeAspect="1"/>
          </p:cNvPicPr>
          <p:nvPr/>
        </p:nvPicPr>
        <p:blipFill>
          <a:blip r:embed="rId1"/>
          <a:stretch>
            <a:fillRect/>
          </a:stretch>
        </p:blipFill>
        <p:spPr>
          <a:xfrm>
            <a:off x="5422575" y="3270205"/>
            <a:ext cx="6551711" cy="2373625"/>
          </a:xfrm>
          <a:prstGeom prst="rect">
            <a:avLst/>
          </a:prstGeom>
        </p:spPr>
      </p:pic>
      <p:sp>
        <p:nvSpPr>
          <p:cNvPr id="5" name="AutoShape 2" descr="飞书文档 - 图片"/>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normAutofit/>
          </a:bodyPr>
          <a:lstStyle/>
          <a:p>
            <a:pPr marL="0" indent="0">
              <a:buNone/>
            </a:pPr>
            <a:r>
              <a:rPr lang="zh-CN" altLang="en-US" dirty="0"/>
              <a:t>池化方式：</a:t>
            </a:r>
            <a:endParaRPr lang="en-US" altLang="zh-CN" dirty="0"/>
          </a:p>
          <a:p>
            <a:pPr>
              <a:buFont typeface="Wingdings" panose="05000000000000000000" pitchFamily="2" charset="2"/>
              <a:buChar char="Ø"/>
            </a:pPr>
            <a:r>
              <a:rPr lang="zh-CN" altLang="en-US" dirty="0"/>
              <a:t>最大池化：选出滑动窗口内</a:t>
            </a:r>
            <a:r>
              <a:rPr lang="zh-CN" altLang="en-US" b="1" dirty="0"/>
              <a:t>最大</a:t>
            </a:r>
            <a:r>
              <a:rPr lang="zh-CN" altLang="en-US" dirty="0"/>
              <a:t>的那个数字保留，丢弃其他数字</a:t>
            </a:r>
            <a:endParaRPr lang="en-US" altLang="zh-CN" dirty="0"/>
          </a:p>
          <a:p>
            <a:pPr>
              <a:buFont typeface="Wingdings" panose="05000000000000000000" pitchFamily="2" charset="2"/>
              <a:buChar char="Ø"/>
            </a:pPr>
            <a:r>
              <a:rPr lang="zh-CN" altLang="en-US" dirty="0"/>
              <a:t>平均池化：将滑动窗口内的所有数值</a:t>
            </a:r>
            <a:r>
              <a:rPr lang="zh-CN" altLang="en-US" b="1" dirty="0"/>
              <a:t>取平均值</a:t>
            </a:r>
            <a:endParaRPr lang="en-US" altLang="zh-CN" b="1" dirty="0"/>
          </a:p>
          <a:p>
            <a:pPr marL="0" indent="0">
              <a:buNone/>
            </a:pPr>
            <a:endParaRPr lang="en-US" altLang="zh-CN" dirty="0"/>
          </a:p>
          <a:p>
            <a:pPr marL="0" indent="0">
              <a:buNone/>
            </a:pPr>
            <a:r>
              <a:rPr lang="zh-CN" altLang="en-US" dirty="0"/>
              <a:t>作用：</a:t>
            </a:r>
            <a:endParaRPr lang="en-US" altLang="zh-CN" dirty="0"/>
          </a:p>
          <a:p>
            <a:r>
              <a:rPr lang="zh-CN" altLang="en-US" dirty="0"/>
              <a:t>降维和减负</a:t>
            </a:r>
            <a:endParaRPr lang="en-US" altLang="zh-CN" dirty="0"/>
          </a:p>
          <a:p>
            <a:r>
              <a:rPr lang="zh-CN" altLang="en-US" dirty="0"/>
              <a:t>提取主要特征、去除噪音</a:t>
            </a:r>
            <a:endParaRPr lang="zh-CN" altLang="en-US" dirty="0"/>
          </a:p>
          <a:p>
            <a:r>
              <a:rPr lang="zh-CN" altLang="en-US" dirty="0"/>
              <a:t>控制过拟合</a:t>
            </a:r>
            <a:endParaRPr lang="zh-CN" altLang="en-US" dirty="0"/>
          </a:p>
          <a:p>
            <a:pPr marL="0" indent="0">
              <a:buNone/>
            </a:pPr>
            <a:endParaRPr lang="zh-CN" altLang="en-US" dirty="0"/>
          </a:p>
        </p:txBody>
      </p:sp>
      <p:sp>
        <p:nvSpPr>
          <p:cNvPr id="7" name="文本框 6"/>
          <p:cNvSpPr txBox="1"/>
          <p:nvPr/>
        </p:nvSpPr>
        <p:spPr>
          <a:xfrm>
            <a:off x="138737" y="6404292"/>
            <a:ext cx="516986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激活层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池化层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0739471" y="5299119"/>
            <a:ext cx="2043211" cy="24622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1600" dirty="0">
                <a:solidFill>
                  <a:schemeClr val="accent1"/>
                </a:solidFill>
                <a:latin typeface="微软雅黑" panose="020B0503020204020204" pitchFamily="34" charset="-122"/>
                <a:ea typeface="微软雅黑" panose="020B0503020204020204" pitchFamily="34" charset="-122"/>
              </a:rPr>
              <a:t>最大池化举例</a:t>
            </a:r>
            <a:endParaRPr lang="zh-CN" altLang="en-US" sz="16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全连接层</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5" name="Rectangle 1"/>
          <p:cNvSpPr>
            <a:spLocks noGrp="1" noChangeArrowheads="1"/>
          </p:cNvSpPr>
          <p:nvPr>
            <p:ph type="body" idx="1"/>
          </p:nvPr>
        </p:nvSpPr>
        <p:spPr bwMode="auto">
          <a:xfrm>
            <a:off x="838200" y="1809105"/>
            <a:ext cx="1082675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lang="zh-CN" altLang="en-US" dirty="0"/>
              <a:t>需要将所有提取出的特征进行整合，把提取到的高层特征映射到类别空间</a:t>
            </a:r>
            <a:endParaRPr lang="en-US" altLang="zh-CN" dirty="0"/>
          </a:p>
        </p:txBody>
      </p:sp>
      <p:sp>
        <p:nvSpPr>
          <p:cNvPr id="6" name="文本框 5"/>
          <p:cNvSpPr txBox="1"/>
          <p:nvPr/>
        </p:nvSpPr>
        <p:spPr>
          <a:xfrm>
            <a:off x="138737" y="6404292"/>
            <a:ext cx="835756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输入层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卷积层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激活层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池化层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全连接层</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输出层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7" name="图片 6"/>
          <p:cNvPicPr>
            <a:picLocks noChangeAspect="1"/>
          </p:cNvPicPr>
          <p:nvPr/>
        </p:nvPicPr>
        <p:blipFill>
          <a:blip r:embed="rId1"/>
          <a:stretch>
            <a:fillRect/>
          </a:stretch>
        </p:blipFill>
        <p:spPr>
          <a:xfrm>
            <a:off x="930275" y="2374222"/>
            <a:ext cx="10331450" cy="3449988"/>
          </a:xfrm>
          <a:prstGeom prst="rect">
            <a:avLst/>
          </a:prstGeom>
        </p:spPr>
      </p:pic>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CNN</a:t>
            </a:r>
            <a:r>
              <a:rPr lang="zh-CN" altLang="en-US" dirty="0"/>
              <a:t>的具体实例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graphicFrame>
        <p:nvGraphicFramePr>
          <p:cNvPr id="6" name="表格 5"/>
          <p:cNvGraphicFramePr>
            <a:graphicFrameLocks noGrp="1"/>
          </p:cNvGraphicFramePr>
          <p:nvPr>
            <p:custDataLst>
              <p:tags r:id="rId1"/>
            </p:custDataLst>
          </p:nvPr>
        </p:nvGraphicFramePr>
        <p:xfrm>
          <a:off x="50801" y="1903518"/>
          <a:ext cx="11988800" cy="4240320"/>
        </p:xfrm>
        <a:graphic>
          <a:graphicData uri="http://schemas.openxmlformats.org/drawingml/2006/table">
            <a:tbl>
              <a:tblPr firstRow="1" firstCol="1">
                <a:tableStyleId>{CF821DB8-F4EB-4A41-A1BA-3FCAFE7338EE}</a:tableStyleId>
              </a:tblPr>
              <a:tblGrid>
                <a:gridCol w="1994083"/>
                <a:gridCol w="2315596"/>
                <a:gridCol w="1557686"/>
                <a:gridCol w="3002014"/>
                <a:gridCol w="3119421"/>
              </a:tblGrid>
              <a:tr h="808620">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网络名称</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核心层数</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激活函数</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池化方式</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核心突破</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en-US" altLang="zh-CN" sz="2000" b="0" dirty="0" err="1">
                          <a:latin typeface="微软雅黑" panose="020B0503020204020204" pitchFamily="34" charset="-122"/>
                          <a:ea typeface="微软雅黑" panose="020B0503020204020204" pitchFamily="34" charset="-122"/>
                          <a:cs typeface="Arial" panose="020B0604020202020204" pitchFamily="34" charset="0"/>
                        </a:rPr>
                        <a:t>LeNet</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5</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层</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Sigmoid / Tanh</a:t>
                      </a:r>
                      <a:endPar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p>
                      <a:pPr marL="0" marR="0" indent="0" algn="ctr" defTabSz="914400" rtl="0" eaLnBrk="1" latinLnBrk="0" hangingPunct="1">
                        <a:lnSpc>
                          <a:spcPct val="100000"/>
                        </a:lnSpc>
                        <a:spcBef>
                          <a:spcPts val="0"/>
                        </a:spcBef>
                        <a:spcAft>
                          <a:spcPts val="0"/>
                        </a:spcAft>
                        <a:buClrTx/>
                        <a:buSzTx/>
                        <a:buFontTx/>
                        <a:buNone/>
                      </a:pP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平均池化</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奠定了现代</a:t>
                      </a:r>
                      <a:r>
                        <a:rPr lang="en-US" altLang="zh-CN"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CNN</a:t>
                      </a: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的基础范式</a:t>
                      </a:r>
                      <a:endPar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en-US" altLang="zh-CN" sz="2000" b="0" dirty="0" err="1">
                          <a:latin typeface="微软雅黑" panose="020B0503020204020204" pitchFamily="34" charset="-122"/>
                          <a:ea typeface="微软雅黑" panose="020B0503020204020204" pitchFamily="34" charset="-122"/>
                          <a:cs typeface="Arial" panose="020B0604020202020204" pitchFamily="34" charset="0"/>
                        </a:rPr>
                        <a:t>AlexNet</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层</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ReLU</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最大池化</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引入 </a:t>
                      </a:r>
                      <a:r>
                        <a:rPr lang="en-US" altLang="zh-CN" sz="1400" b="0" i="0" u="none" strike="noStrike" cap="none" spc="0" baseline="0" dirty="0" err="1">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ReLU</a:t>
                      </a:r>
                      <a:r>
                        <a:rPr lang="en-US" altLang="zh-CN"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a:t>
                      </a: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缓解梯度消失；引入 </a:t>
                      </a:r>
                      <a:r>
                        <a:rPr lang="en-US" altLang="zh-CN"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Dropout </a:t>
                      </a: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防止过拟合</a:t>
                      </a:r>
                      <a:endPar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en-US" altLang="zh-CN" sz="2000" b="0" dirty="0" err="1">
                          <a:latin typeface="微软雅黑" panose="020B0503020204020204" pitchFamily="34" charset="-122"/>
                          <a:ea typeface="微软雅黑" panose="020B0503020204020204" pitchFamily="34" charset="-122"/>
                          <a:cs typeface="Arial" panose="020B0604020202020204" pitchFamily="34" charset="0"/>
                        </a:rPr>
                        <a:t>VGGNet</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16-19</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层</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ReLU</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最大池化</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彻底摒弃大尺寸卷积核，证明了“连续堆叠 </a:t>
                      </a:r>
                      <a:r>
                        <a:rPr lang="en-US" altLang="zh-CN"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3x3 </a:t>
                      </a: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小卷积核”在感受野和非线性表达上远优于单层大卷积</a:t>
                      </a:r>
                      <a:endPar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808620">
                <a:tc>
                  <a:txBody>
                    <a:bodyPr/>
                    <a:lstStyle/>
                    <a:p>
                      <a:pPr algn="ctr">
                        <a:buNone/>
                      </a:pPr>
                      <a:r>
                        <a:rPr lang="en-US" altLang="zh-CN" sz="2000" b="0" dirty="0" err="1">
                          <a:latin typeface="微软雅黑" panose="020B0503020204020204" pitchFamily="34" charset="-122"/>
                          <a:ea typeface="微软雅黑" panose="020B0503020204020204" pitchFamily="34" charset="-122"/>
                          <a:cs typeface="Arial" panose="020B0604020202020204" pitchFamily="34" charset="0"/>
                        </a:rPr>
                        <a:t>ResNet</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34-152</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层</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dirty="0" err="1">
                          <a:latin typeface="微软雅黑" panose="020B0503020204020204" pitchFamily="34" charset="-122"/>
                          <a:ea typeface="微软雅黑" panose="020B0503020204020204" pitchFamily="34" charset="-122"/>
                          <a:cs typeface="Times New Roman" panose="02020603050405020304" pitchFamily="18" charset="0"/>
                        </a:rPr>
                        <a:t>ReLU</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p>
                      <a:pPr algn="ctr">
                        <a:buNone/>
                      </a:pP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最大池化</a:t>
                      </a: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平均池化</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br>
                        <a:rPr lang="zh-CN" altLang="en-US" sz="800" dirty="0">
                          <a:solidFill>
                            <a:srgbClr val="1F1F1F"/>
                          </a:solidFill>
                          <a:effectLst/>
                          <a:latin typeface="Google Sans Text"/>
                        </a:rPr>
                      </a:b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引入残差连接（</a:t>
                      </a:r>
                      <a:r>
                        <a:rPr lang="en-US" altLang="zh-CN"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Shortcut</a:t>
                      </a:r>
                      <a:r>
                        <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）成功解决极深网络的退化问题</a:t>
                      </a:r>
                      <a:endParaRPr lang="zh-CN" altLang="en-US" sz="1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1247" y="168847"/>
            <a:ext cx="10515600" cy="1325563"/>
          </a:xfrm>
        </p:spPr>
        <p:txBody>
          <a:bodyPr/>
          <a:lstStyle/>
          <a:p>
            <a:r>
              <a:rPr lang="en-US" altLang="zh-CN" dirty="0" err="1"/>
              <a:t>LeNet</a:t>
            </a:r>
            <a:r>
              <a:rPr lang="en-US" altLang="zh-CN" dirty="0"/>
              <a:t> </a:t>
            </a:r>
            <a:r>
              <a:rPr lang="zh-CN" altLang="en-US" dirty="0"/>
              <a:t>网络</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39875" y="1456746"/>
            <a:ext cx="11140214" cy="4351338"/>
          </a:xfrm>
        </p:spPr>
        <p:txBody>
          <a:bodyPr/>
          <a:lstStyle/>
          <a:p>
            <a:pPr marL="0" indent="0">
              <a:buNone/>
            </a:pPr>
            <a:r>
              <a:rPr lang="en-US" altLang="zh-CN" dirty="0"/>
              <a:t>3</a:t>
            </a:r>
            <a:r>
              <a:rPr lang="zh-CN" altLang="en-US" dirty="0"/>
              <a:t>层卷积层：</a:t>
            </a:r>
            <a:r>
              <a:rPr lang="en-US" altLang="zh-CN" dirty="0"/>
              <a:t>C1 C3 C5</a:t>
            </a:r>
            <a:endParaRPr lang="en-US" altLang="zh-CN" dirty="0"/>
          </a:p>
          <a:p>
            <a:pPr marL="0" indent="0">
              <a:buNone/>
            </a:pPr>
            <a:r>
              <a:rPr lang="en-US" altLang="zh-CN" dirty="0"/>
              <a:t>2</a:t>
            </a:r>
            <a:r>
              <a:rPr lang="zh-CN" altLang="en-US" dirty="0"/>
              <a:t>层池化层：</a:t>
            </a:r>
            <a:r>
              <a:rPr lang="en-US" altLang="zh-CN" dirty="0"/>
              <a:t>S2  S4</a:t>
            </a:r>
            <a:endParaRPr lang="en-US" altLang="zh-CN" dirty="0"/>
          </a:p>
          <a:p>
            <a:pPr marL="0" indent="0">
              <a:buNone/>
            </a:pPr>
            <a:r>
              <a:rPr lang="en-US" altLang="zh-CN" dirty="0"/>
              <a:t>1</a:t>
            </a:r>
            <a:r>
              <a:rPr lang="zh-CN" altLang="en-US" dirty="0"/>
              <a:t>层全连接层：</a:t>
            </a:r>
            <a:r>
              <a:rPr lang="en-US" altLang="zh-CN" dirty="0"/>
              <a:t>F6</a:t>
            </a:r>
            <a:endParaRPr lang="en-US" altLang="zh-CN" dirty="0"/>
          </a:p>
        </p:txBody>
      </p:sp>
      <p:pic>
        <p:nvPicPr>
          <p:cNvPr id="5" name="图片 4"/>
          <p:cNvPicPr>
            <a:picLocks noChangeAspect="1"/>
          </p:cNvPicPr>
          <p:nvPr/>
        </p:nvPicPr>
        <p:blipFill>
          <a:blip r:embed="rId1"/>
          <a:stretch>
            <a:fillRect/>
          </a:stretch>
        </p:blipFill>
        <p:spPr>
          <a:xfrm>
            <a:off x="3510661" y="971050"/>
            <a:ext cx="6525694" cy="1961274"/>
          </a:xfrm>
          <a:prstGeom prst="rect">
            <a:avLst/>
          </a:prstGeom>
        </p:spPr>
      </p:pic>
      <p:sp>
        <p:nvSpPr>
          <p:cNvPr id="6" name="标题 1"/>
          <p:cNvSpPr txBox="1"/>
          <p:nvPr/>
        </p:nvSpPr>
        <p:spPr>
          <a:xfrm>
            <a:off x="139875" y="2927356"/>
            <a:ext cx="10515600" cy="1325563"/>
          </a:xfrm>
          <a:prstGeom prst="rect">
            <a:avLst/>
          </a:prstGeom>
          <a:ln w="12700">
            <a:miter lim="400000"/>
          </a:ln>
        </p:spPr>
        <p:txBody>
          <a:bodyPr lIns="45719" rIns="45719" anchor="ctr">
            <a:normAutofit fontScale="90000" lnSpcReduction="20000"/>
          </a:bodyPr>
          <a:lstStyle>
            <a:lvl1pPr marL="0" marR="0" indent="0" algn="l" defTabSz="914400" rtl="0" eaLnBrk="1" latinLnBrk="0" hangingPunct="1">
              <a:lnSpc>
                <a:spcPct val="90000"/>
              </a:lnSpc>
              <a:spcBef>
                <a:spcPts val="0"/>
              </a:spcBef>
              <a:spcAft>
                <a:spcPts val="0"/>
              </a:spcAft>
              <a:buClrTx/>
              <a:buSzTx/>
              <a:buFontTx/>
              <a:buNone/>
              <a:defRPr sz="40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Light" panose="02010600030101010101" charset="-122"/>
              </a:defRPr>
            </a:lvl1pPr>
            <a:lvl2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br>
              <a:rPr lang="en-US" altLang="zh-CN" dirty="0"/>
            </a:br>
            <a:r>
              <a:rPr lang="en-US" altLang="zh-CN" dirty="0" err="1"/>
              <a:t>AlexNet</a:t>
            </a:r>
            <a:r>
              <a:rPr lang="en-US" altLang="zh-CN" dirty="0"/>
              <a:t> </a:t>
            </a:r>
            <a:r>
              <a:rPr lang="zh-CN" altLang="en-US" dirty="0"/>
              <a:t>网络</a:t>
            </a:r>
            <a:br>
              <a:rPr lang="en-US" altLang="zh-CN" b="1" dirty="0">
                <a:solidFill>
                  <a:srgbClr val="4F4F4F"/>
                </a:solidFill>
                <a:latin typeface="PingFang SC"/>
              </a:rPr>
            </a:br>
            <a:endParaRPr lang="zh-CN" altLang="en-US" dirty="0"/>
          </a:p>
        </p:txBody>
      </p:sp>
      <p:sp>
        <p:nvSpPr>
          <p:cNvPr id="7" name="文本占位符 3"/>
          <p:cNvSpPr txBox="1"/>
          <p:nvPr/>
        </p:nvSpPr>
        <p:spPr>
          <a:xfrm>
            <a:off x="139875" y="4167902"/>
            <a:ext cx="11140214" cy="4351338"/>
          </a:xfrm>
          <a:prstGeom prst="rect">
            <a:avLst/>
          </a:prstGeom>
          <a:ln w="12700">
            <a:miter lim="400000"/>
          </a:ln>
        </p:spPr>
        <p:txBody>
          <a:bodyPr lIns="45719" rIns="45719">
            <a:normAutofit/>
          </a:bodyPr>
          <a:lstStyle>
            <a:lvl1pPr marL="228600" marR="0" indent="-2286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1pPr>
            <a:lvl2pPr marL="723900" marR="0" indent="-2667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2pPr>
            <a:lvl3pPr marL="1234440" marR="0" indent="-32004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3pPr>
            <a:lvl4pPr marL="1727200" marR="0" indent="-3556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4pPr>
            <a:lvl5pPr marL="2184400" marR="0" indent="-355600" algn="l" defTabSz="914400" rtl="0" eaLnBrk="1" latinLnBrk="0" hangingPunct="1">
              <a:lnSpc>
                <a:spcPct val="90000"/>
              </a:lnSpc>
              <a:spcBef>
                <a:spcPts val="1000"/>
              </a:spcBef>
              <a:spcAft>
                <a:spcPts val="0"/>
              </a:spcAft>
              <a:buClrTx/>
              <a:buSzPct val="100000"/>
              <a:buFont typeface="Arial" panose="020B0604020202020204"/>
              <a:buChar char="•"/>
              <a:defRPr sz="24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defRPr>
            </a:lvl5pPr>
            <a:lvl6pPr marL="26416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6pPr>
            <a:lvl7pPr marL="30988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7pPr>
            <a:lvl8pPr marL="35560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8pPr>
            <a:lvl9pPr marL="4013200" marR="0" indent="-355600" algn="l" defTabSz="914400" rtl="0" eaLnBrk="1" latinLnBrk="0" hangingPunct="1">
              <a:lnSpc>
                <a:spcPct val="90000"/>
              </a:lnSpc>
              <a:spcBef>
                <a:spcPts val="1000"/>
              </a:spcBef>
              <a:spcAft>
                <a:spcPts val="0"/>
              </a:spcAft>
              <a:buClrTx/>
              <a:buSzPct val="100000"/>
              <a:buFont typeface="Arial" panose="020B0604020202020204"/>
              <a:buChar char="•"/>
              <a:defRPr sz="2800" b="0" i="0" u="none" strike="noStrike" cap="none" spc="0" baseline="0">
                <a:solidFill>
                  <a:srgbClr val="000000"/>
                </a:solidFill>
                <a:uFillTx/>
                <a:latin typeface="等线" panose="02010600030101010101" charset="-122"/>
                <a:ea typeface="等线" panose="02010600030101010101" charset="-122"/>
                <a:cs typeface="等线" panose="02010600030101010101" charset="-122"/>
                <a:sym typeface="等线" panose="02010600030101010101" charset="-122"/>
              </a:defRPr>
            </a:lvl9pPr>
          </a:lstStyle>
          <a:p>
            <a:pPr marL="0" indent="0">
              <a:buFont typeface="Arial" panose="020B0604020202020204"/>
              <a:buNone/>
            </a:pPr>
            <a:r>
              <a:rPr lang="zh-CN" altLang="en-US" dirty="0"/>
              <a:t>相对于</a:t>
            </a:r>
            <a:r>
              <a:rPr lang="en-US" altLang="zh-CN" dirty="0" err="1"/>
              <a:t>LeNet</a:t>
            </a:r>
            <a:r>
              <a:rPr lang="zh-CN" altLang="en-US" dirty="0"/>
              <a:t>，他增加了</a:t>
            </a:r>
            <a:r>
              <a:rPr lang="en-US" altLang="zh-CN" dirty="0" err="1"/>
              <a:t>ReLU</a:t>
            </a:r>
            <a:r>
              <a:rPr lang="zh-CN" altLang="en-US" dirty="0"/>
              <a:t>激活层和</a:t>
            </a:r>
            <a:r>
              <a:rPr lang="en-US" altLang="zh-CN" dirty="0"/>
              <a:t>Dropout</a:t>
            </a:r>
            <a:r>
              <a:rPr lang="zh-CN" altLang="en-US" dirty="0"/>
              <a:t>层</a:t>
            </a:r>
            <a:endParaRPr lang="zh-CN" altLang="en-US" dirty="0"/>
          </a:p>
        </p:txBody>
      </p:sp>
      <p:sp>
        <p:nvSpPr>
          <p:cNvPr id="8" name="文本框 7"/>
          <p:cNvSpPr txBox="1"/>
          <p:nvPr/>
        </p:nvSpPr>
        <p:spPr>
          <a:xfrm>
            <a:off x="139875" y="4849336"/>
            <a:ext cx="8015189" cy="89255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342900" marR="0" indent="-342900" algn="l" defTabSz="914400" rtl="0" fontAlgn="auto" latinLnBrk="0" hangingPunct="0">
              <a:lnSpc>
                <a:spcPct val="100000"/>
              </a:lnSpc>
              <a:spcBef>
                <a:spcPts val="0"/>
              </a:spcBef>
              <a:spcAft>
                <a:spcPts val="600"/>
              </a:spcAft>
              <a:buClrTx/>
              <a:buSzTx/>
              <a:buFont typeface="Wingdings" panose="05000000000000000000" pitchFamily="2" charset="2"/>
              <a:buChar char="Ø"/>
            </a:pPr>
            <a:r>
              <a:rPr lang="zh-CN" altLang="en-US" sz="2400" dirty="0">
                <a:solidFill>
                  <a:schemeClr val="accent1"/>
                </a:solidFill>
                <a:latin typeface="微软雅黑" panose="020B0503020204020204" pitchFamily="34" charset="-122"/>
                <a:ea typeface="微软雅黑" panose="020B0503020204020204" pitchFamily="34" charset="-122"/>
              </a:rPr>
              <a:t>包含了 </a:t>
            </a:r>
            <a:r>
              <a:rPr lang="en-US" altLang="zh-CN" sz="2400" dirty="0">
                <a:solidFill>
                  <a:schemeClr val="accent1"/>
                </a:solidFill>
                <a:latin typeface="微软雅黑" panose="020B0503020204020204" pitchFamily="34" charset="-122"/>
                <a:ea typeface="微软雅黑" panose="020B0503020204020204" pitchFamily="34" charset="-122"/>
              </a:rPr>
              <a:t>8</a:t>
            </a:r>
            <a:r>
              <a:rPr lang="zh-CN" altLang="en-US" sz="2400" dirty="0">
                <a:solidFill>
                  <a:schemeClr val="accent1"/>
                </a:solidFill>
                <a:latin typeface="微软雅黑" panose="020B0503020204020204" pitchFamily="34" charset="-122"/>
                <a:ea typeface="微软雅黑" panose="020B0503020204020204" pitchFamily="34" charset="-122"/>
              </a:rPr>
              <a:t>个带权重的层（</a:t>
            </a:r>
            <a:r>
              <a:rPr lang="en-US" altLang="zh-CN" sz="2400" dirty="0">
                <a:solidFill>
                  <a:schemeClr val="accent1"/>
                </a:solidFill>
                <a:latin typeface="微软雅黑" panose="020B0503020204020204" pitchFamily="34" charset="-122"/>
                <a:ea typeface="微软雅黑" panose="020B0503020204020204" pitchFamily="34" charset="-122"/>
              </a:rPr>
              <a:t>5 </a:t>
            </a:r>
            <a:r>
              <a:rPr lang="zh-CN" altLang="en-US" sz="2400" dirty="0">
                <a:solidFill>
                  <a:schemeClr val="accent1"/>
                </a:solidFill>
                <a:latin typeface="微软雅黑" panose="020B0503020204020204" pitchFamily="34" charset="-122"/>
                <a:ea typeface="微软雅黑" panose="020B0503020204020204" pitchFamily="34" charset="-122"/>
              </a:rPr>
              <a:t>个卷积层 </a:t>
            </a:r>
            <a:r>
              <a:rPr lang="en-US" altLang="zh-CN" sz="2400" dirty="0">
                <a:solidFill>
                  <a:schemeClr val="accent1"/>
                </a:solidFill>
                <a:latin typeface="微软雅黑" panose="020B0503020204020204" pitchFamily="34" charset="-122"/>
                <a:ea typeface="微软雅黑" panose="020B0503020204020204" pitchFamily="34" charset="-122"/>
              </a:rPr>
              <a:t>+ 3 </a:t>
            </a:r>
            <a:r>
              <a:rPr lang="zh-CN" altLang="en-US" sz="2400" dirty="0">
                <a:solidFill>
                  <a:schemeClr val="accent1"/>
                </a:solidFill>
                <a:latin typeface="微软雅黑" panose="020B0503020204020204" pitchFamily="34" charset="-122"/>
                <a:ea typeface="微软雅黑" panose="020B0503020204020204" pitchFamily="34" charset="-122"/>
              </a:rPr>
              <a:t>个全连接层）</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342900" marR="0" indent="-342900" algn="l" defTabSz="914400" rtl="0" fontAlgn="auto" latinLnBrk="0" hangingPunct="0">
              <a:lnSpc>
                <a:spcPct val="100000"/>
              </a:lnSpc>
              <a:spcBef>
                <a:spcPts val="0"/>
              </a:spcBef>
              <a:spcAft>
                <a:spcPts val="600"/>
              </a:spcAft>
              <a:buClrTx/>
              <a:buSzTx/>
              <a:buFont typeface="Wingdings" panose="05000000000000000000" pitchFamily="2" charset="2"/>
              <a:buChar char="Ø"/>
            </a:pPr>
            <a:r>
              <a:rPr lang="zh-CN" altLang="en-US" sz="2400" dirty="0">
                <a:solidFill>
                  <a:schemeClr val="accent1"/>
                </a:solidFill>
                <a:latin typeface="微软雅黑" panose="020B0503020204020204" pitchFamily="34" charset="-122"/>
                <a:ea typeface="微软雅黑" panose="020B0503020204020204" pitchFamily="34" charset="-122"/>
              </a:rPr>
              <a:t>第一个卷积层使用了</a:t>
            </a:r>
            <a:r>
              <a:rPr lang="en-US" altLang="zh-CN" sz="2400" dirty="0">
                <a:solidFill>
                  <a:schemeClr val="accent1"/>
                </a:solidFill>
                <a:latin typeface="微软雅黑" panose="020B0503020204020204" pitchFamily="34" charset="-122"/>
                <a:ea typeface="微软雅黑" panose="020B0503020204020204" pitchFamily="34" charset="-122"/>
              </a:rPr>
              <a:t>11*11</a:t>
            </a:r>
            <a:r>
              <a:rPr lang="zh-CN" altLang="en-US" sz="2400" dirty="0">
                <a:solidFill>
                  <a:schemeClr val="accent1"/>
                </a:solidFill>
                <a:latin typeface="微软雅黑" panose="020B0503020204020204" pitchFamily="34" charset="-122"/>
                <a:ea typeface="微软雅黑" panose="020B0503020204020204" pitchFamily="34" charset="-122"/>
              </a:rPr>
              <a:t>的大卷积核，感受野增大</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9" name="图片 8"/>
          <p:cNvPicPr>
            <a:picLocks noChangeAspect="1"/>
          </p:cNvPicPr>
          <p:nvPr/>
        </p:nvPicPr>
        <p:blipFill>
          <a:blip r:embed="rId2"/>
          <a:stretch>
            <a:fillRect/>
          </a:stretch>
        </p:blipFill>
        <p:spPr>
          <a:xfrm>
            <a:off x="7611184" y="3294380"/>
            <a:ext cx="4580816" cy="3109912"/>
          </a:xfrm>
          <a:prstGeom prst="rect">
            <a:avLst/>
          </a:prstGeom>
        </p:spPr>
      </p:pic>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VGGNet</a:t>
            </a:r>
            <a:r>
              <a:rPr lang="en-US" altLang="zh-CN" dirty="0"/>
              <a:t> </a:t>
            </a:r>
            <a:r>
              <a:rPr lang="zh-CN" altLang="en-US" dirty="0"/>
              <a:t>网络</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7"/>
            <a:ext cx="11140214" cy="24435018"/>
          </a:xfrm>
        </p:spPr>
        <p:txBody>
          <a:bodyPr/>
          <a:lstStyle/>
          <a:p>
            <a:pPr marL="0" indent="0">
              <a:buNone/>
            </a:pPr>
            <a:r>
              <a:rPr lang="zh-CN" altLang="en-US" dirty="0"/>
              <a:t>核心要点：更深的网络结构，配合极小的卷积核，能取得比大卷积核好得多的效果</a:t>
            </a:r>
            <a:endParaRPr lang="en-US" altLang="zh-CN" dirty="0"/>
          </a:p>
          <a:p>
            <a:pPr>
              <a:buFont typeface="Arial" panose="020B0604020202020204" pitchFamily="34" charset="0"/>
              <a:buChar char="•"/>
            </a:pPr>
            <a:r>
              <a:rPr lang="zh-CN" altLang="en-US" dirty="0"/>
              <a:t>感受野等价：两个</a:t>
            </a:r>
            <a:r>
              <a:rPr lang="en-US" altLang="zh-CN" dirty="0"/>
              <a:t>3*3</a:t>
            </a:r>
            <a:r>
              <a:rPr lang="zh-CN" altLang="en-US" dirty="0"/>
              <a:t>的卷积层刚好等于一个</a:t>
            </a:r>
            <a:r>
              <a:rPr lang="en-US" altLang="zh-CN" dirty="0"/>
              <a:t>5*5</a:t>
            </a:r>
            <a:r>
              <a:rPr lang="zh-CN" altLang="en-US" dirty="0"/>
              <a:t>的卷积层</a:t>
            </a:r>
            <a:endParaRPr lang="en-US" altLang="zh-CN" dirty="0"/>
          </a:p>
          <a:p>
            <a:pPr>
              <a:buFont typeface="Arial" panose="020B0604020202020204" pitchFamily="34" charset="0"/>
              <a:buChar char="•"/>
            </a:pPr>
            <a:r>
              <a:rPr lang="zh-CN" altLang="en-US" dirty="0"/>
              <a:t>非线性表达能力更强：拟合复杂特征能力大幅度增强</a:t>
            </a:r>
            <a:endParaRPr lang="en-US" altLang="zh-CN" dirty="0"/>
          </a:p>
          <a:p>
            <a:pPr>
              <a:buFont typeface="Arial" panose="020B0604020202020204" pitchFamily="34" charset="0"/>
              <a:buChar char="•"/>
            </a:pPr>
            <a:r>
              <a:rPr lang="zh-CN" altLang="en-US" dirty="0"/>
              <a:t>参数量大幅度锐减：卷积核代替的方法可以让整体参数大幅度减少</a:t>
            </a:r>
            <a:endParaRPr lang="en-US" altLang="zh-CN" dirty="0"/>
          </a:p>
          <a:p>
            <a:pPr>
              <a:buFont typeface="Arial" panose="020B0604020202020204" pitchFamily="34" charset="0"/>
              <a:buChar char="•"/>
            </a:pPr>
            <a:endParaRPr lang="zh-CN" altLang="en-US" dirty="0"/>
          </a:p>
        </p:txBody>
      </p:sp>
      <p:sp>
        <p:nvSpPr>
          <p:cNvPr id="6" name="AutoShape 4" descr="以灯箱形式呈现的所选图片。"/>
          <p:cNvSpPr>
            <a:spLocks noChangeAspect="1" noChangeArrowheads="1"/>
          </p:cNvSpPr>
          <p:nvPr/>
        </p:nvSpPr>
        <p:spPr bwMode="auto">
          <a:xfrm>
            <a:off x="5943600" y="3276600"/>
            <a:ext cx="304800" cy="171161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9" name="图片 8"/>
          <p:cNvPicPr>
            <a:picLocks noChangeAspect="1"/>
          </p:cNvPicPr>
          <p:nvPr/>
        </p:nvPicPr>
        <p:blipFill>
          <a:blip r:embed="rId1"/>
          <a:stretch>
            <a:fillRect/>
          </a:stretch>
        </p:blipFill>
        <p:spPr>
          <a:xfrm>
            <a:off x="766656" y="3758690"/>
            <a:ext cx="4934426" cy="2814637"/>
          </a:xfrm>
          <a:prstGeom prst="rect">
            <a:avLst/>
          </a:prstGeom>
        </p:spPr>
      </p:pic>
      <p:sp>
        <p:nvSpPr>
          <p:cNvPr id="11" name="文本框 10"/>
          <p:cNvSpPr txBox="1"/>
          <p:nvPr/>
        </p:nvSpPr>
        <p:spPr>
          <a:xfrm>
            <a:off x="5943600" y="4381179"/>
            <a:ext cx="6098102" cy="156966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典型网络：</a:t>
            </a:r>
            <a:r>
              <a:rPr lang="en-US" altLang="zh-CN" sz="2400" dirty="0">
                <a:solidFill>
                  <a:schemeClr val="accent1"/>
                </a:solidFill>
                <a:latin typeface="微软雅黑" panose="020B0503020204020204" pitchFamily="34" charset="-122"/>
                <a:ea typeface="微软雅黑" panose="020B0503020204020204" pitchFamily="34" charset="-122"/>
              </a:rPr>
              <a:t>VGG-19</a:t>
            </a:r>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dirty="0">
                <a:solidFill>
                  <a:schemeClr val="accent1"/>
                </a:solidFill>
                <a:latin typeface="微软雅黑" panose="020B0503020204020204" pitchFamily="34" charset="-122"/>
                <a:ea typeface="微软雅黑" panose="020B0503020204020204" pitchFamily="34" charset="-122"/>
              </a:rPr>
              <a:t>卷积层数量是 </a:t>
            </a:r>
            <a:r>
              <a:rPr lang="en-US" altLang="zh-CN" sz="2400" dirty="0">
                <a:solidFill>
                  <a:schemeClr val="accent1"/>
                </a:solidFill>
                <a:latin typeface="微软雅黑" panose="020B0503020204020204" pitchFamily="34" charset="-122"/>
                <a:ea typeface="微软雅黑" panose="020B0503020204020204" pitchFamily="34" charset="-122"/>
              </a:rPr>
              <a:t>2+2+4+4+4 = 16 </a:t>
            </a:r>
            <a:r>
              <a:rPr lang="zh-CN" altLang="en-US" sz="2400" dirty="0">
                <a:solidFill>
                  <a:schemeClr val="accent1"/>
                </a:solidFill>
                <a:latin typeface="微软雅黑" panose="020B0503020204020204" pitchFamily="34" charset="-122"/>
                <a:ea typeface="微软雅黑" panose="020B0503020204020204" pitchFamily="34" charset="-122"/>
              </a:rPr>
              <a:t>层，加上最后的 </a:t>
            </a:r>
            <a:r>
              <a:rPr lang="en-US" altLang="zh-CN" sz="2400" dirty="0">
                <a:solidFill>
                  <a:schemeClr val="accent1"/>
                </a:solidFill>
                <a:latin typeface="微软雅黑" panose="020B0503020204020204" pitchFamily="34" charset="-122"/>
                <a:ea typeface="微软雅黑" panose="020B0503020204020204" pitchFamily="34" charset="-122"/>
              </a:rPr>
              <a:t>3 </a:t>
            </a:r>
            <a:r>
              <a:rPr lang="zh-CN" altLang="en-US" sz="2400" dirty="0">
                <a:solidFill>
                  <a:schemeClr val="accent1"/>
                </a:solidFill>
                <a:latin typeface="微软雅黑" panose="020B0503020204020204" pitchFamily="34" charset="-122"/>
                <a:ea typeface="微软雅黑" panose="020B0503020204020204" pitchFamily="34" charset="-122"/>
              </a:rPr>
              <a:t>层全连接层，共 </a:t>
            </a:r>
            <a:r>
              <a:rPr lang="en-US" altLang="zh-CN" sz="2400" dirty="0">
                <a:solidFill>
                  <a:schemeClr val="accent1"/>
                </a:solidFill>
                <a:latin typeface="微软雅黑" panose="020B0503020204020204" pitchFamily="34" charset="-122"/>
                <a:ea typeface="微软雅黑" panose="020B0503020204020204" pitchFamily="34" charset="-122"/>
              </a:rPr>
              <a:t>19 </a:t>
            </a:r>
            <a:r>
              <a:rPr lang="zh-CN" altLang="en-US" sz="2400" dirty="0">
                <a:solidFill>
                  <a:schemeClr val="accent1"/>
                </a:solidFill>
                <a:latin typeface="微软雅黑" panose="020B0503020204020204" pitchFamily="34" charset="-122"/>
                <a:ea typeface="微软雅黑" panose="020B0503020204020204" pitchFamily="34" charset="-122"/>
              </a:rPr>
              <a:t>层</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564544" y="74933"/>
            <a:ext cx="10515600" cy="1325563"/>
          </a:xfrm>
        </p:spPr>
        <p:txBody>
          <a:bodyPr/>
          <a:lstStyle/>
          <a:p>
            <a:r>
              <a:rPr lang="en-US" altLang="zh-CN" dirty="0" err="1"/>
              <a:t>ResNet</a:t>
            </a:r>
            <a:r>
              <a:rPr lang="en-US" altLang="zh-CN" dirty="0"/>
              <a:t>   </a:t>
            </a:r>
            <a:r>
              <a:rPr lang="zh-CN" altLang="en-US" sz="1600" dirty="0"/>
              <a:t>论文：</a:t>
            </a:r>
            <a:r>
              <a:rPr lang="en-US" altLang="zh-CN" sz="1600" dirty="0"/>
              <a:t>Deep Residual Learning for Image Recognition</a:t>
            </a:r>
            <a:endParaRPr lang="zh-CN" altLang="en-US" sz="1600"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7"/>
            <a:ext cx="11140214" cy="4929604"/>
          </a:xfrm>
        </p:spPr>
        <p:txBody>
          <a:bodyPr/>
          <a:lstStyle/>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b="1" dirty="0"/>
          </a:p>
          <a:p>
            <a:pPr marL="0" indent="0">
              <a:buNone/>
            </a:pPr>
            <a:r>
              <a:rPr lang="en-US" altLang="zh-CN" b="1" dirty="0" err="1"/>
              <a:t>ResNet</a:t>
            </a:r>
            <a:r>
              <a:rPr lang="en-US" altLang="zh-CN" b="1" dirty="0"/>
              <a:t> </a:t>
            </a:r>
            <a:r>
              <a:rPr lang="zh-CN" altLang="en-US" dirty="0"/>
              <a:t>利用了 </a:t>
            </a:r>
            <a:r>
              <a:rPr lang="en-US" altLang="zh-CN" b="1" dirty="0"/>
              <a:t>shortcut </a:t>
            </a:r>
            <a:r>
              <a:rPr lang="zh-CN" altLang="en-US" b="1" dirty="0"/>
              <a:t>短路连接</a:t>
            </a:r>
            <a:endParaRPr lang="en-US" altLang="zh-CN" b="1" dirty="0"/>
          </a:p>
          <a:p>
            <a:pPr>
              <a:buFont typeface="Wingdings" panose="05000000000000000000" pitchFamily="2" charset="2"/>
              <a:buChar char="Ø"/>
            </a:pPr>
            <a:r>
              <a:rPr lang="zh-CN" altLang="en-US" dirty="0"/>
              <a:t>解决了深度网络中模型退化的问题</a:t>
            </a:r>
            <a:endParaRPr lang="en-US" altLang="zh-CN" dirty="0"/>
          </a:p>
          <a:p>
            <a:pPr>
              <a:buFont typeface="Wingdings" panose="05000000000000000000" pitchFamily="2" charset="2"/>
              <a:buChar char="Ø"/>
            </a:pPr>
            <a:r>
              <a:rPr lang="zh-CN" altLang="en-US" dirty="0"/>
              <a:t>相比普通网络每两层</a:t>
            </a:r>
            <a:r>
              <a:rPr lang="en-US" altLang="zh-CN" dirty="0"/>
              <a:t>/</a:t>
            </a:r>
            <a:r>
              <a:rPr lang="zh-CN" altLang="en-US" dirty="0"/>
              <a:t>三层之间增加了短路机制</a:t>
            </a:r>
            <a:endParaRPr lang="en-US" altLang="zh-CN" dirty="0"/>
          </a:p>
          <a:p>
            <a:pPr>
              <a:buFont typeface="Wingdings" panose="05000000000000000000" pitchFamily="2" charset="2"/>
              <a:buChar char="Ø"/>
            </a:pPr>
            <a:r>
              <a:rPr lang="zh-CN" altLang="en-US" dirty="0"/>
              <a:t>通过残差学习使深层的网络发挥出作用</a:t>
            </a:r>
            <a:endParaRPr lang="zh-CN" altLang="en-US" dirty="0"/>
          </a:p>
        </p:txBody>
      </p:sp>
      <p:pic>
        <p:nvPicPr>
          <p:cNvPr id="5" name="图片 4"/>
          <p:cNvPicPr>
            <a:picLocks noChangeAspect="1"/>
          </p:cNvPicPr>
          <p:nvPr/>
        </p:nvPicPr>
        <p:blipFill>
          <a:blip r:embed="rId1"/>
          <a:stretch>
            <a:fillRect/>
          </a:stretch>
        </p:blipFill>
        <p:spPr>
          <a:xfrm>
            <a:off x="3478798" y="3107324"/>
            <a:ext cx="2208350" cy="1513972"/>
          </a:xfrm>
          <a:prstGeom prst="rect">
            <a:avLst/>
          </a:prstGeom>
        </p:spPr>
      </p:pic>
      <p:pic>
        <p:nvPicPr>
          <p:cNvPr id="6" name="图片 5"/>
          <p:cNvPicPr>
            <a:picLocks noChangeAspect="1"/>
          </p:cNvPicPr>
          <p:nvPr/>
        </p:nvPicPr>
        <p:blipFill>
          <a:blip r:embed="rId2"/>
          <a:stretch>
            <a:fillRect/>
          </a:stretch>
        </p:blipFill>
        <p:spPr>
          <a:xfrm>
            <a:off x="6504853" y="3172097"/>
            <a:ext cx="2271412" cy="1563653"/>
          </a:xfrm>
          <a:prstGeom prst="rect">
            <a:avLst/>
          </a:prstGeom>
        </p:spPr>
      </p:pic>
      <p:sp>
        <p:nvSpPr>
          <p:cNvPr id="8" name="文本框 7"/>
          <p:cNvSpPr txBox="1"/>
          <p:nvPr/>
        </p:nvSpPr>
        <p:spPr>
          <a:xfrm>
            <a:off x="592784" y="2450900"/>
            <a:ext cx="11824138" cy="8309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b="1" dirty="0">
                <a:solidFill>
                  <a:schemeClr val="accent1"/>
                </a:solidFill>
                <a:latin typeface="微软雅黑" panose="020B0503020204020204" pitchFamily="34" charset="-122"/>
                <a:ea typeface="微软雅黑" panose="020B0503020204020204" pitchFamily="34" charset="-122"/>
              </a:rPr>
              <a:t>问题</a:t>
            </a:r>
            <a:r>
              <a:rPr lang="en-US" altLang="zh-CN" sz="2400" b="1" dirty="0">
                <a:solidFill>
                  <a:schemeClr val="accent1"/>
                </a:solidFill>
                <a:latin typeface="微软雅黑" panose="020B0503020204020204" pitchFamily="34" charset="-122"/>
                <a:ea typeface="微软雅黑" panose="020B0503020204020204" pitchFamily="34" charset="-122"/>
              </a:rPr>
              <a:t>2</a:t>
            </a:r>
            <a:r>
              <a:rPr lang="zh-CN" altLang="en-US" sz="2400" dirty="0">
                <a:solidFill>
                  <a:schemeClr val="accent1"/>
                </a:solidFill>
                <a:latin typeface="微软雅黑" panose="020B0503020204020204" pitchFamily="34" charset="-122"/>
                <a:ea typeface="微软雅黑" panose="020B0503020204020204" pitchFamily="34" charset="-122"/>
              </a:rPr>
              <a:t>：</a:t>
            </a:r>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dirty="0">
                <a:solidFill>
                  <a:schemeClr val="accent1"/>
                </a:solidFill>
                <a:latin typeface="微软雅黑" panose="020B0503020204020204" pitchFamily="34" charset="-122"/>
                <a:ea typeface="微软雅黑" panose="020B0503020204020204" pitchFamily="34" charset="-122"/>
              </a:rPr>
              <a:t>网络层数越深，训练误差越高，导致训练和测试效果变差，这一现象称为</a:t>
            </a:r>
            <a:r>
              <a:rPr lang="zh-CN" altLang="en-US" sz="2400" dirty="0">
                <a:solidFill>
                  <a:srgbClr val="FF0000"/>
                </a:solidFill>
                <a:latin typeface="微软雅黑" panose="020B0503020204020204" pitchFamily="34" charset="-122"/>
                <a:ea typeface="微软雅黑" panose="020B0503020204020204" pitchFamily="34" charset="-122"/>
              </a:rPr>
              <a:t>退化</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66356" y="1181938"/>
            <a:ext cx="11293216" cy="110799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zh-CN" altLang="en-US" sz="2400" b="1" dirty="0">
                <a:solidFill>
                  <a:schemeClr val="accent1"/>
                </a:solidFill>
                <a:latin typeface="微软雅黑" panose="020B0503020204020204" pitchFamily="34" charset="-122"/>
                <a:ea typeface="微软雅黑" panose="020B0503020204020204" pitchFamily="34" charset="-122"/>
              </a:rPr>
              <a:t>问题</a:t>
            </a:r>
            <a:r>
              <a:rPr lang="en-US" altLang="zh-CN" sz="2400" b="1" dirty="0">
                <a:solidFill>
                  <a:schemeClr val="accent1"/>
                </a:solidFill>
                <a:latin typeface="微软雅黑" panose="020B0503020204020204" pitchFamily="34" charset="-122"/>
                <a:ea typeface="微软雅黑" panose="020B0503020204020204" pitchFamily="34" charset="-122"/>
              </a:rPr>
              <a:t>1</a:t>
            </a:r>
            <a:r>
              <a:rPr lang="en-US" altLang="zh-CN" sz="2400" dirty="0">
                <a:solidFill>
                  <a:schemeClr val="accent1"/>
                </a:solidFill>
                <a:latin typeface="微软雅黑" panose="020B0503020204020204" pitchFamily="34" charset="-122"/>
                <a:ea typeface="微软雅黑" panose="020B0503020204020204" pitchFamily="34" charset="-122"/>
              </a:rPr>
              <a:t>:</a:t>
            </a:r>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dirty="0">
                <a:solidFill>
                  <a:schemeClr val="accent1"/>
                </a:solidFill>
                <a:latin typeface="微软雅黑" panose="020B0503020204020204" pitchFamily="34" charset="-122"/>
                <a:ea typeface="微软雅黑" panose="020B0503020204020204" pitchFamily="34" charset="-122"/>
              </a:rPr>
              <a:t>梯度消失：若每一层的误差梯度小于</a:t>
            </a:r>
            <a:r>
              <a:rPr lang="en-US" altLang="zh-CN" sz="2400" dirty="0">
                <a:solidFill>
                  <a:schemeClr val="accent1"/>
                </a:solidFill>
                <a:latin typeface="微软雅黑" panose="020B0503020204020204" pitchFamily="34" charset="-122"/>
                <a:ea typeface="微软雅黑" panose="020B0503020204020204" pitchFamily="34" charset="-122"/>
              </a:rPr>
              <a:t>1</a:t>
            </a:r>
            <a:r>
              <a:rPr lang="zh-CN" altLang="en-US" sz="2400" dirty="0">
                <a:solidFill>
                  <a:schemeClr val="accent1"/>
                </a:solidFill>
                <a:latin typeface="微软雅黑" panose="020B0503020204020204" pitchFamily="34" charset="-122"/>
                <a:ea typeface="微软雅黑" panose="020B0503020204020204" pitchFamily="34" charset="-122"/>
              </a:rPr>
              <a:t>，反向传播时，网络越深，梯度越趋近于</a:t>
            </a:r>
            <a:r>
              <a:rPr lang="en-US" altLang="zh-CN" sz="2400" dirty="0">
                <a:solidFill>
                  <a:schemeClr val="accent1"/>
                </a:solidFill>
                <a:latin typeface="微软雅黑" panose="020B0503020204020204" pitchFamily="34" charset="-122"/>
                <a:ea typeface="微软雅黑" panose="020B0503020204020204" pitchFamily="34" charset="-122"/>
              </a:rPr>
              <a:t>0</a:t>
            </a:r>
            <a:br>
              <a:rPr lang="zh-CN" altLang="en-US" sz="2400" dirty="0">
                <a:solidFill>
                  <a:schemeClr val="accent1"/>
                </a:solidFill>
                <a:latin typeface="微软雅黑" panose="020B0503020204020204" pitchFamily="34" charset="-122"/>
                <a:ea typeface="微软雅黑" panose="020B0503020204020204" pitchFamily="34" charset="-122"/>
              </a:rPr>
            </a:br>
            <a:r>
              <a:rPr lang="zh-CN" altLang="en-US" sz="2400" dirty="0">
                <a:solidFill>
                  <a:schemeClr val="accent1"/>
                </a:solidFill>
                <a:latin typeface="微软雅黑" panose="020B0503020204020204" pitchFamily="34" charset="-122"/>
                <a:ea typeface="微软雅黑" panose="020B0503020204020204" pitchFamily="34" charset="-122"/>
              </a:rPr>
              <a:t>梯度爆炸：若每一层的误差梯度大于</a:t>
            </a:r>
            <a:r>
              <a:rPr lang="en-US" altLang="zh-CN" sz="2400" dirty="0">
                <a:solidFill>
                  <a:schemeClr val="accent1"/>
                </a:solidFill>
                <a:latin typeface="微软雅黑" panose="020B0503020204020204" pitchFamily="34" charset="-122"/>
                <a:ea typeface="微软雅黑" panose="020B0503020204020204" pitchFamily="34" charset="-122"/>
              </a:rPr>
              <a:t>1</a:t>
            </a:r>
            <a:r>
              <a:rPr lang="zh-CN" altLang="en-US" sz="2400" dirty="0">
                <a:solidFill>
                  <a:schemeClr val="accent1"/>
                </a:solidFill>
                <a:latin typeface="微软雅黑" panose="020B0503020204020204" pitchFamily="34" charset="-122"/>
                <a:ea typeface="微软雅黑" panose="020B0503020204020204" pitchFamily="34" charset="-122"/>
              </a:rPr>
              <a:t>，反向传播时，网络越深，梯度越来越大</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1</a:t>
            </a:r>
            <a:r>
              <a:rPr lang="zh-CN" altLang="en-US" dirty="0"/>
              <a:t>：梯度问题</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707072" y="1893887"/>
            <a:ext cx="11140214" cy="4351338"/>
          </a:xfrm>
        </p:spPr>
        <p:txBody>
          <a:bodyPr/>
          <a:lstStyle/>
          <a:p>
            <a:pPr marL="0" indent="0">
              <a:buNone/>
            </a:pPr>
            <a:r>
              <a:rPr lang="zh-CN" altLang="en-US" b="1" dirty="0"/>
              <a:t>核心解决步骤：加入批量归一化层 </a:t>
            </a:r>
            <a:r>
              <a:rPr lang="en-US" altLang="zh-CN" b="1" dirty="0"/>
              <a:t>BN</a:t>
            </a:r>
            <a:r>
              <a:rPr lang="zh-CN" altLang="en-US" b="1" dirty="0"/>
              <a:t>（</a:t>
            </a:r>
            <a:r>
              <a:rPr lang="en-US" altLang="zh-CN" b="1" dirty="0"/>
              <a:t>Batch Normalization</a:t>
            </a:r>
            <a:r>
              <a:rPr lang="zh-CN" altLang="en-US" b="1" dirty="0"/>
              <a:t>）层</a:t>
            </a:r>
            <a:endParaRPr lang="en-US" altLang="zh-CN" b="1" dirty="0"/>
          </a:p>
          <a:p>
            <a:pPr marL="0" indent="0">
              <a:buNone/>
            </a:pPr>
            <a:endParaRPr lang="en-US" altLang="zh-CN" dirty="0"/>
          </a:p>
          <a:p>
            <a:pPr marL="0" indent="0">
              <a:buNone/>
            </a:pPr>
            <a:r>
              <a:rPr lang="zh-CN" altLang="en-US" dirty="0"/>
              <a:t>数据预处理阶段</a:t>
            </a:r>
            <a:r>
              <a:rPr lang="en-US" altLang="zh-CN" dirty="0">
                <a:sym typeface="Wingdings" panose="05000000000000000000" pitchFamily="2" charset="2"/>
              </a:rPr>
              <a:t></a:t>
            </a:r>
            <a:r>
              <a:rPr lang="zh-CN" altLang="en-US" dirty="0"/>
              <a:t>将输入图像的像素值变成</a:t>
            </a:r>
            <a:r>
              <a:rPr lang="zh-CN" altLang="en-US" b="1" dirty="0"/>
              <a:t>均值为 </a:t>
            </a:r>
            <a:r>
              <a:rPr lang="en-US" altLang="zh-CN" b="1" dirty="0"/>
              <a:t>0</a:t>
            </a:r>
            <a:r>
              <a:rPr lang="zh-CN" altLang="en-US" b="1" dirty="0"/>
              <a:t>，方差为 </a:t>
            </a:r>
            <a:r>
              <a:rPr lang="en-US" altLang="zh-CN" b="1" dirty="0"/>
              <a:t>1</a:t>
            </a:r>
            <a:r>
              <a:rPr lang="zh-CN" altLang="en-US" dirty="0"/>
              <a:t> 的分布</a:t>
            </a:r>
            <a:endParaRPr lang="en-US" altLang="zh-CN" dirty="0"/>
          </a:p>
          <a:p>
            <a:pPr marL="0" indent="0">
              <a:buNone/>
            </a:pPr>
            <a:endParaRPr lang="en-US" altLang="zh-CN" dirty="0"/>
          </a:p>
          <a:p>
            <a:pPr marL="0" indent="0">
              <a:buNone/>
            </a:pPr>
            <a:r>
              <a:rPr lang="en-US" altLang="zh-CN" dirty="0"/>
              <a:t>Batch Normalization </a:t>
            </a:r>
            <a:r>
              <a:rPr lang="zh-CN" altLang="en-US" dirty="0"/>
              <a:t>层的核心实现</a:t>
            </a:r>
            <a:endParaRPr lang="en-US" altLang="zh-CN" dirty="0"/>
          </a:p>
          <a:p>
            <a:pPr marL="457200" indent="-457200">
              <a:buFont typeface="+mj-lt"/>
              <a:buAutoNum type="arabicPeriod"/>
            </a:pPr>
            <a:r>
              <a:rPr lang="zh-CN" altLang="en-US" dirty="0"/>
              <a:t>计算当前批次的均值和方差 </a:t>
            </a:r>
            <a:endParaRPr lang="en-US" altLang="zh-CN" dirty="0"/>
          </a:p>
          <a:p>
            <a:pPr marL="457200" indent="-457200">
              <a:buFont typeface="+mj-lt"/>
              <a:buAutoNum type="arabicPeriod"/>
            </a:pPr>
            <a:r>
              <a:rPr lang="zh-CN" altLang="en-US" dirty="0"/>
              <a:t>强制标准化</a:t>
            </a:r>
            <a:endParaRPr lang="en-US" altLang="zh-CN" dirty="0"/>
          </a:p>
          <a:p>
            <a:pPr marL="457200" indent="-457200">
              <a:buFont typeface="+mj-lt"/>
              <a:buAutoNum type="arabicPeriod"/>
            </a:pPr>
            <a:r>
              <a:rPr lang="zh-CN" altLang="en-US" dirty="0"/>
              <a:t>缩放与平移</a:t>
            </a:r>
            <a:endParaRPr lang="zh-CN" altLang="en-US" dirty="0"/>
          </a:p>
        </p:txBody>
      </p:sp>
      <p:grpSp>
        <p:nvGrpSpPr>
          <p:cNvPr id="15" name="组合 14"/>
          <p:cNvGrpSpPr/>
          <p:nvPr/>
        </p:nvGrpSpPr>
        <p:grpSpPr>
          <a:xfrm>
            <a:off x="5995988" y="4422696"/>
            <a:ext cx="651736" cy="1005075"/>
            <a:chOff x="5106988" y="4098579"/>
            <a:chExt cx="651736" cy="1005075"/>
          </a:xfrm>
        </p:grpSpPr>
        <p:graphicFrame>
          <p:nvGraphicFramePr>
            <p:cNvPr id="13" name="对象 12"/>
            <p:cNvGraphicFramePr>
              <a:graphicFrameLocks noChangeAspect="1"/>
            </p:cNvGraphicFramePr>
            <p:nvPr/>
          </p:nvGraphicFramePr>
          <p:xfrm>
            <a:off x="5106988" y="4098579"/>
            <a:ext cx="506412" cy="546603"/>
          </p:xfrm>
          <a:graphic>
            <a:graphicData uri="http://schemas.openxmlformats.org/presentationml/2006/ole">
              <mc:AlternateContent xmlns:mc="http://schemas.openxmlformats.org/markup-compatibility/2006">
                <mc:Choice xmlns:v="urn:schemas-microsoft-com:vml" Requires="v">
                  <p:oleObj spid="_x0000_s7264" name="Equation" r:id="rId1" imgW="155575" imgH="170180" progId="Equation.DSMT4">
                    <p:embed/>
                  </p:oleObj>
                </mc:Choice>
                <mc:Fallback>
                  <p:oleObj name="Equation" r:id="rId1" imgW="155575" imgH="170180" progId="Equation.DSMT4">
                    <p:embed/>
                    <p:pic>
                      <p:nvPicPr>
                        <p:cNvPr id="0" name="图片 7217"/>
                        <p:cNvPicPr/>
                        <p:nvPr/>
                      </p:nvPicPr>
                      <p:blipFill>
                        <a:blip r:embed="rId2"/>
                        <a:stretch>
                          <a:fillRect/>
                        </a:stretch>
                      </p:blipFill>
                      <p:spPr>
                        <a:xfrm>
                          <a:off x="5106988" y="4098579"/>
                          <a:ext cx="506412" cy="546603"/>
                        </a:xfrm>
                        <a:prstGeom prst="rect">
                          <a:avLst/>
                        </a:prstGeom>
                      </p:spPr>
                    </p:pic>
                  </p:oleObj>
                </mc:Fallback>
              </mc:AlternateContent>
            </a:graphicData>
          </a:graphic>
        </p:graphicFrame>
        <p:graphicFrame>
          <p:nvGraphicFramePr>
            <p:cNvPr id="14" name="对象 13"/>
            <p:cNvGraphicFramePr>
              <a:graphicFrameLocks noChangeAspect="1"/>
            </p:cNvGraphicFramePr>
            <p:nvPr/>
          </p:nvGraphicFramePr>
          <p:xfrm>
            <a:off x="5106988" y="4448017"/>
            <a:ext cx="651736" cy="655637"/>
          </p:xfrm>
          <a:graphic>
            <a:graphicData uri="http://schemas.openxmlformats.org/presentationml/2006/ole">
              <mc:AlternateContent xmlns:mc="http://schemas.openxmlformats.org/markup-compatibility/2006">
                <mc:Choice xmlns:v="urn:schemas-microsoft-com:vml" Requires="v">
                  <p:oleObj spid="_x0000_s7265" name="Equation" r:id="rId3" imgW="208915" imgH="208915" progId="Equation.DSMT4">
                    <p:embed/>
                  </p:oleObj>
                </mc:Choice>
                <mc:Fallback>
                  <p:oleObj name="Equation" r:id="rId3" imgW="208915" imgH="208915" progId="Equation.DSMT4">
                    <p:embed/>
                    <p:pic>
                      <p:nvPicPr>
                        <p:cNvPr id="0" name="图片 7218"/>
                        <p:cNvPicPr/>
                        <p:nvPr/>
                      </p:nvPicPr>
                      <p:blipFill>
                        <a:blip r:embed="rId4"/>
                        <a:stretch>
                          <a:fillRect/>
                        </a:stretch>
                      </p:blipFill>
                      <p:spPr>
                        <a:xfrm>
                          <a:off x="5106988" y="4448017"/>
                          <a:ext cx="651736" cy="655637"/>
                        </a:xfrm>
                        <a:prstGeom prst="rect">
                          <a:avLst/>
                        </a:prstGeom>
                      </p:spPr>
                    </p:pic>
                  </p:oleObj>
                </mc:Fallback>
              </mc:AlternateContent>
            </a:graphicData>
          </a:graphic>
        </p:graphicFrame>
      </p:grpSp>
      <p:grpSp>
        <p:nvGrpSpPr>
          <p:cNvPr id="29" name="组合 28"/>
          <p:cNvGrpSpPr/>
          <p:nvPr/>
        </p:nvGrpSpPr>
        <p:grpSpPr>
          <a:xfrm>
            <a:off x="6607811" y="4279105"/>
            <a:ext cx="2437219" cy="1105459"/>
            <a:chOff x="6607811" y="4279105"/>
            <a:chExt cx="2437219" cy="1105459"/>
          </a:xfrm>
        </p:grpSpPr>
        <p:graphicFrame>
          <p:nvGraphicFramePr>
            <p:cNvPr id="16" name="对象 15"/>
            <p:cNvGraphicFramePr>
              <a:graphicFrameLocks noChangeAspect="1"/>
            </p:cNvGraphicFramePr>
            <p:nvPr/>
          </p:nvGraphicFramePr>
          <p:xfrm>
            <a:off x="7296423" y="4422696"/>
            <a:ext cx="1748607" cy="961868"/>
          </p:xfrm>
          <a:graphic>
            <a:graphicData uri="http://schemas.openxmlformats.org/presentationml/2006/ole">
              <mc:AlternateContent xmlns:mc="http://schemas.openxmlformats.org/markup-compatibility/2006">
                <mc:Choice xmlns:v="urn:schemas-microsoft-com:vml" Requires="v">
                  <p:oleObj spid="_x0000_s7266" name="Equation" r:id="rId5" imgW="793115" imgH="437515" progId="Equation.DSMT4">
                    <p:embed/>
                  </p:oleObj>
                </mc:Choice>
                <mc:Fallback>
                  <p:oleObj name="Equation" r:id="rId5" imgW="793115" imgH="437515" progId="Equation.DSMT4">
                    <p:embed/>
                    <p:pic>
                      <p:nvPicPr>
                        <p:cNvPr id="0" name="图片 7219"/>
                        <p:cNvPicPr/>
                        <p:nvPr/>
                      </p:nvPicPr>
                      <p:blipFill>
                        <a:blip r:embed="rId6"/>
                        <a:stretch>
                          <a:fillRect/>
                        </a:stretch>
                      </p:blipFill>
                      <p:spPr>
                        <a:xfrm>
                          <a:off x="7296423" y="4422696"/>
                          <a:ext cx="1748607" cy="961868"/>
                        </a:xfrm>
                        <a:prstGeom prst="rect">
                          <a:avLst/>
                        </a:prstGeom>
                      </p:spPr>
                    </p:pic>
                  </p:oleObj>
                </mc:Fallback>
              </mc:AlternateContent>
            </a:graphicData>
          </a:graphic>
        </p:graphicFrame>
        <p:sp>
          <p:nvSpPr>
            <p:cNvPr id="27" name="箭头: 手杖形 26"/>
            <p:cNvSpPr/>
            <p:nvPr/>
          </p:nvSpPr>
          <p:spPr>
            <a:xfrm>
              <a:off x="6607811" y="4279105"/>
              <a:ext cx="1086576" cy="259556"/>
            </a:xfrm>
            <a:prstGeom prst="uturnArrow">
              <a:avLst/>
            </a:prstGeom>
            <a:solidFill>
              <a:srgbClr val="FFFFFF"/>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grpSp>
        <p:nvGrpSpPr>
          <p:cNvPr id="31" name="组合 30"/>
          <p:cNvGrpSpPr/>
          <p:nvPr/>
        </p:nvGrpSpPr>
        <p:grpSpPr>
          <a:xfrm>
            <a:off x="8816294" y="4224814"/>
            <a:ext cx="2565311" cy="958145"/>
            <a:chOff x="8816294" y="4224814"/>
            <a:chExt cx="2565311" cy="958145"/>
          </a:xfrm>
        </p:grpSpPr>
        <p:graphicFrame>
          <p:nvGraphicFramePr>
            <p:cNvPr id="17" name="对象 16"/>
            <p:cNvGraphicFramePr>
              <a:graphicFrameLocks noChangeAspect="1"/>
            </p:cNvGraphicFramePr>
            <p:nvPr/>
          </p:nvGraphicFramePr>
          <p:xfrm>
            <a:off x="9516293" y="4628317"/>
            <a:ext cx="1865312" cy="554642"/>
          </p:xfrm>
          <a:graphic>
            <a:graphicData uri="http://schemas.openxmlformats.org/presentationml/2006/ole">
              <mc:AlternateContent xmlns:mc="http://schemas.openxmlformats.org/markup-compatibility/2006">
                <mc:Choice xmlns:v="urn:schemas-microsoft-com:vml" Requires="v">
                  <p:oleObj spid="_x0000_s7267" name="Equation" r:id="rId7" imgW="690880" imgH="208915" progId="Equation.DSMT4">
                    <p:embed/>
                  </p:oleObj>
                </mc:Choice>
                <mc:Fallback>
                  <p:oleObj name="Equation" r:id="rId7" imgW="690880" imgH="208915" progId="Equation.DSMT4">
                    <p:embed/>
                    <p:pic>
                      <p:nvPicPr>
                        <p:cNvPr id="0" name="图片 7220"/>
                        <p:cNvPicPr/>
                        <p:nvPr/>
                      </p:nvPicPr>
                      <p:blipFill>
                        <a:blip r:embed="rId8"/>
                        <a:stretch>
                          <a:fillRect/>
                        </a:stretch>
                      </p:blipFill>
                      <p:spPr>
                        <a:xfrm>
                          <a:off x="9516293" y="4628317"/>
                          <a:ext cx="1865312" cy="554642"/>
                        </a:xfrm>
                        <a:prstGeom prst="rect">
                          <a:avLst/>
                        </a:prstGeom>
                      </p:spPr>
                    </p:pic>
                  </p:oleObj>
                </mc:Fallback>
              </mc:AlternateContent>
            </a:graphicData>
          </a:graphic>
        </p:graphicFrame>
        <p:sp>
          <p:nvSpPr>
            <p:cNvPr id="28" name="箭头: 手杖形 27"/>
            <p:cNvSpPr/>
            <p:nvPr/>
          </p:nvSpPr>
          <p:spPr>
            <a:xfrm>
              <a:off x="8816294" y="4224814"/>
              <a:ext cx="1086576" cy="259556"/>
            </a:xfrm>
            <a:prstGeom prst="uturnArrow">
              <a:avLst/>
            </a:prstGeom>
            <a:solidFill>
              <a:srgbClr val="FFFFFF"/>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sp>
        <p:nvSpPr>
          <p:cNvPr id="32" name="文本框 31"/>
          <p:cNvSpPr txBox="1"/>
          <p:nvPr/>
        </p:nvSpPr>
        <p:spPr>
          <a:xfrm>
            <a:off x="344714" y="5770761"/>
            <a:ext cx="1219200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梯度自然也就被限制在了合理的范围内，从根本上掐断了梯度爆炸或彻底消失的可能性</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问题</a:t>
            </a:r>
            <a:r>
              <a:rPr lang="en-US" altLang="zh-CN" dirty="0"/>
              <a:t>2</a:t>
            </a:r>
            <a:r>
              <a:rPr lang="zh-CN" altLang="en-US" dirty="0"/>
              <a:t>：退化问题</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zh-CN" altLang="en-US" dirty="0"/>
              <a:t>论文提出了 </a:t>
            </a:r>
            <a:r>
              <a:rPr lang="en-US" altLang="zh-CN" dirty="0"/>
              <a:t>residual </a:t>
            </a:r>
            <a:r>
              <a:rPr lang="zh-CN" altLang="en-US" dirty="0"/>
              <a:t>结构（残差结构）来减轻退化问题</a:t>
            </a:r>
            <a:endParaRPr lang="en-US" altLang="zh-CN" dirty="0"/>
          </a:p>
          <a:p>
            <a:pPr marL="0" indent="0">
              <a:buNone/>
            </a:pPr>
            <a:r>
              <a:rPr lang="zh-CN" altLang="en-US" dirty="0"/>
              <a:t>人为地让神经网络某些层跳过下一层神经元的连接，隔层相连，弱化每层之间的强联系</a:t>
            </a:r>
            <a:r>
              <a:rPr lang="en-US" altLang="zh-CN" dirty="0">
                <a:sym typeface="Wingdings" panose="05000000000000000000" pitchFamily="2" charset="2"/>
              </a:rPr>
              <a:t></a:t>
            </a:r>
            <a:r>
              <a:rPr lang="zh-CN" altLang="en-US" dirty="0"/>
              <a:t>这种神经网络被称为残差网络 </a:t>
            </a:r>
            <a:r>
              <a:rPr lang="en-US" altLang="zh-CN" dirty="0" err="1"/>
              <a:t>ResNets</a:t>
            </a:r>
            <a:endParaRPr lang="zh-CN" altLang="en-US" dirty="0"/>
          </a:p>
        </p:txBody>
      </p:sp>
      <p:pic>
        <p:nvPicPr>
          <p:cNvPr id="5" name="图片 4"/>
          <p:cNvPicPr>
            <a:picLocks noChangeAspect="1"/>
          </p:cNvPicPr>
          <p:nvPr/>
        </p:nvPicPr>
        <p:blipFill>
          <a:blip r:embed="rId1"/>
          <a:stretch>
            <a:fillRect/>
          </a:stretch>
        </p:blipFill>
        <p:spPr>
          <a:xfrm>
            <a:off x="717090" y="3429000"/>
            <a:ext cx="4328968" cy="2766441"/>
          </a:xfrm>
          <a:prstGeom prst="rect">
            <a:avLst/>
          </a:prstGeom>
        </p:spPr>
      </p:pic>
      <p:cxnSp>
        <p:nvCxnSpPr>
          <p:cNvPr id="7" name="直接箭头连接符 6"/>
          <p:cNvCxnSpPr/>
          <p:nvPr/>
        </p:nvCxnSpPr>
        <p:spPr>
          <a:xfrm>
            <a:off x="6584996" y="3085278"/>
            <a:ext cx="0" cy="1098595"/>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8" name="文本框 7"/>
          <p:cNvSpPr txBox="1"/>
          <p:nvPr/>
        </p:nvSpPr>
        <p:spPr>
          <a:xfrm>
            <a:off x="5733092" y="4361672"/>
            <a:ext cx="1703808" cy="49244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3200" b="1" dirty="0">
                <a:solidFill>
                  <a:schemeClr val="accent1"/>
                </a:solidFill>
                <a:latin typeface="微软雅黑" panose="020B0503020204020204" pitchFamily="34" charset="-122"/>
                <a:ea typeface="微软雅黑" panose="020B0503020204020204" pitchFamily="34" charset="-122"/>
              </a:rPr>
              <a:t>残差学习</a:t>
            </a:r>
            <a:endParaRPr lang="zh-CN" altLang="en-US" sz="3200" b="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残差学习</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620695"/>
            <a:ext cx="11140214" cy="4599130"/>
          </a:xfrm>
        </p:spPr>
        <p:txBody>
          <a:bodyPr/>
          <a:lstStyle/>
          <a:p>
            <a:pPr marL="0" indent="0">
              <a:buNone/>
            </a:pPr>
            <a:r>
              <a:rPr lang="zh-CN" altLang="en-US" dirty="0"/>
              <a:t>残差：观测值        与估计值    之间的差值</a:t>
            </a:r>
            <a:endParaRPr lang="en-US" altLang="zh-CN" dirty="0"/>
          </a:p>
          <a:p>
            <a:pPr marL="0" indent="0">
              <a:buNone/>
            </a:pPr>
            <a:r>
              <a:rPr lang="zh-CN" altLang="en-US" dirty="0"/>
              <a:t>深度网络的退化问题至少说明深度网络不容易训练</a:t>
            </a:r>
            <a:endParaRPr lang="zh-CN" altLang="en-US" dirty="0"/>
          </a:p>
        </p:txBody>
      </p:sp>
      <p:graphicFrame>
        <p:nvGraphicFramePr>
          <p:cNvPr id="5" name="对象 4"/>
          <p:cNvGraphicFramePr>
            <a:graphicFrameLocks noChangeAspect="1"/>
          </p:cNvGraphicFramePr>
          <p:nvPr/>
        </p:nvGraphicFramePr>
        <p:xfrm>
          <a:off x="2741378" y="1620695"/>
          <a:ext cx="672003" cy="415061"/>
        </p:xfrm>
        <a:graphic>
          <a:graphicData uri="http://schemas.openxmlformats.org/presentationml/2006/ole">
            <mc:AlternateContent xmlns:mc="http://schemas.openxmlformats.org/markup-compatibility/2006">
              <mc:Choice xmlns:v="urn:schemas-microsoft-com:vml" Requires="v">
                <p:oleObj spid="_x0000_s8305" name="Equation" r:id="rId1" imgW="335915" imgH="208915" progId="Equation.DSMT4">
                  <p:embed/>
                </p:oleObj>
              </mc:Choice>
              <mc:Fallback>
                <p:oleObj name="Equation" r:id="rId1" imgW="335915" imgH="208915" progId="Equation.DSMT4">
                  <p:embed/>
                  <p:pic>
                    <p:nvPicPr>
                      <p:cNvPr id="0" name="图片 8258"/>
                      <p:cNvPicPr/>
                      <p:nvPr/>
                    </p:nvPicPr>
                    <p:blipFill>
                      <a:blip r:embed="rId2"/>
                      <a:stretch>
                        <a:fillRect/>
                      </a:stretch>
                    </p:blipFill>
                    <p:spPr>
                      <a:xfrm>
                        <a:off x="2741378" y="1620695"/>
                        <a:ext cx="672003" cy="415061"/>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4683249" y="1634193"/>
          <a:ext cx="361036" cy="364506"/>
        </p:xfrm>
        <a:graphic>
          <a:graphicData uri="http://schemas.openxmlformats.org/presentationml/2006/ole">
            <mc:AlternateContent xmlns:mc="http://schemas.openxmlformats.org/markup-compatibility/2006">
              <mc:Choice xmlns:v="urn:schemas-microsoft-com:vml" Requires="v">
                <p:oleObj spid="_x0000_s8306" name="Equation" r:id="rId3" imgW="131445" imgH="131445" progId="Equation.DSMT4">
                  <p:embed/>
                </p:oleObj>
              </mc:Choice>
              <mc:Fallback>
                <p:oleObj name="Equation" r:id="rId3" imgW="131445" imgH="131445" progId="Equation.DSMT4">
                  <p:embed/>
                  <p:pic>
                    <p:nvPicPr>
                      <p:cNvPr id="0" name="图片 8259"/>
                      <p:cNvPicPr/>
                      <p:nvPr/>
                    </p:nvPicPr>
                    <p:blipFill>
                      <a:blip r:embed="rId4"/>
                      <a:stretch>
                        <a:fillRect/>
                      </a:stretch>
                    </p:blipFill>
                    <p:spPr>
                      <a:xfrm>
                        <a:off x="4683249" y="1634193"/>
                        <a:ext cx="361036" cy="364506"/>
                      </a:xfrm>
                      <a:prstGeom prst="rect">
                        <a:avLst/>
                      </a:prstGeom>
                    </p:spPr>
                  </p:pic>
                </p:oleObj>
              </mc:Fallback>
            </mc:AlternateContent>
          </a:graphicData>
        </a:graphic>
      </p:graphicFrame>
      <p:pic>
        <p:nvPicPr>
          <p:cNvPr id="7" name="图片 6"/>
          <p:cNvPicPr>
            <a:picLocks noChangeAspect="1"/>
          </p:cNvPicPr>
          <p:nvPr/>
        </p:nvPicPr>
        <p:blipFill>
          <a:blip r:embed="rId5"/>
          <a:stretch>
            <a:fillRect/>
          </a:stretch>
        </p:blipFill>
        <p:spPr>
          <a:xfrm>
            <a:off x="738615" y="3429000"/>
            <a:ext cx="5066672" cy="2212209"/>
          </a:xfrm>
          <a:prstGeom prst="rect">
            <a:avLst/>
          </a:prstGeom>
        </p:spPr>
      </p:pic>
      <p:sp>
        <p:nvSpPr>
          <p:cNvPr id="8" name="文本框 7"/>
          <p:cNvSpPr txBox="1"/>
          <p:nvPr/>
        </p:nvSpPr>
        <p:spPr>
          <a:xfrm>
            <a:off x="4598313" y="3120989"/>
            <a:ext cx="2177455"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残差块的关键点</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cxnSp>
        <p:nvCxnSpPr>
          <p:cNvPr id="10" name="直接箭头连接符 9"/>
          <p:cNvCxnSpPr/>
          <p:nvPr/>
        </p:nvCxnSpPr>
        <p:spPr>
          <a:xfrm flipH="1">
            <a:off x="5091695" y="3552345"/>
            <a:ext cx="256558" cy="559166"/>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graphicFrame>
        <p:nvGraphicFramePr>
          <p:cNvPr id="11" name="对象 10"/>
          <p:cNvGraphicFramePr>
            <a:graphicFrameLocks noChangeAspect="1"/>
          </p:cNvGraphicFramePr>
          <p:nvPr/>
        </p:nvGraphicFramePr>
        <p:xfrm>
          <a:off x="9457081" y="2961545"/>
          <a:ext cx="2217095" cy="531344"/>
        </p:xfrm>
        <a:graphic>
          <a:graphicData uri="http://schemas.openxmlformats.org/presentationml/2006/ole">
            <mc:AlternateContent xmlns:mc="http://schemas.openxmlformats.org/markup-compatibility/2006">
              <mc:Choice xmlns:v="urn:schemas-microsoft-com:vml" Requires="v">
                <p:oleObj spid="_x0000_s8307" name="Equation" r:id="rId6" imgW="855980" imgH="208915" progId="Equation.DSMT4">
                  <p:embed/>
                </p:oleObj>
              </mc:Choice>
              <mc:Fallback>
                <p:oleObj name="Equation" r:id="rId6" imgW="855980" imgH="208915" progId="Equation.DSMT4">
                  <p:embed/>
                  <p:pic>
                    <p:nvPicPr>
                      <p:cNvPr id="0" name="图片 8260"/>
                      <p:cNvPicPr/>
                      <p:nvPr/>
                    </p:nvPicPr>
                    <p:blipFill>
                      <a:blip r:embed="rId7"/>
                      <a:stretch>
                        <a:fillRect/>
                      </a:stretch>
                    </p:blipFill>
                    <p:spPr>
                      <a:xfrm>
                        <a:off x="9457081" y="2961545"/>
                        <a:ext cx="2217095" cy="531344"/>
                      </a:xfrm>
                      <a:prstGeom prst="rect">
                        <a:avLst/>
                      </a:prstGeom>
                    </p:spPr>
                  </p:pic>
                </p:oleObj>
              </mc:Fallback>
            </mc:AlternateContent>
          </a:graphicData>
        </a:graphic>
      </p:graphicFrame>
      <p:sp>
        <p:nvSpPr>
          <p:cNvPr id="13" name="文本框 12"/>
          <p:cNvSpPr txBox="1"/>
          <p:nvPr/>
        </p:nvSpPr>
        <p:spPr>
          <a:xfrm>
            <a:off x="7431181" y="3674824"/>
            <a:ext cx="345158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dirty="0">
                <a:solidFill>
                  <a:schemeClr val="accent1"/>
                </a:solidFill>
                <a:latin typeface="微软雅黑" panose="020B0503020204020204" pitchFamily="34" charset="-122"/>
                <a:ea typeface="微软雅黑" panose="020B0503020204020204" pitchFamily="34" charset="-122"/>
              </a:rPr>
              <a:t>网络不会出现退化的问题</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graphicFrame>
        <p:nvGraphicFramePr>
          <p:cNvPr id="14" name="对象 13"/>
          <p:cNvGraphicFramePr>
            <a:graphicFrameLocks noChangeAspect="1"/>
          </p:cNvGraphicFramePr>
          <p:nvPr/>
        </p:nvGraphicFramePr>
        <p:xfrm>
          <a:off x="9566843" y="4304191"/>
          <a:ext cx="1786957" cy="792307"/>
        </p:xfrm>
        <a:graphic>
          <a:graphicData uri="http://schemas.openxmlformats.org/presentationml/2006/ole">
            <mc:AlternateContent xmlns:mc="http://schemas.openxmlformats.org/markup-compatibility/2006">
              <mc:Choice xmlns:v="urn:schemas-microsoft-com:vml" Requires="v">
                <p:oleObj spid="_x0000_s8308" name="Equation" r:id="rId8" imgW="894715" imgH="398780" progId="Equation.DSMT4">
                  <p:embed/>
                </p:oleObj>
              </mc:Choice>
              <mc:Fallback>
                <p:oleObj name="Equation" r:id="rId8" imgW="894715" imgH="398780" progId="Equation.DSMT4">
                  <p:embed/>
                  <p:pic>
                    <p:nvPicPr>
                      <p:cNvPr id="0" name="图片 8261"/>
                      <p:cNvPicPr/>
                      <p:nvPr/>
                    </p:nvPicPr>
                    <p:blipFill>
                      <a:blip r:embed="rId9"/>
                      <a:stretch>
                        <a:fillRect/>
                      </a:stretch>
                    </p:blipFill>
                    <p:spPr>
                      <a:xfrm>
                        <a:off x="9566843" y="4304191"/>
                        <a:ext cx="1786957" cy="792307"/>
                      </a:xfrm>
                      <a:prstGeom prst="rect">
                        <a:avLst/>
                      </a:prstGeom>
                    </p:spPr>
                  </p:pic>
                </p:oleObj>
              </mc:Fallback>
            </mc:AlternateContent>
          </a:graphicData>
        </a:graphic>
      </p:graphicFrame>
      <p:sp>
        <p:nvSpPr>
          <p:cNvPr id="16" name="文本框 15"/>
          <p:cNvSpPr txBox="1"/>
          <p:nvPr/>
        </p:nvSpPr>
        <p:spPr>
          <a:xfrm>
            <a:off x="6839307" y="5196496"/>
            <a:ext cx="4996338"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b="1" dirty="0">
                <a:solidFill>
                  <a:schemeClr val="accent1"/>
                </a:solidFill>
                <a:latin typeface="微软雅黑" panose="020B0503020204020204" pitchFamily="34" charset="-122"/>
                <a:ea typeface="微软雅黑" panose="020B0503020204020204" pitchFamily="34" charset="-122"/>
              </a:rPr>
              <a:t>解决了深层网络中梯度消失的问题</a:t>
            </a:r>
            <a:endParaRPr lang="zh-CN" altLang="en-US" b="1" dirty="0"/>
          </a:p>
        </p:txBody>
      </p:sp>
      <p:sp>
        <p:nvSpPr>
          <p:cNvPr id="17" name="文本框 16"/>
          <p:cNvSpPr txBox="1"/>
          <p:nvPr/>
        </p:nvSpPr>
        <p:spPr>
          <a:xfrm>
            <a:off x="7665299" y="3031927"/>
            <a:ext cx="190154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IF </a:t>
            </a:r>
            <a:r>
              <a:rPr lang="zh-CN" altLang="en-US" sz="2400" dirty="0">
                <a:solidFill>
                  <a:schemeClr val="accent1"/>
                </a:solidFill>
                <a:latin typeface="微软雅黑" panose="020B0503020204020204" pitchFamily="34" charset="-122"/>
                <a:ea typeface="微软雅黑" panose="020B0503020204020204" pitchFamily="34" charset="-122"/>
              </a:rPr>
              <a:t>正向传播：</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8" name="文本框 17"/>
          <p:cNvSpPr txBox="1"/>
          <p:nvPr/>
        </p:nvSpPr>
        <p:spPr>
          <a:xfrm>
            <a:off x="7665299" y="4553599"/>
            <a:ext cx="190154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IF </a:t>
            </a:r>
            <a:r>
              <a:rPr lang="zh-CN" altLang="en-US" sz="2400" dirty="0">
                <a:solidFill>
                  <a:schemeClr val="accent1"/>
                </a:solidFill>
                <a:latin typeface="微软雅黑" panose="020B0503020204020204" pitchFamily="34" charset="-122"/>
                <a:ea typeface="微软雅黑" panose="020B0503020204020204" pitchFamily="34" charset="-122"/>
              </a:rPr>
              <a:t>反向传播：</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ResNet</a:t>
            </a:r>
            <a:r>
              <a:rPr lang="en-US" altLang="zh-CN" dirty="0"/>
              <a:t> </a:t>
            </a:r>
            <a:r>
              <a:rPr lang="zh-CN" altLang="en-US" dirty="0"/>
              <a:t>网络结构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407067" y="1272114"/>
            <a:ext cx="5630523" cy="2156886"/>
          </a:xfrm>
          <a:prstGeom prst="rect">
            <a:avLst/>
          </a:prstGeom>
        </p:spPr>
      </p:pic>
      <p:sp>
        <p:nvSpPr>
          <p:cNvPr id="7" name="文本框 6"/>
          <p:cNvSpPr txBox="1"/>
          <p:nvPr/>
        </p:nvSpPr>
        <p:spPr>
          <a:xfrm>
            <a:off x="854097" y="6304201"/>
            <a:ext cx="619248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dirty="0">
                <a:solidFill>
                  <a:schemeClr val="accent1"/>
                </a:solidFill>
                <a:latin typeface="微软雅黑" panose="020B0503020204020204" pitchFamily="34" charset="-122"/>
                <a:ea typeface="微软雅黑" panose="020B0503020204020204" pitchFamily="34" charset="-122"/>
              </a:rPr>
              <a:t>优化：保持模型精度前提下减少了网络参数</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9" name="文本框 8"/>
          <p:cNvSpPr txBox="1"/>
          <p:nvPr/>
        </p:nvSpPr>
        <p:spPr>
          <a:xfrm>
            <a:off x="690734" y="4230688"/>
            <a:ext cx="11295143" cy="8309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en-US" altLang="zh-CN" sz="2400" dirty="0">
                <a:solidFill>
                  <a:schemeClr val="accent1"/>
                </a:solidFill>
                <a:latin typeface="微软雅黑" panose="020B0503020204020204" pitchFamily="34" charset="-122"/>
                <a:ea typeface="微软雅黑" panose="020B0503020204020204" pitchFamily="34" charset="-122"/>
              </a:rPr>
              <a:t>CNN</a:t>
            </a:r>
            <a:r>
              <a:rPr lang="zh-CN" altLang="en-US" sz="2400" dirty="0">
                <a:solidFill>
                  <a:schemeClr val="accent1"/>
                </a:solidFill>
                <a:latin typeface="微软雅黑" panose="020B0503020204020204" pitchFamily="34" charset="-122"/>
                <a:ea typeface="微软雅黑" panose="020B0503020204020204" pitchFamily="34" charset="-122"/>
              </a:rPr>
              <a:t>参数个数 </a:t>
            </a: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sz="2400" dirty="0">
                <a:solidFill>
                  <a:schemeClr val="accent1"/>
                </a:solidFill>
                <a:latin typeface="微软雅黑" panose="020B0503020204020204" pitchFamily="34" charset="-122"/>
                <a:ea typeface="微软雅黑" panose="020B0503020204020204" pitchFamily="34" charset="-122"/>
              </a:rPr>
              <a:t>卷积核尺寸</a:t>
            </a:r>
            <a:r>
              <a:rPr lang="en-US" altLang="zh-CN" sz="2400" dirty="0">
                <a:solidFill>
                  <a:schemeClr val="accent1"/>
                </a:solidFill>
                <a:latin typeface="微软雅黑" panose="020B0503020204020204" pitchFamily="34" charset="-122"/>
                <a:ea typeface="微软雅黑" panose="020B0503020204020204" pitchFamily="34" charset="-122"/>
              </a:rPr>
              <a:t>×</a:t>
            </a:r>
            <a:r>
              <a:rPr lang="zh-CN" altLang="en-US" sz="2400" dirty="0">
                <a:solidFill>
                  <a:schemeClr val="accent1"/>
                </a:solidFill>
                <a:latin typeface="微软雅黑" panose="020B0503020204020204" pitchFamily="34" charset="-122"/>
                <a:ea typeface="微软雅黑" panose="020B0503020204020204" pitchFamily="34" charset="-122"/>
              </a:rPr>
              <a:t>卷积核深度 </a:t>
            </a: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sz="2400" dirty="0">
                <a:solidFill>
                  <a:schemeClr val="accent1"/>
                </a:solidFill>
                <a:latin typeface="微软雅黑" panose="020B0503020204020204" pitchFamily="34" charset="-122"/>
                <a:ea typeface="微软雅黑" panose="020B0503020204020204" pitchFamily="34" charset="-122"/>
              </a:rPr>
              <a:t>卷积核组数 </a:t>
            </a:r>
            <a:endParaRPr lang="en-US" altLang="zh-CN" sz="2400" dirty="0">
              <a:solidFill>
                <a:schemeClr val="accent1"/>
              </a:solidFill>
              <a:latin typeface="微软雅黑" panose="020B0503020204020204" pitchFamily="34" charset="-122"/>
              <a:ea typeface="微软雅黑" panose="020B0503020204020204" pitchFamily="34" charset="-122"/>
            </a:endParaRPr>
          </a:p>
          <a:p>
            <a:r>
              <a:rPr lang="en-US" altLang="zh-CN" sz="2400" dirty="0">
                <a:solidFill>
                  <a:schemeClr val="accent1"/>
                </a:solidFill>
                <a:latin typeface="微软雅黑" panose="020B0503020204020204" pitchFamily="34" charset="-122"/>
                <a:ea typeface="微软雅黑" panose="020B0503020204020204" pitchFamily="34" charset="-122"/>
              </a:rPr>
              <a:t>                      = </a:t>
            </a:r>
            <a:r>
              <a:rPr lang="zh-CN" altLang="en-US" sz="2400" dirty="0">
                <a:solidFill>
                  <a:schemeClr val="accent1"/>
                </a:solidFill>
                <a:latin typeface="微软雅黑" panose="020B0503020204020204" pitchFamily="34" charset="-122"/>
                <a:ea typeface="微软雅黑" panose="020B0503020204020204" pitchFamily="34" charset="-122"/>
              </a:rPr>
              <a:t>卷积核尺寸 </a:t>
            </a: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sz="2400" dirty="0">
                <a:solidFill>
                  <a:schemeClr val="accent1"/>
                </a:solidFill>
                <a:latin typeface="微软雅黑" panose="020B0503020204020204" pitchFamily="34" charset="-122"/>
                <a:ea typeface="微软雅黑" panose="020B0503020204020204" pitchFamily="34" charset="-122"/>
              </a:rPr>
              <a:t>输入特征矩阵深度 </a:t>
            </a: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sz="2400" dirty="0">
                <a:solidFill>
                  <a:schemeClr val="accent1"/>
                </a:solidFill>
                <a:latin typeface="微软雅黑" panose="020B0503020204020204" pitchFamily="34" charset="-122"/>
                <a:ea typeface="微软雅黑" panose="020B0503020204020204" pitchFamily="34" charset="-122"/>
              </a:rPr>
              <a:t>输出特征矩阵深度</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0" name="文本框 9"/>
          <p:cNvSpPr txBox="1"/>
          <p:nvPr/>
        </p:nvSpPr>
        <p:spPr>
          <a:xfrm>
            <a:off x="664421" y="5139089"/>
            <a:ext cx="11321456" cy="89255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60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&lt;</a:t>
            </a:r>
            <a:r>
              <a:rPr lang="zh-CN" altLang="en-US" sz="2400" dirty="0">
                <a:solidFill>
                  <a:schemeClr val="accent1"/>
                </a:solidFill>
                <a:latin typeface="微软雅黑" panose="020B0503020204020204" pitchFamily="34" charset="-122"/>
                <a:ea typeface="微软雅黑" panose="020B0503020204020204" pitchFamily="34" charset="-122"/>
              </a:rPr>
              <a:t>对比</a:t>
            </a:r>
            <a:r>
              <a:rPr lang="en-US" altLang="zh-CN" sz="2400" dirty="0">
                <a:solidFill>
                  <a:schemeClr val="accent1"/>
                </a:solidFill>
                <a:latin typeface="微软雅黑" panose="020B0503020204020204" pitchFamily="34" charset="-122"/>
                <a:ea typeface="微软雅黑" panose="020B0503020204020204" pitchFamily="34" charset="-122"/>
              </a:rPr>
              <a:t>&gt; </a:t>
            </a:r>
            <a:r>
              <a:rPr lang="en-US" altLang="zh-CN" sz="2400" dirty="0" err="1">
                <a:solidFill>
                  <a:schemeClr val="accent1"/>
                </a:solidFill>
                <a:latin typeface="微软雅黑" panose="020B0503020204020204" pitchFamily="34" charset="-122"/>
                <a:ea typeface="微软雅黑" panose="020B0503020204020204" pitchFamily="34" charset="-122"/>
              </a:rPr>
              <a:t>BasicBlock</a:t>
            </a:r>
            <a:r>
              <a:rPr lang="en-US" altLang="zh-CN" sz="2400" dirty="0">
                <a:solidFill>
                  <a:schemeClr val="accent1"/>
                </a:solidFill>
                <a:latin typeface="微软雅黑" panose="020B0503020204020204" pitchFamily="34" charset="-122"/>
                <a:ea typeface="微软雅黑" panose="020B0503020204020204" pitchFamily="34" charset="-122"/>
              </a:rPr>
              <a:t>:  </a:t>
            </a:r>
            <a:r>
              <a:rPr lang="en-US" altLang="zh-CN" sz="2400" b="1" dirty="0">
                <a:solidFill>
                  <a:schemeClr val="accent1"/>
                </a:solidFill>
                <a:latin typeface="微软雅黑" panose="020B0503020204020204" pitchFamily="34" charset="-122"/>
                <a:ea typeface="微软雅黑" panose="020B0503020204020204" pitchFamily="34" charset="-122"/>
              </a:rPr>
              <a:t>3*3*256*256+3*3*256*256=1179648</a:t>
            </a:r>
            <a:endParaRPr lang="en-US" altLang="zh-CN" sz="2400" b="1" dirty="0">
              <a:solidFill>
                <a:schemeClr val="accent1"/>
              </a:solidFill>
              <a:latin typeface="微软雅黑" panose="020B0503020204020204" pitchFamily="34" charset="-122"/>
              <a:ea typeface="微软雅黑" panose="020B0503020204020204" pitchFamily="34" charset="-122"/>
            </a:endParaRPr>
          </a:p>
          <a:p>
            <a:pPr>
              <a:spcAft>
                <a:spcPts val="600"/>
              </a:spcAft>
            </a:pPr>
            <a:r>
              <a:rPr lang="zh-CN" altLang="en-US" sz="2400" dirty="0">
                <a:solidFill>
                  <a:schemeClr val="accent1"/>
                </a:solidFill>
                <a:latin typeface="微软雅黑" panose="020B0503020204020204" pitchFamily="34" charset="-122"/>
                <a:ea typeface="微软雅黑" panose="020B0503020204020204" pitchFamily="34" charset="-122"/>
              </a:rPr>
              <a:t>             </a:t>
            </a:r>
            <a:r>
              <a:rPr lang="en-US" altLang="zh-CN" sz="2400" dirty="0">
                <a:solidFill>
                  <a:schemeClr val="accent1"/>
                </a:solidFill>
                <a:latin typeface="微软雅黑" panose="020B0503020204020204" pitchFamily="34" charset="-122"/>
                <a:ea typeface="微软雅黑" panose="020B0503020204020204" pitchFamily="34" charset="-122"/>
              </a:rPr>
              <a:t>Bottleneck: </a:t>
            </a:r>
            <a:r>
              <a:rPr lang="en-US" altLang="zh-CN" sz="2400" b="1" dirty="0">
                <a:solidFill>
                  <a:schemeClr val="accent1"/>
                </a:solidFill>
                <a:latin typeface="微软雅黑" panose="020B0503020204020204" pitchFamily="34" charset="-122"/>
                <a:ea typeface="微软雅黑" panose="020B0503020204020204" pitchFamily="34" charset="-122"/>
              </a:rPr>
              <a:t>1*1*256*64+3*3*64*64+1*1*256*64=69632</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48097" y="3417246"/>
            <a:ext cx="2274231"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err="1">
                <a:solidFill>
                  <a:schemeClr val="accent1"/>
                </a:solidFill>
                <a:latin typeface="微软雅黑" panose="020B0503020204020204" pitchFamily="34" charset="-122"/>
                <a:ea typeface="微软雅黑" panose="020B0503020204020204" pitchFamily="34" charset="-122"/>
              </a:rPr>
              <a:t>BasicBlock</a:t>
            </a: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sz="2400" dirty="0">
                <a:solidFill>
                  <a:schemeClr val="accent1"/>
                </a:solidFill>
                <a:latin typeface="微软雅黑" panose="020B0503020204020204" pitchFamily="34" charset="-122"/>
                <a:ea typeface="微软雅黑" panose="020B0503020204020204" pitchFamily="34" charset="-122"/>
              </a:rPr>
              <a:t>结构</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3950339" y="3400777"/>
            <a:ext cx="2568872"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en-US" altLang="zh-CN" sz="2400" dirty="0">
                <a:solidFill>
                  <a:schemeClr val="accent1"/>
                </a:solidFill>
                <a:latin typeface="微软雅黑" panose="020B0503020204020204" pitchFamily="34" charset="-122"/>
                <a:ea typeface="微软雅黑" panose="020B0503020204020204" pitchFamily="34" charset="-122"/>
              </a:rPr>
              <a:t>Bottleneck </a:t>
            </a:r>
            <a:r>
              <a:rPr lang="zh-CN" altLang="en-US" sz="2400" dirty="0">
                <a:solidFill>
                  <a:schemeClr val="accent1"/>
                </a:solidFill>
                <a:latin typeface="微软雅黑" panose="020B0503020204020204" pitchFamily="34" charset="-122"/>
                <a:ea typeface="微软雅黑" panose="020B0503020204020204" pitchFamily="34" charset="-122"/>
              </a:rPr>
              <a:t>结构</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14" name="图片 13"/>
          <p:cNvPicPr>
            <a:picLocks noChangeAspect="1"/>
          </p:cNvPicPr>
          <p:nvPr/>
        </p:nvPicPr>
        <p:blipFill>
          <a:blip r:embed="rId2"/>
          <a:stretch>
            <a:fillRect/>
          </a:stretch>
        </p:blipFill>
        <p:spPr>
          <a:xfrm>
            <a:off x="6681200" y="476738"/>
            <a:ext cx="3256557" cy="3448119"/>
          </a:xfrm>
          <a:prstGeom prst="rect">
            <a:avLst/>
          </a:prstGeom>
        </p:spPr>
      </p:pic>
      <p:sp>
        <p:nvSpPr>
          <p:cNvPr id="4" name="矩形 3"/>
          <p:cNvSpPr/>
          <p:nvPr/>
        </p:nvSpPr>
        <p:spPr>
          <a:xfrm>
            <a:off x="9125081" y="3014131"/>
            <a:ext cx="2228719" cy="1198179"/>
          </a:xfrm>
          <a:prstGeom prst="rect">
            <a:avLst/>
          </a:prstGeom>
          <a:solidFill>
            <a:schemeClr val="accent1">
              <a:lumMod val="20000"/>
              <a:lumOff val="80000"/>
            </a:schemeClr>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文本框 5"/>
          <p:cNvSpPr txBox="1"/>
          <p:nvPr/>
        </p:nvSpPr>
        <p:spPr>
          <a:xfrm>
            <a:off x="9271085" y="3380048"/>
            <a:ext cx="2228719"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保证维度相同！</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4057650" y="2446337"/>
            <a:ext cx="7872186" cy="4351338"/>
          </a:xfrm>
        </p:spPr>
        <p:txBody>
          <a:bodyPr/>
          <a:lstStyle/>
          <a:p>
            <a:pPr>
              <a:spcAft>
                <a:spcPts val="1200"/>
              </a:spcAft>
            </a:pPr>
            <a:r>
              <a:rPr lang="zh-CN" altLang="en-US" dirty="0"/>
              <a:t>改为 </a:t>
            </a:r>
            <a:r>
              <a:rPr lang="en-US" altLang="zh-CN" b="1" dirty="0"/>
              <a:t>7x7 </a:t>
            </a:r>
            <a:r>
              <a:rPr lang="zh-CN" altLang="en-US" b="1" dirty="0"/>
              <a:t>大卷积 </a:t>
            </a:r>
            <a:r>
              <a:rPr lang="en-US" altLang="zh-CN" b="1" dirty="0"/>
              <a:t>(</a:t>
            </a:r>
            <a:r>
              <a:rPr lang="zh-CN" altLang="en-US" b="1" dirty="0"/>
              <a:t>步长 </a:t>
            </a:r>
            <a:r>
              <a:rPr lang="en-US" altLang="zh-CN" b="1" dirty="0"/>
              <a:t>2) + 3x3 </a:t>
            </a:r>
            <a:r>
              <a:rPr lang="zh-CN" altLang="en-US" b="1" dirty="0"/>
              <a:t>最大池化 </a:t>
            </a:r>
            <a:r>
              <a:rPr lang="en-US" altLang="zh-CN" b="1" dirty="0"/>
              <a:t>(</a:t>
            </a:r>
            <a:r>
              <a:rPr lang="zh-CN" altLang="en-US" b="1" dirty="0"/>
              <a:t>步长 </a:t>
            </a:r>
            <a:r>
              <a:rPr lang="en-US" altLang="zh-CN" b="1" dirty="0"/>
              <a:t>2)</a:t>
            </a:r>
            <a:r>
              <a:rPr lang="zh-CN" altLang="en-US" dirty="0"/>
              <a:t>，瞬间将像素面积压缩</a:t>
            </a:r>
            <a:endParaRPr lang="en-US" altLang="zh-CN" dirty="0"/>
          </a:p>
          <a:p>
            <a:pPr>
              <a:spcAft>
                <a:spcPts val="1200"/>
              </a:spcAft>
            </a:pPr>
            <a:r>
              <a:rPr lang="zh-CN" altLang="en-US" dirty="0"/>
              <a:t>全面摒弃池化层，改为使用 </a:t>
            </a:r>
            <a:r>
              <a:rPr lang="zh-CN" altLang="en-US" b="1" dirty="0"/>
              <a:t>步长为 </a:t>
            </a:r>
            <a:r>
              <a:rPr lang="en-US" altLang="zh-CN" b="1" dirty="0"/>
              <a:t>2 </a:t>
            </a:r>
            <a:r>
              <a:rPr lang="zh-CN" altLang="en-US" b="1" dirty="0"/>
              <a:t>的 </a:t>
            </a:r>
            <a:r>
              <a:rPr lang="en-US" altLang="zh-CN" b="1" dirty="0"/>
              <a:t>3x3 </a:t>
            </a:r>
            <a:r>
              <a:rPr lang="zh-CN" altLang="en-US" b="1" dirty="0"/>
              <a:t>卷积 </a:t>
            </a:r>
            <a:r>
              <a:rPr lang="zh-CN" altLang="en-US" dirty="0"/>
              <a:t>，让网络自己学习如何压缩特征</a:t>
            </a:r>
            <a:endParaRPr lang="en-US" altLang="zh-CN" dirty="0"/>
          </a:p>
          <a:p>
            <a:pPr>
              <a:spcAft>
                <a:spcPts val="1200"/>
              </a:spcAft>
            </a:pPr>
            <a:r>
              <a:rPr lang="zh-CN" altLang="en-US" dirty="0"/>
              <a:t>最后引入 </a:t>
            </a:r>
            <a:r>
              <a:rPr lang="zh-CN" altLang="en-US" b="1" dirty="0"/>
              <a:t>全局平均池化</a:t>
            </a:r>
            <a:endParaRPr lang="zh-CN" altLang="en-US" dirty="0"/>
          </a:p>
        </p:txBody>
      </p:sp>
      <p:pic>
        <p:nvPicPr>
          <p:cNvPr id="5" name="图片 4"/>
          <p:cNvPicPr>
            <a:picLocks noChangeAspect="1"/>
          </p:cNvPicPr>
          <p:nvPr/>
        </p:nvPicPr>
        <p:blipFill>
          <a:blip r:embed="rId1"/>
          <a:stretch>
            <a:fillRect/>
          </a:stretch>
        </p:blipFill>
        <p:spPr>
          <a:xfrm>
            <a:off x="162280" y="0"/>
            <a:ext cx="3247379" cy="6858000"/>
          </a:xfrm>
          <a:prstGeom prst="rect">
            <a:avLst/>
          </a:prstGeom>
        </p:spPr>
      </p:pic>
      <p:sp>
        <p:nvSpPr>
          <p:cNvPr id="6" name="标题 1"/>
          <p:cNvSpPr>
            <a:spLocks noGrp="1"/>
          </p:cNvSpPr>
          <p:nvPr>
            <p:ph type="title"/>
          </p:nvPr>
        </p:nvSpPr>
        <p:spPr>
          <a:xfrm>
            <a:off x="4057650" y="185209"/>
            <a:ext cx="6129867" cy="1325563"/>
          </a:xfrm>
        </p:spPr>
        <p:txBody>
          <a:bodyPr/>
          <a:lstStyle/>
          <a:p>
            <a:r>
              <a:rPr lang="en-US" altLang="zh-CN" dirty="0" err="1"/>
              <a:t>ResNet</a:t>
            </a:r>
            <a:r>
              <a:rPr lang="en-US" altLang="zh-CN" dirty="0"/>
              <a:t> </a:t>
            </a:r>
            <a:r>
              <a:rPr lang="zh-CN" altLang="en-US" dirty="0"/>
              <a:t>网络结构具体实例</a:t>
            </a:r>
            <a:endParaRPr lang="zh-CN" altLang="en-US" dirty="0"/>
          </a:p>
        </p:txBody>
      </p:sp>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注意力机制</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marR="0" lvl="0" indent="0" algn="l" defTabSz="914400" rtl="0" eaLnBrk="0" fontAlgn="base" latinLnBrk="0" hangingPunct="0">
              <a:lnSpc>
                <a:spcPct val="100000"/>
              </a:lnSpc>
              <a:spcBef>
                <a:spcPct val="0"/>
              </a:spcBef>
              <a:spcAft>
                <a:spcPts val="600"/>
              </a:spcAft>
              <a:buClrTx/>
              <a:buSzTx/>
              <a:buFontTx/>
              <a:buChar char="•"/>
            </a:pP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zh-CN" sz="2400" dirty="0">
                <a:solidFill>
                  <a:schemeClr val="accent1"/>
                </a:solidFill>
                <a:latin typeface="微软雅黑" panose="020B0503020204020204" pitchFamily="34" charset="-122"/>
                <a:ea typeface="微软雅黑" panose="020B0503020204020204" pitchFamily="34" charset="-122"/>
              </a:rPr>
              <a:t>输入信息往往很多，不是每一部分都同样重要</a:t>
            </a:r>
            <a:endParaRPr lang="zh-CN" altLang="zh-CN" sz="2400" dirty="0">
              <a:solidFill>
                <a:schemeClr val="accent1"/>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ts val="600"/>
              </a:spcAft>
              <a:buClrTx/>
              <a:buSzTx/>
              <a:buFontTx/>
              <a:buChar char="•"/>
            </a:pP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zh-CN" sz="2400" dirty="0">
                <a:solidFill>
                  <a:schemeClr val="accent1"/>
                </a:solidFill>
                <a:latin typeface="微软雅黑" panose="020B0503020204020204" pitchFamily="34" charset="-122"/>
                <a:ea typeface="微软雅黑" panose="020B0503020204020204" pitchFamily="34" charset="-122"/>
              </a:rPr>
              <a:t>模型需要自动判断“该关注什么”</a:t>
            </a: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dirty="0"/>
              <a:t>注意力机制</a:t>
            </a:r>
            <a:endParaRPr lang="zh-CN" altLang="zh-CN" sz="2400" dirty="0">
              <a:solidFill>
                <a:schemeClr val="accent1"/>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00000"/>
              </a:lnSpc>
              <a:spcBef>
                <a:spcPct val="0"/>
              </a:spcBef>
              <a:spcAft>
                <a:spcPts val="600"/>
              </a:spcAft>
              <a:buClrTx/>
              <a:buSzTx/>
              <a:buFontTx/>
              <a:buChar char="•"/>
            </a:pPr>
            <a:r>
              <a:rPr lang="en-US" altLang="zh-CN" sz="2400" dirty="0">
                <a:solidFill>
                  <a:schemeClr val="accent1"/>
                </a:solidFill>
                <a:latin typeface="微软雅黑" panose="020B0503020204020204" pitchFamily="34" charset="-122"/>
                <a:ea typeface="微软雅黑" panose="020B0503020204020204" pitchFamily="34" charset="-122"/>
              </a:rPr>
              <a:t> </a:t>
            </a:r>
            <a:r>
              <a:rPr lang="zh-CN" altLang="en-US" sz="2400" dirty="0">
                <a:solidFill>
                  <a:schemeClr val="accent1"/>
                </a:solidFill>
                <a:latin typeface="微软雅黑" panose="020B0503020204020204" pitchFamily="34" charset="-122"/>
                <a:ea typeface="微软雅黑" panose="020B0503020204020204" pitchFamily="34" charset="-122"/>
              </a:rPr>
              <a:t>需要</a:t>
            </a:r>
            <a:r>
              <a:rPr lang="zh-CN" altLang="zh-CN" sz="2400" dirty="0">
                <a:solidFill>
                  <a:schemeClr val="accent1"/>
                </a:solidFill>
                <a:latin typeface="微软雅黑" panose="020B0503020204020204" pitchFamily="34" charset="-122"/>
                <a:ea typeface="微软雅黑" panose="020B0503020204020204" pitchFamily="34" charset="-122"/>
              </a:rPr>
              <a:t>给重要信息更高权重 </a:t>
            </a:r>
            <a:endParaRPr lang="en-US" altLang="zh-CN" dirty="0"/>
          </a:p>
          <a:p>
            <a:pPr marL="0" indent="0">
              <a:buNone/>
            </a:pPr>
            <a:r>
              <a:rPr lang="zh-CN" altLang="en-US" dirty="0"/>
              <a:t>                                            动态地决定把目光聚焦在全局其他信息的哪些部分上</a:t>
            </a:r>
            <a:endParaRPr lang="zh-CN" altLang="en-US" dirty="0"/>
          </a:p>
        </p:txBody>
      </p:sp>
      <p:cxnSp>
        <p:nvCxnSpPr>
          <p:cNvPr id="9" name="直接箭头连接符 8"/>
          <p:cNvCxnSpPr/>
          <p:nvPr/>
        </p:nvCxnSpPr>
        <p:spPr>
          <a:xfrm>
            <a:off x="5683250" y="2559050"/>
            <a:ext cx="2133600" cy="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1" name="直接箭头连接符 10"/>
          <p:cNvCxnSpPr/>
          <p:nvPr/>
        </p:nvCxnSpPr>
        <p:spPr>
          <a:xfrm>
            <a:off x="7188200" y="2063750"/>
            <a:ext cx="628650" cy="43815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3" name="直接箭头连接符 12"/>
          <p:cNvCxnSpPr/>
          <p:nvPr/>
        </p:nvCxnSpPr>
        <p:spPr>
          <a:xfrm flipV="1">
            <a:off x="4635500" y="2616201"/>
            <a:ext cx="3181350" cy="400049"/>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6" name="直接箭头连接符 15"/>
          <p:cNvCxnSpPr/>
          <p:nvPr/>
        </p:nvCxnSpPr>
        <p:spPr>
          <a:xfrm>
            <a:off x="8839200" y="2816225"/>
            <a:ext cx="0" cy="498475"/>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17" name="文本框 16"/>
          <p:cNvSpPr txBox="1"/>
          <p:nvPr/>
        </p:nvSpPr>
        <p:spPr>
          <a:xfrm>
            <a:off x="917780" y="4109820"/>
            <a:ext cx="10972797" cy="1754326"/>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注意力机制可以看作是对每个 </a:t>
            </a:r>
            <a:r>
              <a:rPr lang="en-US" altLang="zh-CN" sz="2400" dirty="0">
                <a:solidFill>
                  <a:schemeClr val="accent1"/>
                </a:solidFill>
                <a:latin typeface="微软雅黑" panose="020B0503020204020204" pitchFamily="34" charset="-122"/>
                <a:ea typeface="微软雅黑" panose="020B0503020204020204" pitchFamily="34" charset="-122"/>
              </a:rPr>
              <a:t>token </a:t>
            </a:r>
            <a:r>
              <a:rPr lang="zh-CN" altLang="en-US" sz="2400" dirty="0">
                <a:solidFill>
                  <a:schemeClr val="accent1"/>
                </a:solidFill>
                <a:latin typeface="微软雅黑" panose="020B0503020204020204" pitchFamily="34" charset="-122"/>
                <a:ea typeface="微软雅黑" panose="020B0503020204020204" pitchFamily="34" charset="-122"/>
              </a:rPr>
              <a:t>向量的一次“再定义”</a:t>
            </a:r>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dirty="0">
                <a:solidFill>
                  <a:schemeClr val="accent1"/>
                </a:solidFill>
                <a:latin typeface="微软雅黑" panose="020B0503020204020204" pitchFamily="34" charset="-122"/>
                <a:ea typeface="微软雅黑" panose="020B0503020204020204" pitchFamily="34" charset="-122"/>
              </a:rPr>
              <a:t>词语本身的向量  </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注意力机制  </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  </a:t>
            </a:r>
            <a:r>
              <a:rPr lang="zh-CN" altLang="en-US" sz="2400" dirty="0">
                <a:solidFill>
                  <a:schemeClr val="accent1"/>
                </a:solidFill>
                <a:latin typeface="微软雅黑" panose="020B0503020204020204" pitchFamily="34" charset="-122"/>
                <a:ea typeface="微软雅黑" panose="020B0503020204020204" pitchFamily="34" charset="-122"/>
              </a:rPr>
              <a:t>一个同时融合了整句语义的向量</a:t>
            </a:r>
            <a:r>
              <a:rPr lang="zh-CN" altLang="en-US" sz="2400" dirty="0"/>
              <a:t>。</a:t>
            </a:r>
            <a:endParaRPr lang="zh-CN" altLang="en-US" sz="2400" dirty="0"/>
          </a:p>
          <a:p>
            <a:endParaRPr lang="zh-CN" altLang="en-US"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注意力机制</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zh-CN" altLang="en-US" dirty="0"/>
              <a:t>注意力机制主要使用“点积运算”，点积就是语义相似度的一种量化程度</a:t>
            </a:r>
            <a:endParaRPr lang="zh-CN" altLang="en-US" dirty="0"/>
          </a:p>
          <a:p>
            <a:pPr marL="0" indent="0">
              <a:buNone/>
            </a:pPr>
            <a:endParaRPr lang="en-US" altLang="zh-CN" dirty="0"/>
          </a:p>
          <a:p>
            <a:pPr marL="0" indent="0">
              <a:buNone/>
            </a:pPr>
            <a:r>
              <a:rPr lang="en-US" altLang="zh-CN" dirty="0"/>
              <a:t>Example</a:t>
            </a:r>
            <a:r>
              <a:rPr lang="zh-CN" altLang="en-US" dirty="0"/>
              <a:t>：</a:t>
            </a:r>
            <a:r>
              <a:rPr lang="en-US" altLang="zh-CN" dirty="0"/>
              <a:t>[ a, b ]</a:t>
            </a:r>
            <a:r>
              <a:rPr lang="zh-CN" altLang="en-US" dirty="0"/>
              <a:t>和</a:t>
            </a:r>
            <a:r>
              <a:rPr lang="en-US" altLang="zh-CN" dirty="0"/>
              <a:t>[ c , d ]</a:t>
            </a:r>
            <a:r>
              <a:rPr lang="zh-CN" altLang="en-US" dirty="0"/>
              <a:t>做点积</a:t>
            </a:r>
            <a:r>
              <a:rPr lang="en-US" altLang="zh-CN" dirty="0"/>
              <a:t>,</a:t>
            </a:r>
            <a:r>
              <a:rPr lang="zh-CN" altLang="en-US" dirty="0"/>
              <a:t>得到结果是</a:t>
            </a:r>
            <a:r>
              <a:rPr lang="en-US" altLang="zh-CN" dirty="0"/>
              <a:t>a*c + b*d</a:t>
            </a:r>
            <a:endParaRPr lang="en-US" altLang="zh-CN"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741462" y="3341846"/>
            <a:ext cx="6583679" cy="833120"/>
          </a:xfrm>
          <a:prstGeom prst="rect">
            <a:avLst/>
          </a:prstGeom>
        </p:spPr>
      </p:pic>
      <p:sp>
        <p:nvSpPr>
          <p:cNvPr id="6" name="文本框 5"/>
          <p:cNvSpPr txBox="1"/>
          <p:nvPr/>
        </p:nvSpPr>
        <p:spPr>
          <a:xfrm>
            <a:off x="914400" y="4352765"/>
            <a:ext cx="11206130" cy="295465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我喜欢吃苹果</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我 喜欢 吃 苹果</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 Embedding</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模型 </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2400" dirty="0">
                <a:solidFill>
                  <a:schemeClr val="accent1"/>
                </a:solidFill>
                <a:latin typeface="微软雅黑" panose="020B0503020204020204" pitchFamily="34" charset="-122"/>
                <a:ea typeface="微软雅黑" panose="020B0503020204020204" pitchFamily="34" charset="-122"/>
              </a:rPr>
              <a:t>[0.6,0.7,0.2,0.5] </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dirty="0">
                <a:solidFill>
                  <a:schemeClr val="accent1"/>
                </a:solidFill>
                <a:latin typeface="微软雅黑" panose="020B0503020204020204" pitchFamily="34" charset="-122"/>
                <a:ea typeface="微软雅黑" panose="020B0503020204020204" pitchFamily="34" charset="-122"/>
              </a:rPr>
              <a:t>我爱吃苹果</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我 爱 吃 苹果</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 Embedding</a:t>
            </a:r>
            <a:r>
              <a:rPr lang="zh-CN" altLang="en-US"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模型 </a:t>
            </a:r>
            <a:r>
              <a:rPr lang="en-US" altLang="zh-CN" sz="2400" dirty="0">
                <a:solidFill>
                  <a:schemeClr val="accent1"/>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2400" dirty="0"/>
              <a:t> </a:t>
            </a:r>
            <a:r>
              <a:rPr lang="en-US" altLang="zh-CN" sz="2400" dirty="0">
                <a:solidFill>
                  <a:schemeClr val="accent1"/>
                </a:solidFill>
                <a:latin typeface="微软雅黑" panose="020B0503020204020204" pitchFamily="34" charset="-122"/>
                <a:ea typeface="微软雅黑" panose="020B0503020204020204" pitchFamily="34" charset="-122"/>
              </a:rPr>
              <a:t>[0.5,0.8,0.3,0.4]</a:t>
            </a:r>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b="1" dirty="0">
                <a:solidFill>
                  <a:schemeClr val="accent1"/>
                </a:solidFill>
                <a:latin typeface="微软雅黑" panose="020B0503020204020204" pitchFamily="34" charset="-122"/>
                <a:ea typeface="微软雅黑" panose="020B0503020204020204" pitchFamily="34" charset="-122"/>
              </a:rPr>
              <a:t>反映出模型认为它们表达的意思相近，向量方向相近</a:t>
            </a:r>
            <a:endParaRPr lang="zh-CN" altLang="en-US" sz="2400" b="1"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nvGrpSpPr>
          <p:cNvPr id="13" name="组合 12"/>
          <p:cNvGrpSpPr/>
          <p:nvPr/>
        </p:nvGrpSpPr>
        <p:grpSpPr>
          <a:xfrm>
            <a:off x="10605452" y="4722097"/>
            <a:ext cx="1318895" cy="1477328"/>
            <a:chOff x="10605452" y="4722097"/>
            <a:chExt cx="1318895" cy="1477328"/>
          </a:xfrm>
        </p:grpSpPr>
        <p:grpSp>
          <p:nvGrpSpPr>
            <p:cNvPr id="11" name="组合 10"/>
            <p:cNvGrpSpPr/>
            <p:nvPr/>
          </p:nvGrpSpPr>
          <p:grpSpPr>
            <a:xfrm>
              <a:off x="10779125" y="5200650"/>
              <a:ext cx="971550" cy="998775"/>
              <a:chOff x="10779125" y="5200650"/>
              <a:chExt cx="971550" cy="998775"/>
            </a:xfrm>
          </p:grpSpPr>
          <p:cxnSp>
            <p:nvCxnSpPr>
              <p:cNvPr id="9" name="直接箭头连接符 8"/>
              <p:cNvCxnSpPr/>
              <p:nvPr/>
            </p:nvCxnSpPr>
            <p:spPr>
              <a:xfrm>
                <a:off x="11264900" y="5200650"/>
                <a:ext cx="0" cy="56515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10" name="文本框 9"/>
              <p:cNvSpPr txBox="1"/>
              <p:nvPr/>
            </p:nvSpPr>
            <p:spPr>
              <a:xfrm>
                <a:off x="10779125" y="5830093"/>
                <a:ext cx="9715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1.12</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10605452" y="4722097"/>
              <a:ext cx="1318895"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rgbClr val="FF0000"/>
                  </a:solidFill>
                  <a:latin typeface="微软雅黑" panose="020B0503020204020204" pitchFamily="34" charset="-122"/>
                  <a:ea typeface="微软雅黑" panose="020B0503020204020204" pitchFamily="34" charset="-122"/>
                </a:rPr>
                <a:t>点积运算</a:t>
              </a:r>
              <a:endParaRPr lang="zh-CN" altLang="en-US" sz="2400" dirty="0">
                <a:solidFill>
                  <a:srgbClr val="FF0000"/>
                </a:solidFill>
                <a:latin typeface="微软雅黑" panose="020B0503020204020204" pitchFamily="34" charset="-122"/>
                <a:ea typeface="微软雅黑" panose="020B0503020204020204" pitchFamily="34" charset="-122"/>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
                                            <p:txEl>
                                              <p:pRg st="5" end="5"/>
                                            </p:txEl>
                                          </p:spTgt>
                                        </p:tgtEl>
                                        <p:attrNameLst>
                                          <p:attrName>style.visibility</p:attrName>
                                        </p:attrNameLst>
                                      </p:cBhvr>
                                      <p:to>
                                        <p:strVal val="visible"/>
                                      </p:to>
                                    </p:set>
                                    <p:animEffect transition="in" filter="fade">
                                      <p:cBhvr>
                                        <p:cTn id="11" dur="1000"/>
                                        <p:tgtEl>
                                          <p:spTgt spid="6">
                                            <p:txEl>
                                              <p:pRg st="5" end="5"/>
                                            </p:txEl>
                                          </p:spTgt>
                                        </p:tgtEl>
                                      </p:cBhvr>
                                    </p:animEffect>
                                    <p:anim calcmode="lin" valueType="num">
                                      <p:cBhvr>
                                        <p:cTn id="12" dur="1000" fill="hold"/>
                                        <p:tgtEl>
                                          <p:spTgt spid="6">
                                            <p:txEl>
                                              <p:pRg st="5" end="5"/>
                                            </p:txEl>
                                          </p:spTgt>
                                        </p:tgtEl>
                                        <p:attrNameLst>
                                          <p:attrName>ppt_x</p:attrName>
                                        </p:attrNameLst>
                                      </p:cBhvr>
                                      <p:tavLst>
                                        <p:tav tm="0">
                                          <p:val>
                                            <p:strVal val="#ppt_x"/>
                                          </p:val>
                                        </p:tav>
                                        <p:tav tm="100000">
                                          <p:val>
                                            <p:strVal val="#ppt_x"/>
                                          </p:val>
                                        </p:tav>
                                      </p:tavLst>
                                    </p:anim>
                                    <p:anim calcmode="lin" valueType="num">
                                      <p:cBhvr>
                                        <p:cTn id="13" dur="1000" fill="hold"/>
                                        <p:tgtEl>
                                          <p:spTgt spid="6">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注意力机制</a:t>
            </a:r>
            <a:endParaRPr lang="zh-CN" altLang="en-US" dirty="0"/>
          </a:p>
        </p:txBody>
      </p:sp>
      <p:sp>
        <p:nvSpPr>
          <p:cNvPr id="3" name="灯片编号占位符 2"/>
          <p:cNvSpPr>
            <a:spLocks noGrp="1"/>
          </p:cNvSpPr>
          <p:nvPr>
            <p:ph type="sldNum" sz="quarter" idx="2"/>
          </p:nvPr>
        </p:nvSpPr>
        <p:spPr>
          <a:xfrm>
            <a:off x="11080144" y="6987206"/>
            <a:ext cx="273657" cy="269241"/>
          </a:xfrm>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8200" y="1338765"/>
            <a:ext cx="11140214" cy="5154109"/>
          </a:xfrm>
        </p:spPr>
        <p:txBody>
          <a:bodyPr/>
          <a:lstStyle/>
          <a:p>
            <a:pPr marL="0" indent="0">
              <a:buNone/>
            </a:pPr>
            <a:endParaRPr lang="en-US" altLang="zh-CN" dirty="0"/>
          </a:p>
          <a:p>
            <a:pPr marL="0" indent="0">
              <a:buNone/>
            </a:pPr>
            <a:endParaRPr lang="zh-CN" altLang="en-US" dirty="0"/>
          </a:p>
        </p:txBody>
      </p:sp>
      <p:graphicFrame>
        <p:nvGraphicFramePr>
          <p:cNvPr id="5" name="表格 4"/>
          <p:cNvGraphicFramePr>
            <a:graphicFrameLocks noGrp="1"/>
          </p:cNvGraphicFramePr>
          <p:nvPr>
            <p:custDataLst>
              <p:tags r:id="rId1"/>
            </p:custDataLst>
          </p:nvPr>
        </p:nvGraphicFramePr>
        <p:xfrm>
          <a:off x="117304" y="2195541"/>
          <a:ext cx="11957392" cy="2752956"/>
        </p:xfrm>
        <a:graphic>
          <a:graphicData uri="http://schemas.openxmlformats.org/drawingml/2006/table">
            <a:tbl>
              <a:tblPr firstRow="1" firstCol="1">
                <a:tableStyleId>{CF821DB8-F4EB-4A41-A1BA-3FCAFE7338EE}</a:tableStyleId>
              </a:tblPr>
              <a:tblGrid>
                <a:gridCol w="2527464"/>
                <a:gridCol w="9429928"/>
              </a:tblGrid>
              <a:tr h="688239">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注意力参数</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具体解释</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88239">
                <a:tc>
                  <a:txBody>
                    <a:bodyPr/>
                    <a:lstStyle/>
                    <a:p>
                      <a:pPr algn="ctr">
                        <a:buNone/>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查询参数</a:t>
                      </a:r>
                      <a:r>
                        <a:rPr lang="en-US" altLang="zh-CN" sz="2000" b="1" dirty="0">
                          <a:latin typeface="微软雅黑" panose="020B0503020204020204" pitchFamily="34" charset="-122"/>
                          <a:ea typeface="微软雅黑" panose="020B0503020204020204" pitchFamily="34" charset="-122"/>
                          <a:cs typeface="Arial" panose="020B0604020202020204" pitchFamily="34" charset="0"/>
                        </a:rPr>
                        <a:t>Query</a:t>
                      </a:r>
                      <a:endParaRPr lang="zh-CN" sz="2000" b="1"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代表当前处理元素所询问或需要的信息表示，它定义了寻找的目标</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88239">
                <a:tc>
                  <a:txBody>
                    <a:bodyPr/>
                    <a:lstStyle/>
                    <a:p>
                      <a:pPr algn="ctr">
                        <a:buNone/>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键参数</a:t>
                      </a:r>
                      <a:r>
                        <a:rPr lang="en-US" altLang="zh-CN" sz="2000" b="1" dirty="0">
                          <a:latin typeface="微软雅黑" panose="020B0503020204020204" pitchFamily="34" charset="-122"/>
                          <a:ea typeface="微软雅黑" panose="020B0503020204020204" pitchFamily="34" charset="-122"/>
                          <a:cs typeface="Arial" panose="020B0604020202020204" pitchFamily="34" charset="0"/>
                        </a:rPr>
                        <a:t>Key</a:t>
                      </a:r>
                      <a:endParaRPr lang="zh-CN" altLang="en-US" sz="2000" b="1"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代表输入序列中所有其他元素的可被检索的索引或标签，用于与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Query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进行匹配</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88239">
                <a:tc>
                  <a:txBody>
                    <a:bodyPr/>
                    <a:lstStyle/>
                    <a:p>
                      <a:pPr algn="ctr">
                        <a:buNone/>
                      </a:pPr>
                      <a:r>
                        <a:rPr lang="zh-CN" altLang="en-US" sz="2000" b="1" dirty="0">
                          <a:latin typeface="微软雅黑" panose="020B0503020204020204" pitchFamily="34" charset="-122"/>
                          <a:ea typeface="微软雅黑" panose="020B0503020204020204" pitchFamily="34" charset="-122"/>
                          <a:cs typeface="Arial" panose="020B0604020202020204" pitchFamily="34" charset="0"/>
                        </a:rPr>
                        <a:t>值参数</a:t>
                      </a:r>
                      <a:r>
                        <a:rPr lang="en-US" altLang="zh-CN" sz="2000" b="1" dirty="0">
                          <a:latin typeface="微软雅黑" panose="020B0503020204020204" pitchFamily="34" charset="-122"/>
                          <a:ea typeface="微软雅黑" panose="020B0503020204020204" pitchFamily="34" charset="-122"/>
                          <a:cs typeface="Arial" panose="020B0604020202020204" pitchFamily="34" charset="0"/>
                        </a:rPr>
                        <a:t>Value</a:t>
                      </a:r>
                      <a:endParaRPr lang="zh-CN" altLang="en-US" sz="2000" b="1"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代表每个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Key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所对应的、实际承载内容的“信息本体”，是最终被提取的对象</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6" name="对象 5"/>
          <p:cNvGraphicFramePr>
            <a:graphicFrameLocks noChangeAspect="1"/>
          </p:cNvGraphicFramePr>
          <p:nvPr/>
        </p:nvGraphicFramePr>
        <p:xfrm>
          <a:off x="3846591" y="-51422"/>
          <a:ext cx="5803588" cy="1273323"/>
        </p:xfrm>
        <a:graphic>
          <a:graphicData uri="http://schemas.openxmlformats.org/presentationml/2006/ole">
            <mc:AlternateContent xmlns:mc="http://schemas.openxmlformats.org/markup-compatibility/2006">
              <mc:Choice xmlns:v="urn:schemas-microsoft-com:vml" Requires="v">
                <p:oleObj spid="_x0000_s5374" name="Equation" r:id="rId2" imgW="2451100" imgH="539750" progId="Equation.DSMT4">
                  <p:embed/>
                </p:oleObj>
              </mc:Choice>
              <mc:Fallback>
                <p:oleObj name="Equation" r:id="rId2" imgW="2451100" imgH="539750" progId="Equation.DSMT4">
                  <p:embed/>
                  <p:pic>
                    <p:nvPicPr>
                      <p:cNvPr id="0" name="图片 5283"/>
                      <p:cNvPicPr/>
                      <p:nvPr/>
                    </p:nvPicPr>
                    <p:blipFill>
                      <a:blip r:embed="rId3"/>
                      <a:stretch>
                        <a:fillRect/>
                      </a:stretch>
                    </p:blipFill>
                    <p:spPr>
                      <a:xfrm>
                        <a:off x="3846591" y="-51422"/>
                        <a:ext cx="5803588" cy="1273323"/>
                      </a:xfrm>
                      <a:prstGeom prst="rect">
                        <a:avLst/>
                      </a:prstGeom>
                    </p:spPr>
                  </p:pic>
                </p:oleObj>
              </mc:Fallback>
            </mc:AlternateContent>
          </a:graphicData>
        </a:graphic>
      </p:graphicFrame>
      <p:graphicFrame>
        <p:nvGraphicFramePr>
          <p:cNvPr id="7" name="对象 6"/>
          <p:cNvGraphicFramePr>
            <a:graphicFrameLocks noChangeAspect="1"/>
          </p:cNvGraphicFramePr>
          <p:nvPr/>
        </p:nvGraphicFramePr>
        <p:xfrm>
          <a:off x="481986" y="5111545"/>
          <a:ext cx="754031" cy="585286"/>
        </p:xfrm>
        <a:graphic>
          <a:graphicData uri="http://schemas.openxmlformats.org/presentationml/2006/ole">
            <mc:AlternateContent xmlns:mc="http://schemas.openxmlformats.org/markup-compatibility/2006">
              <mc:Choice xmlns:v="urn:schemas-microsoft-com:vml" Requires="v">
                <p:oleObj spid="_x0000_s5375" name="Equation" r:id="rId4" imgW="335915" imgH="233680" progId="Equation.DSMT4">
                  <p:embed/>
                </p:oleObj>
              </mc:Choice>
              <mc:Fallback>
                <p:oleObj name="Equation" r:id="rId4" imgW="335915" imgH="233680" progId="Equation.DSMT4">
                  <p:embed/>
                  <p:pic>
                    <p:nvPicPr>
                      <p:cNvPr id="0" name="图片 5284"/>
                      <p:cNvPicPr/>
                      <p:nvPr/>
                    </p:nvPicPr>
                    <p:blipFill>
                      <a:blip r:embed="rId5"/>
                      <a:stretch>
                        <a:fillRect/>
                      </a:stretch>
                    </p:blipFill>
                    <p:spPr>
                      <a:xfrm>
                        <a:off x="481986" y="5111545"/>
                        <a:ext cx="754031" cy="585286"/>
                      </a:xfrm>
                      <a:prstGeom prst="rect">
                        <a:avLst/>
                      </a:prstGeom>
                    </p:spPr>
                  </p:pic>
                </p:oleObj>
              </mc:Fallback>
            </mc:AlternateContent>
          </a:graphicData>
        </a:graphic>
      </p:graphicFrame>
      <p:cxnSp>
        <p:nvCxnSpPr>
          <p:cNvPr id="9" name="直接箭头连接符 8"/>
          <p:cNvCxnSpPr/>
          <p:nvPr/>
        </p:nvCxnSpPr>
        <p:spPr>
          <a:xfrm>
            <a:off x="1563939" y="5436179"/>
            <a:ext cx="882869" cy="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graphicFrame>
        <p:nvGraphicFramePr>
          <p:cNvPr id="10" name="对象 9"/>
          <p:cNvGraphicFramePr>
            <a:graphicFrameLocks noChangeAspect="1"/>
          </p:cNvGraphicFramePr>
          <p:nvPr/>
        </p:nvGraphicFramePr>
        <p:xfrm>
          <a:off x="3021704" y="4960917"/>
          <a:ext cx="754031" cy="989667"/>
        </p:xfrm>
        <a:graphic>
          <a:graphicData uri="http://schemas.openxmlformats.org/presentationml/2006/ole">
            <mc:AlternateContent xmlns:mc="http://schemas.openxmlformats.org/markup-compatibility/2006">
              <mc:Choice xmlns:v="urn:schemas-microsoft-com:vml" Requires="v">
                <p:oleObj spid="_x0000_s5376" name="Equation" r:id="rId6" imgW="374650" imgH="491490" progId="Equation.DSMT4">
                  <p:embed/>
                </p:oleObj>
              </mc:Choice>
              <mc:Fallback>
                <p:oleObj name="Equation" r:id="rId6" imgW="374650" imgH="491490" progId="Equation.DSMT4">
                  <p:embed/>
                  <p:pic>
                    <p:nvPicPr>
                      <p:cNvPr id="0" name="图片 5285"/>
                      <p:cNvPicPr/>
                      <p:nvPr/>
                    </p:nvPicPr>
                    <p:blipFill>
                      <a:blip r:embed="rId7"/>
                      <a:stretch>
                        <a:fillRect/>
                      </a:stretch>
                    </p:blipFill>
                    <p:spPr>
                      <a:xfrm>
                        <a:off x="3021704" y="4960917"/>
                        <a:ext cx="754031" cy="989667"/>
                      </a:xfrm>
                      <a:prstGeom prst="rect">
                        <a:avLst/>
                      </a:prstGeom>
                    </p:spPr>
                  </p:pic>
                </p:oleObj>
              </mc:Fallback>
            </mc:AlternateContent>
          </a:graphicData>
        </a:graphic>
      </p:graphicFrame>
      <p:cxnSp>
        <p:nvCxnSpPr>
          <p:cNvPr id="12" name="直接箭头连接符 11"/>
          <p:cNvCxnSpPr/>
          <p:nvPr/>
        </p:nvCxnSpPr>
        <p:spPr>
          <a:xfrm>
            <a:off x="4199932" y="5401214"/>
            <a:ext cx="927013" cy="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graphicFrame>
        <p:nvGraphicFramePr>
          <p:cNvPr id="13" name="对象 12"/>
          <p:cNvGraphicFramePr>
            <a:graphicFrameLocks noChangeAspect="1"/>
          </p:cNvGraphicFramePr>
          <p:nvPr/>
        </p:nvGraphicFramePr>
        <p:xfrm>
          <a:off x="5538791" y="4868486"/>
          <a:ext cx="2026070" cy="1053651"/>
        </p:xfrm>
        <a:graphic>
          <a:graphicData uri="http://schemas.openxmlformats.org/presentationml/2006/ole">
            <mc:AlternateContent xmlns:mc="http://schemas.openxmlformats.org/markup-compatibility/2006">
              <mc:Choice xmlns:v="urn:schemas-microsoft-com:vml" Requires="v">
                <p:oleObj spid="_x0000_s5377" name="Equation" r:id="rId8" imgW="1035685" imgH="539750" progId="Equation.DSMT4">
                  <p:embed/>
                </p:oleObj>
              </mc:Choice>
              <mc:Fallback>
                <p:oleObj name="Equation" r:id="rId8" imgW="1035685" imgH="539750" progId="Equation.DSMT4">
                  <p:embed/>
                  <p:pic>
                    <p:nvPicPr>
                      <p:cNvPr id="0" name="图片 5286"/>
                      <p:cNvPicPr/>
                      <p:nvPr/>
                    </p:nvPicPr>
                    <p:blipFill>
                      <a:blip r:embed="rId9"/>
                      <a:stretch>
                        <a:fillRect/>
                      </a:stretch>
                    </p:blipFill>
                    <p:spPr>
                      <a:xfrm>
                        <a:off x="5538791" y="4868486"/>
                        <a:ext cx="2026070" cy="1053651"/>
                      </a:xfrm>
                      <a:prstGeom prst="rect">
                        <a:avLst/>
                      </a:prstGeom>
                    </p:spPr>
                  </p:pic>
                </p:oleObj>
              </mc:Fallback>
            </mc:AlternateContent>
          </a:graphicData>
        </a:graphic>
      </p:graphicFrame>
      <p:cxnSp>
        <p:nvCxnSpPr>
          <p:cNvPr id="15" name="直接箭头连接符 14"/>
          <p:cNvCxnSpPr/>
          <p:nvPr/>
        </p:nvCxnSpPr>
        <p:spPr>
          <a:xfrm>
            <a:off x="7832309" y="5401214"/>
            <a:ext cx="838725" cy="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graphicFrame>
        <p:nvGraphicFramePr>
          <p:cNvPr id="16" name="对象 15"/>
          <p:cNvGraphicFramePr>
            <a:graphicFrameLocks noChangeAspect="1"/>
          </p:cNvGraphicFramePr>
          <p:nvPr/>
        </p:nvGraphicFramePr>
        <p:xfrm>
          <a:off x="8938481" y="4942393"/>
          <a:ext cx="1996481" cy="923870"/>
        </p:xfrm>
        <a:graphic>
          <a:graphicData uri="http://schemas.openxmlformats.org/presentationml/2006/ole">
            <mc:AlternateContent xmlns:mc="http://schemas.openxmlformats.org/markup-compatibility/2006">
              <mc:Choice xmlns:v="urn:schemas-microsoft-com:vml" Requires="v">
                <p:oleObj spid="_x0000_s5378" name="Equation" r:id="rId10" imgW="1162685" imgH="539750" progId="Equation.DSMT4">
                  <p:embed/>
                </p:oleObj>
              </mc:Choice>
              <mc:Fallback>
                <p:oleObj name="Equation" r:id="rId10" imgW="1162685" imgH="539750" progId="Equation.DSMT4">
                  <p:embed/>
                  <p:pic>
                    <p:nvPicPr>
                      <p:cNvPr id="0" name="图片 5287"/>
                      <p:cNvPicPr/>
                      <p:nvPr/>
                    </p:nvPicPr>
                    <p:blipFill>
                      <a:blip r:embed="rId11"/>
                      <a:stretch>
                        <a:fillRect/>
                      </a:stretch>
                    </p:blipFill>
                    <p:spPr>
                      <a:xfrm>
                        <a:off x="8938481" y="4942393"/>
                        <a:ext cx="1996481" cy="923870"/>
                      </a:xfrm>
                      <a:prstGeom prst="rect">
                        <a:avLst/>
                      </a:prstGeom>
                    </p:spPr>
                  </p:pic>
                </p:oleObj>
              </mc:Fallback>
            </mc:AlternateContent>
          </a:graphicData>
        </a:graphic>
      </p:graphicFrame>
      <p:sp>
        <p:nvSpPr>
          <p:cNvPr id="17" name="文本框 16"/>
          <p:cNvSpPr txBox="1"/>
          <p:nvPr/>
        </p:nvSpPr>
        <p:spPr>
          <a:xfrm>
            <a:off x="117304" y="5999847"/>
            <a:ext cx="1692577" cy="73866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衡量两个向</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量的相似度</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9" name="文本框 18"/>
          <p:cNvSpPr txBox="1"/>
          <p:nvPr/>
        </p:nvSpPr>
        <p:spPr>
          <a:xfrm>
            <a:off x="2739481" y="5963004"/>
            <a:ext cx="1692577" cy="8309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缩放点积注意力</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0" name="文本框 19"/>
          <p:cNvSpPr txBox="1"/>
          <p:nvPr/>
        </p:nvSpPr>
        <p:spPr>
          <a:xfrm>
            <a:off x="5656668" y="5963004"/>
            <a:ext cx="1868155" cy="8309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转化为百分比权重</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1" name="文本框 20"/>
          <p:cNvSpPr txBox="1"/>
          <p:nvPr/>
        </p:nvSpPr>
        <p:spPr>
          <a:xfrm>
            <a:off x="8921470" y="5896848"/>
            <a:ext cx="2328803"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按比例吸取信息</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aphicFrame>
        <p:nvGraphicFramePr>
          <p:cNvPr id="24" name="对象 23"/>
          <p:cNvGraphicFramePr>
            <a:graphicFrameLocks noChangeAspect="1"/>
          </p:cNvGraphicFramePr>
          <p:nvPr/>
        </p:nvGraphicFramePr>
        <p:xfrm>
          <a:off x="3898142" y="1411523"/>
          <a:ext cx="1530592" cy="619082"/>
        </p:xfrm>
        <a:graphic>
          <a:graphicData uri="http://schemas.openxmlformats.org/presentationml/2006/ole">
            <mc:AlternateContent xmlns:mc="http://schemas.openxmlformats.org/markup-compatibility/2006">
              <mc:Choice xmlns:v="urn:schemas-microsoft-com:vml" Requires="v">
                <p:oleObj spid="_x0000_s5379" name="Equation" r:id="rId12" imgW="603250" imgH="248285" progId="Equation.DSMT4">
                  <p:embed/>
                </p:oleObj>
              </mc:Choice>
              <mc:Fallback>
                <p:oleObj name="Equation" r:id="rId12" imgW="603250" imgH="248285" progId="Equation.DSMT4">
                  <p:embed/>
                  <p:pic>
                    <p:nvPicPr>
                      <p:cNvPr id="0" name="图片 5288"/>
                      <p:cNvPicPr/>
                      <p:nvPr/>
                    </p:nvPicPr>
                    <p:blipFill>
                      <a:blip r:embed="rId13"/>
                      <a:stretch>
                        <a:fillRect/>
                      </a:stretch>
                    </p:blipFill>
                    <p:spPr>
                      <a:xfrm>
                        <a:off x="3898142" y="1411523"/>
                        <a:ext cx="1530592" cy="619082"/>
                      </a:xfrm>
                      <a:prstGeom prst="rect">
                        <a:avLst/>
                      </a:prstGeom>
                    </p:spPr>
                  </p:pic>
                </p:oleObj>
              </mc:Fallback>
            </mc:AlternateContent>
          </a:graphicData>
        </a:graphic>
      </p:graphicFrame>
      <p:graphicFrame>
        <p:nvGraphicFramePr>
          <p:cNvPr id="25" name="对象 24"/>
          <p:cNvGraphicFramePr>
            <a:graphicFrameLocks noChangeAspect="1"/>
          </p:cNvGraphicFramePr>
          <p:nvPr/>
        </p:nvGraphicFramePr>
        <p:xfrm>
          <a:off x="6140575" y="1426389"/>
          <a:ext cx="1500461" cy="552801"/>
        </p:xfrm>
        <a:graphic>
          <a:graphicData uri="http://schemas.openxmlformats.org/presentationml/2006/ole">
            <mc:AlternateContent xmlns:mc="http://schemas.openxmlformats.org/markup-compatibility/2006">
              <mc:Choice xmlns:v="urn:schemas-microsoft-com:vml" Requires="v">
                <p:oleObj spid="_x0000_s5380" name="Equation" r:id="rId14" imgW="627380" imgH="233680" progId="Equation.DSMT4">
                  <p:embed/>
                </p:oleObj>
              </mc:Choice>
              <mc:Fallback>
                <p:oleObj name="Equation" r:id="rId14" imgW="627380" imgH="233680" progId="Equation.DSMT4">
                  <p:embed/>
                  <p:pic>
                    <p:nvPicPr>
                      <p:cNvPr id="0" name="图片 5289"/>
                      <p:cNvPicPr/>
                      <p:nvPr/>
                    </p:nvPicPr>
                    <p:blipFill>
                      <a:blip r:embed="rId15"/>
                      <a:stretch>
                        <a:fillRect/>
                      </a:stretch>
                    </p:blipFill>
                    <p:spPr>
                      <a:xfrm>
                        <a:off x="6140575" y="1426389"/>
                        <a:ext cx="1500461" cy="552801"/>
                      </a:xfrm>
                      <a:prstGeom prst="rect">
                        <a:avLst/>
                      </a:prstGeom>
                    </p:spPr>
                  </p:pic>
                </p:oleObj>
              </mc:Fallback>
            </mc:AlternateContent>
          </a:graphicData>
        </a:graphic>
      </p:graphicFrame>
      <p:graphicFrame>
        <p:nvGraphicFramePr>
          <p:cNvPr id="26" name="对象 25"/>
          <p:cNvGraphicFramePr>
            <a:graphicFrameLocks noChangeAspect="1"/>
          </p:cNvGraphicFramePr>
          <p:nvPr/>
        </p:nvGraphicFramePr>
        <p:xfrm>
          <a:off x="8251671" y="1447596"/>
          <a:ext cx="1334354" cy="524309"/>
        </p:xfrm>
        <a:graphic>
          <a:graphicData uri="http://schemas.openxmlformats.org/presentationml/2006/ole">
            <mc:AlternateContent xmlns:mc="http://schemas.openxmlformats.org/markup-compatibility/2006">
              <mc:Choice xmlns:v="urn:schemas-microsoft-com:vml" Requires="v">
                <p:oleObj spid="_x0000_s5381" name="Equation" r:id="rId16" imgW="588645" imgH="233680" progId="Equation.DSMT4">
                  <p:embed/>
                </p:oleObj>
              </mc:Choice>
              <mc:Fallback>
                <p:oleObj name="Equation" r:id="rId16" imgW="588645" imgH="233680" progId="Equation.DSMT4">
                  <p:embed/>
                  <p:pic>
                    <p:nvPicPr>
                      <p:cNvPr id="0" name="图片 5290"/>
                      <p:cNvPicPr/>
                      <p:nvPr/>
                    </p:nvPicPr>
                    <p:blipFill>
                      <a:blip r:embed="rId17"/>
                      <a:stretch>
                        <a:fillRect/>
                      </a:stretch>
                    </p:blipFill>
                    <p:spPr>
                      <a:xfrm>
                        <a:off x="8251671" y="1447596"/>
                        <a:ext cx="1334354" cy="524309"/>
                      </a:xfrm>
                      <a:prstGeom prst="rect">
                        <a:avLst/>
                      </a:prstGeom>
                    </p:spPr>
                  </p:pic>
                </p:oleObj>
              </mc:Fallback>
            </mc:AlternateContent>
          </a:graphicData>
        </a:graphic>
      </p:graphicFrame>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grpSp>
        <p:nvGrpSpPr>
          <p:cNvPr id="2" name="组合 1"/>
          <p:cNvGrpSpPr/>
          <p:nvPr/>
        </p:nvGrpSpPr>
        <p:grpSpPr>
          <a:xfrm>
            <a:off x="23304" y="0"/>
            <a:ext cx="6072696" cy="3444155"/>
            <a:chOff x="104040" y="537950"/>
            <a:chExt cx="7369088" cy="3782871"/>
          </a:xfrm>
        </p:grpSpPr>
        <p:grpSp>
          <p:nvGrpSpPr>
            <p:cNvPr id="436" name="组合 435"/>
            <p:cNvGrpSpPr/>
            <p:nvPr/>
          </p:nvGrpSpPr>
          <p:grpSpPr>
            <a:xfrm>
              <a:off x="3097855" y="1925871"/>
              <a:ext cx="1175657" cy="979713"/>
              <a:chOff x="3097855" y="1925871"/>
              <a:chExt cx="1175657" cy="979713"/>
            </a:xfrm>
          </p:grpSpPr>
          <p:grpSp>
            <p:nvGrpSpPr>
              <p:cNvPr id="13" name="图形 5"/>
              <p:cNvGrpSpPr/>
              <p:nvPr/>
            </p:nvGrpSpPr>
            <p:grpSpPr>
              <a:xfrm>
                <a:off x="3097855" y="1925871"/>
                <a:ext cx="1175657" cy="195942"/>
                <a:chOff x="3450771" y="1632857"/>
                <a:chExt cx="1175657" cy="195942"/>
              </a:xfrm>
              <a:solidFill>
                <a:schemeClr val="accent6">
                  <a:lumMod val="50000"/>
                </a:schemeClr>
              </a:solidFill>
            </p:grpSpPr>
            <p:sp>
              <p:nvSpPr>
                <p:cNvPr id="42" name="任意多边形: 形状 41"/>
                <p:cNvSpPr/>
                <p:nvPr/>
              </p:nvSpPr>
              <p:spPr>
                <a:xfrm>
                  <a:off x="3450771" y="1632857"/>
                  <a:ext cx="195942" cy="195942"/>
                </a:xfrm>
                <a:custGeom>
                  <a:avLst/>
                  <a:gdLst>
                    <a:gd name="connsiteX0" fmla="*/ 120 w 195942"/>
                    <a:gd name="connsiteY0" fmla="*/ 250 h 195942"/>
                    <a:gd name="connsiteX1" fmla="*/ 196063 w 195942"/>
                    <a:gd name="connsiteY1" fmla="*/ 250 h 195942"/>
                    <a:gd name="connsiteX2" fmla="*/ 196063 w 195942"/>
                    <a:gd name="connsiteY2" fmla="*/ 196193 h 195942"/>
                    <a:gd name="connsiteX3" fmla="*/ 12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50"/>
                      </a:moveTo>
                      <a:lnTo>
                        <a:pt x="196063" y="250"/>
                      </a:lnTo>
                      <a:lnTo>
                        <a:pt x="196063" y="196193"/>
                      </a:lnTo>
                      <a:lnTo>
                        <a:pt x="12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p>
              </p:txBody>
            </p:sp>
            <p:sp>
              <p:nvSpPr>
                <p:cNvPr id="43" name="任意多边形: 形状 42"/>
                <p:cNvSpPr/>
                <p:nvPr/>
              </p:nvSpPr>
              <p:spPr>
                <a:xfrm>
                  <a:off x="3646714" y="1632857"/>
                  <a:ext cx="195942" cy="195942"/>
                </a:xfrm>
                <a:custGeom>
                  <a:avLst/>
                  <a:gdLst>
                    <a:gd name="connsiteX0" fmla="*/ 150 w 195942"/>
                    <a:gd name="connsiteY0" fmla="*/ 250 h 195942"/>
                    <a:gd name="connsiteX1" fmla="*/ 196093 w 195942"/>
                    <a:gd name="connsiteY1" fmla="*/ 250 h 195942"/>
                    <a:gd name="connsiteX2" fmla="*/ 196093 w 195942"/>
                    <a:gd name="connsiteY2" fmla="*/ 196193 h 195942"/>
                    <a:gd name="connsiteX3" fmla="*/ 15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50"/>
                      </a:moveTo>
                      <a:lnTo>
                        <a:pt x="196093" y="250"/>
                      </a:lnTo>
                      <a:lnTo>
                        <a:pt x="196093" y="196193"/>
                      </a:lnTo>
                      <a:lnTo>
                        <a:pt x="15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4" name="任意多边形: 形状 43"/>
                <p:cNvSpPr/>
                <p:nvPr/>
              </p:nvSpPr>
              <p:spPr>
                <a:xfrm>
                  <a:off x="3842657" y="1632857"/>
                  <a:ext cx="195942" cy="195942"/>
                </a:xfrm>
                <a:custGeom>
                  <a:avLst/>
                  <a:gdLst>
                    <a:gd name="connsiteX0" fmla="*/ 180 w 195942"/>
                    <a:gd name="connsiteY0" fmla="*/ 250 h 195942"/>
                    <a:gd name="connsiteX1" fmla="*/ 196123 w 195942"/>
                    <a:gd name="connsiteY1" fmla="*/ 250 h 195942"/>
                    <a:gd name="connsiteX2" fmla="*/ 196123 w 195942"/>
                    <a:gd name="connsiteY2" fmla="*/ 196193 h 195942"/>
                    <a:gd name="connsiteX3" fmla="*/ 18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50"/>
                      </a:moveTo>
                      <a:lnTo>
                        <a:pt x="196123" y="250"/>
                      </a:lnTo>
                      <a:lnTo>
                        <a:pt x="196123" y="196193"/>
                      </a:lnTo>
                      <a:lnTo>
                        <a:pt x="18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 name="任意多边形: 形状 44"/>
                <p:cNvSpPr/>
                <p:nvPr/>
              </p:nvSpPr>
              <p:spPr>
                <a:xfrm>
                  <a:off x="4038600" y="1632857"/>
                  <a:ext cx="195942" cy="195942"/>
                </a:xfrm>
                <a:custGeom>
                  <a:avLst/>
                  <a:gdLst>
                    <a:gd name="connsiteX0" fmla="*/ 210 w 195942"/>
                    <a:gd name="connsiteY0" fmla="*/ 250 h 195942"/>
                    <a:gd name="connsiteX1" fmla="*/ 196153 w 195942"/>
                    <a:gd name="connsiteY1" fmla="*/ 250 h 195942"/>
                    <a:gd name="connsiteX2" fmla="*/ 196153 w 195942"/>
                    <a:gd name="connsiteY2" fmla="*/ 196193 h 195942"/>
                    <a:gd name="connsiteX3" fmla="*/ 21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50"/>
                      </a:moveTo>
                      <a:lnTo>
                        <a:pt x="196153" y="250"/>
                      </a:lnTo>
                      <a:lnTo>
                        <a:pt x="196153" y="196193"/>
                      </a:lnTo>
                      <a:lnTo>
                        <a:pt x="21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6" name="任意多边形: 形状 45"/>
                <p:cNvSpPr/>
                <p:nvPr/>
              </p:nvSpPr>
              <p:spPr>
                <a:xfrm>
                  <a:off x="4234542" y="1632857"/>
                  <a:ext cx="195942" cy="195942"/>
                </a:xfrm>
                <a:custGeom>
                  <a:avLst/>
                  <a:gdLst>
                    <a:gd name="connsiteX0" fmla="*/ 240 w 195942"/>
                    <a:gd name="connsiteY0" fmla="*/ 250 h 195942"/>
                    <a:gd name="connsiteX1" fmla="*/ 196183 w 195942"/>
                    <a:gd name="connsiteY1" fmla="*/ 250 h 195942"/>
                    <a:gd name="connsiteX2" fmla="*/ 196183 w 195942"/>
                    <a:gd name="connsiteY2" fmla="*/ 196193 h 195942"/>
                    <a:gd name="connsiteX3" fmla="*/ 24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50"/>
                      </a:moveTo>
                      <a:lnTo>
                        <a:pt x="196183" y="250"/>
                      </a:lnTo>
                      <a:lnTo>
                        <a:pt x="196183" y="196193"/>
                      </a:lnTo>
                      <a:lnTo>
                        <a:pt x="24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7" name="任意多边形: 形状 46"/>
                <p:cNvSpPr/>
                <p:nvPr/>
              </p:nvSpPr>
              <p:spPr>
                <a:xfrm>
                  <a:off x="4430485" y="1632857"/>
                  <a:ext cx="195942" cy="195942"/>
                </a:xfrm>
                <a:custGeom>
                  <a:avLst/>
                  <a:gdLst>
                    <a:gd name="connsiteX0" fmla="*/ 270 w 195942"/>
                    <a:gd name="connsiteY0" fmla="*/ 250 h 195942"/>
                    <a:gd name="connsiteX1" fmla="*/ 196213 w 195942"/>
                    <a:gd name="connsiteY1" fmla="*/ 250 h 195942"/>
                    <a:gd name="connsiteX2" fmla="*/ 196213 w 195942"/>
                    <a:gd name="connsiteY2" fmla="*/ 196193 h 195942"/>
                    <a:gd name="connsiteX3" fmla="*/ 27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50"/>
                      </a:moveTo>
                      <a:lnTo>
                        <a:pt x="196213" y="250"/>
                      </a:lnTo>
                      <a:lnTo>
                        <a:pt x="196213" y="196193"/>
                      </a:lnTo>
                      <a:lnTo>
                        <a:pt x="27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4" name="图形 5"/>
              <p:cNvGrpSpPr/>
              <p:nvPr/>
            </p:nvGrpSpPr>
            <p:grpSpPr>
              <a:xfrm>
                <a:off x="3097855" y="2121814"/>
                <a:ext cx="1175657" cy="195942"/>
                <a:chOff x="3450771" y="1828800"/>
                <a:chExt cx="1175657" cy="195942"/>
              </a:xfrm>
              <a:solidFill>
                <a:srgbClr val="000000"/>
              </a:solidFill>
            </p:grpSpPr>
            <p:sp>
              <p:nvSpPr>
                <p:cNvPr id="36" name="任意多边形: 形状 35"/>
                <p:cNvSpPr/>
                <p:nvPr/>
              </p:nvSpPr>
              <p:spPr>
                <a:xfrm>
                  <a:off x="3450771" y="1828800"/>
                  <a:ext cx="195942" cy="195942"/>
                </a:xfrm>
                <a:custGeom>
                  <a:avLst/>
                  <a:gdLst>
                    <a:gd name="connsiteX0" fmla="*/ 120 w 195942"/>
                    <a:gd name="connsiteY0" fmla="*/ 280 h 195942"/>
                    <a:gd name="connsiteX1" fmla="*/ 196063 w 195942"/>
                    <a:gd name="connsiteY1" fmla="*/ 280 h 195942"/>
                    <a:gd name="connsiteX2" fmla="*/ 196063 w 195942"/>
                    <a:gd name="connsiteY2" fmla="*/ 196223 h 195942"/>
                    <a:gd name="connsiteX3" fmla="*/ 12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80"/>
                      </a:moveTo>
                      <a:lnTo>
                        <a:pt x="196063" y="280"/>
                      </a:lnTo>
                      <a:lnTo>
                        <a:pt x="196063" y="196223"/>
                      </a:lnTo>
                      <a:lnTo>
                        <a:pt x="120" y="19622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7" name="任意多边形: 形状 36"/>
                <p:cNvSpPr/>
                <p:nvPr/>
              </p:nvSpPr>
              <p:spPr>
                <a:xfrm>
                  <a:off x="3646714" y="1828800"/>
                  <a:ext cx="195942" cy="195942"/>
                </a:xfrm>
                <a:custGeom>
                  <a:avLst/>
                  <a:gdLst>
                    <a:gd name="connsiteX0" fmla="*/ 150 w 195942"/>
                    <a:gd name="connsiteY0" fmla="*/ 280 h 195942"/>
                    <a:gd name="connsiteX1" fmla="*/ 196093 w 195942"/>
                    <a:gd name="connsiteY1" fmla="*/ 280 h 195942"/>
                    <a:gd name="connsiteX2" fmla="*/ 196093 w 195942"/>
                    <a:gd name="connsiteY2" fmla="*/ 196223 h 195942"/>
                    <a:gd name="connsiteX3" fmla="*/ 15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80"/>
                      </a:moveTo>
                      <a:lnTo>
                        <a:pt x="196093" y="280"/>
                      </a:lnTo>
                      <a:lnTo>
                        <a:pt x="196093" y="196223"/>
                      </a:lnTo>
                      <a:lnTo>
                        <a:pt x="150" y="19622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8" name="任意多边形: 形状 37"/>
                <p:cNvSpPr/>
                <p:nvPr/>
              </p:nvSpPr>
              <p:spPr>
                <a:xfrm>
                  <a:off x="3842657" y="1828800"/>
                  <a:ext cx="195942" cy="195942"/>
                </a:xfrm>
                <a:custGeom>
                  <a:avLst/>
                  <a:gdLst>
                    <a:gd name="connsiteX0" fmla="*/ 180 w 195942"/>
                    <a:gd name="connsiteY0" fmla="*/ 280 h 195942"/>
                    <a:gd name="connsiteX1" fmla="*/ 196123 w 195942"/>
                    <a:gd name="connsiteY1" fmla="*/ 280 h 195942"/>
                    <a:gd name="connsiteX2" fmla="*/ 196123 w 195942"/>
                    <a:gd name="connsiteY2" fmla="*/ 196223 h 195942"/>
                    <a:gd name="connsiteX3" fmla="*/ 18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80"/>
                      </a:moveTo>
                      <a:lnTo>
                        <a:pt x="196123" y="280"/>
                      </a:lnTo>
                      <a:lnTo>
                        <a:pt x="196123" y="196223"/>
                      </a:lnTo>
                      <a:lnTo>
                        <a:pt x="180" y="19622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9" name="任意多边形: 形状 38"/>
                <p:cNvSpPr/>
                <p:nvPr/>
              </p:nvSpPr>
              <p:spPr>
                <a:xfrm>
                  <a:off x="4038600" y="1828800"/>
                  <a:ext cx="195942" cy="195942"/>
                </a:xfrm>
                <a:custGeom>
                  <a:avLst/>
                  <a:gdLst>
                    <a:gd name="connsiteX0" fmla="*/ 210 w 195942"/>
                    <a:gd name="connsiteY0" fmla="*/ 280 h 195942"/>
                    <a:gd name="connsiteX1" fmla="*/ 196153 w 195942"/>
                    <a:gd name="connsiteY1" fmla="*/ 280 h 195942"/>
                    <a:gd name="connsiteX2" fmla="*/ 196153 w 195942"/>
                    <a:gd name="connsiteY2" fmla="*/ 196223 h 195942"/>
                    <a:gd name="connsiteX3" fmla="*/ 21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80"/>
                      </a:moveTo>
                      <a:lnTo>
                        <a:pt x="196153" y="280"/>
                      </a:lnTo>
                      <a:lnTo>
                        <a:pt x="196153" y="196223"/>
                      </a:lnTo>
                      <a:lnTo>
                        <a:pt x="210" y="19622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0" name="任意多边形: 形状 39"/>
                <p:cNvSpPr/>
                <p:nvPr/>
              </p:nvSpPr>
              <p:spPr>
                <a:xfrm>
                  <a:off x="4234542" y="1828800"/>
                  <a:ext cx="195942" cy="195942"/>
                </a:xfrm>
                <a:custGeom>
                  <a:avLst/>
                  <a:gdLst>
                    <a:gd name="connsiteX0" fmla="*/ 240 w 195942"/>
                    <a:gd name="connsiteY0" fmla="*/ 280 h 195942"/>
                    <a:gd name="connsiteX1" fmla="*/ 196183 w 195942"/>
                    <a:gd name="connsiteY1" fmla="*/ 280 h 195942"/>
                    <a:gd name="connsiteX2" fmla="*/ 196183 w 195942"/>
                    <a:gd name="connsiteY2" fmla="*/ 196223 h 195942"/>
                    <a:gd name="connsiteX3" fmla="*/ 24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80"/>
                      </a:moveTo>
                      <a:lnTo>
                        <a:pt x="196183" y="280"/>
                      </a:lnTo>
                      <a:lnTo>
                        <a:pt x="196183" y="196223"/>
                      </a:lnTo>
                      <a:lnTo>
                        <a:pt x="240" y="19622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1" name="任意多边形: 形状 40"/>
                <p:cNvSpPr/>
                <p:nvPr/>
              </p:nvSpPr>
              <p:spPr>
                <a:xfrm>
                  <a:off x="4430485" y="1828800"/>
                  <a:ext cx="195942" cy="195942"/>
                </a:xfrm>
                <a:custGeom>
                  <a:avLst/>
                  <a:gdLst>
                    <a:gd name="connsiteX0" fmla="*/ 270 w 195942"/>
                    <a:gd name="connsiteY0" fmla="*/ 280 h 195942"/>
                    <a:gd name="connsiteX1" fmla="*/ 196213 w 195942"/>
                    <a:gd name="connsiteY1" fmla="*/ 280 h 195942"/>
                    <a:gd name="connsiteX2" fmla="*/ 196213 w 195942"/>
                    <a:gd name="connsiteY2" fmla="*/ 196223 h 195942"/>
                    <a:gd name="connsiteX3" fmla="*/ 27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80"/>
                      </a:moveTo>
                      <a:lnTo>
                        <a:pt x="196213" y="280"/>
                      </a:lnTo>
                      <a:lnTo>
                        <a:pt x="196213" y="196223"/>
                      </a:lnTo>
                      <a:lnTo>
                        <a:pt x="270" y="19622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5" name="图形 5"/>
              <p:cNvGrpSpPr/>
              <p:nvPr/>
            </p:nvGrpSpPr>
            <p:grpSpPr>
              <a:xfrm>
                <a:off x="3097855" y="2317756"/>
                <a:ext cx="1175657" cy="195942"/>
                <a:chOff x="3450771" y="2024742"/>
                <a:chExt cx="1175657" cy="195942"/>
              </a:xfrm>
              <a:solidFill>
                <a:srgbClr val="000000"/>
              </a:solidFill>
            </p:grpSpPr>
            <p:sp>
              <p:nvSpPr>
                <p:cNvPr id="30" name="任意多边形: 形状 29"/>
                <p:cNvSpPr/>
                <p:nvPr/>
              </p:nvSpPr>
              <p:spPr>
                <a:xfrm>
                  <a:off x="3450771" y="2024742"/>
                  <a:ext cx="195942" cy="195942"/>
                </a:xfrm>
                <a:custGeom>
                  <a:avLst/>
                  <a:gdLst>
                    <a:gd name="connsiteX0" fmla="*/ 120 w 195942"/>
                    <a:gd name="connsiteY0" fmla="*/ 310 h 195942"/>
                    <a:gd name="connsiteX1" fmla="*/ 196063 w 195942"/>
                    <a:gd name="connsiteY1" fmla="*/ 310 h 195942"/>
                    <a:gd name="connsiteX2" fmla="*/ 196063 w 195942"/>
                    <a:gd name="connsiteY2" fmla="*/ 196253 h 195942"/>
                    <a:gd name="connsiteX3" fmla="*/ 12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10"/>
                      </a:moveTo>
                      <a:lnTo>
                        <a:pt x="196063" y="310"/>
                      </a:lnTo>
                      <a:lnTo>
                        <a:pt x="196063" y="196253"/>
                      </a:lnTo>
                      <a:lnTo>
                        <a:pt x="120" y="19625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1" name="任意多边形: 形状 30"/>
                <p:cNvSpPr/>
                <p:nvPr/>
              </p:nvSpPr>
              <p:spPr>
                <a:xfrm>
                  <a:off x="3646714" y="2024742"/>
                  <a:ext cx="195942" cy="195942"/>
                </a:xfrm>
                <a:custGeom>
                  <a:avLst/>
                  <a:gdLst>
                    <a:gd name="connsiteX0" fmla="*/ 150 w 195942"/>
                    <a:gd name="connsiteY0" fmla="*/ 310 h 195942"/>
                    <a:gd name="connsiteX1" fmla="*/ 196093 w 195942"/>
                    <a:gd name="connsiteY1" fmla="*/ 310 h 195942"/>
                    <a:gd name="connsiteX2" fmla="*/ 196093 w 195942"/>
                    <a:gd name="connsiteY2" fmla="*/ 196253 h 195942"/>
                    <a:gd name="connsiteX3" fmla="*/ 15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10"/>
                      </a:moveTo>
                      <a:lnTo>
                        <a:pt x="196093" y="310"/>
                      </a:lnTo>
                      <a:lnTo>
                        <a:pt x="196093" y="196253"/>
                      </a:lnTo>
                      <a:lnTo>
                        <a:pt x="150" y="19625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2" name="任意多边形: 形状 31"/>
                <p:cNvSpPr/>
                <p:nvPr/>
              </p:nvSpPr>
              <p:spPr>
                <a:xfrm>
                  <a:off x="3842657" y="2024742"/>
                  <a:ext cx="195942" cy="195942"/>
                </a:xfrm>
                <a:custGeom>
                  <a:avLst/>
                  <a:gdLst>
                    <a:gd name="connsiteX0" fmla="*/ 180 w 195942"/>
                    <a:gd name="connsiteY0" fmla="*/ 310 h 195942"/>
                    <a:gd name="connsiteX1" fmla="*/ 196123 w 195942"/>
                    <a:gd name="connsiteY1" fmla="*/ 310 h 195942"/>
                    <a:gd name="connsiteX2" fmla="*/ 196123 w 195942"/>
                    <a:gd name="connsiteY2" fmla="*/ 196253 h 195942"/>
                    <a:gd name="connsiteX3" fmla="*/ 18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10"/>
                      </a:moveTo>
                      <a:lnTo>
                        <a:pt x="196123" y="310"/>
                      </a:lnTo>
                      <a:lnTo>
                        <a:pt x="196123" y="196253"/>
                      </a:lnTo>
                      <a:lnTo>
                        <a:pt x="180" y="19625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3" name="任意多边形: 形状 32"/>
                <p:cNvSpPr/>
                <p:nvPr/>
              </p:nvSpPr>
              <p:spPr>
                <a:xfrm>
                  <a:off x="4038600" y="2024742"/>
                  <a:ext cx="195942" cy="195942"/>
                </a:xfrm>
                <a:custGeom>
                  <a:avLst/>
                  <a:gdLst>
                    <a:gd name="connsiteX0" fmla="*/ 210 w 195942"/>
                    <a:gd name="connsiteY0" fmla="*/ 310 h 195942"/>
                    <a:gd name="connsiteX1" fmla="*/ 196153 w 195942"/>
                    <a:gd name="connsiteY1" fmla="*/ 310 h 195942"/>
                    <a:gd name="connsiteX2" fmla="*/ 196153 w 195942"/>
                    <a:gd name="connsiteY2" fmla="*/ 196253 h 195942"/>
                    <a:gd name="connsiteX3" fmla="*/ 21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10"/>
                      </a:moveTo>
                      <a:lnTo>
                        <a:pt x="196153" y="310"/>
                      </a:lnTo>
                      <a:lnTo>
                        <a:pt x="196153" y="196253"/>
                      </a:lnTo>
                      <a:lnTo>
                        <a:pt x="210" y="19625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4" name="任意多边形: 形状 33"/>
                <p:cNvSpPr/>
                <p:nvPr/>
              </p:nvSpPr>
              <p:spPr>
                <a:xfrm>
                  <a:off x="4234542" y="2024742"/>
                  <a:ext cx="195942" cy="195942"/>
                </a:xfrm>
                <a:custGeom>
                  <a:avLst/>
                  <a:gdLst>
                    <a:gd name="connsiteX0" fmla="*/ 240 w 195942"/>
                    <a:gd name="connsiteY0" fmla="*/ 310 h 195942"/>
                    <a:gd name="connsiteX1" fmla="*/ 196183 w 195942"/>
                    <a:gd name="connsiteY1" fmla="*/ 310 h 195942"/>
                    <a:gd name="connsiteX2" fmla="*/ 196183 w 195942"/>
                    <a:gd name="connsiteY2" fmla="*/ 196253 h 195942"/>
                    <a:gd name="connsiteX3" fmla="*/ 24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10"/>
                      </a:moveTo>
                      <a:lnTo>
                        <a:pt x="196183" y="310"/>
                      </a:lnTo>
                      <a:lnTo>
                        <a:pt x="196183" y="196253"/>
                      </a:lnTo>
                      <a:lnTo>
                        <a:pt x="240" y="19625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5" name="任意多边形: 形状 34"/>
                <p:cNvSpPr/>
                <p:nvPr/>
              </p:nvSpPr>
              <p:spPr>
                <a:xfrm>
                  <a:off x="4430485" y="2024742"/>
                  <a:ext cx="195942" cy="195942"/>
                </a:xfrm>
                <a:custGeom>
                  <a:avLst/>
                  <a:gdLst>
                    <a:gd name="connsiteX0" fmla="*/ 270 w 195942"/>
                    <a:gd name="connsiteY0" fmla="*/ 310 h 195942"/>
                    <a:gd name="connsiteX1" fmla="*/ 196213 w 195942"/>
                    <a:gd name="connsiteY1" fmla="*/ 310 h 195942"/>
                    <a:gd name="connsiteX2" fmla="*/ 196213 w 195942"/>
                    <a:gd name="connsiteY2" fmla="*/ 196253 h 195942"/>
                    <a:gd name="connsiteX3" fmla="*/ 27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10"/>
                      </a:moveTo>
                      <a:lnTo>
                        <a:pt x="196213" y="310"/>
                      </a:lnTo>
                      <a:lnTo>
                        <a:pt x="196213" y="196253"/>
                      </a:lnTo>
                      <a:lnTo>
                        <a:pt x="270" y="19625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6" name="图形 5"/>
              <p:cNvGrpSpPr/>
              <p:nvPr/>
            </p:nvGrpSpPr>
            <p:grpSpPr>
              <a:xfrm>
                <a:off x="3097855" y="2513699"/>
                <a:ext cx="1175657" cy="195942"/>
                <a:chOff x="3450771" y="2220685"/>
                <a:chExt cx="1175657" cy="195942"/>
              </a:xfrm>
              <a:solidFill>
                <a:srgbClr val="000000"/>
              </a:solidFill>
            </p:grpSpPr>
            <p:sp>
              <p:nvSpPr>
                <p:cNvPr id="24" name="任意多边形: 形状 23"/>
                <p:cNvSpPr/>
                <p:nvPr/>
              </p:nvSpPr>
              <p:spPr>
                <a:xfrm>
                  <a:off x="3450771" y="2220685"/>
                  <a:ext cx="195942" cy="195942"/>
                </a:xfrm>
                <a:custGeom>
                  <a:avLst/>
                  <a:gdLst>
                    <a:gd name="connsiteX0" fmla="*/ 120 w 195942"/>
                    <a:gd name="connsiteY0" fmla="*/ 340 h 195942"/>
                    <a:gd name="connsiteX1" fmla="*/ 196063 w 195942"/>
                    <a:gd name="connsiteY1" fmla="*/ 340 h 195942"/>
                    <a:gd name="connsiteX2" fmla="*/ 196063 w 195942"/>
                    <a:gd name="connsiteY2" fmla="*/ 196283 h 195942"/>
                    <a:gd name="connsiteX3" fmla="*/ 12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40"/>
                      </a:moveTo>
                      <a:lnTo>
                        <a:pt x="196063" y="340"/>
                      </a:lnTo>
                      <a:lnTo>
                        <a:pt x="196063" y="196283"/>
                      </a:lnTo>
                      <a:lnTo>
                        <a:pt x="120" y="1962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5" name="任意多边形: 形状 24"/>
                <p:cNvSpPr/>
                <p:nvPr/>
              </p:nvSpPr>
              <p:spPr>
                <a:xfrm>
                  <a:off x="3646714" y="2220685"/>
                  <a:ext cx="195942" cy="195942"/>
                </a:xfrm>
                <a:custGeom>
                  <a:avLst/>
                  <a:gdLst>
                    <a:gd name="connsiteX0" fmla="*/ 150 w 195942"/>
                    <a:gd name="connsiteY0" fmla="*/ 340 h 195942"/>
                    <a:gd name="connsiteX1" fmla="*/ 196093 w 195942"/>
                    <a:gd name="connsiteY1" fmla="*/ 340 h 195942"/>
                    <a:gd name="connsiteX2" fmla="*/ 196093 w 195942"/>
                    <a:gd name="connsiteY2" fmla="*/ 196283 h 195942"/>
                    <a:gd name="connsiteX3" fmla="*/ 15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40"/>
                      </a:moveTo>
                      <a:lnTo>
                        <a:pt x="196093" y="340"/>
                      </a:lnTo>
                      <a:lnTo>
                        <a:pt x="196093" y="196283"/>
                      </a:lnTo>
                      <a:lnTo>
                        <a:pt x="150" y="1962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6" name="任意多边形: 形状 25"/>
                <p:cNvSpPr/>
                <p:nvPr/>
              </p:nvSpPr>
              <p:spPr>
                <a:xfrm>
                  <a:off x="3842657" y="2220685"/>
                  <a:ext cx="195942" cy="195942"/>
                </a:xfrm>
                <a:custGeom>
                  <a:avLst/>
                  <a:gdLst>
                    <a:gd name="connsiteX0" fmla="*/ 180 w 195942"/>
                    <a:gd name="connsiteY0" fmla="*/ 340 h 195942"/>
                    <a:gd name="connsiteX1" fmla="*/ 196123 w 195942"/>
                    <a:gd name="connsiteY1" fmla="*/ 340 h 195942"/>
                    <a:gd name="connsiteX2" fmla="*/ 196123 w 195942"/>
                    <a:gd name="connsiteY2" fmla="*/ 196283 h 195942"/>
                    <a:gd name="connsiteX3" fmla="*/ 18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40"/>
                      </a:moveTo>
                      <a:lnTo>
                        <a:pt x="196123" y="340"/>
                      </a:lnTo>
                      <a:lnTo>
                        <a:pt x="196123" y="196283"/>
                      </a:lnTo>
                      <a:lnTo>
                        <a:pt x="180" y="1962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7" name="任意多边形: 形状 26"/>
                <p:cNvSpPr/>
                <p:nvPr/>
              </p:nvSpPr>
              <p:spPr>
                <a:xfrm>
                  <a:off x="4038600" y="2220685"/>
                  <a:ext cx="195942" cy="195942"/>
                </a:xfrm>
                <a:custGeom>
                  <a:avLst/>
                  <a:gdLst>
                    <a:gd name="connsiteX0" fmla="*/ 210 w 195942"/>
                    <a:gd name="connsiteY0" fmla="*/ 340 h 195942"/>
                    <a:gd name="connsiteX1" fmla="*/ 196153 w 195942"/>
                    <a:gd name="connsiteY1" fmla="*/ 340 h 195942"/>
                    <a:gd name="connsiteX2" fmla="*/ 196153 w 195942"/>
                    <a:gd name="connsiteY2" fmla="*/ 196283 h 195942"/>
                    <a:gd name="connsiteX3" fmla="*/ 21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40"/>
                      </a:moveTo>
                      <a:lnTo>
                        <a:pt x="196153" y="340"/>
                      </a:lnTo>
                      <a:lnTo>
                        <a:pt x="196153" y="196283"/>
                      </a:lnTo>
                      <a:lnTo>
                        <a:pt x="210" y="1962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8" name="任意多边形: 形状 27"/>
                <p:cNvSpPr/>
                <p:nvPr/>
              </p:nvSpPr>
              <p:spPr>
                <a:xfrm>
                  <a:off x="4234542" y="2220685"/>
                  <a:ext cx="195942" cy="195942"/>
                </a:xfrm>
                <a:custGeom>
                  <a:avLst/>
                  <a:gdLst>
                    <a:gd name="connsiteX0" fmla="*/ 240 w 195942"/>
                    <a:gd name="connsiteY0" fmla="*/ 340 h 195942"/>
                    <a:gd name="connsiteX1" fmla="*/ 196183 w 195942"/>
                    <a:gd name="connsiteY1" fmla="*/ 340 h 195942"/>
                    <a:gd name="connsiteX2" fmla="*/ 196183 w 195942"/>
                    <a:gd name="connsiteY2" fmla="*/ 196283 h 195942"/>
                    <a:gd name="connsiteX3" fmla="*/ 24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40"/>
                      </a:moveTo>
                      <a:lnTo>
                        <a:pt x="196183" y="340"/>
                      </a:lnTo>
                      <a:lnTo>
                        <a:pt x="196183" y="196283"/>
                      </a:lnTo>
                      <a:lnTo>
                        <a:pt x="240" y="1962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9" name="任意多边形: 形状 28"/>
                <p:cNvSpPr/>
                <p:nvPr/>
              </p:nvSpPr>
              <p:spPr>
                <a:xfrm>
                  <a:off x="4430485" y="2220685"/>
                  <a:ext cx="195942" cy="195942"/>
                </a:xfrm>
                <a:custGeom>
                  <a:avLst/>
                  <a:gdLst>
                    <a:gd name="connsiteX0" fmla="*/ 270 w 195942"/>
                    <a:gd name="connsiteY0" fmla="*/ 340 h 195942"/>
                    <a:gd name="connsiteX1" fmla="*/ 196213 w 195942"/>
                    <a:gd name="connsiteY1" fmla="*/ 340 h 195942"/>
                    <a:gd name="connsiteX2" fmla="*/ 196213 w 195942"/>
                    <a:gd name="connsiteY2" fmla="*/ 196283 h 195942"/>
                    <a:gd name="connsiteX3" fmla="*/ 27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40"/>
                      </a:moveTo>
                      <a:lnTo>
                        <a:pt x="196213" y="340"/>
                      </a:lnTo>
                      <a:lnTo>
                        <a:pt x="196213" y="196283"/>
                      </a:lnTo>
                      <a:lnTo>
                        <a:pt x="270" y="1962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7" name="图形 5"/>
              <p:cNvGrpSpPr/>
              <p:nvPr/>
            </p:nvGrpSpPr>
            <p:grpSpPr>
              <a:xfrm>
                <a:off x="3097855" y="2709642"/>
                <a:ext cx="1175657" cy="195942"/>
                <a:chOff x="3450771" y="2416628"/>
                <a:chExt cx="1175657" cy="195942"/>
              </a:xfrm>
              <a:solidFill>
                <a:srgbClr val="000000"/>
              </a:solidFill>
            </p:grpSpPr>
            <p:sp>
              <p:nvSpPr>
                <p:cNvPr id="18" name="任意多边形: 形状 17"/>
                <p:cNvSpPr/>
                <p:nvPr/>
              </p:nvSpPr>
              <p:spPr>
                <a:xfrm>
                  <a:off x="3450771" y="2416628"/>
                  <a:ext cx="195942" cy="195942"/>
                </a:xfrm>
                <a:custGeom>
                  <a:avLst/>
                  <a:gdLst>
                    <a:gd name="connsiteX0" fmla="*/ 120 w 195942"/>
                    <a:gd name="connsiteY0" fmla="*/ 370 h 195942"/>
                    <a:gd name="connsiteX1" fmla="*/ 196063 w 195942"/>
                    <a:gd name="connsiteY1" fmla="*/ 370 h 195942"/>
                    <a:gd name="connsiteX2" fmla="*/ 196063 w 195942"/>
                    <a:gd name="connsiteY2" fmla="*/ 196313 h 195942"/>
                    <a:gd name="connsiteX3" fmla="*/ 12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70"/>
                      </a:moveTo>
                      <a:lnTo>
                        <a:pt x="196063" y="370"/>
                      </a:lnTo>
                      <a:lnTo>
                        <a:pt x="196063" y="196313"/>
                      </a:lnTo>
                      <a:lnTo>
                        <a:pt x="120" y="1963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 name="任意多边形: 形状 18"/>
                <p:cNvSpPr/>
                <p:nvPr/>
              </p:nvSpPr>
              <p:spPr>
                <a:xfrm>
                  <a:off x="3646714" y="2416628"/>
                  <a:ext cx="195942" cy="195942"/>
                </a:xfrm>
                <a:custGeom>
                  <a:avLst/>
                  <a:gdLst>
                    <a:gd name="connsiteX0" fmla="*/ 150 w 195942"/>
                    <a:gd name="connsiteY0" fmla="*/ 370 h 195942"/>
                    <a:gd name="connsiteX1" fmla="*/ 196093 w 195942"/>
                    <a:gd name="connsiteY1" fmla="*/ 370 h 195942"/>
                    <a:gd name="connsiteX2" fmla="*/ 196093 w 195942"/>
                    <a:gd name="connsiteY2" fmla="*/ 196313 h 195942"/>
                    <a:gd name="connsiteX3" fmla="*/ 15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70"/>
                      </a:moveTo>
                      <a:lnTo>
                        <a:pt x="196093" y="370"/>
                      </a:lnTo>
                      <a:lnTo>
                        <a:pt x="196093" y="196313"/>
                      </a:lnTo>
                      <a:lnTo>
                        <a:pt x="150" y="1963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 name="任意多边形: 形状 19"/>
                <p:cNvSpPr/>
                <p:nvPr/>
              </p:nvSpPr>
              <p:spPr>
                <a:xfrm>
                  <a:off x="3842657" y="2416628"/>
                  <a:ext cx="195942" cy="195942"/>
                </a:xfrm>
                <a:custGeom>
                  <a:avLst/>
                  <a:gdLst>
                    <a:gd name="connsiteX0" fmla="*/ 180 w 195942"/>
                    <a:gd name="connsiteY0" fmla="*/ 370 h 195942"/>
                    <a:gd name="connsiteX1" fmla="*/ 196123 w 195942"/>
                    <a:gd name="connsiteY1" fmla="*/ 370 h 195942"/>
                    <a:gd name="connsiteX2" fmla="*/ 196123 w 195942"/>
                    <a:gd name="connsiteY2" fmla="*/ 196313 h 195942"/>
                    <a:gd name="connsiteX3" fmla="*/ 18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70"/>
                      </a:moveTo>
                      <a:lnTo>
                        <a:pt x="196123" y="370"/>
                      </a:lnTo>
                      <a:lnTo>
                        <a:pt x="196123" y="196313"/>
                      </a:lnTo>
                      <a:lnTo>
                        <a:pt x="180" y="1963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 name="任意多边形: 形状 20"/>
                <p:cNvSpPr/>
                <p:nvPr/>
              </p:nvSpPr>
              <p:spPr>
                <a:xfrm>
                  <a:off x="4038600" y="2416628"/>
                  <a:ext cx="195942" cy="195942"/>
                </a:xfrm>
                <a:custGeom>
                  <a:avLst/>
                  <a:gdLst>
                    <a:gd name="connsiteX0" fmla="*/ 210 w 195942"/>
                    <a:gd name="connsiteY0" fmla="*/ 370 h 195942"/>
                    <a:gd name="connsiteX1" fmla="*/ 196153 w 195942"/>
                    <a:gd name="connsiteY1" fmla="*/ 370 h 195942"/>
                    <a:gd name="connsiteX2" fmla="*/ 196153 w 195942"/>
                    <a:gd name="connsiteY2" fmla="*/ 196313 h 195942"/>
                    <a:gd name="connsiteX3" fmla="*/ 21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70"/>
                      </a:moveTo>
                      <a:lnTo>
                        <a:pt x="196153" y="370"/>
                      </a:lnTo>
                      <a:lnTo>
                        <a:pt x="196153" y="196313"/>
                      </a:lnTo>
                      <a:lnTo>
                        <a:pt x="210" y="1963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 name="任意多边形: 形状 21"/>
                <p:cNvSpPr/>
                <p:nvPr/>
              </p:nvSpPr>
              <p:spPr>
                <a:xfrm>
                  <a:off x="4234542" y="2416628"/>
                  <a:ext cx="195942" cy="195942"/>
                </a:xfrm>
                <a:custGeom>
                  <a:avLst/>
                  <a:gdLst>
                    <a:gd name="connsiteX0" fmla="*/ 240 w 195942"/>
                    <a:gd name="connsiteY0" fmla="*/ 370 h 195942"/>
                    <a:gd name="connsiteX1" fmla="*/ 196183 w 195942"/>
                    <a:gd name="connsiteY1" fmla="*/ 370 h 195942"/>
                    <a:gd name="connsiteX2" fmla="*/ 196183 w 195942"/>
                    <a:gd name="connsiteY2" fmla="*/ 196313 h 195942"/>
                    <a:gd name="connsiteX3" fmla="*/ 24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70"/>
                      </a:moveTo>
                      <a:lnTo>
                        <a:pt x="196183" y="370"/>
                      </a:lnTo>
                      <a:lnTo>
                        <a:pt x="196183" y="196313"/>
                      </a:lnTo>
                      <a:lnTo>
                        <a:pt x="240" y="1963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 name="任意多边形: 形状 22"/>
                <p:cNvSpPr/>
                <p:nvPr/>
              </p:nvSpPr>
              <p:spPr>
                <a:xfrm>
                  <a:off x="4430485" y="2416628"/>
                  <a:ext cx="195942" cy="195942"/>
                </a:xfrm>
                <a:custGeom>
                  <a:avLst/>
                  <a:gdLst>
                    <a:gd name="connsiteX0" fmla="*/ 270 w 195942"/>
                    <a:gd name="connsiteY0" fmla="*/ 370 h 195942"/>
                    <a:gd name="connsiteX1" fmla="*/ 196213 w 195942"/>
                    <a:gd name="connsiteY1" fmla="*/ 370 h 195942"/>
                    <a:gd name="connsiteX2" fmla="*/ 196213 w 195942"/>
                    <a:gd name="connsiteY2" fmla="*/ 196313 h 195942"/>
                    <a:gd name="connsiteX3" fmla="*/ 27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70"/>
                      </a:moveTo>
                      <a:lnTo>
                        <a:pt x="196213" y="370"/>
                      </a:lnTo>
                      <a:lnTo>
                        <a:pt x="196213" y="196313"/>
                      </a:lnTo>
                      <a:lnTo>
                        <a:pt x="270" y="1963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grpSp>
          <p:nvGrpSpPr>
            <p:cNvPr id="48" name="图形 5"/>
            <p:cNvGrpSpPr/>
            <p:nvPr/>
          </p:nvGrpSpPr>
          <p:grpSpPr>
            <a:xfrm>
              <a:off x="5253119" y="537950"/>
              <a:ext cx="783771" cy="1175656"/>
              <a:chOff x="5540828" y="261257"/>
              <a:chExt cx="783771" cy="1175656"/>
            </a:xfrm>
          </p:grpSpPr>
          <p:grpSp>
            <p:nvGrpSpPr>
              <p:cNvPr id="49" name="图形 5"/>
              <p:cNvGrpSpPr/>
              <p:nvPr/>
            </p:nvGrpSpPr>
            <p:grpSpPr>
              <a:xfrm>
                <a:off x="5540828" y="261257"/>
                <a:ext cx="783771" cy="1175656"/>
                <a:chOff x="5540828" y="261257"/>
                <a:chExt cx="783771" cy="1175656"/>
              </a:xfrm>
              <a:solidFill>
                <a:srgbClr val="000000"/>
              </a:solidFill>
            </p:grpSpPr>
            <p:sp>
              <p:nvSpPr>
                <p:cNvPr id="75" name="任意多边形: 形状 74"/>
                <p:cNvSpPr/>
                <p:nvPr/>
              </p:nvSpPr>
              <p:spPr>
                <a:xfrm>
                  <a:off x="5540828" y="261257"/>
                  <a:ext cx="195942" cy="1175656"/>
                </a:xfrm>
                <a:custGeom>
                  <a:avLst/>
                  <a:gdLst>
                    <a:gd name="connsiteX0" fmla="*/ 440 w 195942"/>
                    <a:gd name="connsiteY0" fmla="*/ 40 h 195942"/>
                    <a:gd name="connsiteX1" fmla="*/ 196383 w 195942"/>
                    <a:gd name="connsiteY1" fmla="*/ 40 h 195942"/>
                    <a:gd name="connsiteX2" fmla="*/ 196383 w 195942"/>
                    <a:gd name="connsiteY2" fmla="*/ 195983 h 195942"/>
                    <a:gd name="connsiteX3" fmla="*/ 44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40"/>
                      </a:moveTo>
                      <a:lnTo>
                        <a:pt x="196383" y="40"/>
                      </a:lnTo>
                      <a:lnTo>
                        <a:pt x="196383" y="195983"/>
                      </a:lnTo>
                      <a:lnTo>
                        <a:pt x="44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6" name="任意多边形: 形状 75"/>
                <p:cNvSpPr/>
                <p:nvPr/>
              </p:nvSpPr>
              <p:spPr>
                <a:xfrm>
                  <a:off x="5736771" y="261257"/>
                  <a:ext cx="195942" cy="195942"/>
                </a:xfrm>
                <a:custGeom>
                  <a:avLst/>
                  <a:gdLst>
                    <a:gd name="connsiteX0" fmla="*/ 470 w 195942"/>
                    <a:gd name="connsiteY0" fmla="*/ 40 h 195942"/>
                    <a:gd name="connsiteX1" fmla="*/ 196413 w 195942"/>
                    <a:gd name="connsiteY1" fmla="*/ 40 h 195942"/>
                    <a:gd name="connsiteX2" fmla="*/ 196413 w 195942"/>
                    <a:gd name="connsiteY2" fmla="*/ 195983 h 195942"/>
                    <a:gd name="connsiteX3" fmla="*/ 47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40"/>
                      </a:moveTo>
                      <a:lnTo>
                        <a:pt x="196413" y="40"/>
                      </a:lnTo>
                      <a:lnTo>
                        <a:pt x="196413" y="195983"/>
                      </a:lnTo>
                      <a:lnTo>
                        <a:pt x="47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7" name="任意多边形: 形状 76"/>
                <p:cNvSpPr/>
                <p:nvPr/>
              </p:nvSpPr>
              <p:spPr>
                <a:xfrm>
                  <a:off x="5932714" y="261257"/>
                  <a:ext cx="195942" cy="195942"/>
                </a:xfrm>
                <a:custGeom>
                  <a:avLst/>
                  <a:gdLst>
                    <a:gd name="connsiteX0" fmla="*/ 500 w 195942"/>
                    <a:gd name="connsiteY0" fmla="*/ 40 h 195942"/>
                    <a:gd name="connsiteX1" fmla="*/ 196443 w 195942"/>
                    <a:gd name="connsiteY1" fmla="*/ 40 h 195942"/>
                    <a:gd name="connsiteX2" fmla="*/ 196443 w 195942"/>
                    <a:gd name="connsiteY2" fmla="*/ 195983 h 195942"/>
                    <a:gd name="connsiteX3" fmla="*/ 50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40"/>
                      </a:moveTo>
                      <a:lnTo>
                        <a:pt x="196443" y="40"/>
                      </a:lnTo>
                      <a:lnTo>
                        <a:pt x="196443" y="195983"/>
                      </a:lnTo>
                      <a:lnTo>
                        <a:pt x="50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8" name="任意多边形: 形状 77"/>
                <p:cNvSpPr/>
                <p:nvPr/>
              </p:nvSpPr>
              <p:spPr>
                <a:xfrm>
                  <a:off x="6128657" y="261257"/>
                  <a:ext cx="195942" cy="195942"/>
                </a:xfrm>
                <a:custGeom>
                  <a:avLst/>
                  <a:gdLst>
                    <a:gd name="connsiteX0" fmla="*/ 530 w 195942"/>
                    <a:gd name="connsiteY0" fmla="*/ 40 h 195942"/>
                    <a:gd name="connsiteX1" fmla="*/ 196473 w 195942"/>
                    <a:gd name="connsiteY1" fmla="*/ 40 h 195942"/>
                    <a:gd name="connsiteX2" fmla="*/ 196473 w 195942"/>
                    <a:gd name="connsiteY2" fmla="*/ 195983 h 195942"/>
                    <a:gd name="connsiteX3" fmla="*/ 53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40"/>
                      </a:moveTo>
                      <a:lnTo>
                        <a:pt x="196473" y="40"/>
                      </a:lnTo>
                      <a:lnTo>
                        <a:pt x="196473" y="195983"/>
                      </a:lnTo>
                      <a:lnTo>
                        <a:pt x="53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0" name="图形 5"/>
              <p:cNvGrpSpPr/>
              <p:nvPr/>
            </p:nvGrpSpPr>
            <p:grpSpPr>
              <a:xfrm>
                <a:off x="5540828" y="457200"/>
                <a:ext cx="783771" cy="195942"/>
                <a:chOff x="5540828" y="457200"/>
                <a:chExt cx="783771" cy="195942"/>
              </a:xfrm>
              <a:solidFill>
                <a:srgbClr val="000000"/>
              </a:solidFill>
            </p:grpSpPr>
            <p:sp>
              <p:nvSpPr>
                <p:cNvPr id="71" name="任意多边形: 形状 70"/>
                <p:cNvSpPr/>
                <p:nvPr/>
              </p:nvSpPr>
              <p:spPr>
                <a:xfrm>
                  <a:off x="5540828" y="457200"/>
                  <a:ext cx="195942" cy="195942"/>
                </a:xfrm>
                <a:custGeom>
                  <a:avLst/>
                  <a:gdLst>
                    <a:gd name="connsiteX0" fmla="*/ 440 w 195942"/>
                    <a:gd name="connsiteY0" fmla="*/ 70 h 195942"/>
                    <a:gd name="connsiteX1" fmla="*/ 196383 w 195942"/>
                    <a:gd name="connsiteY1" fmla="*/ 70 h 195942"/>
                    <a:gd name="connsiteX2" fmla="*/ 196383 w 195942"/>
                    <a:gd name="connsiteY2" fmla="*/ 196013 h 195942"/>
                    <a:gd name="connsiteX3" fmla="*/ 44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70"/>
                      </a:moveTo>
                      <a:lnTo>
                        <a:pt x="196383" y="70"/>
                      </a:lnTo>
                      <a:lnTo>
                        <a:pt x="196383" y="196013"/>
                      </a:lnTo>
                      <a:lnTo>
                        <a:pt x="44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2" name="任意多边形: 形状 71"/>
                <p:cNvSpPr/>
                <p:nvPr/>
              </p:nvSpPr>
              <p:spPr>
                <a:xfrm>
                  <a:off x="5736771" y="457200"/>
                  <a:ext cx="195942" cy="195942"/>
                </a:xfrm>
                <a:custGeom>
                  <a:avLst/>
                  <a:gdLst>
                    <a:gd name="connsiteX0" fmla="*/ 470 w 195942"/>
                    <a:gd name="connsiteY0" fmla="*/ 70 h 195942"/>
                    <a:gd name="connsiteX1" fmla="*/ 196413 w 195942"/>
                    <a:gd name="connsiteY1" fmla="*/ 70 h 195942"/>
                    <a:gd name="connsiteX2" fmla="*/ 196413 w 195942"/>
                    <a:gd name="connsiteY2" fmla="*/ 196013 h 195942"/>
                    <a:gd name="connsiteX3" fmla="*/ 47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70"/>
                      </a:moveTo>
                      <a:lnTo>
                        <a:pt x="196413" y="70"/>
                      </a:lnTo>
                      <a:lnTo>
                        <a:pt x="196413" y="196013"/>
                      </a:lnTo>
                      <a:lnTo>
                        <a:pt x="47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3" name="任意多边形: 形状 72"/>
                <p:cNvSpPr/>
                <p:nvPr/>
              </p:nvSpPr>
              <p:spPr>
                <a:xfrm>
                  <a:off x="5932714" y="457200"/>
                  <a:ext cx="195942" cy="195942"/>
                </a:xfrm>
                <a:custGeom>
                  <a:avLst/>
                  <a:gdLst>
                    <a:gd name="connsiteX0" fmla="*/ 500 w 195942"/>
                    <a:gd name="connsiteY0" fmla="*/ 70 h 195942"/>
                    <a:gd name="connsiteX1" fmla="*/ 196443 w 195942"/>
                    <a:gd name="connsiteY1" fmla="*/ 70 h 195942"/>
                    <a:gd name="connsiteX2" fmla="*/ 196443 w 195942"/>
                    <a:gd name="connsiteY2" fmla="*/ 196013 h 195942"/>
                    <a:gd name="connsiteX3" fmla="*/ 5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70"/>
                      </a:moveTo>
                      <a:lnTo>
                        <a:pt x="196443" y="70"/>
                      </a:lnTo>
                      <a:lnTo>
                        <a:pt x="196443" y="196013"/>
                      </a:lnTo>
                      <a:lnTo>
                        <a:pt x="50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4" name="任意多边形: 形状 73"/>
                <p:cNvSpPr/>
                <p:nvPr/>
              </p:nvSpPr>
              <p:spPr>
                <a:xfrm>
                  <a:off x="6128657" y="457200"/>
                  <a:ext cx="195942" cy="195942"/>
                </a:xfrm>
                <a:custGeom>
                  <a:avLst/>
                  <a:gdLst>
                    <a:gd name="connsiteX0" fmla="*/ 530 w 195942"/>
                    <a:gd name="connsiteY0" fmla="*/ 70 h 195942"/>
                    <a:gd name="connsiteX1" fmla="*/ 196473 w 195942"/>
                    <a:gd name="connsiteY1" fmla="*/ 70 h 195942"/>
                    <a:gd name="connsiteX2" fmla="*/ 196473 w 195942"/>
                    <a:gd name="connsiteY2" fmla="*/ 196013 h 195942"/>
                    <a:gd name="connsiteX3" fmla="*/ 5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70"/>
                      </a:moveTo>
                      <a:lnTo>
                        <a:pt x="196473" y="70"/>
                      </a:lnTo>
                      <a:lnTo>
                        <a:pt x="196473" y="196013"/>
                      </a:lnTo>
                      <a:lnTo>
                        <a:pt x="53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1" name="图形 5"/>
              <p:cNvGrpSpPr/>
              <p:nvPr/>
            </p:nvGrpSpPr>
            <p:grpSpPr>
              <a:xfrm>
                <a:off x="5540828" y="653142"/>
                <a:ext cx="783771" cy="195942"/>
                <a:chOff x="5540828" y="653142"/>
                <a:chExt cx="783771" cy="195942"/>
              </a:xfrm>
              <a:solidFill>
                <a:srgbClr val="000000"/>
              </a:solidFill>
            </p:grpSpPr>
            <p:sp>
              <p:nvSpPr>
                <p:cNvPr id="67" name="任意多边形: 形状 66"/>
                <p:cNvSpPr/>
                <p:nvPr/>
              </p:nvSpPr>
              <p:spPr>
                <a:xfrm>
                  <a:off x="5540828" y="653142"/>
                  <a:ext cx="195942" cy="195942"/>
                </a:xfrm>
                <a:custGeom>
                  <a:avLst/>
                  <a:gdLst>
                    <a:gd name="connsiteX0" fmla="*/ 440 w 195942"/>
                    <a:gd name="connsiteY0" fmla="*/ 100 h 195942"/>
                    <a:gd name="connsiteX1" fmla="*/ 196383 w 195942"/>
                    <a:gd name="connsiteY1" fmla="*/ 100 h 195942"/>
                    <a:gd name="connsiteX2" fmla="*/ 196383 w 195942"/>
                    <a:gd name="connsiteY2" fmla="*/ 196043 h 195942"/>
                    <a:gd name="connsiteX3" fmla="*/ 44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00"/>
                      </a:moveTo>
                      <a:lnTo>
                        <a:pt x="196383" y="100"/>
                      </a:lnTo>
                      <a:lnTo>
                        <a:pt x="196383" y="196043"/>
                      </a:lnTo>
                      <a:lnTo>
                        <a:pt x="44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8" name="任意多边形: 形状 67"/>
                <p:cNvSpPr/>
                <p:nvPr/>
              </p:nvSpPr>
              <p:spPr>
                <a:xfrm>
                  <a:off x="5736771" y="653142"/>
                  <a:ext cx="195942" cy="195942"/>
                </a:xfrm>
                <a:custGeom>
                  <a:avLst/>
                  <a:gdLst>
                    <a:gd name="connsiteX0" fmla="*/ 470 w 195942"/>
                    <a:gd name="connsiteY0" fmla="*/ 100 h 195942"/>
                    <a:gd name="connsiteX1" fmla="*/ 196413 w 195942"/>
                    <a:gd name="connsiteY1" fmla="*/ 100 h 195942"/>
                    <a:gd name="connsiteX2" fmla="*/ 196413 w 195942"/>
                    <a:gd name="connsiteY2" fmla="*/ 196043 h 195942"/>
                    <a:gd name="connsiteX3" fmla="*/ 47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00"/>
                      </a:moveTo>
                      <a:lnTo>
                        <a:pt x="196413" y="100"/>
                      </a:lnTo>
                      <a:lnTo>
                        <a:pt x="196413" y="196043"/>
                      </a:lnTo>
                      <a:lnTo>
                        <a:pt x="47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9" name="任意多边形: 形状 68"/>
                <p:cNvSpPr/>
                <p:nvPr/>
              </p:nvSpPr>
              <p:spPr>
                <a:xfrm>
                  <a:off x="5932714" y="653142"/>
                  <a:ext cx="195942" cy="195942"/>
                </a:xfrm>
                <a:custGeom>
                  <a:avLst/>
                  <a:gdLst>
                    <a:gd name="connsiteX0" fmla="*/ 500 w 195942"/>
                    <a:gd name="connsiteY0" fmla="*/ 100 h 195942"/>
                    <a:gd name="connsiteX1" fmla="*/ 196443 w 195942"/>
                    <a:gd name="connsiteY1" fmla="*/ 100 h 195942"/>
                    <a:gd name="connsiteX2" fmla="*/ 196443 w 195942"/>
                    <a:gd name="connsiteY2" fmla="*/ 196043 h 195942"/>
                    <a:gd name="connsiteX3" fmla="*/ 5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00"/>
                      </a:moveTo>
                      <a:lnTo>
                        <a:pt x="196443" y="100"/>
                      </a:lnTo>
                      <a:lnTo>
                        <a:pt x="196443" y="196043"/>
                      </a:lnTo>
                      <a:lnTo>
                        <a:pt x="50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70" name="任意多边形: 形状 69"/>
                <p:cNvSpPr/>
                <p:nvPr/>
              </p:nvSpPr>
              <p:spPr>
                <a:xfrm>
                  <a:off x="6128657" y="653142"/>
                  <a:ext cx="195942" cy="195942"/>
                </a:xfrm>
                <a:custGeom>
                  <a:avLst/>
                  <a:gdLst>
                    <a:gd name="connsiteX0" fmla="*/ 530 w 195942"/>
                    <a:gd name="connsiteY0" fmla="*/ 100 h 195942"/>
                    <a:gd name="connsiteX1" fmla="*/ 196473 w 195942"/>
                    <a:gd name="connsiteY1" fmla="*/ 100 h 195942"/>
                    <a:gd name="connsiteX2" fmla="*/ 196473 w 195942"/>
                    <a:gd name="connsiteY2" fmla="*/ 196043 h 195942"/>
                    <a:gd name="connsiteX3" fmla="*/ 5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00"/>
                      </a:moveTo>
                      <a:lnTo>
                        <a:pt x="196473" y="100"/>
                      </a:lnTo>
                      <a:lnTo>
                        <a:pt x="196473" y="196043"/>
                      </a:lnTo>
                      <a:lnTo>
                        <a:pt x="53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2" name="图形 5"/>
              <p:cNvGrpSpPr/>
              <p:nvPr/>
            </p:nvGrpSpPr>
            <p:grpSpPr>
              <a:xfrm>
                <a:off x="5540828" y="849085"/>
                <a:ext cx="783771" cy="195942"/>
                <a:chOff x="5540828" y="849085"/>
                <a:chExt cx="783771" cy="195942"/>
              </a:xfrm>
              <a:solidFill>
                <a:srgbClr val="000000"/>
              </a:solidFill>
            </p:grpSpPr>
            <p:sp>
              <p:nvSpPr>
                <p:cNvPr id="63" name="任意多边形: 形状 62"/>
                <p:cNvSpPr/>
                <p:nvPr/>
              </p:nvSpPr>
              <p:spPr>
                <a:xfrm>
                  <a:off x="5540828" y="849085"/>
                  <a:ext cx="195942" cy="195942"/>
                </a:xfrm>
                <a:custGeom>
                  <a:avLst/>
                  <a:gdLst>
                    <a:gd name="connsiteX0" fmla="*/ 440 w 195942"/>
                    <a:gd name="connsiteY0" fmla="*/ 130 h 195942"/>
                    <a:gd name="connsiteX1" fmla="*/ 196383 w 195942"/>
                    <a:gd name="connsiteY1" fmla="*/ 130 h 195942"/>
                    <a:gd name="connsiteX2" fmla="*/ 196383 w 195942"/>
                    <a:gd name="connsiteY2" fmla="*/ 196073 h 195942"/>
                    <a:gd name="connsiteX3" fmla="*/ 44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30"/>
                      </a:moveTo>
                      <a:lnTo>
                        <a:pt x="196383" y="130"/>
                      </a:lnTo>
                      <a:lnTo>
                        <a:pt x="196383" y="196073"/>
                      </a:lnTo>
                      <a:lnTo>
                        <a:pt x="44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4" name="任意多边形: 形状 63"/>
                <p:cNvSpPr/>
                <p:nvPr/>
              </p:nvSpPr>
              <p:spPr>
                <a:xfrm>
                  <a:off x="5736771" y="849085"/>
                  <a:ext cx="195942" cy="195942"/>
                </a:xfrm>
                <a:custGeom>
                  <a:avLst/>
                  <a:gdLst>
                    <a:gd name="connsiteX0" fmla="*/ 470 w 195942"/>
                    <a:gd name="connsiteY0" fmla="*/ 130 h 195942"/>
                    <a:gd name="connsiteX1" fmla="*/ 196413 w 195942"/>
                    <a:gd name="connsiteY1" fmla="*/ 130 h 195942"/>
                    <a:gd name="connsiteX2" fmla="*/ 196413 w 195942"/>
                    <a:gd name="connsiteY2" fmla="*/ 196073 h 195942"/>
                    <a:gd name="connsiteX3" fmla="*/ 47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30"/>
                      </a:moveTo>
                      <a:lnTo>
                        <a:pt x="196413" y="130"/>
                      </a:lnTo>
                      <a:lnTo>
                        <a:pt x="196413" y="196073"/>
                      </a:lnTo>
                      <a:lnTo>
                        <a:pt x="47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5" name="任意多边形: 形状 64"/>
                <p:cNvSpPr/>
                <p:nvPr/>
              </p:nvSpPr>
              <p:spPr>
                <a:xfrm>
                  <a:off x="5932714" y="849085"/>
                  <a:ext cx="195942" cy="195942"/>
                </a:xfrm>
                <a:custGeom>
                  <a:avLst/>
                  <a:gdLst>
                    <a:gd name="connsiteX0" fmla="*/ 500 w 195942"/>
                    <a:gd name="connsiteY0" fmla="*/ 130 h 195942"/>
                    <a:gd name="connsiteX1" fmla="*/ 196443 w 195942"/>
                    <a:gd name="connsiteY1" fmla="*/ 130 h 195942"/>
                    <a:gd name="connsiteX2" fmla="*/ 196443 w 195942"/>
                    <a:gd name="connsiteY2" fmla="*/ 196073 h 195942"/>
                    <a:gd name="connsiteX3" fmla="*/ 5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30"/>
                      </a:moveTo>
                      <a:lnTo>
                        <a:pt x="196443" y="130"/>
                      </a:lnTo>
                      <a:lnTo>
                        <a:pt x="196443" y="196073"/>
                      </a:lnTo>
                      <a:lnTo>
                        <a:pt x="50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6" name="任意多边形: 形状 65"/>
                <p:cNvSpPr/>
                <p:nvPr/>
              </p:nvSpPr>
              <p:spPr>
                <a:xfrm>
                  <a:off x="6128657" y="849085"/>
                  <a:ext cx="195942" cy="195942"/>
                </a:xfrm>
                <a:custGeom>
                  <a:avLst/>
                  <a:gdLst>
                    <a:gd name="connsiteX0" fmla="*/ 530 w 195942"/>
                    <a:gd name="connsiteY0" fmla="*/ 130 h 195942"/>
                    <a:gd name="connsiteX1" fmla="*/ 196473 w 195942"/>
                    <a:gd name="connsiteY1" fmla="*/ 130 h 195942"/>
                    <a:gd name="connsiteX2" fmla="*/ 196473 w 195942"/>
                    <a:gd name="connsiteY2" fmla="*/ 196073 h 195942"/>
                    <a:gd name="connsiteX3" fmla="*/ 5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30"/>
                      </a:moveTo>
                      <a:lnTo>
                        <a:pt x="196473" y="130"/>
                      </a:lnTo>
                      <a:lnTo>
                        <a:pt x="196473" y="196073"/>
                      </a:lnTo>
                      <a:lnTo>
                        <a:pt x="53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3" name="图形 5"/>
              <p:cNvGrpSpPr/>
              <p:nvPr/>
            </p:nvGrpSpPr>
            <p:grpSpPr>
              <a:xfrm>
                <a:off x="5540828" y="1045028"/>
                <a:ext cx="783771" cy="195942"/>
                <a:chOff x="5540828" y="1045028"/>
                <a:chExt cx="783771" cy="195942"/>
              </a:xfrm>
              <a:solidFill>
                <a:srgbClr val="000000"/>
              </a:solidFill>
            </p:grpSpPr>
            <p:sp>
              <p:nvSpPr>
                <p:cNvPr id="59" name="任意多边形: 形状 58"/>
                <p:cNvSpPr/>
                <p:nvPr/>
              </p:nvSpPr>
              <p:spPr>
                <a:xfrm>
                  <a:off x="5540828" y="1045028"/>
                  <a:ext cx="195942" cy="195942"/>
                </a:xfrm>
                <a:custGeom>
                  <a:avLst/>
                  <a:gdLst>
                    <a:gd name="connsiteX0" fmla="*/ 440 w 195942"/>
                    <a:gd name="connsiteY0" fmla="*/ 160 h 195942"/>
                    <a:gd name="connsiteX1" fmla="*/ 196383 w 195942"/>
                    <a:gd name="connsiteY1" fmla="*/ 160 h 195942"/>
                    <a:gd name="connsiteX2" fmla="*/ 196383 w 195942"/>
                    <a:gd name="connsiteY2" fmla="*/ 196103 h 195942"/>
                    <a:gd name="connsiteX3" fmla="*/ 44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60"/>
                      </a:moveTo>
                      <a:lnTo>
                        <a:pt x="196383" y="160"/>
                      </a:lnTo>
                      <a:lnTo>
                        <a:pt x="196383" y="196103"/>
                      </a:lnTo>
                      <a:lnTo>
                        <a:pt x="44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0" name="任意多边形: 形状 59"/>
                <p:cNvSpPr/>
                <p:nvPr/>
              </p:nvSpPr>
              <p:spPr>
                <a:xfrm>
                  <a:off x="5736771" y="1045028"/>
                  <a:ext cx="195942" cy="195942"/>
                </a:xfrm>
                <a:custGeom>
                  <a:avLst/>
                  <a:gdLst>
                    <a:gd name="connsiteX0" fmla="*/ 470 w 195942"/>
                    <a:gd name="connsiteY0" fmla="*/ 160 h 195942"/>
                    <a:gd name="connsiteX1" fmla="*/ 196413 w 195942"/>
                    <a:gd name="connsiteY1" fmla="*/ 160 h 195942"/>
                    <a:gd name="connsiteX2" fmla="*/ 196413 w 195942"/>
                    <a:gd name="connsiteY2" fmla="*/ 196103 h 195942"/>
                    <a:gd name="connsiteX3" fmla="*/ 47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60"/>
                      </a:moveTo>
                      <a:lnTo>
                        <a:pt x="196413" y="160"/>
                      </a:lnTo>
                      <a:lnTo>
                        <a:pt x="196413" y="196103"/>
                      </a:lnTo>
                      <a:lnTo>
                        <a:pt x="47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1" name="任意多边形: 形状 60"/>
                <p:cNvSpPr/>
                <p:nvPr/>
              </p:nvSpPr>
              <p:spPr>
                <a:xfrm>
                  <a:off x="5932714" y="1045028"/>
                  <a:ext cx="195942" cy="195942"/>
                </a:xfrm>
                <a:custGeom>
                  <a:avLst/>
                  <a:gdLst>
                    <a:gd name="connsiteX0" fmla="*/ 500 w 195942"/>
                    <a:gd name="connsiteY0" fmla="*/ 160 h 195942"/>
                    <a:gd name="connsiteX1" fmla="*/ 196443 w 195942"/>
                    <a:gd name="connsiteY1" fmla="*/ 160 h 195942"/>
                    <a:gd name="connsiteX2" fmla="*/ 196443 w 195942"/>
                    <a:gd name="connsiteY2" fmla="*/ 196103 h 195942"/>
                    <a:gd name="connsiteX3" fmla="*/ 5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60"/>
                      </a:moveTo>
                      <a:lnTo>
                        <a:pt x="196443" y="160"/>
                      </a:lnTo>
                      <a:lnTo>
                        <a:pt x="196443" y="196103"/>
                      </a:lnTo>
                      <a:lnTo>
                        <a:pt x="50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62" name="任意多边形: 形状 61"/>
                <p:cNvSpPr/>
                <p:nvPr/>
              </p:nvSpPr>
              <p:spPr>
                <a:xfrm>
                  <a:off x="6128657" y="1045028"/>
                  <a:ext cx="195942" cy="195942"/>
                </a:xfrm>
                <a:custGeom>
                  <a:avLst/>
                  <a:gdLst>
                    <a:gd name="connsiteX0" fmla="*/ 530 w 195942"/>
                    <a:gd name="connsiteY0" fmla="*/ 160 h 195942"/>
                    <a:gd name="connsiteX1" fmla="*/ 196473 w 195942"/>
                    <a:gd name="connsiteY1" fmla="*/ 160 h 195942"/>
                    <a:gd name="connsiteX2" fmla="*/ 196473 w 195942"/>
                    <a:gd name="connsiteY2" fmla="*/ 196103 h 195942"/>
                    <a:gd name="connsiteX3" fmla="*/ 5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60"/>
                      </a:moveTo>
                      <a:lnTo>
                        <a:pt x="196473" y="160"/>
                      </a:lnTo>
                      <a:lnTo>
                        <a:pt x="196473" y="196103"/>
                      </a:lnTo>
                      <a:lnTo>
                        <a:pt x="53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4" name="图形 5"/>
              <p:cNvGrpSpPr/>
              <p:nvPr/>
            </p:nvGrpSpPr>
            <p:grpSpPr>
              <a:xfrm>
                <a:off x="5540828" y="1240971"/>
                <a:ext cx="783771" cy="195942"/>
                <a:chOff x="5540828" y="1240971"/>
                <a:chExt cx="783771" cy="195942"/>
              </a:xfrm>
              <a:solidFill>
                <a:srgbClr val="000000"/>
              </a:solidFill>
            </p:grpSpPr>
            <p:sp>
              <p:nvSpPr>
                <p:cNvPr id="55" name="任意多边形: 形状 54"/>
                <p:cNvSpPr/>
                <p:nvPr/>
              </p:nvSpPr>
              <p:spPr>
                <a:xfrm>
                  <a:off x="5540828" y="1240971"/>
                  <a:ext cx="195942" cy="195942"/>
                </a:xfrm>
                <a:custGeom>
                  <a:avLst/>
                  <a:gdLst>
                    <a:gd name="connsiteX0" fmla="*/ 440 w 195942"/>
                    <a:gd name="connsiteY0" fmla="*/ 190 h 195942"/>
                    <a:gd name="connsiteX1" fmla="*/ 196383 w 195942"/>
                    <a:gd name="connsiteY1" fmla="*/ 190 h 195942"/>
                    <a:gd name="connsiteX2" fmla="*/ 196383 w 195942"/>
                    <a:gd name="connsiteY2" fmla="*/ 196133 h 195942"/>
                    <a:gd name="connsiteX3" fmla="*/ 44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90"/>
                      </a:moveTo>
                      <a:lnTo>
                        <a:pt x="196383" y="190"/>
                      </a:lnTo>
                      <a:lnTo>
                        <a:pt x="196383" y="196133"/>
                      </a:lnTo>
                      <a:lnTo>
                        <a:pt x="44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6" name="任意多边形: 形状 55"/>
                <p:cNvSpPr/>
                <p:nvPr/>
              </p:nvSpPr>
              <p:spPr>
                <a:xfrm>
                  <a:off x="5736771" y="1240971"/>
                  <a:ext cx="195942" cy="195942"/>
                </a:xfrm>
                <a:custGeom>
                  <a:avLst/>
                  <a:gdLst>
                    <a:gd name="connsiteX0" fmla="*/ 470 w 195942"/>
                    <a:gd name="connsiteY0" fmla="*/ 190 h 195942"/>
                    <a:gd name="connsiteX1" fmla="*/ 196413 w 195942"/>
                    <a:gd name="connsiteY1" fmla="*/ 190 h 195942"/>
                    <a:gd name="connsiteX2" fmla="*/ 196413 w 195942"/>
                    <a:gd name="connsiteY2" fmla="*/ 196133 h 195942"/>
                    <a:gd name="connsiteX3" fmla="*/ 47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90"/>
                      </a:moveTo>
                      <a:lnTo>
                        <a:pt x="196413" y="190"/>
                      </a:lnTo>
                      <a:lnTo>
                        <a:pt x="196413" y="196133"/>
                      </a:lnTo>
                      <a:lnTo>
                        <a:pt x="47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7" name="任意多边形: 形状 56"/>
                <p:cNvSpPr/>
                <p:nvPr/>
              </p:nvSpPr>
              <p:spPr>
                <a:xfrm>
                  <a:off x="5932714" y="1240971"/>
                  <a:ext cx="195942" cy="195942"/>
                </a:xfrm>
                <a:custGeom>
                  <a:avLst/>
                  <a:gdLst>
                    <a:gd name="connsiteX0" fmla="*/ 500 w 195942"/>
                    <a:gd name="connsiteY0" fmla="*/ 190 h 195942"/>
                    <a:gd name="connsiteX1" fmla="*/ 196443 w 195942"/>
                    <a:gd name="connsiteY1" fmla="*/ 190 h 195942"/>
                    <a:gd name="connsiteX2" fmla="*/ 196443 w 195942"/>
                    <a:gd name="connsiteY2" fmla="*/ 196133 h 195942"/>
                    <a:gd name="connsiteX3" fmla="*/ 5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90"/>
                      </a:moveTo>
                      <a:lnTo>
                        <a:pt x="196443" y="190"/>
                      </a:lnTo>
                      <a:lnTo>
                        <a:pt x="196443" y="196133"/>
                      </a:lnTo>
                      <a:lnTo>
                        <a:pt x="50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8" name="任意多边形: 形状 57"/>
                <p:cNvSpPr/>
                <p:nvPr/>
              </p:nvSpPr>
              <p:spPr>
                <a:xfrm>
                  <a:off x="6128657" y="1240971"/>
                  <a:ext cx="195942" cy="195942"/>
                </a:xfrm>
                <a:custGeom>
                  <a:avLst/>
                  <a:gdLst>
                    <a:gd name="connsiteX0" fmla="*/ 530 w 195942"/>
                    <a:gd name="connsiteY0" fmla="*/ 190 h 195942"/>
                    <a:gd name="connsiteX1" fmla="*/ 196473 w 195942"/>
                    <a:gd name="connsiteY1" fmla="*/ 190 h 195942"/>
                    <a:gd name="connsiteX2" fmla="*/ 196473 w 195942"/>
                    <a:gd name="connsiteY2" fmla="*/ 196133 h 195942"/>
                    <a:gd name="connsiteX3" fmla="*/ 5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90"/>
                      </a:moveTo>
                      <a:lnTo>
                        <a:pt x="196473" y="190"/>
                      </a:lnTo>
                      <a:lnTo>
                        <a:pt x="196473" y="196133"/>
                      </a:lnTo>
                      <a:lnTo>
                        <a:pt x="53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grpSp>
          <p:nvGrpSpPr>
            <p:cNvPr id="79" name="图形 5"/>
            <p:cNvGrpSpPr/>
            <p:nvPr/>
          </p:nvGrpSpPr>
          <p:grpSpPr>
            <a:xfrm>
              <a:off x="5253118" y="1827900"/>
              <a:ext cx="783771" cy="1175656"/>
              <a:chOff x="5540828" y="261257"/>
              <a:chExt cx="783771" cy="1175656"/>
            </a:xfrm>
          </p:grpSpPr>
          <p:grpSp>
            <p:nvGrpSpPr>
              <p:cNvPr id="80" name="图形 5"/>
              <p:cNvGrpSpPr/>
              <p:nvPr/>
            </p:nvGrpSpPr>
            <p:grpSpPr>
              <a:xfrm>
                <a:off x="5540828" y="261257"/>
                <a:ext cx="783771" cy="1175656"/>
                <a:chOff x="5540828" y="261257"/>
                <a:chExt cx="783771" cy="1175656"/>
              </a:xfrm>
              <a:solidFill>
                <a:srgbClr val="000000"/>
              </a:solidFill>
            </p:grpSpPr>
            <p:sp>
              <p:nvSpPr>
                <p:cNvPr id="106" name="任意多边形: 形状 105"/>
                <p:cNvSpPr/>
                <p:nvPr/>
              </p:nvSpPr>
              <p:spPr>
                <a:xfrm>
                  <a:off x="5540828" y="261257"/>
                  <a:ext cx="195942" cy="1175656"/>
                </a:xfrm>
                <a:custGeom>
                  <a:avLst/>
                  <a:gdLst>
                    <a:gd name="connsiteX0" fmla="*/ 440 w 195942"/>
                    <a:gd name="connsiteY0" fmla="*/ 40 h 195942"/>
                    <a:gd name="connsiteX1" fmla="*/ 196383 w 195942"/>
                    <a:gd name="connsiteY1" fmla="*/ 40 h 195942"/>
                    <a:gd name="connsiteX2" fmla="*/ 196383 w 195942"/>
                    <a:gd name="connsiteY2" fmla="*/ 195983 h 195942"/>
                    <a:gd name="connsiteX3" fmla="*/ 44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40"/>
                      </a:moveTo>
                      <a:lnTo>
                        <a:pt x="196383" y="40"/>
                      </a:lnTo>
                      <a:lnTo>
                        <a:pt x="196383" y="195983"/>
                      </a:lnTo>
                      <a:lnTo>
                        <a:pt x="44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7" name="任意多边形: 形状 106"/>
                <p:cNvSpPr/>
                <p:nvPr/>
              </p:nvSpPr>
              <p:spPr>
                <a:xfrm>
                  <a:off x="5736771" y="261257"/>
                  <a:ext cx="195942" cy="195942"/>
                </a:xfrm>
                <a:custGeom>
                  <a:avLst/>
                  <a:gdLst>
                    <a:gd name="connsiteX0" fmla="*/ 470 w 195942"/>
                    <a:gd name="connsiteY0" fmla="*/ 40 h 195942"/>
                    <a:gd name="connsiteX1" fmla="*/ 196413 w 195942"/>
                    <a:gd name="connsiteY1" fmla="*/ 40 h 195942"/>
                    <a:gd name="connsiteX2" fmla="*/ 196413 w 195942"/>
                    <a:gd name="connsiteY2" fmla="*/ 195983 h 195942"/>
                    <a:gd name="connsiteX3" fmla="*/ 47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40"/>
                      </a:moveTo>
                      <a:lnTo>
                        <a:pt x="196413" y="40"/>
                      </a:lnTo>
                      <a:lnTo>
                        <a:pt x="196413" y="195983"/>
                      </a:lnTo>
                      <a:lnTo>
                        <a:pt x="47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8" name="任意多边形: 形状 107"/>
                <p:cNvSpPr/>
                <p:nvPr/>
              </p:nvSpPr>
              <p:spPr>
                <a:xfrm>
                  <a:off x="5932714" y="261257"/>
                  <a:ext cx="195942" cy="195942"/>
                </a:xfrm>
                <a:custGeom>
                  <a:avLst/>
                  <a:gdLst>
                    <a:gd name="connsiteX0" fmla="*/ 500 w 195942"/>
                    <a:gd name="connsiteY0" fmla="*/ 40 h 195942"/>
                    <a:gd name="connsiteX1" fmla="*/ 196443 w 195942"/>
                    <a:gd name="connsiteY1" fmla="*/ 40 h 195942"/>
                    <a:gd name="connsiteX2" fmla="*/ 196443 w 195942"/>
                    <a:gd name="connsiteY2" fmla="*/ 195983 h 195942"/>
                    <a:gd name="connsiteX3" fmla="*/ 50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40"/>
                      </a:moveTo>
                      <a:lnTo>
                        <a:pt x="196443" y="40"/>
                      </a:lnTo>
                      <a:lnTo>
                        <a:pt x="196443" y="195983"/>
                      </a:lnTo>
                      <a:lnTo>
                        <a:pt x="50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9" name="任意多边形: 形状 108"/>
                <p:cNvSpPr/>
                <p:nvPr/>
              </p:nvSpPr>
              <p:spPr>
                <a:xfrm>
                  <a:off x="6128657" y="261257"/>
                  <a:ext cx="195942" cy="195942"/>
                </a:xfrm>
                <a:custGeom>
                  <a:avLst/>
                  <a:gdLst>
                    <a:gd name="connsiteX0" fmla="*/ 530 w 195942"/>
                    <a:gd name="connsiteY0" fmla="*/ 40 h 195942"/>
                    <a:gd name="connsiteX1" fmla="*/ 196473 w 195942"/>
                    <a:gd name="connsiteY1" fmla="*/ 40 h 195942"/>
                    <a:gd name="connsiteX2" fmla="*/ 196473 w 195942"/>
                    <a:gd name="connsiteY2" fmla="*/ 195983 h 195942"/>
                    <a:gd name="connsiteX3" fmla="*/ 53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40"/>
                      </a:moveTo>
                      <a:lnTo>
                        <a:pt x="196473" y="40"/>
                      </a:lnTo>
                      <a:lnTo>
                        <a:pt x="196473" y="195983"/>
                      </a:lnTo>
                      <a:lnTo>
                        <a:pt x="53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81" name="图形 5"/>
              <p:cNvGrpSpPr/>
              <p:nvPr/>
            </p:nvGrpSpPr>
            <p:grpSpPr>
              <a:xfrm>
                <a:off x="5540828" y="457200"/>
                <a:ext cx="783771" cy="195942"/>
                <a:chOff x="5540828" y="457200"/>
                <a:chExt cx="783771" cy="195942"/>
              </a:xfrm>
              <a:solidFill>
                <a:srgbClr val="000000"/>
              </a:solidFill>
            </p:grpSpPr>
            <p:sp>
              <p:nvSpPr>
                <p:cNvPr id="102" name="任意多边形: 形状 101"/>
                <p:cNvSpPr/>
                <p:nvPr/>
              </p:nvSpPr>
              <p:spPr>
                <a:xfrm>
                  <a:off x="5540828" y="457200"/>
                  <a:ext cx="195942" cy="195942"/>
                </a:xfrm>
                <a:custGeom>
                  <a:avLst/>
                  <a:gdLst>
                    <a:gd name="connsiteX0" fmla="*/ 440 w 195942"/>
                    <a:gd name="connsiteY0" fmla="*/ 70 h 195942"/>
                    <a:gd name="connsiteX1" fmla="*/ 196383 w 195942"/>
                    <a:gd name="connsiteY1" fmla="*/ 70 h 195942"/>
                    <a:gd name="connsiteX2" fmla="*/ 196383 w 195942"/>
                    <a:gd name="connsiteY2" fmla="*/ 196013 h 195942"/>
                    <a:gd name="connsiteX3" fmla="*/ 44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70"/>
                      </a:moveTo>
                      <a:lnTo>
                        <a:pt x="196383" y="70"/>
                      </a:lnTo>
                      <a:lnTo>
                        <a:pt x="196383" y="196013"/>
                      </a:lnTo>
                      <a:lnTo>
                        <a:pt x="44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3" name="任意多边形: 形状 102"/>
                <p:cNvSpPr/>
                <p:nvPr/>
              </p:nvSpPr>
              <p:spPr>
                <a:xfrm>
                  <a:off x="5736771" y="457200"/>
                  <a:ext cx="195942" cy="195942"/>
                </a:xfrm>
                <a:custGeom>
                  <a:avLst/>
                  <a:gdLst>
                    <a:gd name="connsiteX0" fmla="*/ 470 w 195942"/>
                    <a:gd name="connsiteY0" fmla="*/ 70 h 195942"/>
                    <a:gd name="connsiteX1" fmla="*/ 196413 w 195942"/>
                    <a:gd name="connsiteY1" fmla="*/ 70 h 195942"/>
                    <a:gd name="connsiteX2" fmla="*/ 196413 w 195942"/>
                    <a:gd name="connsiteY2" fmla="*/ 196013 h 195942"/>
                    <a:gd name="connsiteX3" fmla="*/ 47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70"/>
                      </a:moveTo>
                      <a:lnTo>
                        <a:pt x="196413" y="70"/>
                      </a:lnTo>
                      <a:lnTo>
                        <a:pt x="196413" y="196013"/>
                      </a:lnTo>
                      <a:lnTo>
                        <a:pt x="47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4" name="任意多边形: 形状 103"/>
                <p:cNvSpPr/>
                <p:nvPr/>
              </p:nvSpPr>
              <p:spPr>
                <a:xfrm>
                  <a:off x="5932714" y="457200"/>
                  <a:ext cx="195942" cy="195942"/>
                </a:xfrm>
                <a:custGeom>
                  <a:avLst/>
                  <a:gdLst>
                    <a:gd name="connsiteX0" fmla="*/ 500 w 195942"/>
                    <a:gd name="connsiteY0" fmla="*/ 70 h 195942"/>
                    <a:gd name="connsiteX1" fmla="*/ 196443 w 195942"/>
                    <a:gd name="connsiteY1" fmla="*/ 70 h 195942"/>
                    <a:gd name="connsiteX2" fmla="*/ 196443 w 195942"/>
                    <a:gd name="connsiteY2" fmla="*/ 196013 h 195942"/>
                    <a:gd name="connsiteX3" fmla="*/ 5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70"/>
                      </a:moveTo>
                      <a:lnTo>
                        <a:pt x="196443" y="70"/>
                      </a:lnTo>
                      <a:lnTo>
                        <a:pt x="196443" y="196013"/>
                      </a:lnTo>
                      <a:lnTo>
                        <a:pt x="50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5" name="任意多边形: 形状 104"/>
                <p:cNvSpPr/>
                <p:nvPr/>
              </p:nvSpPr>
              <p:spPr>
                <a:xfrm>
                  <a:off x="6128657" y="457200"/>
                  <a:ext cx="195942" cy="195942"/>
                </a:xfrm>
                <a:custGeom>
                  <a:avLst/>
                  <a:gdLst>
                    <a:gd name="connsiteX0" fmla="*/ 530 w 195942"/>
                    <a:gd name="connsiteY0" fmla="*/ 70 h 195942"/>
                    <a:gd name="connsiteX1" fmla="*/ 196473 w 195942"/>
                    <a:gd name="connsiteY1" fmla="*/ 70 h 195942"/>
                    <a:gd name="connsiteX2" fmla="*/ 196473 w 195942"/>
                    <a:gd name="connsiteY2" fmla="*/ 196013 h 195942"/>
                    <a:gd name="connsiteX3" fmla="*/ 5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70"/>
                      </a:moveTo>
                      <a:lnTo>
                        <a:pt x="196473" y="70"/>
                      </a:lnTo>
                      <a:lnTo>
                        <a:pt x="196473" y="196013"/>
                      </a:lnTo>
                      <a:lnTo>
                        <a:pt x="53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82" name="图形 5"/>
              <p:cNvGrpSpPr/>
              <p:nvPr/>
            </p:nvGrpSpPr>
            <p:grpSpPr>
              <a:xfrm>
                <a:off x="5540828" y="653142"/>
                <a:ext cx="783771" cy="195942"/>
                <a:chOff x="5540828" y="653142"/>
                <a:chExt cx="783771" cy="195942"/>
              </a:xfrm>
              <a:solidFill>
                <a:srgbClr val="000000"/>
              </a:solidFill>
            </p:grpSpPr>
            <p:sp>
              <p:nvSpPr>
                <p:cNvPr id="98" name="任意多边形: 形状 97"/>
                <p:cNvSpPr/>
                <p:nvPr/>
              </p:nvSpPr>
              <p:spPr>
                <a:xfrm>
                  <a:off x="5540828" y="653142"/>
                  <a:ext cx="195942" cy="195942"/>
                </a:xfrm>
                <a:custGeom>
                  <a:avLst/>
                  <a:gdLst>
                    <a:gd name="connsiteX0" fmla="*/ 440 w 195942"/>
                    <a:gd name="connsiteY0" fmla="*/ 100 h 195942"/>
                    <a:gd name="connsiteX1" fmla="*/ 196383 w 195942"/>
                    <a:gd name="connsiteY1" fmla="*/ 100 h 195942"/>
                    <a:gd name="connsiteX2" fmla="*/ 196383 w 195942"/>
                    <a:gd name="connsiteY2" fmla="*/ 196043 h 195942"/>
                    <a:gd name="connsiteX3" fmla="*/ 44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00"/>
                      </a:moveTo>
                      <a:lnTo>
                        <a:pt x="196383" y="100"/>
                      </a:lnTo>
                      <a:lnTo>
                        <a:pt x="196383" y="196043"/>
                      </a:lnTo>
                      <a:lnTo>
                        <a:pt x="44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9" name="任意多边形: 形状 98"/>
                <p:cNvSpPr/>
                <p:nvPr/>
              </p:nvSpPr>
              <p:spPr>
                <a:xfrm>
                  <a:off x="5736771" y="653142"/>
                  <a:ext cx="195942" cy="195942"/>
                </a:xfrm>
                <a:custGeom>
                  <a:avLst/>
                  <a:gdLst>
                    <a:gd name="connsiteX0" fmla="*/ 470 w 195942"/>
                    <a:gd name="connsiteY0" fmla="*/ 100 h 195942"/>
                    <a:gd name="connsiteX1" fmla="*/ 196413 w 195942"/>
                    <a:gd name="connsiteY1" fmla="*/ 100 h 195942"/>
                    <a:gd name="connsiteX2" fmla="*/ 196413 w 195942"/>
                    <a:gd name="connsiteY2" fmla="*/ 196043 h 195942"/>
                    <a:gd name="connsiteX3" fmla="*/ 47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00"/>
                      </a:moveTo>
                      <a:lnTo>
                        <a:pt x="196413" y="100"/>
                      </a:lnTo>
                      <a:lnTo>
                        <a:pt x="196413" y="196043"/>
                      </a:lnTo>
                      <a:lnTo>
                        <a:pt x="47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0" name="任意多边形: 形状 99"/>
                <p:cNvSpPr/>
                <p:nvPr/>
              </p:nvSpPr>
              <p:spPr>
                <a:xfrm>
                  <a:off x="5932714" y="653142"/>
                  <a:ext cx="195942" cy="195942"/>
                </a:xfrm>
                <a:custGeom>
                  <a:avLst/>
                  <a:gdLst>
                    <a:gd name="connsiteX0" fmla="*/ 500 w 195942"/>
                    <a:gd name="connsiteY0" fmla="*/ 100 h 195942"/>
                    <a:gd name="connsiteX1" fmla="*/ 196443 w 195942"/>
                    <a:gd name="connsiteY1" fmla="*/ 100 h 195942"/>
                    <a:gd name="connsiteX2" fmla="*/ 196443 w 195942"/>
                    <a:gd name="connsiteY2" fmla="*/ 196043 h 195942"/>
                    <a:gd name="connsiteX3" fmla="*/ 5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00"/>
                      </a:moveTo>
                      <a:lnTo>
                        <a:pt x="196443" y="100"/>
                      </a:lnTo>
                      <a:lnTo>
                        <a:pt x="196443" y="196043"/>
                      </a:lnTo>
                      <a:lnTo>
                        <a:pt x="50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01" name="任意多边形: 形状 100"/>
                <p:cNvSpPr/>
                <p:nvPr/>
              </p:nvSpPr>
              <p:spPr>
                <a:xfrm>
                  <a:off x="6128657" y="653142"/>
                  <a:ext cx="195942" cy="195942"/>
                </a:xfrm>
                <a:custGeom>
                  <a:avLst/>
                  <a:gdLst>
                    <a:gd name="connsiteX0" fmla="*/ 530 w 195942"/>
                    <a:gd name="connsiteY0" fmla="*/ 100 h 195942"/>
                    <a:gd name="connsiteX1" fmla="*/ 196473 w 195942"/>
                    <a:gd name="connsiteY1" fmla="*/ 100 h 195942"/>
                    <a:gd name="connsiteX2" fmla="*/ 196473 w 195942"/>
                    <a:gd name="connsiteY2" fmla="*/ 196043 h 195942"/>
                    <a:gd name="connsiteX3" fmla="*/ 5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00"/>
                      </a:moveTo>
                      <a:lnTo>
                        <a:pt x="196473" y="100"/>
                      </a:lnTo>
                      <a:lnTo>
                        <a:pt x="196473" y="196043"/>
                      </a:lnTo>
                      <a:lnTo>
                        <a:pt x="53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83" name="图形 5"/>
              <p:cNvGrpSpPr/>
              <p:nvPr/>
            </p:nvGrpSpPr>
            <p:grpSpPr>
              <a:xfrm>
                <a:off x="5540828" y="849085"/>
                <a:ext cx="783771" cy="195942"/>
                <a:chOff x="5540828" y="849085"/>
                <a:chExt cx="783771" cy="195942"/>
              </a:xfrm>
              <a:solidFill>
                <a:srgbClr val="000000"/>
              </a:solidFill>
            </p:grpSpPr>
            <p:sp>
              <p:nvSpPr>
                <p:cNvPr id="94" name="任意多边形: 形状 93"/>
                <p:cNvSpPr/>
                <p:nvPr/>
              </p:nvSpPr>
              <p:spPr>
                <a:xfrm>
                  <a:off x="5540828" y="849085"/>
                  <a:ext cx="195942" cy="195942"/>
                </a:xfrm>
                <a:custGeom>
                  <a:avLst/>
                  <a:gdLst>
                    <a:gd name="connsiteX0" fmla="*/ 440 w 195942"/>
                    <a:gd name="connsiteY0" fmla="*/ 130 h 195942"/>
                    <a:gd name="connsiteX1" fmla="*/ 196383 w 195942"/>
                    <a:gd name="connsiteY1" fmla="*/ 130 h 195942"/>
                    <a:gd name="connsiteX2" fmla="*/ 196383 w 195942"/>
                    <a:gd name="connsiteY2" fmla="*/ 196073 h 195942"/>
                    <a:gd name="connsiteX3" fmla="*/ 44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30"/>
                      </a:moveTo>
                      <a:lnTo>
                        <a:pt x="196383" y="130"/>
                      </a:lnTo>
                      <a:lnTo>
                        <a:pt x="196383" y="196073"/>
                      </a:lnTo>
                      <a:lnTo>
                        <a:pt x="44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5" name="任意多边形: 形状 94"/>
                <p:cNvSpPr/>
                <p:nvPr/>
              </p:nvSpPr>
              <p:spPr>
                <a:xfrm>
                  <a:off x="5736771" y="849085"/>
                  <a:ext cx="195942" cy="195942"/>
                </a:xfrm>
                <a:custGeom>
                  <a:avLst/>
                  <a:gdLst>
                    <a:gd name="connsiteX0" fmla="*/ 470 w 195942"/>
                    <a:gd name="connsiteY0" fmla="*/ 130 h 195942"/>
                    <a:gd name="connsiteX1" fmla="*/ 196413 w 195942"/>
                    <a:gd name="connsiteY1" fmla="*/ 130 h 195942"/>
                    <a:gd name="connsiteX2" fmla="*/ 196413 w 195942"/>
                    <a:gd name="connsiteY2" fmla="*/ 196073 h 195942"/>
                    <a:gd name="connsiteX3" fmla="*/ 47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30"/>
                      </a:moveTo>
                      <a:lnTo>
                        <a:pt x="196413" y="130"/>
                      </a:lnTo>
                      <a:lnTo>
                        <a:pt x="196413" y="196073"/>
                      </a:lnTo>
                      <a:lnTo>
                        <a:pt x="47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6" name="任意多边形: 形状 95"/>
                <p:cNvSpPr/>
                <p:nvPr/>
              </p:nvSpPr>
              <p:spPr>
                <a:xfrm>
                  <a:off x="5932714" y="849085"/>
                  <a:ext cx="195942" cy="195942"/>
                </a:xfrm>
                <a:custGeom>
                  <a:avLst/>
                  <a:gdLst>
                    <a:gd name="connsiteX0" fmla="*/ 500 w 195942"/>
                    <a:gd name="connsiteY0" fmla="*/ 130 h 195942"/>
                    <a:gd name="connsiteX1" fmla="*/ 196443 w 195942"/>
                    <a:gd name="connsiteY1" fmla="*/ 130 h 195942"/>
                    <a:gd name="connsiteX2" fmla="*/ 196443 w 195942"/>
                    <a:gd name="connsiteY2" fmla="*/ 196073 h 195942"/>
                    <a:gd name="connsiteX3" fmla="*/ 5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30"/>
                      </a:moveTo>
                      <a:lnTo>
                        <a:pt x="196443" y="130"/>
                      </a:lnTo>
                      <a:lnTo>
                        <a:pt x="196443" y="196073"/>
                      </a:lnTo>
                      <a:lnTo>
                        <a:pt x="50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7" name="任意多边形: 形状 96"/>
                <p:cNvSpPr/>
                <p:nvPr/>
              </p:nvSpPr>
              <p:spPr>
                <a:xfrm>
                  <a:off x="6128657" y="849085"/>
                  <a:ext cx="195942" cy="195942"/>
                </a:xfrm>
                <a:custGeom>
                  <a:avLst/>
                  <a:gdLst>
                    <a:gd name="connsiteX0" fmla="*/ 530 w 195942"/>
                    <a:gd name="connsiteY0" fmla="*/ 130 h 195942"/>
                    <a:gd name="connsiteX1" fmla="*/ 196473 w 195942"/>
                    <a:gd name="connsiteY1" fmla="*/ 130 h 195942"/>
                    <a:gd name="connsiteX2" fmla="*/ 196473 w 195942"/>
                    <a:gd name="connsiteY2" fmla="*/ 196073 h 195942"/>
                    <a:gd name="connsiteX3" fmla="*/ 5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30"/>
                      </a:moveTo>
                      <a:lnTo>
                        <a:pt x="196473" y="130"/>
                      </a:lnTo>
                      <a:lnTo>
                        <a:pt x="196473" y="196073"/>
                      </a:lnTo>
                      <a:lnTo>
                        <a:pt x="53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84" name="图形 5"/>
              <p:cNvGrpSpPr/>
              <p:nvPr/>
            </p:nvGrpSpPr>
            <p:grpSpPr>
              <a:xfrm>
                <a:off x="5540828" y="1045028"/>
                <a:ext cx="783771" cy="195942"/>
                <a:chOff x="5540828" y="1045028"/>
                <a:chExt cx="783771" cy="195942"/>
              </a:xfrm>
              <a:solidFill>
                <a:srgbClr val="000000"/>
              </a:solidFill>
            </p:grpSpPr>
            <p:sp>
              <p:nvSpPr>
                <p:cNvPr id="90" name="任意多边形: 形状 89"/>
                <p:cNvSpPr/>
                <p:nvPr/>
              </p:nvSpPr>
              <p:spPr>
                <a:xfrm>
                  <a:off x="5540828" y="1045028"/>
                  <a:ext cx="195942" cy="195942"/>
                </a:xfrm>
                <a:custGeom>
                  <a:avLst/>
                  <a:gdLst>
                    <a:gd name="connsiteX0" fmla="*/ 440 w 195942"/>
                    <a:gd name="connsiteY0" fmla="*/ 160 h 195942"/>
                    <a:gd name="connsiteX1" fmla="*/ 196383 w 195942"/>
                    <a:gd name="connsiteY1" fmla="*/ 160 h 195942"/>
                    <a:gd name="connsiteX2" fmla="*/ 196383 w 195942"/>
                    <a:gd name="connsiteY2" fmla="*/ 196103 h 195942"/>
                    <a:gd name="connsiteX3" fmla="*/ 44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60"/>
                      </a:moveTo>
                      <a:lnTo>
                        <a:pt x="196383" y="160"/>
                      </a:lnTo>
                      <a:lnTo>
                        <a:pt x="196383" y="196103"/>
                      </a:lnTo>
                      <a:lnTo>
                        <a:pt x="44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1" name="任意多边形: 形状 90"/>
                <p:cNvSpPr/>
                <p:nvPr/>
              </p:nvSpPr>
              <p:spPr>
                <a:xfrm>
                  <a:off x="5736771" y="1045028"/>
                  <a:ext cx="195942" cy="195942"/>
                </a:xfrm>
                <a:custGeom>
                  <a:avLst/>
                  <a:gdLst>
                    <a:gd name="connsiteX0" fmla="*/ 470 w 195942"/>
                    <a:gd name="connsiteY0" fmla="*/ 160 h 195942"/>
                    <a:gd name="connsiteX1" fmla="*/ 196413 w 195942"/>
                    <a:gd name="connsiteY1" fmla="*/ 160 h 195942"/>
                    <a:gd name="connsiteX2" fmla="*/ 196413 w 195942"/>
                    <a:gd name="connsiteY2" fmla="*/ 196103 h 195942"/>
                    <a:gd name="connsiteX3" fmla="*/ 47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60"/>
                      </a:moveTo>
                      <a:lnTo>
                        <a:pt x="196413" y="160"/>
                      </a:lnTo>
                      <a:lnTo>
                        <a:pt x="196413" y="196103"/>
                      </a:lnTo>
                      <a:lnTo>
                        <a:pt x="47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2" name="任意多边形: 形状 91"/>
                <p:cNvSpPr/>
                <p:nvPr/>
              </p:nvSpPr>
              <p:spPr>
                <a:xfrm>
                  <a:off x="5932714" y="1045028"/>
                  <a:ext cx="195942" cy="195942"/>
                </a:xfrm>
                <a:custGeom>
                  <a:avLst/>
                  <a:gdLst>
                    <a:gd name="connsiteX0" fmla="*/ 500 w 195942"/>
                    <a:gd name="connsiteY0" fmla="*/ 160 h 195942"/>
                    <a:gd name="connsiteX1" fmla="*/ 196443 w 195942"/>
                    <a:gd name="connsiteY1" fmla="*/ 160 h 195942"/>
                    <a:gd name="connsiteX2" fmla="*/ 196443 w 195942"/>
                    <a:gd name="connsiteY2" fmla="*/ 196103 h 195942"/>
                    <a:gd name="connsiteX3" fmla="*/ 5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60"/>
                      </a:moveTo>
                      <a:lnTo>
                        <a:pt x="196443" y="160"/>
                      </a:lnTo>
                      <a:lnTo>
                        <a:pt x="196443" y="196103"/>
                      </a:lnTo>
                      <a:lnTo>
                        <a:pt x="50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93" name="任意多边形: 形状 92"/>
                <p:cNvSpPr/>
                <p:nvPr/>
              </p:nvSpPr>
              <p:spPr>
                <a:xfrm>
                  <a:off x="6128657" y="1045028"/>
                  <a:ext cx="195942" cy="195942"/>
                </a:xfrm>
                <a:custGeom>
                  <a:avLst/>
                  <a:gdLst>
                    <a:gd name="connsiteX0" fmla="*/ 530 w 195942"/>
                    <a:gd name="connsiteY0" fmla="*/ 160 h 195942"/>
                    <a:gd name="connsiteX1" fmla="*/ 196473 w 195942"/>
                    <a:gd name="connsiteY1" fmla="*/ 160 h 195942"/>
                    <a:gd name="connsiteX2" fmla="*/ 196473 w 195942"/>
                    <a:gd name="connsiteY2" fmla="*/ 196103 h 195942"/>
                    <a:gd name="connsiteX3" fmla="*/ 5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60"/>
                      </a:moveTo>
                      <a:lnTo>
                        <a:pt x="196473" y="160"/>
                      </a:lnTo>
                      <a:lnTo>
                        <a:pt x="196473" y="196103"/>
                      </a:lnTo>
                      <a:lnTo>
                        <a:pt x="53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85" name="图形 5"/>
              <p:cNvGrpSpPr/>
              <p:nvPr/>
            </p:nvGrpSpPr>
            <p:grpSpPr>
              <a:xfrm>
                <a:off x="5540828" y="1240971"/>
                <a:ext cx="783771" cy="195942"/>
                <a:chOff x="5540828" y="1240971"/>
                <a:chExt cx="783771" cy="195942"/>
              </a:xfrm>
              <a:solidFill>
                <a:srgbClr val="000000"/>
              </a:solidFill>
            </p:grpSpPr>
            <p:sp>
              <p:nvSpPr>
                <p:cNvPr id="86" name="任意多边形: 形状 85"/>
                <p:cNvSpPr/>
                <p:nvPr/>
              </p:nvSpPr>
              <p:spPr>
                <a:xfrm>
                  <a:off x="5540828" y="1240971"/>
                  <a:ext cx="195942" cy="195942"/>
                </a:xfrm>
                <a:custGeom>
                  <a:avLst/>
                  <a:gdLst>
                    <a:gd name="connsiteX0" fmla="*/ 440 w 195942"/>
                    <a:gd name="connsiteY0" fmla="*/ 190 h 195942"/>
                    <a:gd name="connsiteX1" fmla="*/ 196383 w 195942"/>
                    <a:gd name="connsiteY1" fmla="*/ 190 h 195942"/>
                    <a:gd name="connsiteX2" fmla="*/ 196383 w 195942"/>
                    <a:gd name="connsiteY2" fmla="*/ 196133 h 195942"/>
                    <a:gd name="connsiteX3" fmla="*/ 44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90"/>
                      </a:moveTo>
                      <a:lnTo>
                        <a:pt x="196383" y="190"/>
                      </a:lnTo>
                      <a:lnTo>
                        <a:pt x="196383" y="196133"/>
                      </a:lnTo>
                      <a:lnTo>
                        <a:pt x="44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87" name="任意多边形: 形状 86"/>
                <p:cNvSpPr/>
                <p:nvPr/>
              </p:nvSpPr>
              <p:spPr>
                <a:xfrm>
                  <a:off x="5736771" y="1240971"/>
                  <a:ext cx="195942" cy="195942"/>
                </a:xfrm>
                <a:custGeom>
                  <a:avLst/>
                  <a:gdLst>
                    <a:gd name="connsiteX0" fmla="*/ 470 w 195942"/>
                    <a:gd name="connsiteY0" fmla="*/ 190 h 195942"/>
                    <a:gd name="connsiteX1" fmla="*/ 196413 w 195942"/>
                    <a:gd name="connsiteY1" fmla="*/ 190 h 195942"/>
                    <a:gd name="connsiteX2" fmla="*/ 196413 w 195942"/>
                    <a:gd name="connsiteY2" fmla="*/ 196133 h 195942"/>
                    <a:gd name="connsiteX3" fmla="*/ 47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90"/>
                      </a:moveTo>
                      <a:lnTo>
                        <a:pt x="196413" y="190"/>
                      </a:lnTo>
                      <a:lnTo>
                        <a:pt x="196413" y="196133"/>
                      </a:lnTo>
                      <a:lnTo>
                        <a:pt x="47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88" name="任意多边形: 形状 87"/>
                <p:cNvSpPr/>
                <p:nvPr/>
              </p:nvSpPr>
              <p:spPr>
                <a:xfrm>
                  <a:off x="5932714" y="1240971"/>
                  <a:ext cx="195942" cy="195942"/>
                </a:xfrm>
                <a:custGeom>
                  <a:avLst/>
                  <a:gdLst>
                    <a:gd name="connsiteX0" fmla="*/ 500 w 195942"/>
                    <a:gd name="connsiteY0" fmla="*/ 190 h 195942"/>
                    <a:gd name="connsiteX1" fmla="*/ 196443 w 195942"/>
                    <a:gd name="connsiteY1" fmla="*/ 190 h 195942"/>
                    <a:gd name="connsiteX2" fmla="*/ 196443 w 195942"/>
                    <a:gd name="connsiteY2" fmla="*/ 196133 h 195942"/>
                    <a:gd name="connsiteX3" fmla="*/ 5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90"/>
                      </a:moveTo>
                      <a:lnTo>
                        <a:pt x="196443" y="190"/>
                      </a:lnTo>
                      <a:lnTo>
                        <a:pt x="196443" y="196133"/>
                      </a:lnTo>
                      <a:lnTo>
                        <a:pt x="50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89" name="任意多边形: 形状 88"/>
                <p:cNvSpPr/>
                <p:nvPr/>
              </p:nvSpPr>
              <p:spPr>
                <a:xfrm>
                  <a:off x="6128657" y="1240971"/>
                  <a:ext cx="195942" cy="195942"/>
                </a:xfrm>
                <a:custGeom>
                  <a:avLst/>
                  <a:gdLst>
                    <a:gd name="connsiteX0" fmla="*/ 530 w 195942"/>
                    <a:gd name="connsiteY0" fmla="*/ 190 h 195942"/>
                    <a:gd name="connsiteX1" fmla="*/ 196473 w 195942"/>
                    <a:gd name="connsiteY1" fmla="*/ 190 h 195942"/>
                    <a:gd name="connsiteX2" fmla="*/ 196473 w 195942"/>
                    <a:gd name="connsiteY2" fmla="*/ 196133 h 195942"/>
                    <a:gd name="connsiteX3" fmla="*/ 5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90"/>
                      </a:moveTo>
                      <a:lnTo>
                        <a:pt x="196473" y="190"/>
                      </a:lnTo>
                      <a:lnTo>
                        <a:pt x="196473" y="196133"/>
                      </a:lnTo>
                      <a:lnTo>
                        <a:pt x="53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grpSp>
          <p:nvGrpSpPr>
            <p:cNvPr id="110" name="图形 5"/>
            <p:cNvGrpSpPr/>
            <p:nvPr/>
          </p:nvGrpSpPr>
          <p:grpSpPr>
            <a:xfrm>
              <a:off x="5253117" y="3122385"/>
              <a:ext cx="783771" cy="1175656"/>
              <a:chOff x="5540828" y="261257"/>
              <a:chExt cx="783771" cy="1175656"/>
            </a:xfrm>
          </p:grpSpPr>
          <p:grpSp>
            <p:nvGrpSpPr>
              <p:cNvPr id="111" name="图形 5"/>
              <p:cNvGrpSpPr/>
              <p:nvPr/>
            </p:nvGrpSpPr>
            <p:grpSpPr>
              <a:xfrm>
                <a:off x="5540828" y="261257"/>
                <a:ext cx="783771" cy="1175656"/>
                <a:chOff x="5540828" y="261257"/>
                <a:chExt cx="783771" cy="1175656"/>
              </a:xfrm>
              <a:solidFill>
                <a:srgbClr val="000000"/>
              </a:solidFill>
            </p:grpSpPr>
            <p:sp>
              <p:nvSpPr>
                <p:cNvPr id="137" name="任意多边形: 形状 136"/>
                <p:cNvSpPr/>
                <p:nvPr/>
              </p:nvSpPr>
              <p:spPr>
                <a:xfrm>
                  <a:off x="5540828" y="261257"/>
                  <a:ext cx="195942" cy="1175656"/>
                </a:xfrm>
                <a:custGeom>
                  <a:avLst/>
                  <a:gdLst>
                    <a:gd name="connsiteX0" fmla="*/ 440 w 195942"/>
                    <a:gd name="connsiteY0" fmla="*/ 40 h 195942"/>
                    <a:gd name="connsiteX1" fmla="*/ 196383 w 195942"/>
                    <a:gd name="connsiteY1" fmla="*/ 40 h 195942"/>
                    <a:gd name="connsiteX2" fmla="*/ 196383 w 195942"/>
                    <a:gd name="connsiteY2" fmla="*/ 195983 h 195942"/>
                    <a:gd name="connsiteX3" fmla="*/ 44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40"/>
                      </a:moveTo>
                      <a:lnTo>
                        <a:pt x="196383" y="40"/>
                      </a:lnTo>
                      <a:lnTo>
                        <a:pt x="196383" y="195983"/>
                      </a:lnTo>
                      <a:lnTo>
                        <a:pt x="44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8" name="任意多边形: 形状 137"/>
                <p:cNvSpPr/>
                <p:nvPr/>
              </p:nvSpPr>
              <p:spPr>
                <a:xfrm>
                  <a:off x="5736771" y="261257"/>
                  <a:ext cx="195942" cy="195942"/>
                </a:xfrm>
                <a:custGeom>
                  <a:avLst/>
                  <a:gdLst>
                    <a:gd name="connsiteX0" fmla="*/ 470 w 195942"/>
                    <a:gd name="connsiteY0" fmla="*/ 40 h 195942"/>
                    <a:gd name="connsiteX1" fmla="*/ 196413 w 195942"/>
                    <a:gd name="connsiteY1" fmla="*/ 40 h 195942"/>
                    <a:gd name="connsiteX2" fmla="*/ 196413 w 195942"/>
                    <a:gd name="connsiteY2" fmla="*/ 195983 h 195942"/>
                    <a:gd name="connsiteX3" fmla="*/ 47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40"/>
                      </a:moveTo>
                      <a:lnTo>
                        <a:pt x="196413" y="40"/>
                      </a:lnTo>
                      <a:lnTo>
                        <a:pt x="196413" y="195983"/>
                      </a:lnTo>
                      <a:lnTo>
                        <a:pt x="47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9" name="任意多边形: 形状 138"/>
                <p:cNvSpPr/>
                <p:nvPr/>
              </p:nvSpPr>
              <p:spPr>
                <a:xfrm>
                  <a:off x="5932714" y="261257"/>
                  <a:ext cx="195942" cy="195942"/>
                </a:xfrm>
                <a:custGeom>
                  <a:avLst/>
                  <a:gdLst>
                    <a:gd name="connsiteX0" fmla="*/ 500 w 195942"/>
                    <a:gd name="connsiteY0" fmla="*/ 40 h 195942"/>
                    <a:gd name="connsiteX1" fmla="*/ 196443 w 195942"/>
                    <a:gd name="connsiteY1" fmla="*/ 40 h 195942"/>
                    <a:gd name="connsiteX2" fmla="*/ 196443 w 195942"/>
                    <a:gd name="connsiteY2" fmla="*/ 195983 h 195942"/>
                    <a:gd name="connsiteX3" fmla="*/ 50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40"/>
                      </a:moveTo>
                      <a:lnTo>
                        <a:pt x="196443" y="40"/>
                      </a:lnTo>
                      <a:lnTo>
                        <a:pt x="196443" y="195983"/>
                      </a:lnTo>
                      <a:lnTo>
                        <a:pt x="50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40" name="任意多边形: 形状 139"/>
                <p:cNvSpPr/>
                <p:nvPr/>
              </p:nvSpPr>
              <p:spPr>
                <a:xfrm>
                  <a:off x="6128657" y="261257"/>
                  <a:ext cx="195942" cy="195942"/>
                </a:xfrm>
                <a:custGeom>
                  <a:avLst/>
                  <a:gdLst>
                    <a:gd name="connsiteX0" fmla="*/ 530 w 195942"/>
                    <a:gd name="connsiteY0" fmla="*/ 40 h 195942"/>
                    <a:gd name="connsiteX1" fmla="*/ 196473 w 195942"/>
                    <a:gd name="connsiteY1" fmla="*/ 40 h 195942"/>
                    <a:gd name="connsiteX2" fmla="*/ 196473 w 195942"/>
                    <a:gd name="connsiteY2" fmla="*/ 195983 h 195942"/>
                    <a:gd name="connsiteX3" fmla="*/ 530 w 195942"/>
                    <a:gd name="connsiteY3" fmla="*/ 1959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40"/>
                      </a:moveTo>
                      <a:lnTo>
                        <a:pt x="196473" y="40"/>
                      </a:lnTo>
                      <a:lnTo>
                        <a:pt x="196473" y="195983"/>
                      </a:lnTo>
                      <a:lnTo>
                        <a:pt x="530" y="19598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12" name="图形 5"/>
              <p:cNvGrpSpPr/>
              <p:nvPr/>
            </p:nvGrpSpPr>
            <p:grpSpPr>
              <a:xfrm>
                <a:off x="5540828" y="457200"/>
                <a:ext cx="783771" cy="195942"/>
                <a:chOff x="5540828" y="457200"/>
                <a:chExt cx="783771" cy="195942"/>
              </a:xfrm>
              <a:solidFill>
                <a:srgbClr val="000000"/>
              </a:solidFill>
            </p:grpSpPr>
            <p:sp>
              <p:nvSpPr>
                <p:cNvPr id="133" name="任意多边形: 形状 132"/>
                <p:cNvSpPr/>
                <p:nvPr/>
              </p:nvSpPr>
              <p:spPr>
                <a:xfrm>
                  <a:off x="5540828" y="457200"/>
                  <a:ext cx="195942" cy="195942"/>
                </a:xfrm>
                <a:custGeom>
                  <a:avLst/>
                  <a:gdLst>
                    <a:gd name="connsiteX0" fmla="*/ 440 w 195942"/>
                    <a:gd name="connsiteY0" fmla="*/ 70 h 195942"/>
                    <a:gd name="connsiteX1" fmla="*/ 196383 w 195942"/>
                    <a:gd name="connsiteY1" fmla="*/ 70 h 195942"/>
                    <a:gd name="connsiteX2" fmla="*/ 196383 w 195942"/>
                    <a:gd name="connsiteY2" fmla="*/ 196013 h 195942"/>
                    <a:gd name="connsiteX3" fmla="*/ 44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70"/>
                      </a:moveTo>
                      <a:lnTo>
                        <a:pt x="196383" y="70"/>
                      </a:lnTo>
                      <a:lnTo>
                        <a:pt x="196383" y="196013"/>
                      </a:lnTo>
                      <a:lnTo>
                        <a:pt x="44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4" name="任意多边形: 形状 133"/>
                <p:cNvSpPr/>
                <p:nvPr/>
              </p:nvSpPr>
              <p:spPr>
                <a:xfrm>
                  <a:off x="5736771" y="457200"/>
                  <a:ext cx="195942" cy="195942"/>
                </a:xfrm>
                <a:custGeom>
                  <a:avLst/>
                  <a:gdLst>
                    <a:gd name="connsiteX0" fmla="*/ 470 w 195942"/>
                    <a:gd name="connsiteY0" fmla="*/ 70 h 195942"/>
                    <a:gd name="connsiteX1" fmla="*/ 196413 w 195942"/>
                    <a:gd name="connsiteY1" fmla="*/ 70 h 195942"/>
                    <a:gd name="connsiteX2" fmla="*/ 196413 w 195942"/>
                    <a:gd name="connsiteY2" fmla="*/ 196013 h 195942"/>
                    <a:gd name="connsiteX3" fmla="*/ 47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70"/>
                      </a:moveTo>
                      <a:lnTo>
                        <a:pt x="196413" y="70"/>
                      </a:lnTo>
                      <a:lnTo>
                        <a:pt x="196413" y="196013"/>
                      </a:lnTo>
                      <a:lnTo>
                        <a:pt x="47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5" name="任意多边形: 形状 134"/>
                <p:cNvSpPr/>
                <p:nvPr/>
              </p:nvSpPr>
              <p:spPr>
                <a:xfrm>
                  <a:off x="5932714" y="457200"/>
                  <a:ext cx="195942" cy="195942"/>
                </a:xfrm>
                <a:custGeom>
                  <a:avLst/>
                  <a:gdLst>
                    <a:gd name="connsiteX0" fmla="*/ 500 w 195942"/>
                    <a:gd name="connsiteY0" fmla="*/ 70 h 195942"/>
                    <a:gd name="connsiteX1" fmla="*/ 196443 w 195942"/>
                    <a:gd name="connsiteY1" fmla="*/ 70 h 195942"/>
                    <a:gd name="connsiteX2" fmla="*/ 196443 w 195942"/>
                    <a:gd name="connsiteY2" fmla="*/ 196013 h 195942"/>
                    <a:gd name="connsiteX3" fmla="*/ 5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70"/>
                      </a:moveTo>
                      <a:lnTo>
                        <a:pt x="196443" y="70"/>
                      </a:lnTo>
                      <a:lnTo>
                        <a:pt x="196443" y="196013"/>
                      </a:lnTo>
                      <a:lnTo>
                        <a:pt x="50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6" name="任意多边形: 形状 135"/>
                <p:cNvSpPr/>
                <p:nvPr/>
              </p:nvSpPr>
              <p:spPr>
                <a:xfrm>
                  <a:off x="6128657" y="457200"/>
                  <a:ext cx="195942" cy="195942"/>
                </a:xfrm>
                <a:custGeom>
                  <a:avLst/>
                  <a:gdLst>
                    <a:gd name="connsiteX0" fmla="*/ 530 w 195942"/>
                    <a:gd name="connsiteY0" fmla="*/ 70 h 195942"/>
                    <a:gd name="connsiteX1" fmla="*/ 196473 w 195942"/>
                    <a:gd name="connsiteY1" fmla="*/ 70 h 195942"/>
                    <a:gd name="connsiteX2" fmla="*/ 196473 w 195942"/>
                    <a:gd name="connsiteY2" fmla="*/ 196013 h 195942"/>
                    <a:gd name="connsiteX3" fmla="*/ 5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70"/>
                      </a:moveTo>
                      <a:lnTo>
                        <a:pt x="196473" y="70"/>
                      </a:lnTo>
                      <a:lnTo>
                        <a:pt x="196473" y="196013"/>
                      </a:lnTo>
                      <a:lnTo>
                        <a:pt x="530" y="19601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13" name="图形 5"/>
              <p:cNvGrpSpPr/>
              <p:nvPr/>
            </p:nvGrpSpPr>
            <p:grpSpPr>
              <a:xfrm>
                <a:off x="5540828" y="653142"/>
                <a:ext cx="783771" cy="195942"/>
                <a:chOff x="5540828" y="653142"/>
                <a:chExt cx="783771" cy="195942"/>
              </a:xfrm>
              <a:solidFill>
                <a:srgbClr val="000000"/>
              </a:solidFill>
            </p:grpSpPr>
            <p:sp>
              <p:nvSpPr>
                <p:cNvPr id="129" name="任意多边形: 形状 128"/>
                <p:cNvSpPr/>
                <p:nvPr/>
              </p:nvSpPr>
              <p:spPr>
                <a:xfrm>
                  <a:off x="5540828" y="653142"/>
                  <a:ext cx="195942" cy="195942"/>
                </a:xfrm>
                <a:custGeom>
                  <a:avLst/>
                  <a:gdLst>
                    <a:gd name="connsiteX0" fmla="*/ 440 w 195942"/>
                    <a:gd name="connsiteY0" fmla="*/ 100 h 195942"/>
                    <a:gd name="connsiteX1" fmla="*/ 196383 w 195942"/>
                    <a:gd name="connsiteY1" fmla="*/ 100 h 195942"/>
                    <a:gd name="connsiteX2" fmla="*/ 196383 w 195942"/>
                    <a:gd name="connsiteY2" fmla="*/ 196043 h 195942"/>
                    <a:gd name="connsiteX3" fmla="*/ 44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00"/>
                      </a:moveTo>
                      <a:lnTo>
                        <a:pt x="196383" y="100"/>
                      </a:lnTo>
                      <a:lnTo>
                        <a:pt x="196383" y="196043"/>
                      </a:lnTo>
                      <a:lnTo>
                        <a:pt x="44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0" name="任意多边形: 形状 129"/>
                <p:cNvSpPr/>
                <p:nvPr/>
              </p:nvSpPr>
              <p:spPr>
                <a:xfrm>
                  <a:off x="5736771" y="653142"/>
                  <a:ext cx="195942" cy="195942"/>
                </a:xfrm>
                <a:custGeom>
                  <a:avLst/>
                  <a:gdLst>
                    <a:gd name="connsiteX0" fmla="*/ 470 w 195942"/>
                    <a:gd name="connsiteY0" fmla="*/ 100 h 195942"/>
                    <a:gd name="connsiteX1" fmla="*/ 196413 w 195942"/>
                    <a:gd name="connsiteY1" fmla="*/ 100 h 195942"/>
                    <a:gd name="connsiteX2" fmla="*/ 196413 w 195942"/>
                    <a:gd name="connsiteY2" fmla="*/ 196043 h 195942"/>
                    <a:gd name="connsiteX3" fmla="*/ 47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00"/>
                      </a:moveTo>
                      <a:lnTo>
                        <a:pt x="196413" y="100"/>
                      </a:lnTo>
                      <a:lnTo>
                        <a:pt x="196413" y="196043"/>
                      </a:lnTo>
                      <a:lnTo>
                        <a:pt x="47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1" name="任意多边形: 形状 130"/>
                <p:cNvSpPr/>
                <p:nvPr/>
              </p:nvSpPr>
              <p:spPr>
                <a:xfrm>
                  <a:off x="5932714" y="653142"/>
                  <a:ext cx="195942" cy="195942"/>
                </a:xfrm>
                <a:custGeom>
                  <a:avLst/>
                  <a:gdLst>
                    <a:gd name="connsiteX0" fmla="*/ 500 w 195942"/>
                    <a:gd name="connsiteY0" fmla="*/ 100 h 195942"/>
                    <a:gd name="connsiteX1" fmla="*/ 196443 w 195942"/>
                    <a:gd name="connsiteY1" fmla="*/ 100 h 195942"/>
                    <a:gd name="connsiteX2" fmla="*/ 196443 w 195942"/>
                    <a:gd name="connsiteY2" fmla="*/ 196043 h 195942"/>
                    <a:gd name="connsiteX3" fmla="*/ 5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00"/>
                      </a:moveTo>
                      <a:lnTo>
                        <a:pt x="196443" y="100"/>
                      </a:lnTo>
                      <a:lnTo>
                        <a:pt x="196443" y="196043"/>
                      </a:lnTo>
                      <a:lnTo>
                        <a:pt x="50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32" name="任意多边形: 形状 131"/>
                <p:cNvSpPr/>
                <p:nvPr/>
              </p:nvSpPr>
              <p:spPr>
                <a:xfrm>
                  <a:off x="6128657" y="653142"/>
                  <a:ext cx="195942" cy="195942"/>
                </a:xfrm>
                <a:custGeom>
                  <a:avLst/>
                  <a:gdLst>
                    <a:gd name="connsiteX0" fmla="*/ 530 w 195942"/>
                    <a:gd name="connsiteY0" fmla="*/ 100 h 195942"/>
                    <a:gd name="connsiteX1" fmla="*/ 196473 w 195942"/>
                    <a:gd name="connsiteY1" fmla="*/ 100 h 195942"/>
                    <a:gd name="connsiteX2" fmla="*/ 196473 w 195942"/>
                    <a:gd name="connsiteY2" fmla="*/ 196043 h 195942"/>
                    <a:gd name="connsiteX3" fmla="*/ 5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00"/>
                      </a:moveTo>
                      <a:lnTo>
                        <a:pt x="196473" y="100"/>
                      </a:lnTo>
                      <a:lnTo>
                        <a:pt x="196473" y="196043"/>
                      </a:lnTo>
                      <a:lnTo>
                        <a:pt x="530" y="19604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14" name="图形 5"/>
              <p:cNvGrpSpPr/>
              <p:nvPr/>
            </p:nvGrpSpPr>
            <p:grpSpPr>
              <a:xfrm>
                <a:off x="5540828" y="849085"/>
                <a:ext cx="783771" cy="195942"/>
                <a:chOff x="5540828" y="849085"/>
                <a:chExt cx="783771" cy="195942"/>
              </a:xfrm>
              <a:solidFill>
                <a:srgbClr val="000000"/>
              </a:solidFill>
            </p:grpSpPr>
            <p:sp>
              <p:nvSpPr>
                <p:cNvPr id="125" name="任意多边形: 形状 124"/>
                <p:cNvSpPr/>
                <p:nvPr/>
              </p:nvSpPr>
              <p:spPr>
                <a:xfrm>
                  <a:off x="5540828" y="849085"/>
                  <a:ext cx="195942" cy="195942"/>
                </a:xfrm>
                <a:custGeom>
                  <a:avLst/>
                  <a:gdLst>
                    <a:gd name="connsiteX0" fmla="*/ 440 w 195942"/>
                    <a:gd name="connsiteY0" fmla="*/ 130 h 195942"/>
                    <a:gd name="connsiteX1" fmla="*/ 196383 w 195942"/>
                    <a:gd name="connsiteY1" fmla="*/ 130 h 195942"/>
                    <a:gd name="connsiteX2" fmla="*/ 196383 w 195942"/>
                    <a:gd name="connsiteY2" fmla="*/ 196073 h 195942"/>
                    <a:gd name="connsiteX3" fmla="*/ 44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30"/>
                      </a:moveTo>
                      <a:lnTo>
                        <a:pt x="196383" y="130"/>
                      </a:lnTo>
                      <a:lnTo>
                        <a:pt x="196383" y="196073"/>
                      </a:lnTo>
                      <a:lnTo>
                        <a:pt x="44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6" name="任意多边形: 形状 125"/>
                <p:cNvSpPr/>
                <p:nvPr/>
              </p:nvSpPr>
              <p:spPr>
                <a:xfrm>
                  <a:off x="5736771" y="849085"/>
                  <a:ext cx="195942" cy="195942"/>
                </a:xfrm>
                <a:custGeom>
                  <a:avLst/>
                  <a:gdLst>
                    <a:gd name="connsiteX0" fmla="*/ 470 w 195942"/>
                    <a:gd name="connsiteY0" fmla="*/ 130 h 195942"/>
                    <a:gd name="connsiteX1" fmla="*/ 196413 w 195942"/>
                    <a:gd name="connsiteY1" fmla="*/ 130 h 195942"/>
                    <a:gd name="connsiteX2" fmla="*/ 196413 w 195942"/>
                    <a:gd name="connsiteY2" fmla="*/ 196073 h 195942"/>
                    <a:gd name="connsiteX3" fmla="*/ 47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30"/>
                      </a:moveTo>
                      <a:lnTo>
                        <a:pt x="196413" y="130"/>
                      </a:lnTo>
                      <a:lnTo>
                        <a:pt x="196413" y="196073"/>
                      </a:lnTo>
                      <a:lnTo>
                        <a:pt x="47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7" name="任意多边形: 形状 126"/>
                <p:cNvSpPr/>
                <p:nvPr/>
              </p:nvSpPr>
              <p:spPr>
                <a:xfrm>
                  <a:off x="5932714" y="849085"/>
                  <a:ext cx="195942" cy="195942"/>
                </a:xfrm>
                <a:custGeom>
                  <a:avLst/>
                  <a:gdLst>
                    <a:gd name="connsiteX0" fmla="*/ 500 w 195942"/>
                    <a:gd name="connsiteY0" fmla="*/ 130 h 195942"/>
                    <a:gd name="connsiteX1" fmla="*/ 196443 w 195942"/>
                    <a:gd name="connsiteY1" fmla="*/ 130 h 195942"/>
                    <a:gd name="connsiteX2" fmla="*/ 196443 w 195942"/>
                    <a:gd name="connsiteY2" fmla="*/ 196073 h 195942"/>
                    <a:gd name="connsiteX3" fmla="*/ 5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30"/>
                      </a:moveTo>
                      <a:lnTo>
                        <a:pt x="196443" y="130"/>
                      </a:lnTo>
                      <a:lnTo>
                        <a:pt x="196443" y="196073"/>
                      </a:lnTo>
                      <a:lnTo>
                        <a:pt x="50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8" name="任意多边形: 形状 127"/>
                <p:cNvSpPr/>
                <p:nvPr/>
              </p:nvSpPr>
              <p:spPr>
                <a:xfrm>
                  <a:off x="6128657" y="849085"/>
                  <a:ext cx="195942" cy="195942"/>
                </a:xfrm>
                <a:custGeom>
                  <a:avLst/>
                  <a:gdLst>
                    <a:gd name="connsiteX0" fmla="*/ 530 w 195942"/>
                    <a:gd name="connsiteY0" fmla="*/ 130 h 195942"/>
                    <a:gd name="connsiteX1" fmla="*/ 196473 w 195942"/>
                    <a:gd name="connsiteY1" fmla="*/ 130 h 195942"/>
                    <a:gd name="connsiteX2" fmla="*/ 196473 w 195942"/>
                    <a:gd name="connsiteY2" fmla="*/ 196073 h 195942"/>
                    <a:gd name="connsiteX3" fmla="*/ 5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30"/>
                      </a:moveTo>
                      <a:lnTo>
                        <a:pt x="196473" y="130"/>
                      </a:lnTo>
                      <a:lnTo>
                        <a:pt x="196473" y="196073"/>
                      </a:lnTo>
                      <a:lnTo>
                        <a:pt x="530" y="19607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15" name="图形 5"/>
              <p:cNvGrpSpPr/>
              <p:nvPr/>
            </p:nvGrpSpPr>
            <p:grpSpPr>
              <a:xfrm>
                <a:off x="5540828" y="1045028"/>
                <a:ext cx="783771" cy="195942"/>
                <a:chOff x="5540828" y="1045028"/>
                <a:chExt cx="783771" cy="195942"/>
              </a:xfrm>
              <a:solidFill>
                <a:srgbClr val="000000"/>
              </a:solidFill>
            </p:grpSpPr>
            <p:sp>
              <p:nvSpPr>
                <p:cNvPr id="121" name="任意多边形: 形状 120"/>
                <p:cNvSpPr/>
                <p:nvPr/>
              </p:nvSpPr>
              <p:spPr>
                <a:xfrm>
                  <a:off x="5540828" y="1045028"/>
                  <a:ext cx="195942" cy="195942"/>
                </a:xfrm>
                <a:custGeom>
                  <a:avLst/>
                  <a:gdLst>
                    <a:gd name="connsiteX0" fmla="*/ 440 w 195942"/>
                    <a:gd name="connsiteY0" fmla="*/ 160 h 195942"/>
                    <a:gd name="connsiteX1" fmla="*/ 196383 w 195942"/>
                    <a:gd name="connsiteY1" fmla="*/ 160 h 195942"/>
                    <a:gd name="connsiteX2" fmla="*/ 196383 w 195942"/>
                    <a:gd name="connsiteY2" fmla="*/ 196103 h 195942"/>
                    <a:gd name="connsiteX3" fmla="*/ 44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60"/>
                      </a:moveTo>
                      <a:lnTo>
                        <a:pt x="196383" y="160"/>
                      </a:lnTo>
                      <a:lnTo>
                        <a:pt x="196383" y="196103"/>
                      </a:lnTo>
                      <a:lnTo>
                        <a:pt x="44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2" name="任意多边形: 形状 121"/>
                <p:cNvSpPr/>
                <p:nvPr/>
              </p:nvSpPr>
              <p:spPr>
                <a:xfrm>
                  <a:off x="5736771" y="1045028"/>
                  <a:ext cx="195942" cy="195942"/>
                </a:xfrm>
                <a:custGeom>
                  <a:avLst/>
                  <a:gdLst>
                    <a:gd name="connsiteX0" fmla="*/ 470 w 195942"/>
                    <a:gd name="connsiteY0" fmla="*/ 160 h 195942"/>
                    <a:gd name="connsiteX1" fmla="*/ 196413 w 195942"/>
                    <a:gd name="connsiteY1" fmla="*/ 160 h 195942"/>
                    <a:gd name="connsiteX2" fmla="*/ 196413 w 195942"/>
                    <a:gd name="connsiteY2" fmla="*/ 196103 h 195942"/>
                    <a:gd name="connsiteX3" fmla="*/ 47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60"/>
                      </a:moveTo>
                      <a:lnTo>
                        <a:pt x="196413" y="160"/>
                      </a:lnTo>
                      <a:lnTo>
                        <a:pt x="196413" y="196103"/>
                      </a:lnTo>
                      <a:lnTo>
                        <a:pt x="47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3" name="任意多边形: 形状 122"/>
                <p:cNvSpPr/>
                <p:nvPr/>
              </p:nvSpPr>
              <p:spPr>
                <a:xfrm>
                  <a:off x="5932714" y="1045028"/>
                  <a:ext cx="195942" cy="195942"/>
                </a:xfrm>
                <a:custGeom>
                  <a:avLst/>
                  <a:gdLst>
                    <a:gd name="connsiteX0" fmla="*/ 500 w 195942"/>
                    <a:gd name="connsiteY0" fmla="*/ 160 h 195942"/>
                    <a:gd name="connsiteX1" fmla="*/ 196443 w 195942"/>
                    <a:gd name="connsiteY1" fmla="*/ 160 h 195942"/>
                    <a:gd name="connsiteX2" fmla="*/ 196443 w 195942"/>
                    <a:gd name="connsiteY2" fmla="*/ 196103 h 195942"/>
                    <a:gd name="connsiteX3" fmla="*/ 5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60"/>
                      </a:moveTo>
                      <a:lnTo>
                        <a:pt x="196443" y="160"/>
                      </a:lnTo>
                      <a:lnTo>
                        <a:pt x="196443" y="196103"/>
                      </a:lnTo>
                      <a:lnTo>
                        <a:pt x="50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4" name="任意多边形: 形状 123"/>
                <p:cNvSpPr/>
                <p:nvPr/>
              </p:nvSpPr>
              <p:spPr>
                <a:xfrm>
                  <a:off x="6128657" y="1045028"/>
                  <a:ext cx="195942" cy="195942"/>
                </a:xfrm>
                <a:custGeom>
                  <a:avLst/>
                  <a:gdLst>
                    <a:gd name="connsiteX0" fmla="*/ 530 w 195942"/>
                    <a:gd name="connsiteY0" fmla="*/ 160 h 195942"/>
                    <a:gd name="connsiteX1" fmla="*/ 196473 w 195942"/>
                    <a:gd name="connsiteY1" fmla="*/ 160 h 195942"/>
                    <a:gd name="connsiteX2" fmla="*/ 196473 w 195942"/>
                    <a:gd name="connsiteY2" fmla="*/ 196103 h 195942"/>
                    <a:gd name="connsiteX3" fmla="*/ 5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60"/>
                      </a:moveTo>
                      <a:lnTo>
                        <a:pt x="196473" y="160"/>
                      </a:lnTo>
                      <a:lnTo>
                        <a:pt x="196473" y="196103"/>
                      </a:lnTo>
                      <a:lnTo>
                        <a:pt x="530" y="19610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16" name="图形 5"/>
              <p:cNvGrpSpPr/>
              <p:nvPr/>
            </p:nvGrpSpPr>
            <p:grpSpPr>
              <a:xfrm>
                <a:off x="5540828" y="1240971"/>
                <a:ext cx="783771" cy="195942"/>
                <a:chOff x="5540828" y="1240971"/>
                <a:chExt cx="783771" cy="195942"/>
              </a:xfrm>
              <a:solidFill>
                <a:srgbClr val="000000"/>
              </a:solidFill>
            </p:grpSpPr>
            <p:sp>
              <p:nvSpPr>
                <p:cNvPr id="117" name="任意多边形: 形状 116"/>
                <p:cNvSpPr/>
                <p:nvPr/>
              </p:nvSpPr>
              <p:spPr>
                <a:xfrm>
                  <a:off x="5540828" y="1240971"/>
                  <a:ext cx="195942" cy="195942"/>
                </a:xfrm>
                <a:custGeom>
                  <a:avLst/>
                  <a:gdLst>
                    <a:gd name="connsiteX0" fmla="*/ 440 w 195942"/>
                    <a:gd name="connsiteY0" fmla="*/ 190 h 195942"/>
                    <a:gd name="connsiteX1" fmla="*/ 196383 w 195942"/>
                    <a:gd name="connsiteY1" fmla="*/ 190 h 195942"/>
                    <a:gd name="connsiteX2" fmla="*/ 196383 w 195942"/>
                    <a:gd name="connsiteY2" fmla="*/ 196133 h 195942"/>
                    <a:gd name="connsiteX3" fmla="*/ 44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40" y="190"/>
                      </a:moveTo>
                      <a:lnTo>
                        <a:pt x="196383" y="190"/>
                      </a:lnTo>
                      <a:lnTo>
                        <a:pt x="196383" y="196133"/>
                      </a:lnTo>
                      <a:lnTo>
                        <a:pt x="44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18" name="任意多边形: 形状 117"/>
                <p:cNvSpPr/>
                <p:nvPr/>
              </p:nvSpPr>
              <p:spPr>
                <a:xfrm>
                  <a:off x="5736771" y="1240971"/>
                  <a:ext cx="195942" cy="195942"/>
                </a:xfrm>
                <a:custGeom>
                  <a:avLst/>
                  <a:gdLst>
                    <a:gd name="connsiteX0" fmla="*/ 470 w 195942"/>
                    <a:gd name="connsiteY0" fmla="*/ 190 h 195942"/>
                    <a:gd name="connsiteX1" fmla="*/ 196413 w 195942"/>
                    <a:gd name="connsiteY1" fmla="*/ 190 h 195942"/>
                    <a:gd name="connsiteX2" fmla="*/ 196413 w 195942"/>
                    <a:gd name="connsiteY2" fmla="*/ 196133 h 195942"/>
                    <a:gd name="connsiteX3" fmla="*/ 47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470" y="190"/>
                      </a:moveTo>
                      <a:lnTo>
                        <a:pt x="196413" y="190"/>
                      </a:lnTo>
                      <a:lnTo>
                        <a:pt x="196413" y="196133"/>
                      </a:lnTo>
                      <a:lnTo>
                        <a:pt x="47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19" name="任意多边形: 形状 118"/>
                <p:cNvSpPr/>
                <p:nvPr/>
              </p:nvSpPr>
              <p:spPr>
                <a:xfrm>
                  <a:off x="5932714" y="1240971"/>
                  <a:ext cx="195942" cy="195942"/>
                </a:xfrm>
                <a:custGeom>
                  <a:avLst/>
                  <a:gdLst>
                    <a:gd name="connsiteX0" fmla="*/ 500 w 195942"/>
                    <a:gd name="connsiteY0" fmla="*/ 190 h 195942"/>
                    <a:gd name="connsiteX1" fmla="*/ 196443 w 195942"/>
                    <a:gd name="connsiteY1" fmla="*/ 190 h 195942"/>
                    <a:gd name="connsiteX2" fmla="*/ 196443 w 195942"/>
                    <a:gd name="connsiteY2" fmla="*/ 196133 h 195942"/>
                    <a:gd name="connsiteX3" fmla="*/ 5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00" y="190"/>
                      </a:moveTo>
                      <a:lnTo>
                        <a:pt x="196443" y="190"/>
                      </a:lnTo>
                      <a:lnTo>
                        <a:pt x="196443" y="196133"/>
                      </a:lnTo>
                      <a:lnTo>
                        <a:pt x="50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20" name="任意多边形: 形状 119"/>
                <p:cNvSpPr/>
                <p:nvPr/>
              </p:nvSpPr>
              <p:spPr>
                <a:xfrm>
                  <a:off x="6128657" y="1240971"/>
                  <a:ext cx="195942" cy="195942"/>
                </a:xfrm>
                <a:custGeom>
                  <a:avLst/>
                  <a:gdLst>
                    <a:gd name="connsiteX0" fmla="*/ 530 w 195942"/>
                    <a:gd name="connsiteY0" fmla="*/ 190 h 195942"/>
                    <a:gd name="connsiteX1" fmla="*/ 196473 w 195942"/>
                    <a:gd name="connsiteY1" fmla="*/ 190 h 195942"/>
                    <a:gd name="connsiteX2" fmla="*/ 196473 w 195942"/>
                    <a:gd name="connsiteY2" fmla="*/ 196133 h 195942"/>
                    <a:gd name="connsiteX3" fmla="*/ 5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530" y="190"/>
                      </a:moveTo>
                      <a:lnTo>
                        <a:pt x="196473" y="190"/>
                      </a:lnTo>
                      <a:lnTo>
                        <a:pt x="196473" y="196133"/>
                      </a:lnTo>
                      <a:lnTo>
                        <a:pt x="530" y="19613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cxnSp>
          <p:nvCxnSpPr>
            <p:cNvPr id="142" name="直接箭头连接符 141"/>
            <p:cNvCxnSpPr>
              <a:stCxn id="47" idx="1"/>
              <a:endCxn id="63" idx="0"/>
            </p:cNvCxnSpPr>
            <p:nvPr/>
          </p:nvCxnSpPr>
          <p:spPr>
            <a:xfrm flipV="1">
              <a:off x="4273782" y="1125908"/>
              <a:ext cx="979777" cy="800213"/>
            </a:xfrm>
            <a:prstGeom prst="straightConnector1">
              <a:avLst/>
            </a:prstGeom>
            <a:noFill/>
            <a:ln w="12700" cap="flat">
              <a:solidFill>
                <a:schemeClr val="tx1">
                  <a:lumMod val="95000"/>
                  <a:lumOff val="5000"/>
                </a:schemeClr>
              </a:solidFill>
              <a:prstDash val="solid"/>
              <a:miter lim="800000"/>
              <a:tailEnd type="triangle"/>
            </a:ln>
          </p:spPr>
          <p:style>
            <a:lnRef idx="0">
              <a:scrgbClr r="0" g="0" b="0"/>
            </a:lnRef>
            <a:fillRef idx="0">
              <a:scrgbClr r="0" g="0" b="0"/>
            </a:fillRef>
            <a:effectRef idx="0">
              <a:scrgbClr r="0" g="0" b="0"/>
            </a:effectRef>
            <a:fontRef idx="none"/>
          </p:style>
        </p:cxnSp>
        <p:cxnSp>
          <p:nvCxnSpPr>
            <p:cNvPr id="143" name="直接箭头连接符 142"/>
            <p:cNvCxnSpPr/>
            <p:nvPr/>
          </p:nvCxnSpPr>
          <p:spPr>
            <a:xfrm flipV="1">
              <a:off x="4273340" y="2492842"/>
              <a:ext cx="949535" cy="16381"/>
            </a:xfrm>
            <a:prstGeom prst="straightConnector1">
              <a:avLst/>
            </a:prstGeom>
            <a:noFill/>
            <a:ln w="12700" cap="flat">
              <a:solidFill>
                <a:schemeClr val="tx1">
                  <a:lumMod val="95000"/>
                  <a:lumOff val="5000"/>
                </a:schemeClr>
              </a:solidFill>
              <a:prstDash val="solid"/>
              <a:miter lim="800000"/>
              <a:tailEnd type="triangle"/>
            </a:ln>
          </p:spPr>
          <p:style>
            <a:lnRef idx="0">
              <a:scrgbClr r="0" g="0" b="0"/>
            </a:lnRef>
            <a:fillRef idx="0">
              <a:scrgbClr r="0" g="0" b="0"/>
            </a:fillRef>
            <a:effectRef idx="0">
              <a:scrgbClr r="0" g="0" b="0"/>
            </a:effectRef>
            <a:fontRef idx="none"/>
          </p:style>
        </p:cxnSp>
        <p:cxnSp>
          <p:nvCxnSpPr>
            <p:cNvPr id="148" name="直接箭头连接符 147"/>
            <p:cNvCxnSpPr>
              <a:stCxn id="23" idx="2"/>
              <a:endCxn id="129" idx="3"/>
            </p:cNvCxnSpPr>
            <p:nvPr/>
          </p:nvCxnSpPr>
          <p:spPr>
            <a:xfrm>
              <a:off x="4273782" y="2905955"/>
              <a:ext cx="979775" cy="804358"/>
            </a:xfrm>
            <a:prstGeom prst="straightConnector1">
              <a:avLst/>
            </a:prstGeom>
            <a:noFill/>
            <a:ln w="12700" cap="flat">
              <a:solidFill>
                <a:schemeClr val="tx1"/>
              </a:solidFill>
              <a:prstDash val="solid"/>
              <a:miter lim="800000"/>
              <a:tailEnd type="triangle"/>
            </a:ln>
          </p:spPr>
          <p:style>
            <a:lnRef idx="0">
              <a:scrgbClr r="0" g="0" b="0"/>
            </a:lnRef>
            <a:fillRef idx="0">
              <a:scrgbClr r="0" g="0" b="0"/>
            </a:fillRef>
            <a:effectRef idx="0">
              <a:scrgbClr r="0" g="0" b="0"/>
            </a:effectRef>
            <a:fontRef idx="none"/>
          </p:style>
        </p:cxnSp>
        <p:cxnSp>
          <p:nvCxnSpPr>
            <p:cNvPr id="150" name="直接箭头连接符 149"/>
            <p:cNvCxnSpPr>
              <a:stCxn id="70" idx="2"/>
            </p:cNvCxnSpPr>
            <p:nvPr/>
          </p:nvCxnSpPr>
          <p:spPr>
            <a:xfrm flipV="1">
              <a:off x="6037421" y="1125777"/>
              <a:ext cx="620554" cy="101"/>
            </a:xfrm>
            <a:prstGeom prst="straightConnector1">
              <a:avLst/>
            </a:prstGeom>
            <a:noFill/>
            <a:ln w="12700" cap="flat">
              <a:solidFill>
                <a:schemeClr val="tx1"/>
              </a:solidFill>
              <a:prstDash val="solid"/>
              <a:miter lim="800000"/>
              <a:tailEnd type="triangle"/>
            </a:ln>
          </p:spPr>
          <p:style>
            <a:lnRef idx="0">
              <a:scrgbClr r="0" g="0" b="0"/>
            </a:lnRef>
            <a:fillRef idx="0">
              <a:scrgbClr r="0" g="0" b="0"/>
            </a:fillRef>
            <a:effectRef idx="0">
              <a:scrgbClr r="0" g="0" b="0"/>
            </a:effectRef>
            <a:fontRef idx="none"/>
          </p:style>
        </p:cxnSp>
        <p:cxnSp>
          <p:nvCxnSpPr>
            <p:cNvPr id="151" name="直接箭头连接符 150"/>
            <p:cNvCxnSpPr/>
            <p:nvPr/>
          </p:nvCxnSpPr>
          <p:spPr>
            <a:xfrm flipV="1">
              <a:off x="6036888" y="2415576"/>
              <a:ext cx="620554" cy="101"/>
            </a:xfrm>
            <a:prstGeom prst="straightConnector1">
              <a:avLst/>
            </a:prstGeom>
            <a:noFill/>
            <a:ln w="12700" cap="flat">
              <a:solidFill>
                <a:schemeClr val="tx1"/>
              </a:solidFill>
              <a:prstDash val="solid"/>
              <a:miter lim="800000"/>
              <a:tailEnd type="triangle"/>
            </a:ln>
          </p:spPr>
          <p:style>
            <a:lnRef idx="0">
              <a:scrgbClr r="0" g="0" b="0"/>
            </a:lnRef>
            <a:fillRef idx="0">
              <a:scrgbClr r="0" g="0" b="0"/>
            </a:fillRef>
            <a:effectRef idx="0">
              <a:scrgbClr r="0" g="0" b="0"/>
            </a:effectRef>
            <a:fontRef idx="none"/>
          </p:style>
        </p:cxnSp>
        <p:cxnSp>
          <p:nvCxnSpPr>
            <p:cNvPr id="152" name="直接箭头连接符 151"/>
            <p:cNvCxnSpPr/>
            <p:nvPr/>
          </p:nvCxnSpPr>
          <p:spPr>
            <a:xfrm flipV="1">
              <a:off x="6036888" y="3705375"/>
              <a:ext cx="620554" cy="101"/>
            </a:xfrm>
            <a:prstGeom prst="straightConnector1">
              <a:avLst/>
            </a:prstGeom>
            <a:noFill/>
            <a:ln w="12700" cap="flat">
              <a:solidFill>
                <a:schemeClr val="tx1"/>
              </a:solidFill>
              <a:prstDash val="solid"/>
              <a:miter lim="800000"/>
              <a:tailEnd type="triangle"/>
            </a:ln>
          </p:spPr>
          <p:style>
            <a:lnRef idx="0">
              <a:scrgbClr r="0" g="0" b="0"/>
            </a:lnRef>
            <a:fillRef idx="0">
              <a:scrgbClr r="0" g="0" b="0"/>
            </a:fillRef>
            <a:effectRef idx="0">
              <a:scrgbClr r="0" g="0" b="0"/>
            </a:effectRef>
            <a:fontRef idx="none"/>
          </p:style>
        </p:cxnSp>
        <p:grpSp>
          <p:nvGrpSpPr>
            <p:cNvPr id="153" name="图形 5"/>
            <p:cNvGrpSpPr/>
            <p:nvPr/>
          </p:nvGrpSpPr>
          <p:grpSpPr>
            <a:xfrm>
              <a:off x="6689357" y="635920"/>
              <a:ext cx="783771" cy="979713"/>
              <a:chOff x="7239000" y="457200"/>
              <a:chExt cx="783771" cy="979713"/>
            </a:xfrm>
            <a:solidFill>
              <a:schemeClr val="accent1">
                <a:lumMod val="20000"/>
                <a:lumOff val="80000"/>
              </a:schemeClr>
            </a:solidFill>
          </p:grpSpPr>
          <p:grpSp>
            <p:nvGrpSpPr>
              <p:cNvPr id="154" name="图形 5"/>
              <p:cNvGrpSpPr/>
              <p:nvPr/>
            </p:nvGrpSpPr>
            <p:grpSpPr>
              <a:xfrm>
                <a:off x="7239000" y="457200"/>
                <a:ext cx="783771" cy="195942"/>
                <a:chOff x="7239000" y="457200"/>
                <a:chExt cx="783771" cy="195942"/>
              </a:xfrm>
              <a:grpFill/>
            </p:grpSpPr>
            <p:sp>
              <p:nvSpPr>
                <p:cNvPr id="177" name="任意多边形: 形状 176"/>
                <p:cNvSpPr/>
                <p:nvPr/>
              </p:nvSpPr>
              <p:spPr>
                <a:xfrm>
                  <a:off x="7239000" y="457200"/>
                  <a:ext cx="195942" cy="195942"/>
                </a:xfrm>
                <a:custGeom>
                  <a:avLst/>
                  <a:gdLst>
                    <a:gd name="connsiteX0" fmla="*/ 700 w 195942"/>
                    <a:gd name="connsiteY0" fmla="*/ 70 h 195942"/>
                    <a:gd name="connsiteX1" fmla="*/ 196643 w 195942"/>
                    <a:gd name="connsiteY1" fmla="*/ 70 h 195942"/>
                    <a:gd name="connsiteX2" fmla="*/ 196643 w 195942"/>
                    <a:gd name="connsiteY2" fmla="*/ 196013 h 195942"/>
                    <a:gd name="connsiteX3" fmla="*/ 7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0"/>
                      </a:moveTo>
                      <a:lnTo>
                        <a:pt x="196643" y="70"/>
                      </a:lnTo>
                      <a:lnTo>
                        <a:pt x="196643" y="196013"/>
                      </a:lnTo>
                      <a:lnTo>
                        <a:pt x="70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78" name="任意多边形: 形状 177"/>
                <p:cNvSpPr/>
                <p:nvPr/>
              </p:nvSpPr>
              <p:spPr>
                <a:xfrm>
                  <a:off x="7434942" y="457200"/>
                  <a:ext cx="195942" cy="195942"/>
                </a:xfrm>
                <a:custGeom>
                  <a:avLst/>
                  <a:gdLst>
                    <a:gd name="connsiteX0" fmla="*/ 730 w 195942"/>
                    <a:gd name="connsiteY0" fmla="*/ 70 h 195942"/>
                    <a:gd name="connsiteX1" fmla="*/ 196673 w 195942"/>
                    <a:gd name="connsiteY1" fmla="*/ 70 h 195942"/>
                    <a:gd name="connsiteX2" fmla="*/ 196673 w 195942"/>
                    <a:gd name="connsiteY2" fmla="*/ 196013 h 195942"/>
                    <a:gd name="connsiteX3" fmla="*/ 7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0"/>
                      </a:moveTo>
                      <a:lnTo>
                        <a:pt x="196673" y="70"/>
                      </a:lnTo>
                      <a:lnTo>
                        <a:pt x="196673" y="196013"/>
                      </a:lnTo>
                      <a:lnTo>
                        <a:pt x="730" y="196013"/>
                      </a:lnTo>
                      <a:close/>
                    </a:path>
                  </a:pathLst>
                </a:custGeom>
                <a:grpFill/>
                <a:ln w="9797" cap="flat">
                  <a:solidFill>
                    <a:srgbClr val="333333"/>
                  </a:solidFill>
                  <a:prstDash val="solid"/>
                  <a:miter/>
                </a:ln>
              </p:spPr>
              <p:txBody>
                <a:bodyPr rtlCol="0" anchor="ctr"/>
                <a:lstStyle/>
                <a:p>
                  <a:endParaRPr lang="zh-CN" altLang="en-US"/>
                </a:p>
              </p:txBody>
            </p:sp>
            <p:sp>
              <p:nvSpPr>
                <p:cNvPr id="179" name="任意多边形: 形状 178"/>
                <p:cNvSpPr/>
                <p:nvPr/>
              </p:nvSpPr>
              <p:spPr>
                <a:xfrm>
                  <a:off x="7630885" y="457200"/>
                  <a:ext cx="195942" cy="195942"/>
                </a:xfrm>
                <a:custGeom>
                  <a:avLst/>
                  <a:gdLst>
                    <a:gd name="connsiteX0" fmla="*/ 760 w 195942"/>
                    <a:gd name="connsiteY0" fmla="*/ 70 h 195942"/>
                    <a:gd name="connsiteX1" fmla="*/ 196703 w 195942"/>
                    <a:gd name="connsiteY1" fmla="*/ 70 h 195942"/>
                    <a:gd name="connsiteX2" fmla="*/ 196703 w 195942"/>
                    <a:gd name="connsiteY2" fmla="*/ 196013 h 195942"/>
                    <a:gd name="connsiteX3" fmla="*/ 76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0"/>
                      </a:moveTo>
                      <a:lnTo>
                        <a:pt x="196703" y="70"/>
                      </a:lnTo>
                      <a:lnTo>
                        <a:pt x="196703" y="196013"/>
                      </a:lnTo>
                      <a:lnTo>
                        <a:pt x="760" y="196013"/>
                      </a:lnTo>
                      <a:close/>
                    </a:path>
                  </a:pathLst>
                </a:custGeom>
                <a:grpFill/>
                <a:ln w="9797" cap="flat">
                  <a:solidFill>
                    <a:srgbClr val="333333"/>
                  </a:solidFill>
                  <a:prstDash val="solid"/>
                  <a:miter/>
                </a:ln>
              </p:spPr>
              <p:txBody>
                <a:bodyPr rtlCol="0" anchor="ctr"/>
                <a:lstStyle/>
                <a:p>
                  <a:endParaRPr lang="zh-CN" altLang="en-US"/>
                </a:p>
              </p:txBody>
            </p:sp>
            <p:sp>
              <p:nvSpPr>
                <p:cNvPr id="180" name="任意多边形: 形状 179"/>
                <p:cNvSpPr/>
                <p:nvPr/>
              </p:nvSpPr>
              <p:spPr>
                <a:xfrm>
                  <a:off x="7826828" y="457200"/>
                  <a:ext cx="195942" cy="195942"/>
                </a:xfrm>
                <a:custGeom>
                  <a:avLst/>
                  <a:gdLst>
                    <a:gd name="connsiteX0" fmla="*/ 790 w 195942"/>
                    <a:gd name="connsiteY0" fmla="*/ 70 h 195942"/>
                    <a:gd name="connsiteX1" fmla="*/ 196733 w 195942"/>
                    <a:gd name="connsiteY1" fmla="*/ 70 h 195942"/>
                    <a:gd name="connsiteX2" fmla="*/ 196733 w 195942"/>
                    <a:gd name="connsiteY2" fmla="*/ 196013 h 195942"/>
                    <a:gd name="connsiteX3" fmla="*/ 79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0"/>
                      </a:moveTo>
                      <a:lnTo>
                        <a:pt x="196733" y="70"/>
                      </a:lnTo>
                      <a:lnTo>
                        <a:pt x="196733" y="196013"/>
                      </a:lnTo>
                      <a:lnTo>
                        <a:pt x="790" y="196013"/>
                      </a:lnTo>
                      <a:close/>
                    </a:path>
                  </a:pathLst>
                </a:custGeom>
                <a:grpFill/>
                <a:ln w="9797" cap="flat">
                  <a:solidFill>
                    <a:srgbClr val="333333"/>
                  </a:solidFill>
                  <a:prstDash val="solid"/>
                  <a:miter/>
                </a:ln>
              </p:spPr>
              <p:txBody>
                <a:bodyPr rtlCol="0" anchor="ctr"/>
                <a:lstStyle/>
                <a:p>
                  <a:endParaRPr lang="zh-CN" altLang="en-US"/>
                </a:p>
              </p:txBody>
            </p:sp>
          </p:grpSp>
          <p:grpSp>
            <p:nvGrpSpPr>
              <p:cNvPr id="155" name="图形 5"/>
              <p:cNvGrpSpPr/>
              <p:nvPr/>
            </p:nvGrpSpPr>
            <p:grpSpPr>
              <a:xfrm>
                <a:off x="7239000" y="653142"/>
                <a:ext cx="783771" cy="195942"/>
                <a:chOff x="7239000" y="653142"/>
                <a:chExt cx="783771" cy="195942"/>
              </a:xfrm>
              <a:grpFill/>
            </p:grpSpPr>
            <p:sp>
              <p:nvSpPr>
                <p:cNvPr id="173" name="任意多边形: 形状 172"/>
                <p:cNvSpPr/>
                <p:nvPr/>
              </p:nvSpPr>
              <p:spPr>
                <a:xfrm>
                  <a:off x="7239000" y="653142"/>
                  <a:ext cx="195942" cy="195942"/>
                </a:xfrm>
                <a:custGeom>
                  <a:avLst/>
                  <a:gdLst>
                    <a:gd name="connsiteX0" fmla="*/ 700 w 195942"/>
                    <a:gd name="connsiteY0" fmla="*/ 100 h 195942"/>
                    <a:gd name="connsiteX1" fmla="*/ 196643 w 195942"/>
                    <a:gd name="connsiteY1" fmla="*/ 100 h 195942"/>
                    <a:gd name="connsiteX2" fmla="*/ 196643 w 195942"/>
                    <a:gd name="connsiteY2" fmla="*/ 196043 h 195942"/>
                    <a:gd name="connsiteX3" fmla="*/ 7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00"/>
                      </a:moveTo>
                      <a:lnTo>
                        <a:pt x="196643" y="100"/>
                      </a:lnTo>
                      <a:lnTo>
                        <a:pt x="196643" y="196043"/>
                      </a:lnTo>
                      <a:lnTo>
                        <a:pt x="700" y="196043"/>
                      </a:lnTo>
                      <a:close/>
                    </a:path>
                  </a:pathLst>
                </a:custGeom>
                <a:grpFill/>
                <a:ln w="9797" cap="flat">
                  <a:solidFill>
                    <a:srgbClr val="333333"/>
                  </a:solidFill>
                  <a:prstDash val="solid"/>
                  <a:miter/>
                </a:ln>
              </p:spPr>
              <p:txBody>
                <a:bodyPr rtlCol="0" anchor="ctr"/>
                <a:lstStyle/>
                <a:p>
                  <a:endParaRPr lang="zh-CN" altLang="en-US"/>
                </a:p>
              </p:txBody>
            </p:sp>
            <p:sp>
              <p:nvSpPr>
                <p:cNvPr id="174" name="任意多边形: 形状 173"/>
                <p:cNvSpPr/>
                <p:nvPr/>
              </p:nvSpPr>
              <p:spPr>
                <a:xfrm>
                  <a:off x="7434942" y="653142"/>
                  <a:ext cx="195942" cy="195942"/>
                </a:xfrm>
                <a:custGeom>
                  <a:avLst/>
                  <a:gdLst>
                    <a:gd name="connsiteX0" fmla="*/ 730 w 195942"/>
                    <a:gd name="connsiteY0" fmla="*/ 100 h 195942"/>
                    <a:gd name="connsiteX1" fmla="*/ 196673 w 195942"/>
                    <a:gd name="connsiteY1" fmla="*/ 100 h 195942"/>
                    <a:gd name="connsiteX2" fmla="*/ 196673 w 195942"/>
                    <a:gd name="connsiteY2" fmla="*/ 196043 h 195942"/>
                    <a:gd name="connsiteX3" fmla="*/ 7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00"/>
                      </a:moveTo>
                      <a:lnTo>
                        <a:pt x="196673" y="100"/>
                      </a:lnTo>
                      <a:lnTo>
                        <a:pt x="196673" y="196043"/>
                      </a:lnTo>
                      <a:lnTo>
                        <a:pt x="730" y="196043"/>
                      </a:lnTo>
                      <a:close/>
                    </a:path>
                  </a:pathLst>
                </a:custGeom>
                <a:grpFill/>
                <a:ln w="9797" cap="flat">
                  <a:solidFill>
                    <a:srgbClr val="333333"/>
                  </a:solidFill>
                  <a:prstDash val="solid"/>
                  <a:miter/>
                </a:ln>
              </p:spPr>
              <p:txBody>
                <a:bodyPr rtlCol="0" anchor="ctr"/>
                <a:lstStyle/>
                <a:p>
                  <a:endParaRPr lang="zh-CN" altLang="en-US"/>
                </a:p>
              </p:txBody>
            </p:sp>
            <p:sp>
              <p:nvSpPr>
                <p:cNvPr id="175" name="任意多边形: 形状 174"/>
                <p:cNvSpPr/>
                <p:nvPr/>
              </p:nvSpPr>
              <p:spPr>
                <a:xfrm>
                  <a:off x="7630885" y="653142"/>
                  <a:ext cx="195942" cy="195942"/>
                </a:xfrm>
                <a:custGeom>
                  <a:avLst/>
                  <a:gdLst>
                    <a:gd name="connsiteX0" fmla="*/ 760 w 195942"/>
                    <a:gd name="connsiteY0" fmla="*/ 100 h 195942"/>
                    <a:gd name="connsiteX1" fmla="*/ 196703 w 195942"/>
                    <a:gd name="connsiteY1" fmla="*/ 100 h 195942"/>
                    <a:gd name="connsiteX2" fmla="*/ 196703 w 195942"/>
                    <a:gd name="connsiteY2" fmla="*/ 196043 h 195942"/>
                    <a:gd name="connsiteX3" fmla="*/ 76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00"/>
                      </a:moveTo>
                      <a:lnTo>
                        <a:pt x="196703" y="100"/>
                      </a:lnTo>
                      <a:lnTo>
                        <a:pt x="196703" y="196043"/>
                      </a:lnTo>
                      <a:lnTo>
                        <a:pt x="760" y="196043"/>
                      </a:lnTo>
                      <a:close/>
                    </a:path>
                  </a:pathLst>
                </a:custGeom>
                <a:grpFill/>
                <a:ln w="9797" cap="flat">
                  <a:solidFill>
                    <a:srgbClr val="333333"/>
                  </a:solidFill>
                  <a:prstDash val="solid"/>
                  <a:miter/>
                </a:ln>
              </p:spPr>
              <p:txBody>
                <a:bodyPr rtlCol="0" anchor="ctr"/>
                <a:lstStyle/>
                <a:p>
                  <a:endParaRPr lang="zh-CN" altLang="en-US"/>
                </a:p>
              </p:txBody>
            </p:sp>
            <p:sp>
              <p:nvSpPr>
                <p:cNvPr id="176" name="任意多边形: 形状 175"/>
                <p:cNvSpPr/>
                <p:nvPr/>
              </p:nvSpPr>
              <p:spPr>
                <a:xfrm>
                  <a:off x="7826828" y="653142"/>
                  <a:ext cx="195942" cy="195942"/>
                </a:xfrm>
                <a:custGeom>
                  <a:avLst/>
                  <a:gdLst>
                    <a:gd name="connsiteX0" fmla="*/ 790 w 195942"/>
                    <a:gd name="connsiteY0" fmla="*/ 100 h 195942"/>
                    <a:gd name="connsiteX1" fmla="*/ 196733 w 195942"/>
                    <a:gd name="connsiteY1" fmla="*/ 100 h 195942"/>
                    <a:gd name="connsiteX2" fmla="*/ 196733 w 195942"/>
                    <a:gd name="connsiteY2" fmla="*/ 196043 h 195942"/>
                    <a:gd name="connsiteX3" fmla="*/ 79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00"/>
                      </a:moveTo>
                      <a:lnTo>
                        <a:pt x="196733" y="100"/>
                      </a:lnTo>
                      <a:lnTo>
                        <a:pt x="196733" y="196043"/>
                      </a:lnTo>
                      <a:lnTo>
                        <a:pt x="790" y="196043"/>
                      </a:lnTo>
                      <a:close/>
                    </a:path>
                  </a:pathLst>
                </a:custGeom>
                <a:grpFill/>
                <a:ln w="9797" cap="flat">
                  <a:solidFill>
                    <a:srgbClr val="333333"/>
                  </a:solidFill>
                  <a:prstDash val="solid"/>
                  <a:miter/>
                </a:ln>
              </p:spPr>
              <p:txBody>
                <a:bodyPr rtlCol="0" anchor="ctr"/>
                <a:lstStyle/>
                <a:p>
                  <a:endParaRPr lang="zh-CN" altLang="en-US"/>
                </a:p>
              </p:txBody>
            </p:sp>
          </p:grpSp>
          <p:grpSp>
            <p:nvGrpSpPr>
              <p:cNvPr id="156" name="图形 5"/>
              <p:cNvGrpSpPr/>
              <p:nvPr/>
            </p:nvGrpSpPr>
            <p:grpSpPr>
              <a:xfrm>
                <a:off x="7239000" y="849085"/>
                <a:ext cx="783771" cy="195942"/>
                <a:chOff x="7239000" y="849085"/>
                <a:chExt cx="783771" cy="195942"/>
              </a:xfrm>
              <a:grpFill/>
            </p:grpSpPr>
            <p:sp>
              <p:nvSpPr>
                <p:cNvPr id="169" name="任意多边形: 形状 168"/>
                <p:cNvSpPr/>
                <p:nvPr/>
              </p:nvSpPr>
              <p:spPr>
                <a:xfrm>
                  <a:off x="7239000" y="849085"/>
                  <a:ext cx="195942" cy="195942"/>
                </a:xfrm>
                <a:custGeom>
                  <a:avLst/>
                  <a:gdLst>
                    <a:gd name="connsiteX0" fmla="*/ 700 w 195942"/>
                    <a:gd name="connsiteY0" fmla="*/ 130 h 195942"/>
                    <a:gd name="connsiteX1" fmla="*/ 196643 w 195942"/>
                    <a:gd name="connsiteY1" fmla="*/ 130 h 195942"/>
                    <a:gd name="connsiteX2" fmla="*/ 196643 w 195942"/>
                    <a:gd name="connsiteY2" fmla="*/ 196073 h 195942"/>
                    <a:gd name="connsiteX3" fmla="*/ 7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30"/>
                      </a:moveTo>
                      <a:lnTo>
                        <a:pt x="196643" y="130"/>
                      </a:lnTo>
                      <a:lnTo>
                        <a:pt x="196643" y="196073"/>
                      </a:lnTo>
                      <a:lnTo>
                        <a:pt x="700" y="196073"/>
                      </a:lnTo>
                      <a:close/>
                    </a:path>
                  </a:pathLst>
                </a:custGeom>
                <a:grpFill/>
                <a:ln w="9797" cap="flat">
                  <a:solidFill>
                    <a:srgbClr val="333333"/>
                  </a:solidFill>
                  <a:prstDash val="solid"/>
                  <a:miter/>
                </a:ln>
              </p:spPr>
              <p:txBody>
                <a:bodyPr rtlCol="0" anchor="ctr"/>
                <a:lstStyle/>
                <a:p>
                  <a:endParaRPr lang="zh-CN" altLang="en-US"/>
                </a:p>
              </p:txBody>
            </p:sp>
            <p:sp>
              <p:nvSpPr>
                <p:cNvPr id="170" name="任意多边形: 形状 169"/>
                <p:cNvSpPr/>
                <p:nvPr/>
              </p:nvSpPr>
              <p:spPr>
                <a:xfrm>
                  <a:off x="7434942" y="849085"/>
                  <a:ext cx="195942" cy="195942"/>
                </a:xfrm>
                <a:custGeom>
                  <a:avLst/>
                  <a:gdLst>
                    <a:gd name="connsiteX0" fmla="*/ 730 w 195942"/>
                    <a:gd name="connsiteY0" fmla="*/ 130 h 195942"/>
                    <a:gd name="connsiteX1" fmla="*/ 196673 w 195942"/>
                    <a:gd name="connsiteY1" fmla="*/ 130 h 195942"/>
                    <a:gd name="connsiteX2" fmla="*/ 196673 w 195942"/>
                    <a:gd name="connsiteY2" fmla="*/ 196073 h 195942"/>
                    <a:gd name="connsiteX3" fmla="*/ 7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30"/>
                      </a:moveTo>
                      <a:lnTo>
                        <a:pt x="196673" y="130"/>
                      </a:lnTo>
                      <a:lnTo>
                        <a:pt x="196673" y="196073"/>
                      </a:lnTo>
                      <a:lnTo>
                        <a:pt x="730" y="196073"/>
                      </a:lnTo>
                      <a:close/>
                    </a:path>
                  </a:pathLst>
                </a:custGeom>
                <a:grpFill/>
                <a:ln w="9797" cap="flat">
                  <a:solidFill>
                    <a:srgbClr val="333333"/>
                  </a:solidFill>
                  <a:prstDash val="solid"/>
                  <a:miter/>
                </a:ln>
              </p:spPr>
              <p:txBody>
                <a:bodyPr rtlCol="0" anchor="ctr"/>
                <a:lstStyle/>
                <a:p>
                  <a:endParaRPr lang="zh-CN" altLang="en-US"/>
                </a:p>
              </p:txBody>
            </p:sp>
            <p:sp>
              <p:nvSpPr>
                <p:cNvPr id="171" name="任意多边形: 形状 170"/>
                <p:cNvSpPr/>
                <p:nvPr/>
              </p:nvSpPr>
              <p:spPr>
                <a:xfrm>
                  <a:off x="7630885" y="849085"/>
                  <a:ext cx="195942" cy="195942"/>
                </a:xfrm>
                <a:custGeom>
                  <a:avLst/>
                  <a:gdLst>
                    <a:gd name="connsiteX0" fmla="*/ 760 w 195942"/>
                    <a:gd name="connsiteY0" fmla="*/ 130 h 195942"/>
                    <a:gd name="connsiteX1" fmla="*/ 196703 w 195942"/>
                    <a:gd name="connsiteY1" fmla="*/ 130 h 195942"/>
                    <a:gd name="connsiteX2" fmla="*/ 196703 w 195942"/>
                    <a:gd name="connsiteY2" fmla="*/ 196073 h 195942"/>
                    <a:gd name="connsiteX3" fmla="*/ 76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30"/>
                      </a:moveTo>
                      <a:lnTo>
                        <a:pt x="196703" y="130"/>
                      </a:lnTo>
                      <a:lnTo>
                        <a:pt x="196703" y="196073"/>
                      </a:lnTo>
                      <a:lnTo>
                        <a:pt x="760" y="196073"/>
                      </a:lnTo>
                      <a:close/>
                    </a:path>
                  </a:pathLst>
                </a:custGeom>
                <a:grpFill/>
                <a:ln w="9797" cap="flat">
                  <a:solidFill>
                    <a:srgbClr val="333333"/>
                  </a:solidFill>
                  <a:prstDash val="solid"/>
                  <a:miter/>
                </a:ln>
              </p:spPr>
              <p:txBody>
                <a:bodyPr rtlCol="0" anchor="ctr"/>
                <a:lstStyle/>
                <a:p>
                  <a:endParaRPr lang="zh-CN" altLang="en-US"/>
                </a:p>
              </p:txBody>
            </p:sp>
            <p:sp>
              <p:nvSpPr>
                <p:cNvPr id="172" name="任意多边形: 形状 171"/>
                <p:cNvSpPr/>
                <p:nvPr/>
              </p:nvSpPr>
              <p:spPr>
                <a:xfrm>
                  <a:off x="7826828" y="849085"/>
                  <a:ext cx="195942" cy="195942"/>
                </a:xfrm>
                <a:custGeom>
                  <a:avLst/>
                  <a:gdLst>
                    <a:gd name="connsiteX0" fmla="*/ 790 w 195942"/>
                    <a:gd name="connsiteY0" fmla="*/ 130 h 195942"/>
                    <a:gd name="connsiteX1" fmla="*/ 196733 w 195942"/>
                    <a:gd name="connsiteY1" fmla="*/ 130 h 195942"/>
                    <a:gd name="connsiteX2" fmla="*/ 196733 w 195942"/>
                    <a:gd name="connsiteY2" fmla="*/ 196073 h 195942"/>
                    <a:gd name="connsiteX3" fmla="*/ 79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30"/>
                      </a:moveTo>
                      <a:lnTo>
                        <a:pt x="196733" y="130"/>
                      </a:lnTo>
                      <a:lnTo>
                        <a:pt x="196733" y="196073"/>
                      </a:lnTo>
                      <a:lnTo>
                        <a:pt x="790" y="196073"/>
                      </a:lnTo>
                      <a:close/>
                    </a:path>
                  </a:pathLst>
                </a:custGeom>
                <a:grpFill/>
                <a:ln w="9797" cap="flat">
                  <a:solidFill>
                    <a:srgbClr val="333333"/>
                  </a:solidFill>
                  <a:prstDash val="solid"/>
                  <a:miter/>
                </a:ln>
              </p:spPr>
              <p:txBody>
                <a:bodyPr rtlCol="0" anchor="ctr"/>
                <a:lstStyle/>
                <a:p>
                  <a:endParaRPr lang="zh-CN" altLang="en-US"/>
                </a:p>
              </p:txBody>
            </p:sp>
          </p:grpSp>
          <p:grpSp>
            <p:nvGrpSpPr>
              <p:cNvPr id="157" name="图形 5"/>
              <p:cNvGrpSpPr/>
              <p:nvPr/>
            </p:nvGrpSpPr>
            <p:grpSpPr>
              <a:xfrm>
                <a:off x="7239000" y="1045028"/>
                <a:ext cx="783770" cy="195942"/>
                <a:chOff x="7239000" y="1045028"/>
                <a:chExt cx="783770" cy="195942"/>
              </a:xfrm>
              <a:grpFill/>
            </p:grpSpPr>
            <p:sp>
              <p:nvSpPr>
                <p:cNvPr id="165" name="任意多边形: 形状 164"/>
                <p:cNvSpPr/>
                <p:nvPr/>
              </p:nvSpPr>
              <p:spPr>
                <a:xfrm>
                  <a:off x="7239000" y="1045028"/>
                  <a:ext cx="195942" cy="195942"/>
                </a:xfrm>
                <a:custGeom>
                  <a:avLst/>
                  <a:gdLst>
                    <a:gd name="connsiteX0" fmla="*/ 700 w 195942"/>
                    <a:gd name="connsiteY0" fmla="*/ 160 h 195942"/>
                    <a:gd name="connsiteX1" fmla="*/ 196643 w 195942"/>
                    <a:gd name="connsiteY1" fmla="*/ 160 h 195942"/>
                    <a:gd name="connsiteX2" fmla="*/ 196643 w 195942"/>
                    <a:gd name="connsiteY2" fmla="*/ 196103 h 195942"/>
                    <a:gd name="connsiteX3" fmla="*/ 7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60"/>
                      </a:moveTo>
                      <a:lnTo>
                        <a:pt x="196643" y="160"/>
                      </a:lnTo>
                      <a:lnTo>
                        <a:pt x="196643" y="196103"/>
                      </a:lnTo>
                      <a:lnTo>
                        <a:pt x="700" y="196103"/>
                      </a:lnTo>
                      <a:close/>
                    </a:path>
                  </a:pathLst>
                </a:custGeom>
                <a:grpFill/>
                <a:ln w="9797" cap="flat">
                  <a:solidFill>
                    <a:srgbClr val="333333"/>
                  </a:solidFill>
                  <a:prstDash val="solid"/>
                  <a:miter/>
                </a:ln>
              </p:spPr>
              <p:txBody>
                <a:bodyPr rtlCol="0" anchor="ctr"/>
                <a:lstStyle/>
                <a:p>
                  <a:endParaRPr lang="zh-CN" altLang="en-US"/>
                </a:p>
              </p:txBody>
            </p:sp>
            <p:sp>
              <p:nvSpPr>
                <p:cNvPr id="166" name="任意多边形: 形状 165"/>
                <p:cNvSpPr/>
                <p:nvPr/>
              </p:nvSpPr>
              <p:spPr>
                <a:xfrm>
                  <a:off x="7434942" y="1045028"/>
                  <a:ext cx="195942" cy="195942"/>
                </a:xfrm>
                <a:custGeom>
                  <a:avLst/>
                  <a:gdLst>
                    <a:gd name="connsiteX0" fmla="*/ 730 w 195942"/>
                    <a:gd name="connsiteY0" fmla="*/ 160 h 195942"/>
                    <a:gd name="connsiteX1" fmla="*/ 196673 w 195942"/>
                    <a:gd name="connsiteY1" fmla="*/ 160 h 195942"/>
                    <a:gd name="connsiteX2" fmla="*/ 196673 w 195942"/>
                    <a:gd name="connsiteY2" fmla="*/ 196103 h 195942"/>
                    <a:gd name="connsiteX3" fmla="*/ 7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60"/>
                      </a:moveTo>
                      <a:lnTo>
                        <a:pt x="196673" y="160"/>
                      </a:lnTo>
                      <a:lnTo>
                        <a:pt x="196673" y="196103"/>
                      </a:lnTo>
                      <a:lnTo>
                        <a:pt x="730" y="196103"/>
                      </a:lnTo>
                      <a:close/>
                    </a:path>
                  </a:pathLst>
                </a:custGeom>
                <a:grpFill/>
                <a:ln w="9797" cap="flat">
                  <a:solidFill>
                    <a:srgbClr val="333333"/>
                  </a:solidFill>
                  <a:prstDash val="solid"/>
                  <a:miter/>
                </a:ln>
              </p:spPr>
              <p:txBody>
                <a:bodyPr rtlCol="0" anchor="ctr"/>
                <a:lstStyle/>
                <a:p>
                  <a:endParaRPr lang="zh-CN" altLang="en-US"/>
                </a:p>
              </p:txBody>
            </p:sp>
            <p:sp>
              <p:nvSpPr>
                <p:cNvPr id="167" name="任意多边形: 形状 166"/>
                <p:cNvSpPr/>
                <p:nvPr/>
              </p:nvSpPr>
              <p:spPr>
                <a:xfrm>
                  <a:off x="7630885" y="1045028"/>
                  <a:ext cx="195942" cy="195942"/>
                </a:xfrm>
                <a:custGeom>
                  <a:avLst/>
                  <a:gdLst>
                    <a:gd name="connsiteX0" fmla="*/ 760 w 195942"/>
                    <a:gd name="connsiteY0" fmla="*/ 160 h 195942"/>
                    <a:gd name="connsiteX1" fmla="*/ 196703 w 195942"/>
                    <a:gd name="connsiteY1" fmla="*/ 160 h 195942"/>
                    <a:gd name="connsiteX2" fmla="*/ 196703 w 195942"/>
                    <a:gd name="connsiteY2" fmla="*/ 196103 h 195942"/>
                    <a:gd name="connsiteX3" fmla="*/ 76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60"/>
                      </a:moveTo>
                      <a:lnTo>
                        <a:pt x="196703" y="160"/>
                      </a:lnTo>
                      <a:lnTo>
                        <a:pt x="196703" y="196103"/>
                      </a:lnTo>
                      <a:lnTo>
                        <a:pt x="760" y="196103"/>
                      </a:lnTo>
                      <a:close/>
                    </a:path>
                  </a:pathLst>
                </a:custGeom>
                <a:grpFill/>
                <a:ln w="9797" cap="flat">
                  <a:solidFill>
                    <a:srgbClr val="333333"/>
                  </a:solidFill>
                  <a:prstDash val="solid"/>
                  <a:miter/>
                </a:ln>
              </p:spPr>
              <p:txBody>
                <a:bodyPr rtlCol="0" anchor="ctr"/>
                <a:lstStyle/>
                <a:p>
                  <a:endParaRPr lang="zh-CN" altLang="en-US"/>
                </a:p>
              </p:txBody>
            </p:sp>
            <p:sp>
              <p:nvSpPr>
                <p:cNvPr id="168" name="任意多边形: 形状 167"/>
                <p:cNvSpPr/>
                <p:nvPr/>
              </p:nvSpPr>
              <p:spPr>
                <a:xfrm>
                  <a:off x="7826828" y="1045028"/>
                  <a:ext cx="195942" cy="195942"/>
                </a:xfrm>
                <a:custGeom>
                  <a:avLst/>
                  <a:gdLst>
                    <a:gd name="connsiteX0" fmla="*/ 790 w 195942"/>
                    <a:gd name="connsiteY0" fmla="*/ 160 h 195942"/>
                    <a:gd name="connsiteX1" fmla="*/ 196733 w 195942"/>
                    <a:gd name="connsiteY1" fmla="*/ 160 h 195942"/>
                    <a:gd name="connsiteX2" fmla="*/ 196733 w 195942"/>
                    <a:gd name="connsiteY2" fmla="*/ 196103 h 195942"/>
                    <a:gd name="connsiteX3" fmla="*/ 79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60"/>
                      </a:moveTo>
                      <a:lnTo>
                        <a:pt x="196733" y="160"/>
                      </a:lnTo>
                      <a:lnTo>
                        <a:pt x="196733" y="196103"/>
                      </a:lnTo>
                      <a:lnTo>
                        <a:pt x="790" y="196103"/>
                      </a:lnTo>
                      <a:close/>
                    </a:path>
                  </a:pathLst>
                </a:custGeom>
                <a:grpFill/>
                <a:ln w="9797" cap="flat">
                  <a:solidFill>
                    <a:srgbClr val="333333"/>
                  </a:solidFill>
                  <a:prstDash val="solid"/>
                  <a:miter/>
                </a:ln>
              </p:spPr>
              <p:txBody>
                <a:bodyPr rtlCol="0" anchor="ctr"/>
                <a:lstStyle/>
                <a:p>
                  <a:endParaRPr lang="zh-CN" altLang="en-US"/>
                </a:p>
              </p:txBody>
            </p:sp>
          </p:grpSp>
          <p:grpSp>
            <p:nvGrpSpPr>
              <p:cNvPr id="158" name="图形 5"/>
              <p:cNvGrpSpPr/>
              <p:nvPr/>
            </p:nvGrpSpPr>
            <p:grpSpPr>
              <a:xfrm>
                <a:off x="7239000" y="1240971"/>
                <a:ext cx="783771" cy="195942"/>
                <a:chOff x="7239000" y="1240971"/>
                <a:chExt cx="783771" cy="195942"/>
              </a:xfrm>
              <a:grpFill/>
            </p:grpSpPr>
            <p:sp>
              <p:nvSpPr>
                <p:cNvPr id="161" name="任意多边形: 形状 160"/>
                <p:cNvSpPr/>
                <p:nvPr/>
              </p:nvSpPr>
              <p:spPr>
                <a:xfrm>
                  <a:off x="7239000" y="1240971"/>
                  <a:ext cx="195942" cy="195942"/>
                </a:xfrm>
                <a:custGeom>
                  <a:avLst/>
                  <a:gdLst>
                    <a:gd name="connsiteX0" fmla="*/ 700 w 195942"/>
                    <a:gd name="connsiteY0" fmla="*/ 190 h 195942"/>
                    <a:gd name="connsiteX1" fmla="*/ 196643 w 195942"/>
                    <a:gd name="connsiteY1" fmla="*/ 190 h 195942"/>
                    <a:gd name="connsiteX2" fmla="*/ 196643 w 195942"/>
                    <a:gd name="connsiteY2" fmla="*/ 196133 h 195942"/>
                    <a:gd name="connsiteX3" fmla="*/ 7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90"/>
                      </a:moveTo>
                      <a:lnTo>
                        <a:pt x="196643" y="190"/>
                      </a:lnTo>
                      <a:lnTo>
                        <a:pt x="196643" y="196133"/>
                      </a:lnTo>
                      <a:lnTo>
                        <a:pt x="700" y="196133"/>
                      </a:lnTo>
                      <a:close/>
                    </a:path>
                  </a:pathLst>
                </a:custGeom>
                <a:grpFill/>
                <a:ln w="9797" cap="flat">
                  <a:solidFill>
                    <a:srgbClr val="333333"/>
                  </a:solidFill>
                  <a:prstDash val="solid"/>
                  <a:miter/>
                </a:ln>
              </p:spPr>
              <p:txBody>
                <a:bodyPr rtlCol="0" anchor="ctr"/>
                <a:lstStyle/>
                <a:p>
                  <a:endParaRPr lang="zh-CN" altLang="en-US"/>
                </a:p>
              </p:txBody>
            </p:sp>
            <p:sp>
              <p:nvSpPr>
                <p:cNvPr id="162" name="任意多边形: 形状 161"/>
                <p:cNvSpPr/>
                <p:nvPr/>
              </p:nvSpPr>
              <p:spPr>
                <a:xfrm>
                  <a:off x="7434942" y="1240971"/>
                  <a:ext cx="195942" cy="195942"/>
                </a:xfrm>
                <a:custGeom>
                  <a:avLst/>
                  <a:gdLst>
                    <a:gd name="connsiteX0" fmla="*/ 730 w 195942"/>
                    <a:gd name="connsiteY0" fmla="*/ 190 h 195942"/>
                    <a:gd name="connsiteX1" fmla="*/ 196673 w 195942"/>
                    <a:gd name="connsiteY1" fmla="*/ 190 h 195942"/>
                    <a:gd name="connsiteX2" fmla="*/ 196673 w 195942"/>
                    <a:gd name="connsiteY2" fmla="*/ 196133 h 195942"/>
                    <a:gd name="connsiteX3" fmla="*/ 7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90"/>
                      </a:moveTo>
                      <a:lnTo>
                        <a:pt x="196673" y="190"/>
                      </a:lnTo>
                      <a:lnTo>
                        <a:pt x="196673" y="196133"/>
                      </a:lnTo>
                      <a:lnTo>
                        <a:pt x="730" y="196133"/>
                      </a:lnTo>
                      <a:close/>
                    </a:path>
                  </a:pathLst>
                </a:custGeom>
                <a:grpFill/>
                <a:ln w="9797" cap="flat">
                  <a:solidFill>
                    <a:srgbClr val="333333"/>
                  </a:solidFill>
                  <a:prstDash val="solid"/>
                  <a:miter/>
                </a:ln>
              </p:spPr>
              <p:txBody>
                <a:bodyPr rtlCol="0" anchor="ctr"/>
                <a:lstStyle/>
                <a:p>
                  <a:endParaRPr lang="zh-CN" altLang="en-US"/>
                </a:p>
              </p:txBody>
            </p:sp>
            <p:sp>
              <p:nvSpPr>
                <p:cNvPr id="163" name="任意多边形: 形状 162"/>
                <p:cNvSpPr/>
                <p:nvPr/>
              </p:nvSpPr>
              <p:spPr>
                <a:xfrm>
                  <a:off x="7630885" y="1240971"/>
                  <a:ext cx="195942" cy="195942"/>
                </a:xfrm>
                <a:custGeom>
                  <a:avLst/>
                  <a:gdLst>
                    <a:gd name="connsiteX0" fmla="*/ 760 w 195942"/>
                    <a:gd name="connsiteY0" fmla="*/ 190 h 195942"/>
                    <a:gd name="connsiteX1" fmla="*/ 196703 w 195942"/>
                    <a:gd name="connsiteY1" fmla="*/ 190 h 195942"/>
                    <a:gd name="connsiteX2" fmla="*/ 196703 w 195942"/>
                    <a:gd name="connsiteY2" fmla="*/ 196133 h 195942"/>
                    <a:gd name="connsiteX3" fmla="*/ 76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90"/>
                      </a:moveTo>
                      <a:lnTo>
                        <a:pt x="196703" y="190"/>
                      </a:lnTo>
                      <a:lnTo>
                        <a:pt x="196703" y="196133"/>
                      </a:lnTo>
                      <a:lnTo>
                        <a:pt x="760" y="196133"/>
                      </a:lnTo>
                      <a:close/>
                    </a:path>
                  </a:pathLst>
                </a:custGeom>
                <a:grpFill/>
                <a:ln w="9797" cap="flat">
                  <a:solidFill>
                    <a:srgbClr val="333333"/>
                  </a:solidFill>
                  <a:prstDash val="solid"/>
                  <a:miter/>
                </a:ln>
              </p:spPr>
              <p:txBody>
                <a:bodyPr rtlCol="0" anchor="ctr"/>
                <a:lstStyle/>
                <a:p>
                  <a:endParaRPr lang="zh-CN" altLang="en-US"/>
                </a:p>
              </p:txBody>
            </p:sp>
            <p:sp>
              <p:nvSpPr>
                <p:cNvPr id="164" name="任意多边形: 形状 163"/>
                <p:cNvSpPr/>
                <p:nvPr/>
              </p:nvSpPr>
              <p:spPr>
                <a:xfrm>
                  <a:off x="7826828" y="1240971"/>
                  <a:ext cx="195942" cy="195942"/>
                </a:xfrm>
                <a:custGeom>
                  <a:avLst/>
                  <a:gdLst>
                    <a:gd name="connsiteX0" fmla="*/ 790 w 195942"/>
                    <a:gd name="connsiteY0" fmla="*/ 190 h 195942"/>
                    <a:gd name="connsiteX1" fmla="*/ 196733 w 195942"/>
                    <a:gd name="connsiteY1" fmla="*/ 190 h 195942"/>
                    <a:gd name="connsiteX2" fmla="*/ 196733 w 195942"/>
                    <a:gd name="connsiteY2" fmla="*/ 196133 h 195942"/>
                    <a:gd name="connsiteX3" fmla="*/ 79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90"/>
                      </a:moveTo>
                      <a:lnTo>
                        <a:pt x="196733" y="190"/>
                      </a:lnTo>
                      <a:lnTo>
                        <a:pt x="196733" y="196133"/>
                      </a:lnTo>
                      <a:lnTo>
                        <a:pt x="790" y="196133"/>
                      </a:lnTo>
                      <a:close/>
                    </a:path>
                  </a:pathLst>
                </a:custGeom>
                <a:grpFill/>
                <a:ln w="9797" cap="flat">
                  <a:solidFill>
                    <a:srgbClr val="333333"/>
                  </a:solidFill>
                  <a:prstDash val="solid"/>
                  <a:miter/>
                </a:ln>
              </p:spPr>
              <p:txBody>
                <a:bodyPr rtlCol="0" anchor="ctr"/>
                <a:lstStyle/>
                <a:p>
                  <a:endParaRPr lang="zh-CN" altLang="en-US"/>
                </a:p>
              </p:txBody>
            </p:sp>
          </p:grpSp>
        </p:grpSp>
        <p:grpSp>
          <p:nvGrpSpPr>
            <p:cNvPr id="181" name="图形 5"/>
            <p:cNvGrpSpPr/>
            <p:nvPr/>
          </p:nvGrpSpPr>
          <p:grpSpPr>
            <a:xfrm>
              <a:off x="6677496" y="1958927"/>
              <a:ext cx="783771" cy="979713"/>
              <a:chOff x="7239000" y="457200"/>
              <a:chExt cx="783771" cy="979713"/>
            </a:xfrm>
            <a:solidFill>
              <a:schemeClr val="accent2"/>
            </a:solidFill>
          </p:grpSpPr>
          <p:grpSp>
            <p:nvGrpSpPr>
              <p:cNvPr id="182" name="图形 5"/>
              <p:cNvGrpSpPr/>
              <p:nvPr/>
            </p:nvGrpSpPr>
            <p:grpSpPr>
              <a:xfrm>
                <a:off x="7239000" y="457200"/>
                <a:ext cx="783770" cy="195942"/>
                <a:chOff x="7239000" y="457200"/>
                <a:chExt cx="783770" cy="195942"/>
              </a:xfrm>
              <a:grpFill/>
            </p:grpSpPr>
            <p:sp>
              <p:nvSpPr>
                <p:cNvPr id="203" name="任意多边形: 形状 202"/>
                <p:cNvSpPr/>
                <p:nvPr/>
              </p:nvSpPr>
              <p:spPr>
                <a:xfrm>
                  <a:off x="7239000" y="457200"/>
                  <a:ext cx="195942" cy="195942"/>
                </a:xfrm>
                <a:custGeom>
                  <a:avLst/>
                  <a:gdLst>
                    <a:gd name="connsiteX0" fmla="*/ 700 w 195942"/>
                    <a:gd name="connsiteY0" fmla="*/ 70 h 195942"/>
                    <a:gd name="connsiteX1" fmla="*/ 196643 w 195942"/>
                    <a:gd name="connsiteY1" fmla="*/ 70 h 195942"/>
                    <a:gd name="connsiteX2" fmla="*/ 196643 w 195942"/>
                    <a:gd name="connsiteY2" fmla="*/ 196013 h 195942"/>
                    <a:gd name="connsiteX3" fmla="*/ 7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0"/>
                      </a:moveTo>
                      <a:lnTo>
                        <a:pt x="196643" y="70"/>
                      </a:lnTo>
                      <a:lnTo>
                        <a:pt x="196643" y="196013"/>
                      </a:lnTo>
                      <a:lnTo>
                        <a:pt x="70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4" name="任意多边形: 形状 203"/>
                <p:cNvSpPr/>
                <p:nvPr/>
              </p:nvSpPr>
              <p:spPr>
                <a:xfrm>
                  <a:off x="7434942" y="457200"/>
                  <a:ext cx="195942" cy="195942"/>
                </a:xfrm>
                <a:custGeom>
                  <a:avLst/>
                  <a:gdLst>
                    <a:gd name="connsiteX0" fmla="*/ 730 w 195942"/>
                    <a:gd name="connsiteY0" fmla="*/ 70 h 195942"/>
                    <a:gd name="connsiteX1" fmla="*/ 196673 w 195942"/>
                    <a:gd name="connsiteY1" fmla="*/ 70 h 195942"/>
                    <a:gd name="connsiteX2" fmla="*/ 196673 w 195942"/>
                    <a:gd name="connsiteY2" fmla="*/ 196013 h 195942"/>
                    <a:gd name="connsiteX3" fmla="*/ 7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0"/>
                      </a:moveTo>
                      <a:lnTo>
                        <a:pt x="196673" y="70"/>
                      </a:lnTo>
                      <a:lnTo>
                        <a:pt x="196673" y="196013"/>
                      </a:lnTo>
                      <a:lnTo>
                        <a:pt x="73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5" name="任意多边形: 形状 204"/>
                <p:cNvSpPr/>
                <p:nvPr/>
              </p:nvSpPr>
              <p:spPr>
                <a:xfrm>
                  <a:off x="7630885" y="457200"/>
                  <a:ext cx="195942" cy="195942"/>
                </a:xfrm>
                <a:custGeom>
                  <a:avLst/>
                  <a:gdLst>
                    <a:gd name="connsiteX0" fmla="*/ 760 w 195942"/>
                    <a:gd name="connsiteY0" fmla="*/ 70 h 195942"/>
                    <a:gd name="connsiteX1" fmla="*/ 196703 w 195942"/>
                    <a:gd name="connsiteY1" fmla="*/ 70 h 195942"/>
                    <a:gd name="connsiteX2" fmla="*/ 196703 w 195942"/>
                    <a:gd name="connsiteY2" fmla="*/ 196013 h 195942"/>
                    <a:gd name="connsiteX3" fmla="*/ 76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0"/>
                      </a:moveTo>
                      <a:lnTo>
                        <a:pt x="196703" y="70"/>
                      </a:lnTo>
                      <a:lnTo>
                        <a:pt x="196703" y="196013"/>
                      </a:lnTo>
                      <a:lnTo>
                        <a:pt x="76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6" name="任意多边形: 形状 205"/>
                <p:cNvSpPr/>
                <p:nvPr/>
              </p:nvSpPr>
              <p:spPr>
                <a:xfrm>
                  <a:off x="7826828" y="457200"/>
                  <a:ext cx="195942" cy="195942"/>
                </a:xfrm>
                <a:custGeom>
                  <a:avLst/>
                  <a:gdLst>
                    <a:gd name="connsiteX0" fmla="*/ 790 w 195942"/>
                    <a:gd name="connsiteY0" fmla="*/ 70 h 195942"/>
                    <a:gd name="connsiteX1" fmla="*/ 196733 w 195942"/>
                    <a:gd name="connsiteY1" fmla="*/ 70 h 195942"/>
                    <a:gd name="connsiteX2" fmla="*/ 196733 w 195942"/>
                    <a:gd name="connsiteY2" fmla="*/ 196013 h 195942"/>
                    <a:gd name="connsiteX3" fmla="*/ 79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0"/>
                      </a:moveTo>
                      <a:lnTo>
                        <a:pt x="196733" y="70"/>
                      </a:lnTo>
                      <a:lnTo>
                        <a:pt x="196733" y="196013"/>
                      </a:lnTo>
                      <a:lnTo>
                        <a:pt x="79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83" name="图形 5"/>
              <p:cNvGrpSpPr/>
              <p:nvPr/>
            </p:nvGrpSpPr>
            <p:grpSpPr>
              <a:xfrm>
                <a:off x="7239000" y="653142"/>
                <a:ext cx="783771" cy="195942"/>
                <a:chOff x="7239000" y="653142"/>
                <a:chExt cx="783771" cy="195942"/>
              </a:xfrm>
              <a:grpFill/>
            </p:grpSpPr>
            <p:sp>
              <p:nvSpPr>
                <p:cNvPr id="199" name="任意多边形: 形状 198"/>
                <p:cNvSpPr/>
                <p:nvPr/>
              </p:nvSpPr>
              <p:spPr>
                <a:xfrm>
                  <a:off x="7239000" y="653142"/>
                  <a:ext cx="195942" cy="195942"/>
                </a:xfrm>
                <a:custGeom>
                  <a:avLst/>
                  <a:gdLst>
                    <a:gd name="connsiteX0" fmla="*/ 700 w 195942"/>
                    <a:gd name="connsiteY0" fmla="*/ 100 h 195942"/>
                    <a:gd name="connsiteX1" fmla="*/ 196643 w 195942"/>
                    <a:gd name="connsiteY1" fmla="*/ 100 h 195942"/>
                    <a:gd name="connsiteX2" fmla="*/ 196643 w 195942"/>
                    <a:gd name="connsiteY2" fmla="*/ 196043 h 195942"/>
                    <a:gd name="connsiteX3" fmla="*/ 7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00"/>
                      </a:moveTo>
                      <a:lnTo>
                        <a:pt x="196643" y="100"/>
                      </a:lnTo>
                      <a:lnTo>
                        <a:pt x="196643" y="196043"/>
                      </a:lnTo>
                      <a:lnTo>
                        <a:pt x="70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0" name="任意多边形: 形状 199"/>
                <p:cNvSpPr/>
                <p:nvPr/>
              </p:nvSpPr>
              <p:spPr>
                <a:xfrm>
                  <a:off x="7434942" y="653142"/>
                  <a:ext cx="195942" cy="195942"/>
                </a:xfrm>
                <a:custGeom>
                  <a:avLst/>
                  <a:gdLst>
                    <a:gd name="connsiteX0" fmla="*/ 730 w 195942"/>
                    <a:gd name="connsiteY0" fmla="*/ 100 h 195942"/>
                    <a:gd name="connsiteX1" fmla="*/ 196673 w 195942"/>
                    <a:gd name="connsiteY1" fmla="*/ 100 h 195942"/>
                    <a:gd name="connsiteX2" fmla="*/ 196673 w 195942"/>
                    <a:gd name="connsiteY2" fmla="*/ 196043 h 195942"/>
                    <a:gd name="connsiteX3" fmla="*/ 7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00"/>
                      </a:moveTo>
                      <a:lnTo>
                        <a:pt x="196673" y="100"/>
                      </a:lnTo>
                      <a:lnTo>
                        <a:pt x="196673" y="196043"/>
                      </a:lnTo>
                      <a:lnTo>
                        <a:pt x="73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1" name="任意多边形: 形状 200"/>
                <p:cNvSpPr/>
                <p:nvPr/>
              </p:nvSpPr>
              <p:spPr>
                <a:xfrm>
                  <a:off x="7630885" y="653142"/>
                  <a:ext cx="195942" cy="195942"/>
                </a:xfrm>
                <a:custGeom>
                  <a:avLst/>
                  <a:gdLst>
                    <a:gd name="connsiteX0" fmla="*/ 760 w 195942"/>
                    <a:gd name="connsiteY0" fmla="*/ 100 h 195942"/>
                    <a:gd name="connsiteX1" fmla="*/ 196703 w 195942"/>
                    <a:gd name="connsiteY1" fmla="*/ 100 h 195942"/>
                    <a:gd name="connsiteX2" fmla="*/ 196703 w 195942"/>
                    <a:gd name="connsiteY2" fmla="*/ 196043 h 195942"/>
                    <a:gd name="connsiteX3" fmla="*/ 76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00"/>
                      </a:moveTo>
                      <a:lnTo>
                        <a:pt x="196703" y="100"/>
                      </a:lnTo>
                      <a:lnTo>
                        <a:pt x="196703" y="196043"/>
                      </a:lnTo>
                      <a:lnTo>
                        <a:pt x="76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02" name="任意多边形: 形状 201"/>
                <p:cNvSpPr/>
                <p:nvPr/>
              </p:nvSpPr>
              <p:spPr>
                <a:xfrm>
                  <a:off x="7826828" y="653142"/>
                  <a:ext cx="195942" cy="195942"/>
                </a:xfrm>
                <a:custGeom>
                  <a:avLst/>
                  <a:gdLst>
                    <a:gd name="connsiteX0" fmla="*/ 790 w 195942"/>
                    <a:gd name="connsiteY0" fmla="*/ 100 h 195942"/>
                    <a:gd name="connsiteX1" fmla="*/ 196733 w 195942"/>
                    <a:gd name="connsiteY1" fmla="*/ 100 h 195942"/>
                    <a:gd name="connsiteX2" fmla="*/ 196733 w 195942"/>
                    <a:gd name="connsiteY2" fmla="*/ 196043 h 195942"/>
                    <a:gd name="connsiteX3" fmla="*/ 79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00"/>
                      </a:moveTo>
                      <a:lnTo>
                        <a:pt x="196733" y="100"/>
                      </a:lnTo>
                      <a:lnTo>
                        <a:pt x="196733" y="196043"/>
                      </a:lnTo>
                      <a:lnTo>
                        <a:pt x="79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84" name="图形 5"/>
              <p:cNvGrpSpPr/>
              <p:nvPr/>
            </p:nvGrpSpPr>
            <p:grpSpPr>
              <a:xfrm>
                <a:off x="7239000" y="849085"/>
                <a:ext cx="783771" cy="195942"/>
                <a:chOff x="7239000" y="849085"/>
                <a:chExt cx="783771" cy="195942"/>
              </a:xfrm>
              <a:grpFill/>
            </p:grpSpPr>
            <p:sp>
              <p:nvSpPr>
                <p:cNvPr id="195" name="任意多边形: 形状 194"/>
                <p:cNvSpPr/>
                <p:nvPr/>
              </p:nvSpPr>
              <p:spPr>
                <a:xfrm>
                  <a:off x="7239000" y="849085"/>
                  <a:ext cx="195942" cy="195942"/>
                </a:xfrm>
                <a:custGeom>
                  <a:avLst/>
                  <a:gdLst>
                    <a:gd name="connsiteX0" fmla="*/ 700 w 195942"/>
                    <a:gd name="connsiteY0" fmla="*/ 130 h 195942"/>
                    <a:gd name="connsiteX1" fmla="*/ 196643 w 195942"/>
                    <a:gd name="connsiteY1" fmla="*/ 130 h 195942"/>
                    <a:gd name="connsiteX2" fmla="*/ 196643 w 195942"/>
                    <a:gd name="connsiteY2" fmla="*/ 196073 h 195942"/>
                    <a:gd name="connsiteX3" fmla="*/ 7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30"/>
                      </a:moveTo>
                      <a:lnTo>
                        <a:pt x="196643" y="130"/>
                      </a:lnTo>
                      <a:lnTo>
                        <a:pt x="196643" y="196073"/>
                      </a:lnTo>
                      <a:lnTo>
                        <a:pt x="70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6" name="任意多边形: 形状 195"/>
                <p:cNvSpPr/>
                <p:nvPr/>
              </p:nvSpPr>
              <p:spPr>
                <a:xfrm>
                  <a:off x="7434942" y="849085"/>
                  <a:ext cx="195942" cy="195942"/>
                </a:xfrm>
                <a:custGeom>
                  <a:avLst/>
                  <a:gdLst>
                    <a:gd name="connsiteX0" fmla="*/ 730 w 195942"/>
                    <a:gd name="connsiteY0" fmla="*/ 130 h 195942"/>
                    <a:gd name="connsiteX1" fmla="*/ 196673 w 195942"/>
                    <a:gd name="connsiteY1" fmla="*/ 130 h 195942"/>
                    <a:gd name="connsiteX2" fmla="*/ 196673 w 195942"/>
                    <a:gd name="connsiteY2" fmla="*/ 196073 h 195942"/>
                    <a:gd name="connsiteX3" fmla="*/ 7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30"/>
                      </a:moveTo>
                      <a:lnTo>
                        <a:pt x="196673" y="130"/>
                      </a:lnTo>
                      <a:lnTo>
                        <a:pt x="196673" y="196073"/>
                      </a:lnTo>
                      <a:lnTo>
                        <a:pt x="73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7" name="任意多边形: 形状 196"/>
                <p:cNvSpPr/>
                <p:nvPr/>
              </p:nvSpPr>
              <p:spPr>
                <a:xfrm>
                  <a:off x="7630885" y="849085"/>
                  <a:ext cx="195942" cy="195942"/>
                </a:xfrm>
                <a:custGeom>
                  <a:avLst/>
                  <a:gdLst>
                    <a:gd name="connsiteX0" fmla="*/ 760 w 195942"/>
                    <a:gd name="connsiteY0" fmla="*/ 130 h 195942"/>
                    <a:gd name="connsiteX1" fmla="*/ 196703 w 195942"/>
                    <a:gd name="connsiteY1" fmla="*/ 130 h 195942"/>
                    <a:gd name="connsiteX2" fmla="*/ 196703 w 195942"/>
                    <a:gd name="connsiteY2" fmla="*/ 196073 h 195942"/>
                    <a:gd name="connsiteX3" fmla="*/ 76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30"/>
                      </a:moveTo>
                      <a:lnTo>
                        <a:pt x="196703" y="130"/>
                      </a:lnTo>
                      <a:lnTo>
                        <a:pt x="196703" y="196073"/>
                      </a:lnTo>
                      <a:lnTo>
                        <a:pt x="76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8" name="任意多边形: 形状 197"/>
                <p:cNvSpPr/>
                <p:nvPr/>
              </p:nvSpPr>
              <p:spPr>
                <a:xfrm>
                  <a:off x="7826828" y="849085"/>
                  <a:ext cx="195942" cy="195942"/>
                </a:xfrm>
                <a:custGeom>
                  <a:avLst/>
                  <a:gdLst>
                    <a:gd name="connsiteX0" fmla="*/ 790 w 195942"/>
                    <a:gd name="connsiteY0" fmla="*/ 130 h 195942"/>
                    <a:gd name="connsiteX1" fmla="*/ 196733 w 195942"/>
                    <a:gd name="connsiteY1" fmla="*/ 130 h 195942"/>
                    <a:gd name="connsiteX2" fmla="*/ 196733 w 195942"/>
                    <a:gd name="connsiteY2" fmla="*/ 196073 h 195942"/>
                    <a:gd name="connsiteX3" fmla="*/ 79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30"/>
                      </a:moveTo>
                      <a:lnTo>
                        <a:pt x="196733" y="130"/>
                      </a:lnTo>
                      <a:lnTo>
                        <a:pt x="196733" y="196073"/>
                      </a:lnTo>
                      <a:lnTo>
                        <a:pt x="79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85" name="图形 5"/>
              <p:cNvGrpSpPr/>
              <p:nvPr/>
            </p:nvGrpSpPr>
            <p:grpSpPr>
              <a:xfrm>
                <a:off x="7239000" y="1045028"/>
                <a:ext cx="783770" cy="195942"/>
                <a:chOff x="7239000" y="1045028"/>
                <a:chExt cx="783770" cy="195942"/>
              </a:xfrm>
              <a:grpFill/>
            </p:grpSpPr>
            <p:sp>
              <p:nvSpPr>
                <p:cNvPr id="191" name="任意多边形: 形状 190"/>
                <p:cNvSpPr/>
                <p:nvPr/>
              </p:nvSpPr>
              <p:spPr>
                <a:xfrm>
                  <a:off x="7239000" y="1045028"/>
                  <a:ext cx="195942" cy="195942"/>
                </a:xfrm>
                <a:custGeom>
                  <a:avLst/>
                  <a:gdLst>
                    <a:gd name="connsiteX0" fmla="*/ 700 w 195942"/>
                    <a:gd name="connsiteY0" fmla="*/ 160 h 195942"/>
                    <a:gd name="connsiteX1" fmla="*/ 196643 w 195942"/>
                    <a:gd name="connsiteY1" fmla="*/ 160 h 195942"/>
                    <a:gd name="connsiteX2" fmla="*/ 196643 w 195942"/>
                    <a:gd name="connsiteY2" fmla="*/ 196103 h 195942"/>
                    <a:gd name="connsiteX3" fmla="*/ 7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60"/>
                      </a:moveTo>
                      <a:lnTo>
                        <a:pt x="196643" y="160"/>
                      </a:lnTo>
                      <a:lnTo>
                        <a:pt x="196643" y="196103"/>
                      </a:lnTo>
                      <a:lnTo>
                        <a:pt x="70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2" name="任意多边形: 形状 191"/>
                <p:cNvSpPr/>
                <p:nvPr/>
              </p:nvSpPr>
              <p:spPr>
                <a:xfrm>
                  <a:off x="7434942" y="1045028"/>
                  <a:ext cx="195942" cy="195942"/>
                </a:xfrm>
                <a:custGeom>
                  <a:avLst/>
                  <a:gdLst>
                    <a:gd name="connsiteX0" fmla="*/ 730 w 195942"/>
                    <a:gd name="connsiteY0" fmla="*/ 160 h 195942"/>
                    <a:gd name="connsiteX1" fmla="*/ 196673 w 195942"/>
                    <a:gd name="connsiteY1" fmla="*/ 160 h 195942"/>
                    <a:gd name="connsiteX2" fmla="*/ 196673 w 195942"/>
                    <a:gd name="connsiteY2" fmla="*/ 196103 h 195942"/>
                    <a:gd name="connsiteX3" fmla="*/ 7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60"/>
                      </a:moveTo>
                      <a:lnTo>
                        <a:pt x="196673" y="160"/>
                      </a:lnTo>
                      <a:lnTo>
                        <a:pt x="196673" y="196103"/>
                      </a:lnTo>
                      <a:lnTo>
                        <a:pt x="73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3" name="任意多边形: 形状 192"/>
                <p:cNvSpPr/>
                <p:nvPr/>
              </p:nvSpPr>
              <p:spPr>
                <a:xfrm>
                  <a:off x="7630885" y="1045028"/>
                  <a:ext cx="195942" cy="195942"/>
                </a:xfrm>
                <a:custGeom>
                  <a:avLst/>
                  <a:gdLst>
                    <a:gd name="connsiteX0" fmla="*/ 760 w 195942"/>
                    <a:gd name="connsiteY0" fmla="*/ 160 h 195942"/>
                    <a:gd name="connsiteX1" fmla="*/ 196703 w 195942"/>
                    <a:gd name="connsiteY1" fmla="*/ 160 h 195942"/>
                    <a:gd name="connsiteX2" fmla="*/ 196703 w 195942"/>
                    <a:gd name="connsiteY2" fmla="*/ 196103 h 195942"/>
                    <a:gd name="connsiteX3" fmla="*/ 76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60"/>
                      </a:moveTo>
                      <a:lnTo>
                        <a:pt x="196703" y="160"/>
                      </a:lnTo>
                      <a:lnTo>
                        <a:pt x="196703" y="196103"/>
                      </a:lnTo>
                      <a:lnTo>
                        <a:pt x="76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4" name="任意多边形: 形状 193"/>
                <p:cNvSpPr/>
                <p:nvPr/>
              </p:nvSpPr>
              <p:spPr>
                <a:xfrm>
                  <a:off x="7826828" y="1045028"/>
                  <a:ext cx="195942" cy="195942"/>
                </a:xfrm>
                <a:custGeom>
                  <a:avLst/>
                  <a:gdLst>
                    <a:gd name="connsiteX0" fmla="*/ 790 w 195942"/>
                    <a:gd name="connsiteY0" fmla="*/ 160 h 195942"/>
                    <a:gd name="connsiteX1" fmla="*/ 196733 w 195942"/>
                    <a:gd name="connsiteY1" fmla="*/ 160 h 195942"/>
                    <a:gd name="connsiteX2" fmla="*/ 196733 w 195942"/>
                    <a:gd name="connsiteY2" fmla="*/ 196103 h 195942"/>
                    <a:gd name="connsiteX3" fmla="*/ 79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60"/>
                      </a:moveTo>
                      <a:lnTo>
                        <a:pt x="196733" y="160"/>
                      </a:lnTo>
                      <a:lnTo>
                        <a:pt x="196733" y="196103"/>
                      </a:lnTo>
                      <a:lnTo>
                        <a:pt x="79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86" name="图形 5"/>
              <p:cNvGrpSpPr/>
              <p:nvPr/>
            </p:nvGrpSpPr>
            <p:grpSpPr>
              <a:xfrm>
                <a:off x="7239000" y="1240971"/>
                <a:ext cx="783771" cy="195942"/>
                <a:chOff x="7239000" y="1240971"/>
                <a:chExt cx="783771" cy="195942"/>
              </a:xfrm>
              <a:grpFill/>
            </p:grpSpPr>
            <p:sp>
              <p:nvSpPr>
                <p:cNvPr id="187" name="任意多边形: 形状 186"/>
                <p:cNvSpPr/>
                <p:nvPr/>
              </p:nvSpPr>
              <p:spPr>
                <a:xfrm>
                  <a:off x="7239000" y="1240971"/>
                  <a:ext cx="195942" cy="195942"/>
                </a:xfrm>
                <a:custGeom>
                  <a:avLst/>
                  <a:gdLst>
                    <a:gd name="connsiteX0" fmla="*/ 700 w 195942"/>
                    <a:gd name="connsiteY0" fmla="*/ 190 h 195942"/>
                    <a:gd name="connsiteX1" fmla="*/ 196643 w 195942"/>
                    <a:gd name="connsiteY1" fmla="*/ 190 h 195942"/>
                    <a:gd name="connsiteX2" fmla="*/ 196643 w 195942"/>
                    <a:gd name="connsiteY2" fmla="*/ 196133 h 195942"/>
                    <a:gd name="connsiteX3" fmla="*/ 7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90"/>
                      </a:moveTo>
                      <a:lnTo>
                        <a:pt x="196643" y="190"/>
                      </a:lnTo>
                      <a:lnTo>
                        <a:pt x="196643" y="196133"/>
                      </a:lnTo>
                      <a:lnTo>
                        <a:pt x="70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88" name="任意多边形: 形状 187"/>
                <p:cNvSpPr/>
                <p:nvPr/>
              </p:nvSpPr>
              <p:spPr>
                <a:xfrm>
                  <a:off x="7434942" y="1240971"/>
                  <a:ext cx="195942" cy="195942"/>
                </a:xfrm>
                <a:custGeom>
                  <a:avLst/>
                  <a:gdLst>
                    <a:gd name="connsiteX0" fmla="*/ 730 w 195942"/>
                    <a:gd name="connsiteY0" fmla="*/ 190 h 195942"/>
                    <a:gd name="connsiteX1" fmla="*/ 196673 w 195942"/>
                    <a:gd name="connsiteY1" fmla="*/ 190 h 195942"/>
                    <a:gd name="connsiteX2" fmla="*/ 196673 w 195942"/>
                    <a:gd name="connsiteY2" fmla="*/ 196133 h 195942"/>
                    <a:gd name="connsiteX3" fmla="*/ 7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90"/>
                      </a:moveTo>
                      <a:lnTo>
                        <a:pt x="196673" y="190"/>
                      </a:lnTo>
                      <a:lnTo>
                        <a:pt x="196673" y="196133"/>
                      </a:lnTo>
                      <a:lnTo>
                        <a:pt x="73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89" name="任意多边形: 形状 188"/>
                <p:cNvSpPr/>
                <p:nvPr/>
              </p:nvSpPr>
              <p:spPr>
                <a:xfrm>
                  <a:off x="7630885" y="1240971"/>
                  <a:ext cx="195942" cy="195942"/>
                </a:xfrm>
                <a:custGeom>
                  <a:avLst/>
                  <a:gdLst>
                    <a:gd name="connsiteX0" fmla="*/ 760 w 195942"/>
                    <a:gd name="connsiteY0" fmla="*/ 190 h 195942"/>
                    <a:gd name="connsiteX1" fmla="*/ 196703 w 195942"/>
                    <a:gd name="connsiteY1" fmla="*/ 190 h 195942"/>
                    <a:gd name="connsiteX2" fmla="*/ 196703 w 195942"/>
                    <a:gd name="connsiteY2" fmla="*/ 196133 h 195942"/>
                    <a:gd name="connsiteX3" fmla="*/ 76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90"/>
                      </a:moveTo>
                      <a:lnTo>
                        <a:pt x="196703" y="190"/>
                      </a:lnTo>
                      <a:lnTo>
                        <a:pt x="196703" y="196133"/>
                      </a:lnTo>
                      <a:lnTo>
                        <a:pt x="76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190" name="任意多边形: 形状 189"/>
                <p:cNvSpPr/>
                <p:nvPr/>
              </p:nvSpPr>
              <p:spPr>
                <a:xfrm>
                  <a:off x="7826828" y="1240971"/>
                  <a:ext cx="195942" cy="195942"/>
                </a:xfrm>
                <a:custGeom>
                  <a:avLst/>
                  <a:gdLst>
                    <a:gd name="connsiteX0" fmla="*/ 790 w 195942"/>
                    <a:gd name="connsiteY0" fmla="*/ 190 h 195942"/>
                    <a:gd name="connsiteX1" fmla="*/ 196733 w 195942"/>
                    <a:gd name="connsiteY1" fmla="*/ 190 h 195942"/>
                    <a:gd name="connsiteX2" fmla="*/ 196733 w 195942"/>
                    <a:gd name="connsiteY2" fmla="*/ 196133 h 195942"/>
                    <a:gd name="connsiteX3" fmla="*/ 79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90"/>
                      </a:moveTo>
                      <a:lnTo>
                        <a:pt x="196733" y="190"/>
                      </a:lnTo>
                      <a:lnTo>
                        <a:pt x="196733" y="196133"/>
                      </a:lnTo>
                      <a:lnTo>
                        <a:pt x="79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grpSp>
          <p:nvGrpSpPr>
            <p:cNvPr id="207" name="图形 5"/>
            <p:cNvGrpSpPr/>
            <p:nvPr/>
          </p:nvGrpSpPr>
          <p:grpSpPr>
            <a:xfrm>
              <a:off x="6669557" y="3341108"/>
              <a:ext cx="783771" cy="979713"/>
              <a:chOff x="7239000" y="457200"/>
              <a:chExt cx="783771" cy="979713"/>
            </a:xfrm>
            <a:solidFill>
              <a:srgbClr val="FF99CC"/>
            </a:solidFill>
          </p:grpSpPr>
          <p:grpSp>
            <p:nvGrpSpPr>
              <p:cNvPr id="208" name="图形 5"/>
              <p:cNvGrpSpPr/>
              <p:nvPr/>
            </p:nvGrpSpPr>
            <p:grpSpPr>
              <a:xfrm>
                <a:off x="7239000" y="457200"/>
                <a:ext cx="783771" cy="195942"/>
                <a:chOff x="7239000" y="457200"/>
                <a:chExt cx="783771" cy="195942"/>
              </a:xfrm>
              <a:grpFill/>
            </p:grpSpPr>
            <p:sp>
              <p:nvSpPr>
                <p:cNvPr id="229" name="任意多边形: 形状 228"/>
                <p:cNvSpPr/>
                <p:nvPr/>
              </p:nvSpPr>
              <p:spPr>
                <a:xfrm>
                  <a:off x="7239000" y="457200"/>
                  <a:ext cx="195942" cy="195942"/>
                </a:xfrm>
                <a:custGeom>
                  <a:avLst/>
                  <a:gdLst>
                    <a:gd name="connsiteX0" fmla="*/ 700 w 195942"/>
                    <a:gd name="connsiteY0" fmla="*/ 70 h 195942"/>
                    <a:gd name="connsiteX1" fmla="*/ 196643 w 195942"/>
                    <a:gd name="connsiteY1" fmla="*/ 70 h 195942"/>
                    <a:gd name="connsiteX2" fmla="*/ 196643 w 195942"/>
                    <a:gd name="connsiteY2" fmla="*/ 196013 h 195942"/>
                    <a:gd name="connsiteX3" fmla="*/ 7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0"/>
                      </a:moveTo>
                      <a:lnTo>
                        <a:pt x="196643" y="70"/>
                      </a:lnTo>
                      <a:lnTo>
                        <a:pt x="196643" y="196013"/>
                      </a:lnTo>
                      <a:lnTo>
                        <a:pt x="70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p>
              </p:txBody>
            </p:sp>
            <p:sp>
              <p:nvSpPr>
                <p:cNvPr id="230" name="任意多边形: 形状 229"/>
                <p:cNvSpPr/>
                <p:nvPr/>
              </p:nvSpPr>
              <p:spPr>
                <a:xfrm>
                  <a:off x="7434942" y="457200"/>
                  <a:ext cx="195942" cy="195942"/>
                </a:xfrm>
                <a:custGeom>
                  <a:avLst/>
                  <a:gdLst>
                    <a:gd name="connsiteX0" fmla="*/ 730 w 195942"/>
                    <a:gd name="connsiteY0" fmla="*/ 70 h 195942"/>
                    <a:gd name="connsiteX1" fmla="*/ 196673 w 195942"/>
                    <a:gd name="connsiteY1" fmla="*/ 70 h 195942"/>
                    <a:gd name="connsiteX2" fmla="*/ 196673 w 195942"/>
                    <a:gd name="connsiteY2" fmla="*/ 196013 h 195942"/>
                    <a:gd name="connsiteX3" fmla="*/ 7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0"/>
                      </a:moveTo>
                      <a:lnTo>
                        <a:pt x="196673" y="70"/>
                      </a:lnTo>
                      <a:lnTo>
                        <a:pt x="196673" y="196013"/>
                      </a:lnTo>
                      <a:lnTo>
                        <a:pt x="73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1" name="任意多边形: 形状 230"/>
                <p:cNvSpPr/>
                <p:nvPr/>
              </p:nvSpPr>
              <p:spPr>
                <a:xfrm>
                  <a:off x="7630885" y="457200"/>
                  <a:ext cx="195942" cy="195942"/>
                </a:xfrm>
                <a:custGeom>
                  <a:avLst/>
                  <a:gdLst>
                    <a:gd name="connsiteX0" fmla="*/ 760 w 195942"/>
                    <a:gd name="connsiteY0" fmla="*/ 70 h 195942"/>
                    <a:gd name="connsiteX1" fmla="*/ 196703 w 195942"/>
                    <a:gd name="connsiteY1" fmla="*/ 70 h 195942"/>
                    <a:gd name="connsiteX2" fmla="*/ 196703 w 195942"/>
                    <a:gd name="connsiteY2" fmla="*/ 196013 h 195942"/>
                    <a:gd name="connsiteX3" fmla="*/ 76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0"/>
                      </a:moveTo>
                      <a:lnTo>
                        <a:pt x="196703" y="70"/>
                      </a:lnTo>
                      <a:lnTo>
                        <a:pt x="196703" y="196013"/>
                      </a:lnTo>
                      <a:lnTo>
                        <a:pt x="76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2" name="任意多边形: 形状 231"/>
                <p:cNvSpPr/>
                <p:nvPr/>
              </p:nvSpPr>
              <p:spPr>
                <a:xfrm>
                  <a:off x="7826828" y="457200"/>
                  <a:ext cx="195942" cy="195942"/>
                </a:xfrm>
                <a:custGeom>
                  <a:avLst/>
                  <a:gdLst>
                    <a:gd name="connsiteX0" fmla="*/ 790 w 195942"/>
                    <a:gd name="connsiteY0" fmla="*/ 70 h 195942"/>
                    <a:gd name="connsiteX1" fmla="*/ 196733 w 195942"/>
                    <a:gd name="connsiteY1" fmla="*/ 70 h 195942"/>
                    <a:gd name="connsiteX2" fmla="*/ 196733 w 195942"/>
                    <a:gd name="connsiteY2" fmla="*/ 196013 h 195942"/>
                    <a:gd name="connsiteX3" fmla="*/ 79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0"/>
                      </a:moveTo>
                      <a:lnTo>
                        <a:pt x="196733" y="70"/>
                      </a:lnTo>
                      <a:lnTo>
                        <a:pt x="196733" y="196013"/>
                      </a:lnTo>
                      <a:lnTo>
                        <a:pt x="79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209" name="图形 5"/>
              <p:cNvGrpSpPr/>
              <p:nvPr/>
            </p:nvGrpSpPr>
            <p:grpSpPr>
              <a:xfrm>
                <a:off x="7239000" y="653142"/>
                <a:ext cx="783771" cy="195942"/>
                <a:chOff x="7239000" y="653142"/>
                <a:chExt cx="783771" cy="195942"/>
              </a:xfrm>
              <a:grpFill/>
            </p:grpSpPr>
            <p:sp>
              <p:nvSpPr>
                <p:cNvPr id="225" name="任意多边形: 形状 224"/>
                <p:cNvSpPr/>
                <p:nvPr/>
              </p:nvSpPr>
              <p:spPr>
                <a:xfrm>
                  <a:off x="7239000" y="653142"/>
                  <a:ext cx="195942" cy="195942"/>
                </a:xfrm>
                <a:custGeom>
                  <a:avLst/>
                  <a:gdLst>
                    <a:gd name="connsiteX0" fmla="*/ 700 w 195942"/>
                    <a:gd name="connsiteY0" fmla="*/ 100 h 195942"/>
                    <a:gd name="connsiteX1" fmla="*/ 196643 w 195942"/>
                    <a:gd name="connsiteY1" fmla="*/ 100 h 195942"/>
                    <a:gd name="connsiteX2" fmla="*/ 196643 w 195942"/>
                    <a:gd name="connsiteY2" fmla="*/ 196043 h 195942"/>
                    <a:gd name="connsiteX3" fmla="*/ 7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00"/>
                      </a:moveTo>
                      <a:lnTo>
                        <a:pt x="196643" y="100"/>
                      </a:lnTo>
                      <a:lnTo>
                        <a:pt x="196643" y="196043"/>
                      </a:lnTo>
                      <a:lnTo>
                        <a:pt x="70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6" name="任意多边形: 形状 225"/>
                <p:cNvSpPr/>
                <p:nvPr/>
              </p:nvSpPr>
              <p:spPr>
                <a:xfrm>
                  <a:off x="7434942" y="653142"/>
                  <a:ext cx="195942" cy="195942"/>
                </a:xfrm>
                <a:custGeom>
                  <a:avLst/>
                  <a:gdLst>
                    <a:gd name="connsiteX0" fmla="*/ 730 w 195942"/>
                    <a:gd name="connsiteY0" fmla="*/ 100 h 195942"/>
                    <a:gd name="connsiteX1" fmla="*/ 196673 w 195942"/>
                    <a:gd name="connsiteY1" fmla="*/ 100 h 195942"/>
                    <a:gd name="connsiteX2" fmla="*/ 196673 w 195942"/>
                    <a:gd name="connsiteY2" fmla="*/ 196043 h 195942"/>
                    <a:gd name="connsiteX3" fmla="*/ 7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00"/>
                      </a:moveTo>
                      <a:lnTo>
                        <a:pt x="196673" y="100"/>
                      </a:lnTo>
                      <a:lnTo>
                        <a:pt x="196673" y="196043"/>
                      </a:lnTo>
                      <a:lnTo>
                        <a:pt x="73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7" name="任意多边形: 形状 226"/>
                <p:cNvSpPr/>
                <p:nvPr/>
              </p:nvSpPr>
              <p:spPr>
                <a:xfrm>
                  <a:off x="7630885" y="653142"/>
                  <a:ext cx="195942" cy="195942"/>
                </a:xfrm>
                <a:custGeom>
                  <a:avLst/>
                  <a:gdLst>
                    <a:gd name="connsiteX0" fmla="*/ 760 w 195942"/>
                    <a:gd name="connsiteY0" fmla="*/ 100 h 195942"/>
                    <a:gd name="connsiteX1" fmla="*/ 196703 w 195942"/>
                    <a:gd name="connsiteY1" fmla="*/ 100 h 195942"/>
                    <a:gd name="connsiteX2" fmla="*/ 196703 w 195942"/>
                    <a:gd name="connsiteY2" fmla="*/ 196043 h 195942"/>
                    <a:gd name="connsiteX3" fmla="*/ 76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00"/>
                      </a:moveTo>
                      <a:lnTo>
                        <a:pt x="196703" y="100"/>
                      </a:lnTo>
                      <a:lnTo>
                        <a:pt x="196703" y="196043"/>
                      </a:lnTo>
                      <a:lnTo>
                        <a:pt x="76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8" name="任意多边形: 形状 227"/>
                <p:cNvSpPr/>
                <p:nvPr/>
              </p:nvSpPr>
              <p:spPr>
                <a:xfrm>
                  <a:off x="7826828" y="653142"/>
                  <a:ext cx="195942" cy="195942"/>
                </a:xfrm>
                <a:custGeom>
                  <a:avLst/>
                  <a:gdLst>
                    <a:gd name="connsiteX0" fmla="*/ 790 w 195942"/>
                    <a:gd name="connsiteY0" fmla="*/ 100 h 195942"/>
                    <a:gd name="connsiteX1" fmla="*/ 196733 w 195942"/>
                    <a:gd name="connsiteY1" fmla="*/ 100 h 195942"/>
                    <a:gd name="connsiteX2" fmla="*/ 196733 w 195942"/>
                    <a:gd name="connsiteY2" fmla="*/ 196043 h 195942"/>
                    <a:gd name="connsiteX3" fmla="*/ 79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00"/>
                      </a:moveTo>
                      <a:lnTo>
                        <a:pt x="196733" y="100"/>
                      </a:lnTo>
                      <a:lnTo>
                        <a:pt x="196733" y="196043"/>
                      </a:lnTo>
                      <a:lnTo>
                        <a:pt x="79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210" name="图形 5"/>
              <p:cNvGrpSpPr/>
              <p:nvPr/>
            </p:nvGrpSpPr>
            <p:grpSpPr>
              <a:xfrm>
                <a:off x="7239000" y="849085"/>
                <a:ext cx="783771" cy="195942"/>
                <a:chOff x="7239000" y="849085"/>
                <a:chExt cx="783771" cy="195942"/>
              </a:xfrm>
              <a:grpFill/>
            </p:grpSpPr>
            <p:sp>
              <p:nvSpPr>
                <p:cNvPr id="221" name="任意多边形: 形状 220"/>
                <p:cNvSpPr/>
                <p:nvPr/>
              </p:nvSpPr>
              <p:spPr>
                <a:xfrm>
                  <a:off x="7239000" y="849085"/>
                  <a:ext cx="195942" cy="195942"/>
                </a:xfrm>
                <a:custGeom>
                  <a:avLst/>
                  <a:gdLst>
                    <a:gd name="connsiteX0" fmla="*/ 700 w 195942"/>
                    <a:gd name="connsiteY0" fmla="*/ 130 h 195942"/>
                    <a:gd name="connsiteX1" fmla="*/ 196643 w 195942"/>
                    <a:gd name="connsiteY1" fmla="*/ 130 h 195942"/>
                    <a:gd name="connsiteX2" fmla="*/ 196643 w 195942"/>
                    <a:gd name="connsiteY2" fmla="*/ 196073 h 195942"/>
                    <a:gd name="connsiteX3" fmla="*/ 7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30"/>
                      </a:moveTo>
                      <a:lnTo>
                        <a:pt x="196643" y="130"/>
                      </a:lnTo>
                      <a:lnTo>
                        <a:pt x="196643" y="196073"/>
                      </a:lnTo>
                      <a:lnTo>
                        <a:pt x="70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2" name="任意多边形: 形状 221"/>
                <p:cNvSpPr/>
                <p:nvPr/>
              </p:nvSpPr>
              <p:spPr>
                <a:xfrm>
                  <a:off x="7434942" y="849085"/>
                  <a:ext cx="195942" cy="195942"/>
                </a:xfrm>
                <a:custGeom>
                  <a:avLst/>
                  <a:gdLst>
                    <a:gd name="connsiteX0" fmla="*/ 730 w 195942"/>
                    <a:gd name="connsiteY0" fmla="*/ 130 h 195942"/>
                    <a:gd name="connsiteX1" fmla="*/ 196673 w 195942"/>
                    <a:gd name="connsiteY1" fmla="*/ 130 h 195942"/>
                    <a:gd name="connsiteX2" fmla="*/ 196673 w 195942"/>
                    <a:gd name="connsiteY2" fmla="*/ 196073 h 195942"/>
                    <a:gd name="connsiteX3" fmla="*/ 7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30"/>
                      </a:moveTo>
                      <a:lnTo>
                        <a:pt x="196673" y="130"/>
                      </a:lnTo>
                      <a:lnTo>
                        <a:pt x="196673" y="196073"/>
                      </a:lnTo>
                      <a:lnTo>
                        <a:pt x="73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3" name="任意多边形: 形状 222"/>
                <p:cNvSpPr/>
                <p:nvPr/>
              </p:nvSpPr>
              <p:spPr>
                <a:xfrm>
                  <a:off x="7630885" y="849085"/>
                  <a:ext cx="195942" cy="195942"/>
                </a:xfrm>
                <a:custGeom>
                  <a:avLst/>
                  <a:gdLst>
                    <a:gd name="connsiteX0" fmla="*/ 760 w 195942"/>
                    <a:gd name="connsiteY0" fmla="*/ 130 h 195942"/>
                    <a:gd name="connsiteX1" fmla="*/ 196703 w 195942"/>
                    <a:gd name="connsiteY1" fmla="*/ 130 h 195942"/>
                    <a:gd name="connsiteX2" fmla="*/ 196703 w 195942"/>
                    <a:gd name="connsiteY2" fmla="*/ 196073 h 195942"/>
                    <a:gd name="connsiteX3" fmla="*/ 76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30"/>
                      </a:moveTo>
                      <a:lnTo>
                        <a:pt x="196703" y="130"/>
                      </a:lnTo>
                      <a:lnTo>
                        <a:pt x="196703" y="196073"/>
                      </a:lnTo>
                      <a:lnTo>
                        <a:pt x="76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4" name="任意多边形: 形状 223"/>
                <p:cNvSpPr/>
                <p:nvPr/>
              </p:nvSpPr>
              <p:spPr>
                <a:xfrm>
                  <a:off x="7826828" y="849085"/>
                  <a:ext cx="195942" cy="195942"/>
                </a:xfrm>
                <a:custGeom>
                  <a:avLst/>
                  <a:gdLst>
                    <a:gd name="connsiteX0" fmla="*/ 790 w 195942"/>
                    <a:gd name="connsiteY0" fmla="*/ 130 h 195942"/>
                    <a:gd name="connsiteX1" fmla="*/ 196733 w 195942"/>
                    <a:gd name="connsiteY1" fmla="*/ 130 h 195942"/>
                    <a:gd name="connsiteX2" fmla="*/ 196733 w 195942"/>
                    <a:gd name="connsiteY2" fmla="*/ 196073 h 195942"/>
                    <a:gd name="connsiteX3" fmla="*/ 79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30"/>
                      </a:moveTo>
                      <a:lnTo>
                        <a:pt x="196733" y="130"/>
                      </a:lnTo>
                      <a:lnTo>
                        <a:pt x="196733" y="196073"/>
                      </a:lnTo>
                      <a:lnTo>
                        <a:pt x="79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211" name="图形 5"/>
              <p:cNvGrpSpPr/>
              <p:nvPr/>
            </p:nvGrpSpPr>
            <p:grpSpPr>
              <a:xfrm>
                <a:off x="7239000" y="1045028"/>
                <a:ext cx="783770" cy="195942"/>
                <a:chOff x="7239000" y="1045028"/>
                <a:chExt cx="783770" cy="195942"/>
              </a:xfrm>
              <a:grpFill/>
            </p:grpSpPr>
            <p:sp>
              <p:nvSpPr>
                <p:cNvPr id="217" name="任意多边形: 形状 216"/>
                <p:cNvSpPr/>
                <p:nvPr/>
              </p:nvSpPr>
              <p:spPr>
                <a:xfrm>
                  <a:off x="7239000" y="1045028"/>
                  <a:ext cx="195942" cy="195942"/>
                </a:xfrm>
                <a:custGeom>
                  <a:avLst/>
                  <a:gdLst>
                    <a:gd name="connsiteX0" fmla="*/ 700 w 195942"/>
                    <a:gd name="connsiteY0" fmla="*/ 160 h 195942"/>
                    <a:gd name="connsiteX1" fmla="*/ 196643 w 195942"/>
                    <a:gd name="connsiteY1" fmla="*/ 160 h 195942"/>
                    <a:gd name="connsiteX2" fmla="*/ 196643 w 195942"/>
                    <a:gd name="connsiteY2" fmla="*/ 196103 h 195942"/>
                    <a:gd name="connsiteX3" fmla="*/ 7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60"/>
                      </a:moveTo>
                      <a:lnTo>
                        <a:pt x="196643" y="160"/>
                      </a:lnTo>
                      <a:lnTo>
                        <a:pt x="196643" y="196103"/>
                      </a:lnTo>
                      <a:lnTo>
                        <a:pt x="70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8" name="任意多边形: 形状 217"/>
                <p:cNvSpPr/>
                <p:nvPr/>
              </p:nvSpPr>
              <p:spPr>
                <a:xfrm>
                  <a:off x="7434942" y="1045028"/>
                  <a:ext cx="195942" cy="195942"/>
                </a:xfrm>
                <a:custGeom>
                  <a:avLst/>
                  <a:gdLst>
                    <a:gd name="connsiteX0" fmla="*/ 730 w 195942"/>
                    <a:gd name="connsiteY0" fmla="*/ 160 h 195942"/>
                    <a:gd name="connsiteX1" fmla="*/ 196673 w 195942"/>
                    <a:gd name="connsiteY1" fmla="*/ 160 h 195942"/>
                    <a:gd name="connsiteX2" fmla="*/ 196673 w 195942"/>
                    <a:gd name="connsiteY2" fmla="*/ 196103 h 195942"/>
                    <a:gd name="connsiteX3" fmla="*/ 7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60"/>
                      </a:moveTo>
                      <a:lnTo>
                        <a:pt x="196673" y="160"/>
                      </a:lnTo>
                      <a:lnTo>
                        <a:pt x="196673" y="196103"/>
                      </a:lnTo>
                      <a:lnTo>
                        <a:pt x="73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9" name="任意多边形: 形状 218"/>
                <p:cNvSpPr/>
                <p:nvPr/>
              </p:nvSpPr>
              <p:spPr>
                <a:xfrm>
                  <a:off x="7630885" y="1045028"/>
                  <a:ext cx="195942" cy="195942"/>
                </a:xfrm>
                <a:custGeom>
                  <a:avLst/>
                  <a:gdLst>
                    <a:gd name="connsiteX0" fmla="*/ 760 w 195942"/>
                    <a:gd name="connsiteY0" fmla="*/ 160 h 195942"/>
                    <a:gd name="connsiteX1" fmla="*/ 196703 w 195942"/>
                    <a:gd name="connsiteY1" fmla="*/ 160 h 195942"/>
                    <a:gd name="connsiteX2" fmla="*/ 196703 w 195942"/>
                    <a:gd name="connsiteY2" fmla="*/ 196103 h 195942"/>
                    <a:gd name="connsiteX3" fmla="*/ 76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60"/>
                      </a:moveTo>
                      <a:lnTo>
                        <a:pt x="196703" y="160"/>
                      </a:lnTo>
                      <a:lnTo>
                        <a:pt x="196703" y="196103"/>
                      </a:lnTo>
                      <a:lnTo>
                        <a:pt x="76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20" name="任意多边形: 形状 219"/>
                <p:cNvSpPr/>
                <p:nvPr/>
              </p:nvSpPr>
              <p:spPr>
                <a:xfrm>
                  <a:off x="7826828" y="1045028"/>
                  <a:ext cx="195942" cy="195942"/>
                </a:xfrm>
                <a:custGeom>
                  <a:avLst/>
                  <a:gdLst>
                    <a:gd name="connsiteX0" fmla="*/ 790 w 195942"/>
                    <a:gd name="connsiteY0" fmla="*/ 160 h 195942"/>
                    <a:gd name="connsiteX1" fmla="*/ 196733 w 195942"/>
                    <a:gd name="connsiteY1" fmla="*/ 160 h 195942"/>
                    <a:gd name="connsiteX2" fmla="*/ 196733 w 195942"/>
                    <a:gd name="connsiteY2" fmla="*/ 196103 h 195942"/>
                    <a:gd name="connsiteX3" fmla="*/ 79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60"/>
                      </a:moveTo>
                      <a:lnTo>
                        <a:pt x="196733" y="160"/>
                      </a:lnTo>
                      <a:lnTo>
                        <a:pt x="196733" y="196103"/>
                      </a:lnTo>
                      <a:lnTo>
                        <a:pt x="79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212" name="图形 5"/>
              <p:cNvGrpSpPr/>
              <p:nvPr/>
            </p:nvGrpSpPr>
            <p:grpSpPr>
              <a:xfrm>
                <a:off x="7239000" y="1240971"/>
                <a:ext cx="783771" cy="195942"/>
                <a:chOff x="7239000" y="1240971"/>
                <a:chExt cx="783771" cy="195942"/>
              </a:xfrm>
              <a:grpFill/>
            </p:grpSpPr>
            <p:sp>
              <p:nvSpPr>
                <p:cNvPr id="213" name="任意多边形: 形状 212"/>
                <p:cNvSpPr/>
                <p:nvPr/>
              </p:nvSpPr>
              <p:spPr>
                <a:xfrm>
                  <a:off x="7239000" y="1240971"/>
                  <a:ext cx="195942" cy="195942"/>
                </a:xfrm>
                <a:custGeom>
                  <a:avLst/>
                  <a:gdLst>
                    <a:gd name="connsiteX0" fmla="*/ 700 w 195942"/>
                    <a:gd name="connsiteY0" fmla="*/ 190 h 195942"/>
                    <a:gd name="connsiteX1" fmla="*/ 196643 w 195942"/>
                    <a:gd name="connsiteY1" fmla="*/ 190 h 195942"/>
                    <a:gd name="connsiteX2" fmla="*/ 196643 w 195942"/>
                    <a:gd name="connsiteY2" fmla="*/ 196133 h 195942"/>
                    <a:gd name="connsiteX3" fmla="*/ 7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90"/>
                      </a:moveTo>
                      <a:lnTo>
                        <a:pt x="196643" y="190"/>
                      </a:lnTo>
                      <a:lnTo>
                        <a:pt x="196643" y="196133"/>
                      </a:lnTo>
                      <a:lnTo>
                        <a:pt x="70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4" name="任意多边形: 形状 213"/>
                <p:cNvSpPr/>
                <p:nvPr/>
              </p:nvSpPr>
              <p:spPr>
                <a:xfrm>
                  <a:off x="7434942" y="1240971"/>
                  <a:ext cx="195942" cy="195942"/>
                </a:xfrm>
                <a:custGeom>
                  <a:avLst/>
                  <a:gdLst>
                    <a:gd name="connsiteX0" fmla="*/ 730 w 195942"/>
                    <a:gd name="connsiteY0" fmla="*/ 190 h 195942"/>
                    <a:gd name="connsiteX1" fmla="*/ 196673 w 195942"/>
                    <a:gd name="connsiteY1" fmla="*/ 190 h 195942"/>
                    <a:gd name="connsiteX2" fmla="*/ 196673 w 195942"/>
                    <a:gd name="connsiteY2" fmla="*/ 196133 h 195942"/>
                    <a:gd name="connsiteX3" fmla="*/ 7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90"/>
                      </a:moveTo>
                      <a:lnTo>
                        <a:pt x="196673" y="190"/>
                      </a:lnTo>
                      <a:lnTo>
                        <a:pt x="196673" y="196133"/>
                      </a:lnTo>
                      <a:lnTo>
                        <a:pt x="73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5" name="任意多边形: 形状 214"/>
                <p:cNvSpPr/>
                <p:nvPr/>
              </p:nvSpPr>
              <p:spPr>
                <a:xfrm>
                  <a:off x="7630885" y="1240971"/>
                  <a:ext cx="195942" cy="195942"/>
                </a:xfrm>
                <a:custGeom>
                  <a:avLst/>
                  <a:gdLst>
                    <a:gd name="connsiteX0" fmla="*/ 760 w 195942"/>
                    <a:gd name="connsiteY0" fmla="*/ 190 h 195942"/>
                    <a:gd name="connsiteX1" fmla="*/ 196703 w 195942"/>
                    <a:gd name="connsiteY1" fmla="*/ 190 h 195942"/>
                    <a:gd name="connsiteX2" fmla="*/ 196703 w 195942"/>
                    <a:gd name="connsiteY2" fmla="*/ 196133 h 195942"/>
                    <a:gd name="connsiteX3" fmla="*/ 76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90"/>
                      </a:moveTo>
                      <a:lnTo>
                        <a:pt x="196703" y="190"/>
                      </a:lnTo>
                      <a:lnTo>
                        <a:pt x="196703" y="196133"/>
                      </a:lnTo>
                      <a:lnTo>
                        <a:pt x="76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16" name="任意多边形: 形状 215"/>
                <p:cNvSpPr/>
                <p:nvPr/>
              </p:nvSpPr>
              <p:spPr>
                <a:xfrm>
                  <a:off x="7826828" y="1240971"/>
                  <a:ext cx="195942" cy="195942"/>
                </a:xfrm>
                <a:custGeom>
                  <a:avLst/>
                  <a:gdLst>
                    <a:gd name="connsiteX0" fmla="*/ 790 w 195942"/>
                    <a:gd name="connsiteY0" fmla="*/ 190 h 195942"/>
                    <a:gd name="connsiteX1" fmla="*/ 196733 w 195942"/>
                    <a:gd name="connsiteY1" fmla="*/ 190 h 195942"/>
                    <a:gd name="connsiteX2" fmla="*/ 196733 w 195942"/>
                    <a:gd name="connsiteY2" fmla="*/ 196133 h 195942"/>
                    <a:gd name="connsiteX3" fmla="*/ 79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90"/>
                      </a:moveTo>
                      <a:lnTo>
                        <a:pt x="196733" y="190"/>
                      </a:lnTo>
                      <a:lnTo>
                        <a:pt x="196733" y="196133"/>
                      </a:lnTo>
                      <a:lnTo>
                        <a:pt x="79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grpSp>
          <p:nvGrpSpPr>
            <p:cNvPr id="274" name="组合 273"/>
            <p:cNvGrpSpPr/>
            <p:nvPr/>
          </p:nvGrpSpPr>
          <p:grpSpPr>
            <a:xfrm>
              <a:off x="104040" y="1415842"/>
              <a:ext cx="2725242" cy="1892292"/>
              <a:chOff x="3370758" y="4458491"/>
              <a:chExt cx="2725242" cy="1892292"/>
            </a:xfrm>
          </p:grpSpPr>
          <p:grpSp>
            <p:nvGrpSpPr>
              <p:cNvPr id="268" name="组合 267"/>
              <p:cNvGrpSpPr/>
              <p:nvPr/>
            </p:nvGrpSpPr>
            <p:grpSpPr>
              <a:xfrm>
                <a:off x="3767486" y="4494823"/>
                <a:ext cx="2328514" cy="1819628"/>
                <a:chOff x="1900048" y="3635022"/>
                <a:chExt cx="1175657" cy="979713"/>
              </a:xfrm>
            </p:grpSpPr>
            <p:grpSp>
              <p:nvGrpSpPr>
                <p:cNvPr id="233" name="图形 5"/>
                <p:cNvGrpSpPr/>
                <p:nvPr/>
              </p:nvGrpSpPr>
              <p:grpSpPr>
                <a:xfrm>
                  <a:off x="1900048" y="3635022"/>
                  <a:ext cx="1175656" cy="195942"/>
                  <a:chOff x="3450771" y="1632857"/>
                  <a:chExt cx="1175656" cy="195942"/>
                </a:xfrm>
                <a:solidFill>
                  <a:schemeClr val="accent6">
                    <a:lumMod val="50000"/>
                  </a:schemeClr>
                </a:solidFill>
              </p:grpSpPr>
              <p:sp>
                <p:nvSpPr>
                  <p:cNvPr id="234" name="任意多边形: 形状 233"/>
                  <p:cNvSpPr/>
                  <p:nvPr/>
                </p:nvSpPr>
                <p:spPr>
                  <a:xfrm>
                    <a:off x="3450771" y="1632857"/>
                    <a:ext cx="195942" cy="195942"/>
                  </a:xfrm>
                  <a:custGeom>
                    <a:avLst/>
                    <a:gdLst>
                      <a:gd name="connsiteX0" fmla="*/ 120 w 195942"/>
                      <a:gd name="connsiteY0" fmla="*/ 250 h 195942"/>
                      <a:gd name="connsiteX1" fmla="*/ 196063 w 195942"/>
                      <a:gd name="connsiteY1" fmla="*/ 250 h 195942"/>
                      <a:gd name="connsiteX2" fmla="*/ 196063 w 195942"/>
                      <a:gd name="connsiteY2" fmla="*/ 196193 h 195942"/>
                      <a:gd name="connsiteX3" fmla="*/ 12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50"/>
                        </a:moveTo>
                        <a:lnTo>
                          <a:pt x="196063" y="250"/>
                        </a:lnTo>
                        <a:lnTo>
                          <a:pt x="196063" y="196193"/>
                        </a:lnTo>
                        <a:lnTo>
                          <a:pt x="12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5" name="任意多边形: 形状 234"/>
                  <p:cNvSpPr/>
                  <p:nvPr/>
                </p:nvSpPr>
                <p:spPr>
                  <a:xfrm>
                    <a:off x="3646714" y="1632857"/>
                    <a:ext cx="195942" cy="195942"/>
                  </a:xfrm>
                  <a:custGeom>
                    <a:avLst/>
                    <a:gdLst>
                      <a:gd name="connsiteX0" fmla="*/ 150 w 195942"/>
                      <a:gd name="connsiteY0" fmla="*/ 250 h 195942"/>
                      <a:gd name="connsiteX1" fmla="*/ 196093 w 195942"/>
                      <a:gd name="connsiteY1" fmla="*/ 250 h 195942"/>
                      <a:gd name="connsiteX2" fmla="*/ 196093 w 195942"/>
                      <a:gd name="connsiteY2" fmla="*/ 196193 h 195942"/>
                      <a:gd name="connsiteX3" fmla="*/ 15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50"/>
                        </a:moveTo>
                        <a:lnTo>
                          <a:pt x="196093" y="250"/>
                        </a:lnTo>
                        <a:lnTo>
                          <a:pt x="196093" y="196193"/>
                        </a:lnTo>
                        <a:lnTo>
                          <a:pt x="15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6" name="任意多边形: 形状 235"/>
                  <p:cNvSpPr/>
                  <p:nvPr/>
                </p:nvSpPr>
                <p:spPr>
                  <a:xfrm>
                    <a:off x="3842657" y="1632857"/>
                    <a:ext cx="195942" cy="195942"/>
                  </a:xfrm>
                  <a:custGeom>
                    <a:avLst/>
                    <a:gdLst>
                      <a:gd name="connsiteX0" fmla="*/ 180 w 195942"/>
                      <a:gd name="connsiteY0" fmla="*/ 250 h 195942"/>
                      <a:gd name="connsiteX1" fmla="*/ 196123 w 195942"/>
                      <a:gd name="connsiteY1" fmla="*/ 250 h 195942"/>
                      <a:gd name="connsiteX2" fmla="*/ 196123 w 195942"/>
                      <a:gd name="connsiteY2" fmla="*/ 196193 h 195942"/>
                      <a:gd name="connsiteX3" fmla="*/ 18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50"/>
                        </a:moveTo>
                        <a:lnTo>
                          <a:pt x="196123" y="250"/>
                        </a:lnTo>
                        <a:lnTo>
                          <a:pt x="196123" y="196193"/>
                        </a:lnTo>
                        <a:lnTo>
                          <a:pt x="18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7" name="任意多边形: 形状 236"/>
                  <p:cNvSpPr/>
                  <p:nvPr/>
                </p:nvSpPr>
                <p:spPr>
                  <a:xfrm>
                    <a:off x="4038601" y="1632857"/>
                    <a:ext cx="195942" cy="195942"/>
                  </a:xfrm>
                  <a:custGeom>
                    <a:avLst/>
                    <a:gdLst>
                      <a:gd name="connsiteX0" fmla="*/ 210 w 195942"/>
                      <a:gd name="connsiteY0" fmla="*/ 250 h 195942"/>
                      <a:gd name="connsiteX1" fmla="*/ 196153 w 195942"/>
                      <a:gd name="connsiteY1" fmla="*/ 250 h 195942"/>
                      <a:gd name="connsiteX2" fmla="*/ 196153 w 195942"/>
                      <a:gd name="connsiteY2" fmla="*/ 196193 h 195942"/>
                      <a:gd name="connsiteX3" fmla="*/ 21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50"/>
                        </a:moveTo>
                        <a:lnTo>
                          <a:pt x="196153" y="250"/>
                        </a:lnTo>
                        <a:lnTo>
                          <a:pt x="196153" y="196193"/>
                        </a:lnTo>
                        <a:lnTo>
                          <a:pt x="21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8" name="任意多边形: 形状 237"/>
                  <p:cNvSpPr/>
                  <p:nvPr/>
                </p:nvSpPr>
                <p:spPr>
                  <a:xfrm>
                    <a:off x="4234542" y="1632857"/>
                    <a:ext cx="195942" cy="195942"/>
                  </a:xfrm>
                  <a:custGeom>
                    <a:avLst/>
                    <a:gdLst>
                      <a:gd name="connsiteX0" fmla="*/ 240 w 195942"/>
                      <a:gd name="connsiteY0" fmla="*/ 250 h 195942"/>
                      <a:gd name="connsiteX1" fmla="*/ 196183 w 195942"/>
                      <a:gd name="connsiteY1" fmla="*/ 250 h 195942"/>
                      <a:gd name="connsiteX2" fmla="*/ 196183 w 195942"/>
                      <a:gd name="connsiteY2" fmla="*/ 196193 h 195942"/>
                      <a:gd name="connsiteX3" fmla="*/ 24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50"/>
                        </a:moveTo>
                        <a:lnTo>
                          <a:pt x="196183" y="250"/>
                        </a:lnTo>
                        <a:lnTo>
                          <a:pt x="196183" y="196193"/>
                        </a:lnTo>
                        <a:lnTo>
                          <a:pt x="24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239" name="任意多边形: 形状 238"/>
                  <p:cNvSpPr/>
                  <p:nvPr/>
                </p:nvSpPr>
                <p:spPr>
                  <a:xfrm>
                    <a:off x="4430485" y="1632857"/>
                    <a:ext cx="195942" cy="195942"/>
                  </a:xfrm>
                  <a:custGeom>
                    <a:avLst/>
                    <a:gdLst>
                      <a:gd name="connsiteX0" fmla="*/ 270 w 195942"/>
                      <a:gd name="connsiteY0" fmla="*/ 250 h 195942"/>
                      <a:gd name="connsiteX1" fmla="*/ 196213 w 195942"/>
                      <a:gd name="connsiteY1" fmla="*/ 250 h 195942"/>
                      <a:gd name="connsiteX2" fmla="*/ 196213 w 195942"/>
                      <a:gd name="connsiteY2" fmla="*/ 196193 h 195942"/>
                      <a:gd name="connsiteX3" fmla="*/ 27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50"/>
                        </a:moveTo>
                        <a:lnTo>
                          <a:pt x="196213" y="250"/>
                        </a:lnTo>
                        <a:lnTo>
                          <a:pt x="196213" y="196193"/>
                        </a:lnTo>
                        <a:lnTo>
                          <a:pt x="27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240" name="图形 5"/>
                <p:cNvGrpSpPr/>
                <p:nvPr/>
              </p:nvGrpSpPr>
              <p:grpSpPr>
                <a:xfrm>
                  <a:off x="1900048" y="3830110"/>
                  <a:ext cx="1175656" cy="196797"/>
                  <a:chOff x="3450771" y="1827945"/>
                  <a:chExt cx="1175656" cy="196797"/>
                </a:xfrm>
                <a:solidFill>
                  <a:srgbClr val="000000"/>
                </a:solidFill>
              </p:grpSpPr>
              <p:sp>
                <p:nvSpPr>
                  <p:cNvPr id="241" name="任意多边形: 形状 240"/>
                  <p:cNvSpPr/>
                  <p:nvPr/>
                </p:nvSpPr>
                <p:spPr>
                  <a:xfrm>
                    <a:off x="3450771" y="1828800"/>
                    <a:ext cx="195942" cy="195942"/>
                  </a:xfrm>
                  <a:custGeom>
                    <a:avLst/>
                    <a:gdLst>
                      <a:gd name="connsiteX0" fmla="*/ 120 w 195942"/>
                      <a:gd name="connsiteY0" fmla="*/ 280 h 195942"/>
                      <a:gd name="connsiteX1" fmla="*/ 196063 w 195942"/>
                      <a:gd name="connsiteY1" fmla="*/ 280 h 195942"/>
                      <a:gd name="connsiteX2" fmla="*/ 196063 w 195942"/>
                      <a:gd name="connsiteY2" fmla="*/ 196223 h 195942"/>
                      <a:gd name="connsiteX3" fmla="*/ 12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80"/>
                        </a:moveTo>
                        <a:lnTo>
                          <a:pt x="196063" y="280"/>
                        </a:lnTo>
                        <a:lnTo>
                          <a:pt x="196063" y="196223"/>
                        </a:lnTo>
                        <a:lnTo>
                          <a:pt x="12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2" name="任意多边形: 形状 241"/>
                  <p:cNvSpPr/>
                  <p:nvPr/>
                </p:nvSpPr>
                <p:spPr>
                  <a:xfrm>
                    <a:off x="3646714" y="1828800"/>
                    <a:ext cx="195942" cy="195942"/>
                  </a:xfrm>
                  <a:custGeom>
                    <a:avLst/>
                    <a:gdLst>
                      <a:gd name="connsiteX0" fmla="*/ 150 w 195942"/>
                      <a:gd name="connsiteY0" fmla="*/ 280 h 195942"/>
                      <a:gd name="connsiteX1" fmla="*/ 196093 w 195942"/>
                      <a:gd name="connsiteY1" fmla="*/ 280 h 195942"/>
                      <a:gd name="connsiteX2" fmla="*/ 196093 w 195942"/>
                      <a:gd name="connsiteY2" fmla="*/ 196223 h 195942"/>
                      <a:gd name="connsiteX3" fmla="*/ 15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80"/>
                        </a:moveTo>
                        <a:lnTo>
                          <a:pt x="196093" y="280"/>
                        </a:lnTo>
                        <a:lnTo>
                          <a:pt x="196093" y="196223"/>
                        </a:lnTo>
                        <a:lnTo>
                          <a:pt x="15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3" name="任意多边形: 形状 242"/>
                  <p:cNvSpPr/>
                  <p:nvPr/>
                </p:nvSpPr>
                <p:spPr>
                  <a:xfrm>
                    <a:off x="3842657" y="1827945"/>
                    <a:ext cx="195942" cy="195942"/>
                  </a:xfrm>
                  <a:custGeom>
                    <a:avLst/>
                    <a:gdLst>
                      <a:gd name="connsiteX0" fmla="*/ 180 w 195942"/>
                      <a:gd name="connsiteY0" fmla="*/ 280 h 195942"/>
                      <a:gd name="connsiteX1" fmla="*/ 196123 w 195942"/>
                      <a:gd name="connsiteY1" fmla="*/ 280 h 195942"/>
                      <a:gd name="connsiteX2" fmla="*/ 196123 w 195942"/>
                      <a:gd name="connsiteY2" fmla="*/ 196223 h 195942"/>
                      <a:gd name="connsiteX3" fmla="*/ 18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80"/>
                        </a:moveTo>
                        <a:lnTo>
                          <a:pt x="196123" y="280"/>
                        </a:lnTo>
                        <a:lnTo>
                          <a:pt x="196123" y="196223"/>
                        </a:lnTo>
                        <a:lnTo>
                          <a:pt x="18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4" name="任意多边形: 形状 243"/>
                  <p:cNvSpPr/>
                  <p:nvPr/>
                </p:nvSpPr>
                <p:spPr>
                  <a:xfrm>
                    <a:off x="4038600" y="1828800"/>
                    <a:ext cx="195942" cy="195942"/>
                  </a:xfrm>
                  <a:custGeom>
                    <a:avLst/>
                    <a:gdLst>
                      <a:gd name="connsiteX0" fmla="*/ 210 w 195942"/>
                      <a:gd name="connsiteY0" fmla="*/ 280 h 195942"/>
                      <a:gd name="connsiteX1" fmla="*/ 196153 w 195942"/>
                      <a:gd name="connsiteY1" fmla="*/ 280 h 195942"/>
                      <a:gd name="connsiteX2" fmla="*/ 196153 w 195942"/>
                      <a:gd name="connsiteY2" fmla="*/ 196223 h 195942"/>
                      <a:gd name="connsiteX3" fmla="*/ 21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80"/>
                        </a:moveTo>
                        <a:lnTo>
                          <a:pt x="196153" y="280"/>
                        </a:lnTo>
                        <a:lnTo>
                          <a:pt x="196153" y="196223"/>
                        </a:lnTo>
                        <a:lnTo>
                          <a:pt x="21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5" name="任意多边形: 形状 244"/>
                  <p:cNvSpPr/>
                  <p:nvPr/>
                </p:nvSpPr>
                <p:spPr>
                  <a:xfrm>
                    <a:off x="4234542" y="1828800"/>
                    <a:ext cx="195942" cy="195942"/>
                  </a:xfrm>
                  <a:custGeom>
                    <a:avLst/>
                    <a:gdLst>
                      <a:gd name="connsiteX0" fmla="*/ 240 w 195942"/>
                      <a:gd name="connsiteY0" fmla="*/ 280 h 195942"/>
                      <a:gd name="connsiteX1" fmla="*/ 196183 w 195942"/>
                      <a:gd name="connsiteY1" fmla="*/ 280 h 195942"/>
                      <a:gd name="connsiteX2" fmla="*/ 196183 w 195942"/>
                      <a:gd name="connsiteY2" fmla="*/ 196223 h 195942"/>
                      <a:gd name="connsiteX3" fmla="*/ 24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80"/>
                        </a:moveTo>
                        <a:lnTo>
                          <a:pt x="196183" y="280"/>
                        </a:lnTo>
                        <a:lnTo>
                          <a:pt x="196183" y="196223"/>
                        </a:lnTo>
                        <a:lnTo>
                          <a:pt x="24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6" name="任意多边形: 形状 245"/>
                  <p:cNvSpPr/>
                  <p:nvPr/>
                </p:nvSpPr>
                <p:spPr>
                  <a:xfrm>
                    <a:off x="4430485" y="1828800"/>
                    <a:ext cx="195942" cy="195942"/>
                  </a:xfrm>
                  <a:custGeom>
                    <a:avLst/>
                    <a:gdLst>
                      <a:gd name="connsiteX0" fmla="*/ 270 w 195942"/>
                      <a:gd name="connsiteY0" fmla="*/ 280 h 195942"/>
                      <a:gd name="connsiteX1" fmla="*/ 196213 w 195942"/>
                      <a:gd name="connsiteY1" fmla="*/ 280 h 195942"/>
                      <a:gd name="connsiteX2" fmla="*/ 196213 w 195942"/>
                      <a:gd name="connsiteY2" fmla="*/ 196223 h 195942"/>
                      <a:gd name="connsiteX3" fmla="*/ 27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80"/>
                        </a:moveTo>
                        <a:lnTo>
                          <a:pt x="196213" y="280"/>
                        </a:lnTo>
                        <a:lnTo>
                          <a:pt x="196213" y="196223"/>
                        </a:lnTo>
                        <a:lnTo>
                          <a:pt x="27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247" name="图形 5"/>
                <p:cNvGrpSpPr/>
                <p:nvPr/>
              </p:nvGrpSpPr>
              <p:grpSpPr>
                <a:xfrm>
                  <a:off x="1900048" y="4026907"/>
                  <a:ext cx="1175657" cy="195942"/>
                  <a:chOff x="3450771" y="2024742"/>
                  <a:chExt cx="1175657" cy="195942"/>
                </a:xfrm>
                <a:solidFill>
                  <a:srgbClr val="000000"/>
                </a:solidFill>
              </p:grpSpPr>
              <p:sp>
                <p:nvSpPr>
                  <p:cNvPr id="248" name="任意多边形: 形状 247"/>
                  <p:cNvSpPr/>
                  <p:nvPr/>
                </p:nvSpPr>
                <p:spPr>
                  <a:xfrm>
                    <a:off x="3450771" y="2024742"/>
                    <a:ext cx="195942" cy="195942"/>
                  </a:xfrm>
                  <a:custGeom>
                    <a:avLst/>
                    <a:gdLst>
                      <a:gd name="connsiteX0" fmla="*/ 120 w 195942"/>
                      <a:gd name="connsiteY0" fmla="*/ 310 h 195942"/>
                      <a:gd name="connsiteX1" fmla="*/ 196063 w 195942"/>
                      <a:gd name="connsiteY1" fmla="*/ 310 h 195942"/>
                      <a:gd name="connsiteX2" fmla="*/ 196063 w 195942"/>
                      <a:gd name="connsiteY2" fmla="*/ 196253 h 195942"/>
                      <a:gd name="connsiteX3" fmla="*/ 12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10"/>
                        </a:moveTo>
                        <a:lnTo>
                          <a:pt x="196063" y="310"/>
                        </a:lnTo>
                        <a:lnTo>
                          <a:pt x="196063" y="196253"/>
                        </a:lnTo>
                        <a:lnTo>
                          <a:pt x="12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9" name="任意多边形: 形状 248"/>
                  <p:cNvSpPr/>
                  <p:nvPr/>
                </p:nvSpPr>
                <p:spPr>
                  <a:xfrm>
                    <a:off x="3646714" y="2024742"/>
                    <a:ext cx="195942" cy="195942"/>
                  </a:xfrm>
                  <a:custGeom>
                    <a:avLst/>
                    <a:gdLst>
                      <a:gd name="connsiteX0" fmla="*/ 150 w 195942"/>
                      <a:gd name="connsiteY0" fmla="*/ 310 h 195942"/>
                      <a:gd name="connsiteX1" fmla="*/ 196093 w 195942"/>
                      <a:gd name="connsiteY1" fmla="*/ 310 h 195942"/>
                      <a:gd name="connsiteX2" fmla="*/ 196093 w 195942"/>
                      <a:gd name="connsiteY2" fmla="*/ 196253 h 195942"/>
                      <a:gd name="connsiteX3" fmla="*/ 15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10"/>
                        </a:moveTo>
                        <a:lnTo>
                          <a:pt x="196093" y="310"/>
                        </a:lnTo>
                        <a:lnTo>
                          <a:pt x="196093" y="196253"/>
                        </a:lnTo>
                        <a:lnTo>
                          <a:pt x="15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0" name="任意多边形: 形状 249"/>
                  <p:cNvSpPr/>
                  <p:nvPr/>
                </p:nvSpPr>
                <p:spPr>
                  <a:xfrm>
                    <a:off x="3842657" y="2024742"/>
                    <a:ext cx="195942" cy="195942"/>
                  </a:xfrm>
                  <a:custGeom>
                    <a:avLst/>
                    <a:gdLst>
                      <a:gd name="connsiteX0" fmla="*/ 180 w 195942"/>
                      <a:gd name="connsiteY0" fmla="*/ 310 h 195942"/>
                      <a:gd name="connsiteX1" fmla="*/ 196123 w 195942"/>
                      <a:gd name="connsiteY1" fmla="*/ 310 h 195942"/>
                      <a:gd name="connsiteX2" fmla="*/ 196123 w 195942"/>
                      <a:gd name="connsiteY2" fmla="*/ 196253 h 195942"/>
                      <a:gd name="connsiteX3" fmla="*/ 18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10"/>
                        </a:moveTo>
                        <a:lnTo>
                          <a:pt x="196123" y="310"/>
                        </a:lnTo>
                        <a:lnTo>
                          <a:pt x="196123" y="196253"/>
                        </a:lnTo>
                        <a:lnTo>
                          <a:pt x="18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1" name="任意多边形: 形状 250"/>
                  <p:cNvSpPr/>
                  <p:nvPr/>
                </p:nvSpPr>
                <p:spPr>
                  <a:xfrm>
                    <a:off x="4038600" y="2024742"/>
                    <a:ext cx="195942" cy="195942"/>
                  </a:xfrm>
                  <a:custGeom>
                    <a:avLst/>
                    <a:gdLst>
                      <a:gd name="connsiteX0" fmla="*/ 210 w 195942"/>
                      <a:gd name="connsiteY0" fmla="*/ 310 h 195942"/>
                      <a:gd name="connsiteX1" fmla="*/ 196153 w 195942"/>
                      <a:gd name="connsiteY1" fmla="*/ 310 h 195942"/>
                      <a:gd name="connsiteX2" fmla="*/ 196153 w 195942"/>
                      <a:gd name="connsiteY2" fmla="*/ 196253 h 195942"/>
                      <a:gd name="connsiteX3" fmla="*/ 21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10"/>
                        </a:moveTo>
                        <a:lnTo>
                          <a:pt x="196153" y="310"/>
                        </a:lnTo>
                        <a:lnTo>
                          <a:pt x="196153" y="196253"/>
                        </a:lnTo>
                        <a:lnTo>
                          <a:pt x="21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2" name="任意多边形: 形状 251"/>
                  <p:cNvSpPr/>
                  <p:nvPr/>
                </p:nvSpPr>
                <p:spPr>
                  <a:xfrm>
                    <a:off x="4234542" y="2024742"/>
                    <a:ext cx="195942" cy="195942"/>
                  </a:xfrm>
                  <a:custGeom>
                    <a:avLst/>
                    <a:gdLst>
                      <a:gd name="connsiteX0" fmla="*/ 240 w 195942"/>
                      <a:gd name="connsiteY0" fmla="*/ 310 h 195942"/>
                      <a:gd name="connsiteX1" fmla="*/ 196183 w 195942"/>
                      <a:gd name="connsiteY1" fmla="*/ 310 h 195942"/>
                      <a:gd name="connsiteX2" fmla="*/ 196183 w 195942"/>
                      <a:gd name="connsiteY2" fmla="*/ 196253 h 195942"/>
                      <a:gd name="connsiteX3" fmla="*/ 24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10"/>
                        </a:moveTo>
                        <a:lnTo>
                          <a:pt x="196183" y="310"/>
                        </a:lnTo>
                        <a:lnTo>
                          <a:pt x="196183" y="196253"/>
                        </a:lnTo>
                        <a:lnTo>
                          <a:pt x="24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3" name="任意多边形: 形状 252"/>
                  <p:cNvSpPr/>
                  <p:nvPr/>
                </p:nvSpPr>
                <p:spPr>
                  <a:xfrm>
                    <a:off x="4430485" y="2024742"/>
                    <a:ext cx="195942" cy="195942"/>
                  </a:xfrm>
                  <a:custGeom>
                    <a:avLst/>
                    <a:gdLst>
                      <a:gd name="connsiteX0" fmla="*/ 270 w 195942"/>
                      <a:gd name="connsiteY0" fmla="*/ 310 h 195942"/>
                      <a:gd name="connsiteX1" fmla="*/ 196213 w 195942"/>
                      <a:gd name="connsiteY1" fmla="*/ 310 h 195942"/>
                      <a:gd name="connsiteX2" fmla="*/ 196213 w 195942"/>
                      <a:gd name="connsiteY2" fmla="*/ 196253 h 195942"/>
                      <a:gd name="connsiteX3" fmla="*/ 27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10"/>
                        </a:moveTo>
                        <a:lnTo>
                          <a:pt x="196213" y="310"/>
                        </a:lnTo>
                        <a:lnTo>
                          <a:pt x="196213" y="196253"/>
                        </a:lnTo>
                        <a:lnTo>
                          <a:pt x="27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254" name="图形 5"/>
                <p:cNvGrpSpPr/>
                <p:nvPr/>
              </p:nvGrpSpPr>
              <p:grpSpPr>
                <a:xfrm>
                  <a:off x="1900048" y="4222850"/>
                  <a:ext cx="1175657" cy="195942"/>
                  <a:chOff x="3450771" y="2220685"/>
                  <a:chExt cx="1175657" cy="195942"/>
                </a:xfrm>
                <a:solidFill>
                  <a:srgbClr val="000000"/>
                </a:solidFill>
              </p:grpSpPr>
              <p:sp>
                <p:nvSpPr>
                  <p:cNvPr id="255" name="任意多边形: 形状 254"/>
                  <p:cNvSpPr/>
                  <p:nvPr/>
                </p:nvSpPr>
                <p:spPr>
                  <a:xfrm>
                    <a:off x="3450771" y="2220685"/>
                    <a:ext cx="195942" cy="195942"/>
                  </a:xfrm>
                  <a:custGeom>
                    <a:avLst/>
                    <a:gdLst>
                      <a:gd name="connsiteX0" fmla="*/ 120 w 195942"/>
                      <a:gd name="connsiteY0" fmla="*/ 340 h 195942"/>
                      <a:gd name="connsiteX1" fmla="*/ 196063 w 195942"/>
                      <a:gd name="connsiteY1" fmla="*/ 340 h 195942"/>
                      <a:gd name="connsiteX2" fmla="*/ 196063 w 195942"/>
                      <a:gd name="connsiteY2" fmla="*/ 196283 h 195942"/>
                      <a:gd name="connsiteX3" fmla="*/ 12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40"/>
                        </a:moveTo>
                        <a:lnTo>
                          <a:pt x="196063" y="340"/>
                        </a:lnTo>
                        <a:lnTo>
                          <a:pt x="196063" y="196283"/>
                        </a:lnTo>
                        <a:lnTo>
                          <a:pt x="12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6" name="任意多边形: 形状 255"/>
                  <p:cNvSpPr/>
                  <p:nvPr/>
                </p:nvSpPr>
                <p:spPr>
                  <a:xfrm>
                    <a:off x="3646714" y="2220685"/>
                    <a:ext cx="195942" cy="195942"/>
                  </a:xfrm>
                  <a:custGeom>
                    <a:avLst/>
                    <a:gdLst>
                      <a:gd name="connsiteX0" fmla="*/ 150 w 195942"/>
                      <a:gd name="connsiteY0" fmla="*/ 340 h 195942"/>
                      <a:gd name="connsiteX1" fmla="*/ 196093 w 195942"/>
                      <a:gd name="connsiteY1" fmla="*/ 340 h 195942"/>
                      <a:gd name="connsiteX2" fmla="*/ 196093 w 195942"/>
                      <a:gd name="connsiteY2" fmla="*/ 196283 h 195942"/>
                      <a:gd name="connsiteX3" fmla="*/ 15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40"/>
                        </a:moveTo>
                        <a:lnTo>
                          <a:pt x="196093" y="340"/>
                        </a:lnTo>
                        <a:lnTo>
                          <a:pt x="196093" y="196283"/>
                        </a:lnTo>
                        <a:lnTo>
                          <a:pt x="15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7" name="任意多边形: 形状 256"/>
                  <p:cNvSpPr/>
                  <p:nvPr/>
                </p:nvSpPr>
                <p:spPr>
                  <a:xfrm>
                    <a:off x="3842657" y="2220685"/>
                    <a:ext cx="195942" cy="195942"/>
                  </a:xfrm>
                  <a:custGeom>
                    <a:avLst/>
                    <a:gdLst>
                      <a:gd name="connsiteX0" fmla="*/ 180 w 195942"/>
                      <a:gd name="connsiteY0" fmla="*/ 340 h 195942"/>
                      <a:gd name="connsiteX1" fmla="*/ 196123 w 195942"/>
                      <a:gd name="connsiteY1" fmla="*/ 340 h 195942"/>
                      <a:gd name="connsiteX2" fmla="*/ 196123 w 195942"/>
                      <a:gd name="connsiteY2" fmla="*/ 196283 h 195942"/>
                      <a:gd name="connsiteX3" fmla="*/ 18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40"/>
                        </a:moveTo>
                        <a:lnTo>
                          <a:pt x="196123" y="340"/>
                        </a:lnTo>
                        <a:lnTo>
                          <a:pt x="196123" y="196283"/>
                        </a:lnTo>
                        <a:lnTo>
                          <a:pt x="18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8" name="任意多边形: 形状 257"/>
                  <p:cNvSpPr/>
                  <p:nvPr/>
                </p:nvSpPr>
                <p:spPr>
                  <a:xfrm>
                    <a:off x="4038600" y="2220685"/>
                    <a:ext cx="195942" cy="195942"/>
                  </a:xfrm>
                  <a:custGeom>
                    <a:avLst/>
                    <a:gdLst>
                      <a:gd name="connsiteX0" fmla="*/ 210 w 195942"/>
                      <a:gd name="connsiteY0" fmla="*/ 340 h 195942"/>
                      <a:gd name="connsiteX1" fmla="*/ 196153 w 195942"/>
                      <a:gd name="connsiteY1" fmla="*/ 340 h 195942"/>
                      <a:gd name="connsiteX2" fmla="*/ 196153 w 195942"/>
                      <a:gd name="connsiteY2" fmla="*/ 196283 h 195942"/>
                      <a:gd name="connsiteX3" fmla="*/ 21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40"/>
                        </a:moveTo>
                        <a:lnTo>
                          <a:pt x="196153" y="340"/>
                        </a:lnTo>
                        <a:lnTo>
                          <a:pt x="196153" y="196283"/>
                        </a:lnTo>
                        <a:lnTo>
                          <a:pt x="21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9" name="任意多边形: 形状 258"/>
                  <p:cNvSpPr/>
                  <p:nvPr/>
                </p:nvSpPr>
                <p:spPr>
                  <a:xfrm>
                    <a:off x="4234542" y="2220685"/>
                    <a:ext cx="195942" cy="195942"/>
                  </a:xfrm>
                  <a:custGeom>
                    <a:avLst/>
                    <a:gdLst>
                      <a:gd name="connsiteX0" fmla="*/ 240 w 195942"/>
                      <a:gd name="connsiteY0" fmla="*/ 340 h 195942"/>
                      <a:gd name="connsiteX1" fmla="*/ 196183 w 195942"/>
                      <a:gd name="connsiteY1" fmla="*/ 340 h 195942"/>
                      <a:gd name="connsiteX2" fmla="*/ 196183 w 195942"/>
                      <a:gd name="connsiteY2" fmla="*/ 196283 h 195942"/>
                      <a:gd name="connsiteX3" fmla="*/ 24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40"/>
                        </a:moveTo>
                        <a:lnTo>
                          <a:pt x="196183" y="340"/>
                        </a:lnTo>
                        <a:lnTo>
                          <a:pt x="196183" y="196283"/>
                        </a:lnTo>
                        <a:lnTo>
                          <a:pt x="24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0" name="任意多边形: 形状 259"/>
                  <p:cNvSpPr/>
                  <p:nvPr/>
                </p:nvSpPr>
                <p:spPr>
                  <a:xfrm>
                    <a:off x="4430485" y="2220685"/>
                    <a:ext cx="195942" cy="195942"/>
                  </a:xfrm>
                  <a:custGeom>
                    <a:avLst/>
                    <a:gdLst>
                      <a:gd name="connsiteX0" fmla="*/ 270 w 195942"/>
                      <a:gd name="connsiteY0" fmla="*/ 340 h 195942"/>
                      <a:gd name="connsiteX1" fmla="*/ 196213 w 195942"/>
                      <a:gd name="connsiteY1" fmla="*/ 340 h 195942"/>
                      <a:gd name="connsiteX2" fmla="*/ 196213 w 195942"/>
                      <a:gd name="connsiteY2" fmla="*/ 196283 h 195942"/>
                      <a:gd name="connsiteX3" fmla="*/ 27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40"/>
                        </a:moveTo>
                        <a:lnTo>
                          <a:pt x="196213" y="340"/>
                        </a:lnTo>
                        <a:lnTo>
                          <a:pt x="196213" y="196283"/>
                        </a:lnTo>
                        <a:lnTo>
                          <a:pt x="27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261" name="图形 5"/>
                <p:cNvGrpSpPr/>
                <p:nvPr/>
              </p:nvGrpSpPr>
              <p:grpSpPr>
                <a:xfrm>
                  <a:off x="1900048" y="4418793"/>
                  <a:ext cx="1175657" cy="195942"/>
                  <a:chOff x="3450771" y="2416628"/>
                  <a:chExt cx="1175657" cy="195942"/>
                </a:xfrm>
                <a:solidFill>
                  <a:srgbClr val="000000"/>
                </a:solidFill>
              </p:grpSpPr>
              <p:sp>
                <p:nvSpPr>
                  <p:cNvPr id="262" name="任意多边形: 形状 261"/>
                  <p:cNvSpPr/>
                  <p:nvPr/>
                </p:nvSpPr>
                <p:spPr>
                  <a:xfrm>
                    <a:off x="3450771" y="2416628"/>
                    <a:ext cx="195942" cy="195942"/>
                  </a:xfrm>
                  <a:custGeom>
                    <a:avLst/>
                    <a:gdLst>
                      <a:gd name="connsiteX0" fmla="*/ 120 w 195942"/>
                      <a:gd name="connsiteY0" fmla="*/ 370 h 195942"/>
                      <a:gd name="connsiteX1" fmla="*/ 196063 w 195942"/>
                      <a:gd name="connsiteY1" fmla="*/ 370 h 195942"/>
                      <a:gd name="connsiteX2" fmla="*/ 196063 w 195942"/>
                      <a:gd name="connsiteY2" fmla="*/ 196313 h 195942"/>
                      <a:gd name="connsiteX3" fmla="*/ 12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70"/>
                        </a:moveTo>
                        <a:lnTo>
                          <a:pt x="196063" y="370"/>
                        </a:lnTo>
                        <a:lnTo>
                          <a:pt x="196063" y="196313"/>
                        </a:lnTo>
                        <a:lnTo>
                          <a:pt x="12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3" name="任意多边形: 形状 262"/>
                  <p:cNvSpPr/>
                  <p:nvPr/>
                </p:nvSpPr>
                <p:spPr>
                  <a:xfrm>
                    <a:off x="3646714" y="2416628"/>
                    <a:ext cx="195942" cy="195942"/>
                  </a:xfrm>
                  <a:custGeom>
                    <a:avLst/>
                    <a:gdLst>
                      <a:gd name="connsiteX0" fmla="*/ 150 w 195942"/>
                      <a:gd name="connsiteY0" fmla="*/ 370 h 195942"/>
                      <a:gd name="connsiteX1" fmla="*/ 196093 w 195942"/>
                      <a:gd name="connsiteY1" fmla="*/ 370 h 195942"/>
                      <a:gd name="connsiteX2" fmla="*/ 196093 w 195942"/>
                      <a:gd name="connsiteY2" fmla="*/ 196313 h 195942"/>
                      <a:gd name="connsiteX3" fmla="*/ 15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70"/>
                        </a:moveTo>
                        <a:lnTo>
                          <a:pt x="196093" y="370"/>
                        </a:lnTo>
                        <a:lnTo>
                          <a:pt x="196093" y="196313"/>
                        </a:lnTo>
                        <a:lnTo>
                          <a:pt x="15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4" name="任意多边形: 形状 263"/>
                  <p:cNvSpPr/>
                  <p:nvPr/>
                </p:nvSpPr>
                <p:spPr>
                  <a:xfrm>
                    <a:off x="3842657" y="2416628"/>
                    <a:ext cx="195942" cy="195942"/>
                  </a:xfrm>
                  <a:custGeom>
                    <a:avLst/>
                    <a:gdLst>
                      <a:gd name="connsiteX0" fmla="*/ 180 w 195942"/>
                      <a:gd name="connsiteY0" fmla="*/ 370 h 195942"/>
                      <a:gd name="connsiteX1" fmla="*/ 196123 w 195942"/>
                      <a:gd name="connsiteY1" fmla="*/ 370 h 195942"/>
                      <a:gd name="connsiteX2" fmla="*/ 196123 w 195942"/>
                      <a:gd name="connsiteY2" fmla="*/ 196313 h 195942"/>
                      <a:gd name="connsiteX3" fmla="*/ 18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70"/>
                        </a:moveTo>
                        <a:lnTo>
                          <a:pt x="196123" y="370"/>
                        </a:lnTo>
                        <a:lnTo>
                          <a:pt x="196123" y="196313"/>
                        </a:lnTo>
                        <a:lnTo>
                          <a:pt x="18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5" name="任意多边形: 形状 264"/>
                  <p:cNvSpPr/>
                  <p:nvPr/>
                </p:nvSpPr>
                <p:spPr>
                  <a:xfrm>
                    <a:off x="4038600" y="2416628"/>
                    <a:ext cx="195942" cy="195942"/>
                  </a:xfrm>
                  <a:custGeom>
                    <a:avLst/>
                    <a:gdLst>
                      <a:gd name="connsiteX0" fmla="*/ 210 w 195942"/>
                      <a:gd name="connsiteY0" fmla="*/ 370 h 195942"/>
                      <a:gd name="connsiteX1" fmla="*/ 196153 w 195942"/>
                      <a:gd name="connsiteY1" fmla="*/ 370 h 195942"/>
                      <a:gd name="connsiteX2" fmla="*/ 196153 w 195942"/>
                      <a:gd name="connsiteY2" fmla="*/ 196313 h 195942"/>
                      <a:gd name="connsiteX3" fmla="*/ 21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70"/>
                        </a:moveTo>
                        <a:lnTo>
                          <a:pt x="196153" y="370"/>
                        </a:lnTo>
                        <a:lnTo>
                          <a:pt x="196153" y="196313"/>
                        </a:lnTo>
                        <a:lnTo>
                          <a:pt x="21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6" name="任意多边形: 形状 265"/>
                  <p:cNvSpPr/>
                  <p:nvPr/>
                </p:nvSpPr>
                <p:spPr>
                  <a:xfrm>
                    <a:off x="4234542" y="2416628"/>
                    <a:ext cx="195942" cy="195942"/>
                  </a:xfrm>
                  <a:custGeom>
                    <a:avLst/>
                    <a:gdLst>
                      <a:gd name="connsiteX0" fmla="*/ 240 w 195942"/>
                      <a:gd name="connsiteY0" fmla="*/ 370 h 195942"/>
                      <a:gd name="connsiteX1" fmla="*/ 196183 w 195942"/>
                      <a:gd name="connsiteY1" fmla="*/ 370 h 195942"/>
                      <a:gd name="connsiteX2" fmla="*/ 196183 w 195942"/>
                      <a:gd name="connsiteY2" fmla="*/ 196313 h 195942"/>
                      <a:gd name="connsiteX3" fmla="*/ 24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70"/>
                        </a:moveTo>
                        <a:lnTo>
                          <a:pt x="196183" y="370"/>
                        </a:lnTo>
                        <a:lnTo>
                          <a:pt x="196183" y="196313"/>
                        </a:lnTo>
                        <a:lnTo>
                          <a:pt x="24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7" name="任意多边形: 形状 266"/>
                  <p:cNvSpPr/>
                  <p:nvPr/>
                </p:nvSpPr>
                <p:spPr>
                  <a:xfrm>
                    <a:off x="4430485" y="2416628"/>
                    <a:ext cx="195942" cy="195942"/>
                  </a:xfrm>
                  <a:custGeom>
                    <a:avLst/>
                    <a:gdLst>
                      <a:gd name="connsiteX0" fmla="*/ 270 w 195942"/>
                      <a:gd name="connsiteY0" fmla="*/ 370 h 195942"/>
                      <a:gd name="connsiteX1" fmla="*/ 196213 w 195942"/>
                      <a:gd name="connsiteY1" fmla="*/ 370 h 195942"/>
                      <a:gd name="connsiteX2" fmla="*/ 196213 w 195942"/>
                      <a:gd name="connsiteY2" fmla="*/ 196313 h 195942"/>
                      <a:gd name="connsiteX3" fmla="*/ 27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70"/>
                        </a:moveTo>
                        <a:lnTo>
                          <a:pt x="196213" y="370"/>
                        </a:lnTo>
                        <a:lnTo>
                          <a:pt x="196213" y="196313"/>
                        </a:lnTo>
                        <a:lnTo>
                          <a:pt x="27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sp>
            <p:nvSpPr>
              <p:cNvPr id="269" name="文本框 268"/>
              <p:cNvSpPr txBox="1"/>
              <p:nvPr/>
            </p:nvSpPr>
            <p:spPr>
              <a:xfrm>
                <a:off x="3370758" y="4858857"/>
                <a:ext cx="9207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爱</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70" name="文本框 269"/>
              <p:cNvSpPr txBox="1"/>
              <p:nvPr/>
            </p:nvSpPr>
            <p:spPr>
              <a:xfrm>
                <a:off x="3380304" y="4458491"/>
                <a:ext cx="9207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你</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71" name="文本框 270"/>
              <p:cNvSpPr txBox="1"/>
              <p:nvPr/>
            </p:nvSpPr>
            <p:spPr>
              <a:xfrm>
                <a:off x="3379400" y="5240389"/>
                <a:ext cx="9207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吃</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72" name="文本框 271"/>
              <p:cNvSpPr txBox="1"/>
              <p:nvPr/>
            </p:nvSpPr>
            <p:spPr>
              <a:xfrm>
                <a:off x="3391769" y="5981451"/>
                <a:ext cx="9207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吗</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273" name="文本框 272"/>
              <p:cNvSpPr txBox="1"/>
              <p:nvPr/>
            </p:nvSpPr>
            <p:spPr>
              <a:xfrm>
                <a:off x="3391769" y="5627436"/>
                <a:ext cx="9207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糖</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graphicFrame>
          <p:nvGraphicFramePr>
            <p:cNvPr id="277" name="对象 276"/>
            <p:cNvGraphicFramePr>
              <a:graphicFrameLocks noChangeAspect="1"/>
            </p:cNvGraphicFramePr>
            <p:nvPr/>
          </p:nvGraphicFramePr>
          <p:xfrm>
            <a:off x="1866787" y="3396341"/>
            <a:ext cx="419213" cy="390500"/>
          </p:xfrm>
          <a:graphic>
            <a:graphicData uri="http://schemas.openxmlformats.org/presentationml/2006/ole">
              <mc:AlternateContent xmlns:mc="http://schemas.openxmlformats.org/markup-compatibility/2006">
                <mc:Choice xmlns:v="urn:schemas-microsoft-com:vml" Requires="v">
                  <p:oleObj spid="_x0000_s6615" name="Equation" r:id="rId1" imgW="184785" imgH="170180" progId="Equation.DSMT4">
                    <p:embed/>
                  </p:oleObj>
                </mc:Choice>
                <mc:Fallback>
                  <p:oleObj name="Equation" r:id="rId1" imgW="184785" imgH="170180" progId="Equation.DSMT4">
                    <p:embed/>
                    <p:pic>
                      <p:nvPicPr>
                        <p:cNvPr id="0" name="图片 6458"/>
                        <p:cNvPicPr/>
                        <p:nvPr/>
                      </p:nvPicPr>
                      <p:blipFill>
                        <a:blip r:embed="rId2"/>
                        <a:stretch>
                          <a:fillRect/>
                        </a:stretch>
                      </p:blipFill>
                      <p:spPr>
                        <a:xfrm>
                          <a:off x="1866787" y="3396341"/>
                          <a:ext cx="419213" cy="390500"/>
                        </a:xfrm>
                        <a:prstGeom prst="rect">
                          <a:avLst/>
                        </a:prstGeom>
                      </p:spPr>
                    </p:pic>
                  </p:oleObj>
                </mc:Fallback>
              </mc:AlternateContent>
            </a:graphicData>
          </a:graphic>
        </p:graphicFrame>
        <p:graphicFrame>
          <p:nvGraphicFramePr>
            <p:cNvPr id="279" name="对象 278"/>
            <p:cNvGraphicFramePr>
              <a:graphicFrameLocks noChangeAspect="1"/>
            </p:cNvGraphicFramePr>
            <p:nvPr/>
          </p:nvGraphicFramePr>
          <p:xfrm>
            <a:off x="3450014" y="2893502"/>
            <a:ext cx="419100" cy="387350"/>
          </p:xfrm>
          <a:graphic>
            <a:graphicData uri="http://schemas.openxmlformats.org/presentationml/2006/ole">
              <mc:AlternateContent xmlns:mc="http://schemas.openxmlformats.org/markup-compatibility/2006">
                <mc:Choice xmlns:v="urn:schemas-microsoft-com:vml" Requires="v">
                  <p:oleObj spid="_x0000_s6616" name="Equation" r:id="rId3" imgW="325755" imgH="301625" progId="Equation.DSMT4">
                    <p:embed/>
                  </p:oleObj>
                </mc:Choice>
                <mc:Fallback>
                  <p:oleObj name="Equation" r:id="rId3" imgW="325755" imgH="301625" progId="Equation.DSMT4">
                    <p:embed/>
                    <p:pic>
                      <p:nvPicPr>
                        <p:cNvPr id="0" name="图片 6459"/>
                        <p:cNvPicPr/>
                        <p:nvPr/>
                      </p:nvPicPr>
                      <p:blipFill>
                        <a:blip r:embed="rId4"/>
                        <a:stretch>
                          <a:fillRect/>
                        </a:stretch>
                      </p:blipFill>
                      <p:spPr>
                        <a:xfrm>
                          <a:off x="3450014" y="2893502"/>
                          <a:ext cx="419100" cy="387350"/>
                        </a:xfrm>
                        <a:prstGeom prst="rect">
                          <a:avLst/>
                        </a:prstGeom>
                      </p:spPr>
                    </p:pic>
                  </p:oleObj>
                </mc:Fallback>
              </mc:AlternateContent>
            </a:graphicData>
          </a:graphic>
        </p:graphicFrame>
        <p:graphicFrame>
          <p:nvGraphicFramePr>
            <p:cNvPr id="280" name="对象 279"/>
            <p:cNvGraphicFramePr>
              <a:graphicFrameLocks noChangeAspect="1"/>
            </p:cNvGraphicFramePr>
            <p:nvPr/>
          </p:nvGraphicFramePr>
          <p:xfrm>
            <a:off x="4731285" y="630027"/>
            <a:ext cx="399515" cy="446649"/>
          </p:xfrm>
          <a:graphic>
            <a:graphicData uri="http://schemas.openxmlformats.org/presentationml/2006/ole">
              <mc:AlternateContent xmlns:mc="http://schemas.openxmlformats.org/markup-compatibility/2006">
                <mc:Choice xmlns:v="urn:schemas-microsoft-com:vml" Requires="v">
                  <p:oleObj spid="_x0000_s6617" name="Equation" r:id="rId5" imgW="219075" imgH="248285" progId="Equation.DSMT4">
                    <p:embed/>
                  </p:oleObj>
                </mc:Choice>
                <mc:Fallback>
                  <p:oleObj name="Equation" r:id="rId5" imgW="219075" imgH="248285" progId="Equation.DSMT4">
                    <p:embed/>
                    <p:pic>
                      <p:nvPicPr>
                        <p:cNvPr id="0" name="图片 6460"/>
                        <p:cNvPicPr/>
                        <p:nvPr/>
                      </p:nvPicPr>
                      <p:blipFill>
                        <a:blip r:embed="rId6"/>
                        <a:stretch>
                          <a:fillRect/>
                        </a:stretch>
                      </p:blipFill>
                      <p:spPr>
                        <a:xfrm>
                          <a:off x="4731285" y="630027"/>
                          <a:ext cx="399515" cy="446649"/>
                        </a:xfrm>
                        <a:prstGeom prst="rect">
                          <a:avLst/>
                        </a:prstGeom>
                      </p:spPr>
                    </p:pic>
                  </p:oleObj>
                </mc:Fallback>
              </mc:AlternateContent>
            </a:graphicData>
          </a:graphic>
        </p:graphicFrame>
        <p:graphicFrame>
          <p:nvGraphicFramePr>
            <p:cNvPr id="281" name="对象 280"/>
            <p:cNvGraphicFramePr>
              <a:graphicFrameLocks noChangeAspect="1"/>
            </p:cNvGraphicFramePr>
            <p:nvPr/>
          </p:nvGraphicFramePr>
          <p:xfrm>
            <a:off x="4811450" y="1872116"/>
            <a:ext cx="394679" cy="396779"/>
          </p:xfrm>
          <a:graphic>
            <a:graphicData uri="http://schemas.openxmlformats.org/presentationml/2006/ole">
              <mc:AlternateContent xmlns:mc="http://schemas.openxmlformats.org/markup-compatibility/2006">
                <mc:Choice xmlns:v="urn:schemas-microsoft-com:vml" Requires="v">
                  <p:oleObj spid="_x0000_s6618" name="Equation" r:id="rId7" imgW="233680" imgH="233680" progId="Equation.DSMT4">
                    <p:embed/>
                  </p:oleObj>
                </mc:Choice>
                <mc:Fallback>
                  <p:oleObj name="Equation" r:id="rId7" imgW="233680" imgH="233680" progId="Equation.DSMT4">
                    <p:embed/>
                    <p:pic>
                      <p:nvPicPr>
                        <p:cNvPr id="0" name="图片 6461"/>
                        <p:cNvPicPr/>
                        <p:nvPr/>
                      </p:nvPicPr>
                      <p:blipFill>
                        <a:blip r:embed="rId8"/>
                        <a:stretch>
                          <a:fillRect/>
                        </a:stretch>
                      </p:blipFill>
                      <p:spPr>
                        <a:xfrm>
                          <a:off x="4811450" y="1872116"/>
                          <a:ext cx="394679" cy="396779"/>
                        </a:xfrm>
                        <a:prstGeom prst="rect">
                          <a:avLst/>
                        </a:prstGeom>
                      </p:spPr>
                    </p:pic>
                  </p:oleObj>
                </mc:Fallback>
              </mc:AlternateContent>
            </a:graphicData>
          </a:graphic>
        </p:graphicFrame>
        <p:graphicFrame>
          <p:nvGraphicFramePr>
            <p:cNvPr id="283" name="对象 282"/>
            <p:cNvGraphicFramePr>
              <a:graphicFrameLocks noChangeAspect="1"/>
            </p:cNvGraphicFramePr>
            <p:nvPr/>
          </p:nvGraphicFramePr>
          <p:xfrm>
            <a:off x="4801637" y="3080113"/>
            <a:ext cx="464381" cy="419943"/>
          </p:xfrm>
          <a:graphic>
            <a:graphicData uri="http://schemas.openxmlformats.org/presentationml/2006/ole">
              <mc:AlternateContent xmlns:mc="http://schemas.openxmlformats.org/markup-compatibility/2006">
                <mc:Choice xmlns:v="urn:schemas-microsoft-com:vml" Requires="v">
                  <p:oleObj spid="_x0000_s6619" name="Equation" r:id="rId9" imgW="257810" imgH="233680" progId="Equation.DSMT4">
                    <p:embed/>
                  </p:oleObj>
                </mc:Choice>
                <mc:Fallback>
                  <p:oleObj name="Equation" r:id="rId9" imgW="257810" imgH="233680" progId="Equation.DSMT4">
                    <p:embed/>
                    <p:pic>
                      <p:nvPicPr>
                        <p:cNvPr id="0" name="图片 6462"/>
                        <p:cNvPicPr/>
                        <p:nvPr/>
                      </p:nvPicPr>
                      <p:blipFill>
                        <a:blip r:embed="rId10"/>
                        <a:stretch>
                          <a:fillRect/>
                        </a:stretch>
                      </p:blipFill>
                      <p:spPr>
                        <a:xfrm>
                          <a:off x="4801637" y="3080113"/>
                          <a:ext cx="464381" cy="419943"/>
                        </a:xfrm>
                        <a:prstGeom prst="rect">
                          <a:avLst/>
                        </a:prstGeom>
                      </p:spPr>
                    </p:pic>
                  </p:oleObj>
                </mc:Fallback>
              </mc:AlternateContent>
            </a:graphicData>
          </a:graphic>
        </p:graphicFrame>
        <p:graphicFrame>
          <p:nvGraphicFramePr>
            <p:cNvPr id="284" name="对象 283"/>
            <p:cNvGraphicFramePr>
              <a:graphicFrameLocks noChangeAspect="1"/>
            </p:cNvGraphicFramePr>
            <p:nvPr/>
          </p:nvGraphicFramePr>
          <p:xfrm>
            <a:off x="6396184" y="560223"/>
            <a:ext cx="237745" cy="316993"/>
          </p:xfrm>
          <a:graphic>
            <a:graphicData uri="http://schemas.openxmlformats.org/presentationml/2006/ole">
              <mc:AlternateContent xmlns:mc="http://schemas.openxmlformats.org/markup-compatibility/2006">
                <mc:Choice xmlns:v="urn:schemas-microsoft-com:vml" Requires="v">
                  <p:oleObj spid="_x0000_s6620" name="Equation" r:id="rId11" imgW="155575" imgH="208915" progId="Equation.DSMT4">
                    <p:embed/>
                  </p:oleObj>
                </mc:Choice>
                <mc:Fallback>
                  <p:oleObj name="Equation" r:id="rId11" imgW="155575" imgH="208915" progId="Equation.DSMT4">
                    <p:embed/>
                    <p:pic>
                      <p:nvPicPr>
                        <p:cNvPr id="0" name="图片 6463"/>
                        <p:cNvPicPr/>
                        <p:nvPr/>
                      </p:nvPicPr>
                      <p:blipFill>
                        <a:blip r:embed="rId12"/>
                        <a:stretch>
                          <a:fillRect/>
                        </a:stretch>
                      </p:blipFill>
                      <p:spPr>
                        <a:xfrm>
                          <a:off x="6396184" y="560223"/>
                          <a:ext cx="237745" cy="316993"/>
                        </a:xfrm>
                        <a:prstGeom prst="rect">
                          <a:avLst/>
                        </a:prstGeom>
                      </p:spPr>
                    </p:pic>
                  </p:oleObj>
                </mc:Fallback>
              </mc:AlternateContent>
            </a:graphicData>
          </a:graphic>
        </p:graphicFrame>
        <p:graphicFrame>
          <p:nvGraphicFramePr>
            <p:cNvPr id="285" name="对象 284"/>
            <p:cNvGraphicFramePr>
              <a:graphicFrameLocks noChangeAspect="1"/>
            </p:cNvGraphicFramePr>
            <p:nvPr/>
          </p:nvGraphicFramePr>
          <p:xfrm>
            <a:off x="6360558" y="1821749"/>
            <a:ext cx="308999" cy="308999"/>
          </p:xfrm>
          <a:graphic>
            <a:graphicData uri="http://schemas.openxmlformats.org/presentationml/2006/ole">
              <mc:AlternateContent xmlns:mc="http://schemas.openxmlformats.org/markup-compatibility/2006">
                <mc:Choice xmlns:v="urn:schemas-microsoft-com:vml" Requires="v">
                  <p:oleObj spid="_x0000_s6621" name="Equation" r:id="rId13" imgW="170180" imgH="170180" progId="Equation.DSMT4">
                    <p:embed/>
                  </p:oleObj>
                </mc:Choice>
                <mc:Fallback>
                  <p:oleObj name="Equation" r:id="rId13" imgW="170180" imgH="170180" progId="Equation.DSMT4">
                    <p:embed/>
                    <p:pic>
                      <p:nvPicPr>
                        <p:cNvPr id="0" name="图片 6464"/>
                        <p:cNvPicPr/>
                        <p:nvPr/>
                      </p:nvPicPr>
                      <p:blipFill>
                        <a:blip r:embed="rId14"/>
                        <a:stretch>
                          <a:fillRect/>
                        </a:stretch>
                      </p:blipFill>
                      <p:spPr>
                        <a:xfrm>
                          <a:off x="6360558" y="1821749"/>
                          <a:ext cx="308999" cy="308999"/>
                        </a:xfrm>
                        <a:prstGeom prst="rect">
                          <a:avLst/>
                        </a:prstGeom>
                      </p:spPr>
                    </p:pic>
                  </p:oleObj>
                </mc:Fallback>
              </mc:AlternateContent>
            </a:graphicData>
          </a:graphic>
        </p:graphicFrame>
        <p:graphicFrame>
          <p:nvGraphicFramePr>
            <p:cNvPr id="286" name="对象 285"/>
            <p:cNvGraphicFramePr>
              <a:graphicFrameLocks noChangeAspect="1"/>
            </p:cNvGraphicFramePr>
            <p:nvPr/>
          </p:nvGraphicFramePr>
          <p:xfrm>
            <a:off x="6384342" y="3277015"/>
            <a:ext cx="329646" cy="384588"/>
          </p:xfrm>
          <a:graphic>
            <a:graphicData uri="http://schemas.openxmlformats.org/presentationml/2006/ole">
              <mc:AlternateContent xmlns:mc="http://schemas.openxmlformats.org/markup-compatibility/2006">
                <mc:Choice xmlns:v="urn:schemas-microsoft-com:vml" Requires="v">
                  <p:oleObj spid="_x0000_s6622" name="Equation" r:id="rId15" imgW="155575" imgH="184785" progId="Equation.DSMT4">
                    <p:embed/>
                  </p:oleObj>
                </mc:Choice>
                <mc:Fallback>
                  <p:oleObj name="Equation" r:id="rId15" imgW="155575" imgH="184785" progId="Equation.DSMT4">
                    <p:embed/>
                    <p:pic>
                      <p:nvPicPr>
                        <p:cNvPr id="0" name="图片 6465"/>
                        <p:cNvPicPr/>
                        <p:nvPr/>
                      </p:nvPicPr>
                      <p:blipFill>
                        <a:blip r:embed="rId16"/>
                        <a:stretch>
                          <a:fillRect/>
                        </a:stretch>
                      </p:blipFill>
                      <p:spPr>
                        <a:xfrm>
                          <a:off x="6384342" y="3277015"/>
                          <a:ext cx="329646" cy="384588"/>
                        </a:xfrm>
                        <a:prstGeom prst="rect">
                          <a:avLst/>
                        </a:prstGeom>
                      </p:spPr>
                    </p:pic>
                  </p:oleObj>
                </mc:Fallback>
              </mc:AlternateContent>
            </a:graphicData>
          </a:graphic>
        </p:graphicFrame>
      </p:grpSp>
      <p:grpSp>
        <p:nvGrpSpPr>
          <p:cNvPr id="6" name="组合 5"/>
          <p:cNvGrpSpPr/>
          <p:nvPr/>
        </p:nvGrpSpPr>
        <p:grpSpPr>
          <a:xfrm>
            <a:off x="6825918" y="171726"/>
            <a:ext cx="3150529" cy="4147311"/>
            <a:chOff x="6825918" y="171726"/>
            <a:chExt cx="3150529" cy="4147311"/>
          </a:xfrm>
        </p:grpSpPr>
        <p:grpSp>
          <p:nvGrpSpPr>
            <p:cNvPr id="318" name="图形 5"/>
            <p:cNvGrpSpPr/>
            <p:nvPr/>
          </p:nvGrpSpPr>
          <p:grpSpPr>
            <a:xfrm>
              <a:off x="6825918" y="171726"/>
              <a:ext cx="938440" cy="1117413"/>
              <a:chOff x="3516085" y="5029200"/>
              <a:chExt cx="783771" cy="979713"/>
            </a:xfrm>
            <a:solidFill>
              <a:schemeClr val="accent1">
                <a:lumMod val="20000"/>
                <a:lumOff val="80000"/>
              </a:schemeClr>
            </a:solidFill>
          </p:grpSpPr>
          <p:grpSp>
            <p:nvGrpSpPr>
              <p:cNvPr id="319" name="图形 5"/>
              <p:cNvGrpSpPr/>
              <p:nvPr/>
            </p:nvGrpSpPr>
            <p:grpSpPr>
              <a:xfrm>
                <a:off x="3516085" y="5029200"/>
                <a:ext cx="783771" cy="195942"/>
                <a:chOff x="3516085" y="5029200"/>
                <a:chExt cx="783771" cy="195942"/>
              </a:xfrm>
              <a:grpFill/>
            </p:grpSpPr>
            <p:sp>
              <p:nvSpPr>
                <p:cNvPr id="342" name="任意多边形: 形状 341"/>
                <p:cNvSpPr/>
                <p:nvPr/>
              </p:nvSpPr>
              <p:spPr>
                <a:xfrm>
                  <a:off x="3516085" y="5029200"/>
                  <a:ext cx="195942" cy="195942"/>
                </a:xfrm>
                <a:custGeom>
                  <a:avLst/>
                  <a:gdLst>
                    <a:gd name="connsiteX0" fmla="*/ 130 w 195942"/>
                    <a:gd name="connsiteY0" fmla="*/ 770 h 195942"/>
                    <a:gd name="connsiteX1" fmla="*/ 196073 w 195942"/>
                    <a:gd name="connsiteY1" fmla="*/ 770 h 195942"/>
                    <a:gd name="connsiteX2" fmla="*/ 196073 w 195942"/>
                    <a:gd name="connsiteY2" fmla="*/ 196713 h 195942"/>
                    <a:gd name="connsiteX3" fmla="*/ 13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770"/>
                      </a:moveTo>
                      <a:lnTo>
                        <a:pt x="196073" y="770"/>
                      </a:lnTo>
                      <a:lnTo>
                        <a:pt x="196073" y="196713"/>
                      </a:lnTo>
                      <a:lnTo>
                        <a:pt x="130" y="196713"/>
                      </a:lnTo>
                      <a:close/>
                    </a:path>
                  </a:pathLst>
                </a:custGeom>
                <a:grpFill/>
                <a:ln w="9797" cap="flat">
                  <a:solidFill>
                    <a:srgbClr val="333333"/>
                  </a:solidFill>
                  <a:prstDash val="solid"/>
                  <a:miter/>
                </a:ln>
              </p:spPr>
              <p:txBody>
                <a:bodyPr rtlCol="0" anchor="ctr"/>
                <a:lstStyle/>
                <a:p>
                  <a:endParaRPr lang="zh-CN" altLang="en-US"/>
                </a:p>
              </p:txBody>
            </p:sp>
            <p:sp>
              <p:nvSpPr>
                <p:cNvPr id="343" name="任意多边形: 形状 342"/>
                <p:cNvSpPr/>
                <p:nvPr/>
              </p:nvSpPr>
              <p:spPr>
                <a:xfrm>
                  <a:off x="3712028" y="5029200"/>
                  <a:ext cx="195942" cy="195942"/>
                </a:xfrm>
                <a:custGeom>
                  <a:avLst/>
                  <a:gdLst>
                    <a:gd name="connsiteX0" fmla="*/ 160 w 195942"/>
                    <a:gd name="connsiteY0" fmla="*/ 770 h 195942"/>
                    <a:gd name="connsiteX1" fmla="*/ 196103 w 195942"/>
                    <a:gd name="connsiteY1" fmla="*/ 770 h 195942"/>
                    <a:gd name="connsiteX2" fmla="*/ 196103 w 195942"/>
                    <a:gd name="connsiteY2" fmla="*/ 196713 h 195942"/>
                    <a:gd name="connsiteX3" fmla="*/ 16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770"/>
                      </a:moveTo>
                      <a:lnTo>
                        <a:pt x="196103" y="770"/>
                      </a:lnTo>
                      <a:lnTo>
                        <a:pt x="196103" y="196713"/>
                      </a:lnTo>
                      <a:lnTo>
                        <a:pt x="160" y="196713"/>
                      </a:lnTo>
                      <a:close/>
                    </a:path>
                  </a:pathLst>
                </a:custGeom>
                <a:grpFill/>
                <a:ln w="9797" cap="flat">
                  <a:solidFill>
                    <a:srgbClr val="333333"/>
                  </a:solidFill>
                  <a:prstDash val="solid"/>
                  <a:miter/>
                </a:ln>
              </p:spPr>
              <p:txBody>
                <a:bodyPr rtlCol="0" anchor="ctr"/>
                <a:lstStyle/>
                <a:p>
                  <a:endParaRPr lang="zh-CN" altLang="en-US"/>
                </a:p>
              </p:txBody>
            </p:sp>
            <p:sp>
              <p:nvSpPr>
                <p:cNvPr id="344" name="任意多边形: 形状 343"/>
                <p:cNvSpPr/>
                <p:nvPr/>
              </p:nvSpPr>
              <p:spPr>
                <a:xfrm>
                  <a:off x="3907971" y="5029200"/>
                  <a:ext cx="195942" cy="195942"/>
                </a:xfrm>
                <a:custGeom>
                  <a:avLst/>
                  <a:gdLst>
                    <a:gd name="connsiteX0" fmla="*/ 190 w 195942"/>
                    <a:gd name="connsiteY0" fmla="*/ 770 h 195942"/>
                    <a:gd name="connsiteX1" fmla="*/ 196133 w 195942"/>
                    <a:gd name="connsiteY1" fmla="*/ 770 h 195942"/>
                    <a:gd name="connsiteX2" fmla="*/ 196133 w 195942"/>
                    <a:gd name="connsiteY2" fmla="*/ 196713 h 195942"/>
                    <a:gd name="connsiteX3" fmla="*/ 19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770"/>
                      </a:moveTo>
                      <a:lnTo>
                        <a:pt x="196133" y="770"/>
                      </a:lnTo>
                      <a:lnTo>
                        <a:pt x="196133" y="196713"/>
                      </a:lnTo>
                      <a:lnTo>
                        <a:pt x="190" y="196713"/>
                      </a:lnTo>
                      <a:close/>
                    </a:path>
                  </a:pathLst>
                </a:custGeom>
                <a:grpFill/>
                <a:ln w="9797" cap="flat">
                  <a:solidFill>
                    <a:srgbClr val="333333"/>
                  </a:solidFill>
                  <a:prstDash val="solid"/>
                  <a:miter/>
                </a:ln>
              </p:spPr>
              <p:txBody>
                <a:bodyPr rtlCol="0" anchor="ctr"/>
                <a:lstStyle/>
                <a:p>
                  <a:endParaRPr lang="zh-CN" altLang="en-US"/>
                </a:p>
              </p:txBody>
            </p:sp>
            <p:sp>
              <p:nvSpPr>
                <p:cNvPr id="345" name="任意多边形: 形状 344"/>
                <p:cNvSpPr/>
                <p:nvPr/>
              </p:nvSpPr>
              <p:spPr>
                <a:xfrm>
                  <a:off x="4103914" y="5029200"/>
                  <a:ext cx="195942" cy="195942"/>
                </a:xfrm>
                <a:custGeom>
                  <a:avLst/>
                  <a:gdLst>
                    <a:gd name="connsiteX0" fmla="*/ 220 w 195942"/>
                    <a:gd name="connsiteY0" fmla="*/ 770 h 195942"/>
                    <a:gd name="connsiteX1" fmla="*/ 196163 w 195942"/>
                    <a:gd name="connsiteY1" fmla="*/ 770 h 195942"/>
                    <a:gd name="connsiteX2" fmla="*/ 196163 w 195942"/>
                    <a:gd name="connsiteY2" fmla="*/ 196713 h 195942"/>
                    <a:gd name="connsiteX3" fmla="*/ 22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770"/>
                      </a:moveTo>
                      <a:lnTo>
                        <a:pt x="196163" y="770"/>
                      </a:lnTo>
                      <a:lnTo>
                        <a:pt x="196163" y="196713"/>
                      </a:lnTo>
                      <a:lnTo>
                        <a:pt x="220" y="196713"/>
                      </a:lnTo>
                      <a:close/>
                    </a:path>
                  </a:pathLst>
                </a:custGeom>
                <a:grpFill/>
                <a:ln w="9797" cap="flat">
                  <a:solidFill>
                    <a:srgbClr val="333333"/>
                  </a:solidFill>
                  <a:prstDash val="solid"/>
                  <a:miter/>
                </a:ln>
              </p:spPr>
              <p:txBody>
                <a:bodyPr rtlCol="0" anchor="ctr"/>
                <a:lstStyle/>
                <a:p>
                  <a:endParaRPr lang="zh-CN" altLang="en-US"/>
                </a:p>
              </p:txBody>
            </p:sp>
          </p:grpSp>
          <p:grpSp>
            <p:nvGrpSpPr>
              <p:cNvPr id="320" name="图形 5"/>
              <p:cNvGrpSpPr/>
              <p:nvPr/>
            </p:nvGrpSpPr>
            <p:grpSpPr>
              <a:xfrm>
                <a:off x="3516085" y="5225142"/>
                <a:ext cx="783771" cy="195942"/>
                <a:chOff x="3516085" y="5225142"/>
                <a:chExt cx="783771" cy="195942"/>
              </a:xfrm>
              <a:grpFill/>
            </p:grpSpPr>
            <p:sp>
              <p:nvSpPr>
                <p:cNvPr id="338" name="任意多边形: 形状 337"/>
                <p:cNvSpPr/>
                <p:nvPr/>
              </p:nvSpPr>
              <p:spPr>
                <a:xfrm>
                  <a:off x="3516085" y="5225142"/>
                  <a:ext cx="195942" cy="195942"/>
                </a:xfrm>
                <a:custGeom>
                  <a:avLst/>
                  <a:gdLst>
                    <a:gd name="connsiteX0" fmla="*/ 130 w 195942"/>
                    <a:gd name="connsiteY0" fmla="*/ 800 h 195942"/>
                    <a:gd name="connsiteX1" fmla="*/ 196073 w 195942"/>
                    <a:gd name="connsiteY1" fmla="*/ 800 h 195942"/>
                    <a:gd name="connsiteX2" fmla="*/ 196073 w 195942"/>
                    <a:gd name="connsiteY2" fmla="*/ 196743 h 195942"/>
                    <a:gd name="connsiteX3" fmla="*/ 13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00"/>
                      </a:moveTo>
                      <a:lnTo>
                        <a:pt x="196073" y="800"/>
                      </a:lnTo>
                      <a:lnTo>
                        <a:pt x="196073" y="196743"/>
                      </a:lnTo>
                      <a:lnTo>
                        <a:pt x="130" y="196743"/>
                      </a:lnTo>
                      <a:close/>
                    </a:path>
                  </a:pathLst>
                </a:custGeom>
                <a:grpFill/>
                <a:ln w="9797" cap="flat">
                  <a:solidFill>
                    <a:srgbClr val="333333"/>
                  </a:solidFill>
                  <a:prstDash val="solid"/>
                  <a:miter/>
                </a:ln>
              </p:spPr>
              <p:txBody>
                <a:bodyPr rtlCol="0" anchor="ctr"/>
                <a:lstStyle/>
                <a:p>
                  <a:endParaRPr lang="zh-CN" altLang="en-US"/>
                </a:p>
              </p:txBody>
            </p:sp>
            <p:sp>
              <p:nvSpPr>
                <p:cNvPr id="339" name="任意多边形: 形状 338"/>
                <p:cNvSpPr/>
                <p:nvPr/>
              </p:nvSpPr>
              <p:spPr>
                <a:xfrm>
                  <a:off x="3712028" y="5225142"/>
                  <a:ext cx="195942" cy="195942"/>
                </a:xfrm>
                <a:custGeom>
                  <a:avLst/>
                  <a:gdLst>
                    <a:gd name="connsiteX0" fmla="*/ 160 w 195942"/>
                    <a:gd name="connsiteY0" fmla="*/ 800 h 195942"/>
                    <a:gd name="connsiteX1" fmla="*/ 196103 w 195942"/>
                    <a:gd name="connsiteY1" fmla="*/ 800 h 195942"/>
                    <a:gd name="connsiteX2" fmla="*/ 196103 w 195942"/>
                    <a:gd name="connsiteY2" fmla="*/ 196743 h 195942"/>
                    <a:gd name="connsiteX3" fmla="*/ 16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00"/>
                      </a:moveTo>
                      <a:lnTo>
                        <a:pt x="196103" y="800"/>
                      </a:lnTo>
                      <a:lnTo>
                        <a:pt x="196103" y="196743"/>
                      </a:lnTo>
                      <a:lnTo>
                        <a:pt x="160" y="196743"/>
                      </a:lnTo>
                      <a:close/>
                    </a:path>
                  </a:pathLst>
                </a:custGeom>
                <a:grpFill/>
                <a:ln w="9797" cap="flat">
                  <a:solidFill>
                    <a:srgbClr val="333333"/>
                  </a:solidFill>
                  <a:prstDash val="solid"/>
                  <a:miter/>
                </a:ln>
              </p:spPr>
              <p:txBody>
                <a:bodyPr rtlCol="0" anchor="ctr"/>
                <a:lstStyle/>
                <a:p>
                  <a:endParaRPr lang="zh-CN" altLang="en-US"/>
                </a:p>
              </p:txBody>
            </p:sp>
            <p:sp>
              <p:nvSpPr>
                <p:cNvPr id="340" name="任意多边形: 形状 339"/>
                <p:cNvSpPr/>
                <p:nvPr/>
              </p:nvSpPr>
              <p:spPr>
                <a:xfrm>
                  <a:off x="3907971" y="5225142"/>
                  <a:ext cx="195942" cy="195942"/>
                </a:xfrm>
                <a:custGeom>
                  <a:avLst/>
                  <a:gdLst>
                    <a:gd name="connsiteX0" fmla="*/ 190 w 195942"/>
                    <a:gd name="connsiteY0" fmla="*/ 800 h 195942"/>
                    <a:gd name="connsiteX1" fmla="*/ 196133 w 195942"/>
                    <a:gd name="connsiteY1" fmla="*/ 800 h 195942"/>
                    <a:gd name="connsiteX2" fmla="*/ 196133 w 195942"/>
                    <a:gd name="connsiteY2" fmla="*/ 196743 h 195942"/>
                    <a:gd name="connsiteX3" fmla="*/ 19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00"/>
                      </a:moveTo>
                      <a:lnTo>
                        <a:pt x="196133" y="800"/>
                      </a:lnTo>
                      <a:lnTo>
                        <a:pt x="196133" y="196743"/>
                      </a:lnTo>
                      <a:lnTo>
                        <a:pt x="190" y="196743"/>
                      </a:lnTo>
                      <a:close/>
                    </a:path>
                  </a:pathLst>
                </a:custGeom>
                <a:grpFill/>
                <a:ln w="9797" cap="flat">
                  <a:solidFill>
                    <a:srgbClr val="333333"/>
                  </a:solidFill>
                  <a:prstDash val="solid"/>
                  <a:miter/>
                </a:ln>
              </p:spPr>
              <p:txBody>
                <a:bodyPr rtlCol="0" anchor="ctr"/>
                <a:lstStyle/>
                <a:p>
                  <a:endParaRPr lang="zh-CN" altLang="en-US"/>
                </a:p>
              </p:txBody>
            </p:sp>
            <p:sp>
              <p:nvSpPr>
                <p:cNvPr id="341" name="任意多边形: 形状 340"/>
                <p:cNvSpPr/>
                <p:nvPr/>
              </p:nvSpPr>
              <p:spPr>
                <a:xfrm>
                  <a:off x="4103914" y="5225142"/>
                  <a:ext cx="195942" cy="195942"/>
                </a:xfrm>
                <a:custGeom>
                  <a:avLst/>
                  <a:gdLst>
                    <a:gd name="connsiteX0" fmla="*/ 220 w 195942"/>
                    <a:gd name="connsiteY0" fmla="*/ 800 h 195942"/>
                    <a:gd name="connsiteX1" fmla="*/ 196163 w 195942"/>
                    <a:gd name="connsiteY1" fmla="*/ 800 h 195942"/>
                    <a:gd name="connsiteX2" fmla="*/ 196163 w 195942"/>
                    <a:gd name="connsiteY2" fmla="*/ 196743 h 195942"/>
                    <a:gd name="connsiteX3" fmla="*/ 22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00"/>
                      </a:moveTo>
                      <a:lnTo>
                        <a:pt x="196163" y="800"/>
                      </a:lnTo>
                      <a:lnTo>
                        <a:pt x="196163" y="196743"/>
                      </a:lnTo>
                      <a:lnTo>
                        <a:pt x="220" y="196743"/>
                      </a:lnTo>
                      <a:close/>
                    </a:path>
                  </a:pathLst>
                </a:custGeom>
                <a:grpFill/>
                <a:ln w="9797" cap="flat">
                  <a:solidFill>
                    <a:srgbClr val="333333"/>
                  </a:solidFill>
                  <a:prstDash val="solid"/>
                  <a:miter/>
                </a:ln>
              </p:spPr>
              <p:txBody>
                <a:bodyPr rtlCol="0" anchor="ctr"/>
                <a:lstStyle/>
                <a:p>
                  <a:endParaRPr lang="zh-CN" altLang="en-US"/>
                </a:p>
              </p:txBody>
            </p:sp>
          </p:grpSp>
          <p:grpSp>
            <p:nvGrpSpPr>
              <p:cNvPr id="321" name="图形 5"/>
              <p:cNvGrpSpPr/>
              <p:nvPr/>
            </p:nvGrpSpPr>
            <p:grpSpPr>
              <a:xfrm>
                <a:off x="3516085" y="5421085"/>
                <a:ext cx="783771" cy="195942"/>
                <a:chOff x="3516085" y="5421085"/>
                <a:chExt cx="783771" cy="195942"/>
              </a:xfrm>
              <a:grpFill/>
            </p:grpSpPr>
            <p:sp>
              <p:nvSpPr>
                <p:cNvPr id="334" name="任意多边形: 形状 333"/>
                <p:cNvSpPr/>
                <p:nvPr/>
              </p:nvSpPr>
              <p:spPr>
                <a:xfrm>
                  <a:off x="3516085" y="5421085"/>
                  <a:ext cx="195942" cy="195942"/>
                </a:xfrm>
                <a:custGeom>
                  <a:avLst/>
                  <a:gdLst>
                    <a:gd name="connsiteX0" fmla="*/ 130 w 195942"/>
                    <a:gd name="connsiteY0" fmla="*/ 830 h 195942"/>
                    <a:gd name="connsiteX1" fmla="*/ 196073 w 195942"/>
                    <a:gd name="connsiteY1" fmla="*/ 830 h 195942"/>
                    <a:gd name="connsiteX2" fmla="*/ 196073 w 195942"/>
                    <a:gd name="connsiteY2" fmla="*/ 196773 h 195942"/>
                    <a:gd name="connsiteX3" fmla="*/ 13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30"/>
                      </a:moveTo>
                      <a:lnTo>
                        <a:pt x="196073" y="830"/>
                      </a:lnTo>
                      <a:lnTo>
                        <a:pt x="196073" y="196773"/>
                      </a:lnTo>
                      <a:lnTo>
                        <a:pt x="130" y="196773"/>
                      </a:lnTo>
                      <a:close/>
                    </a:path>
                  </a:pathLst>
                </a:custGeom>
                <a:grpFill/>
                <a:ln w="9797" cap="flat">
                  <a:solidFill>
                    <a:srgbClr val="333333"/>
                  </a:solidFill>
                  <a:prstDash val="solid"/>
                  <a:miter/>
                </a:ln>
              </p:spPr>
              <p:txBody>
                <a:bodyPr rtlCol="0" anchor="ctr"/>
                <a:lstStyle/>
                <a:p>
                  <a:endParaRPr lang="zh-CN" altLang="en-US"/>
                </a:p>
              </p:txBody>
            </p:sp>
            <p:sp>
              <p:nvSpPr>
                <p:cNvPr id="335" name="任意多边形: 形状 334"/>
                <p:cNvSpPr/>
                <p:nvPr/>
              </p:nvSpPr>
              <p:spPr>
                <a:xfrm>
                  <a:off x="3712028" y="5421085"/>
                  <a:ext cx="195942" cy="195942"/>
                </a:xfrm>
                <a:custGeom>
                  <a:avLst/>
                  <a:gdLst>
                    <a:gd name="connsiteX0" fmla="*/ 160 w 195942"/>
                    <a:gd name="connsiteY0" fmla="*/ 830 h 195942"/>
                    <a:gd name="connsiteX1" fmla="*/ 196103 w 195942"/>
                    <a:gd name="connsiteY1" fmla="*/ 830 h 195942"/>
                    <a:gd name="connsiteX2" fmla="*/ 196103 w 195942"/>
                    <a:gd name="connsiteY2" fmla="*/ 196773 h 195942"/>
                    <a:gd name="connsiteX3" fmla="*/ 16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30"/>
                      </a:moveTo>
                      <a:lnTo>
                        <a:pt x="196103" y="830"/>
                      </a:lnTo>
                      <a:lnTo>
                        <a:pt x="196103" y="196773"/>
                      </a:lnTo>
                      <a:lnTo>
                        <a:pt x="160" y="196773"/>
                      </a:lnTo>
                      <a:close/>
                    </a:path>
                  </a:pathLst>
                </a:custGeom>
                <a:grpFill/>
                <a:ln w="9797" cap="flat">
                  <a:solidFill>
                    <a:srgbClr val="333333"/>
                  </a:solidFill>
                  <a:prstDash val="solid"/>
                  <a:miter/>
                </a:ln>
              </p:spPr>
              <p:txBody>
                <a:bodyPr rtlCol="0" anchor="ctr"/>
                <a:lstStyle/>
                <a:p>
                  <a:endParaRPr lang="zh-CN" altLang="en-US"/>
                </a:p>
              </p:txBody>
            </p:sp>
            <p:sp>
              <p:nvSpPr>
                <p:cNvPr id="336" name="任意多边形: 形状 335"/>
                <p:cNvSpPr/>
                <p:nvPr/>
              </p:nvSpPr>
              <p:spPr>
                <a:xfrm>
                  <a:off x="3907971" y="5421085"/>
                  <a:ext cx="195942" cy="195942"/>
                </a:xfrm>
                <a:custGeom>
                  <a:avLst/>
                  <a:gdLst>
                    <a:gd name="connsiteX0" fmla="*/ 190 w 195942"/>
                    <a:gd name="connsiteY0" fmla="*/ 830 h 195942"/>
                    <a:gd name="connsiteX1" fmla="*/ 196133 w 195942"/>
                    <a:gd name="connsiteY1" fmla="*/ 830 h 195942"/>
                    <a:gd name="connsiteX2" fmla="*/ 196133 w 195942"/>
                    <a:gd name="connsiteY2" fmla="*/ 196773 h 195942"/>
                    <a:gd name="connsiteX3" fmla="*/ 19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30"/>
                      </a:moveTo>
                      <a:lnTo>
                        <a:pt x="196133" y="830"/>
                      </a:lnTo>
                      <a:lnTo>
                        <a:pt x="196133" y="196773"/>
                      </a:lnTo>
                      <a:lnTo>
                        <a:pt x="190" y="196773"/>
                      </a:lnTo>
                      <a:close/>
                    </a:path>
                  </a:pathLst>
                </a:custGeom>
                <a:grpFill/>
                <a:ln w="9797" cap="flat">
                  <a:solidFill>
                    <a:srgbClr val="333333"/>
                  </a:solidFill>
                  <a:prstDash val="solid"/>
                  <a:miter/>
                </a:ln>
              </p:spPr>
              <p:txBody>
                <a:bodyPr rtlCol="0" anchor="ctr"/>
                <a:lstStyle/>
                <a:p>
                  <a:endParaRPr lang="zh-CN" altLang="en-US"/>
                </a:p>
              </p:txBody>
            </p:sp>
            <p:sp>
              <p:nvSpPr>
                <p:cNvPr id="337" name="任意多边形: 形状 336"/>
                <p:cNvSpPr/>
                <p:nvPr/>
              </p:nvSpPr>
              <p:spPr>
                <a:xfrm>
                  <a:off x="4103914" y="5421085"/>
                  <a:ext cx="195942" cy="195942"/>
                </a:xfrm>
                <a:custGeom>
                  <a:avLst/>
                  <a:gdLst>
                    <a:gd name="connsiteX0" fmla="*/ 220 w 195942"/>
                    <a:gd name="connsiteY0" fmla="*/ 830 h 195942"/>
                    <a:gd name="connsiteX1" fmla="*/ 196163 w 195942"/>
                    <a:gd name="connsiteY1" fmla="*/ 830 h 195942"/>
                    <a:gd name="connsiteX2" fmla="*/ 196163 w 195942"/>
                    <a:gd name="connsiteY2" fmla="*/ 196773 h 195942"/>
                    <a:gd name="connsiteX3" fmla="*/ 22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30"/>
                      </a:moveTo>
                      <a:lnTo>
                        <a:pt x="196163" y="830"/>
                      </a:lnTo>
                      <a:lnTo>
                        <a:pt x="196163" y="196773"/>
                      </a:lnTo>
                      <a:lnTo>
                        <a:pt x="220" y="196773"/>
                      </a:lnTo>
                      <a:close/>
                    </a:path>
                  </a:pathLst>
                </a:custGeom>
                <a:grpFill/>
                <a:ln w="9797" cap="flat">
                  <a:solidFill>
                    <a:srgbClr val="333333"/>
                  </a:solidFill>
                  <a:prstDash val="solid"/>
                  <a:miter/>
                </a:ln>
              </p:spPr>
              <p:txBody>
                <a:bodyPr rtlCol="0" anchor="ctr"/>
                <a:lstStyle/>
                <a:p>
                  <a:endParaRPr lang="zh-CN" altLang="en-US"/>
                </a:p>
              </p:txBody>
            </p:sp>
          </p:grpSp>
          <p:grpSp>
            <p:nvGrpSpPr>
              <p:cNvPr id="322" name="图形 5"/>
              <p:cNvGrpSpPr/>
              <p:nvPr/>
            </p:nvGrpSpPr>
            <p:grpSpPr>
              <a:xfrm>
                <a:off x="3516085" y="5617028"/>
                <a:ext cx="783771" cy="195942"/>
                <a:chOff x="3516085" y="5617028"/>
                <a:chExt cx="783771" cy="195942"/>
              </a:xfrm>
              <a:grpFill/>
            </p:grpSpPr>
            <p:sp>
              <p:nvSpPr>
                <p:cNvPr id="330" name="任意多边形: 形状 329"/>
                <p:cNvSpPr/>
                <p:nvPr/>
              </p:nvSpPr>
              <p:spPr>
                <a:xfrm>
                  <a:off x="3516085" y="5617028"/>
                  <a:ext cx="195942" cy="195942"/>
                </a:xfrm>
                <a:custGeom>
                  <a:avLst/>
                  <a:gdLst>
                    <a:gd name="connsiteX0" fmla="*/ 130 w 195942"/>
                    <a:gd name="connsiteY0" fmla="*/ 860 h 195942"/>
                    <a:gd name="connsiteX1" fmla="*/ 196073 w 195942"/>
                    <a:gd name="connsiteY1" fmla="*/ 860 h 195942"/>
                    <a:gd name="connsiteX2" fmla="*/ 196073 w 195942"/>
                    <a:gd name="connsiteY2" fmla="*/ 196803 h 195942"/>
                    <a:gd name="connsiteX3" fmla="*/ 13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60"/>
                      </a:moveTo>
                      <a:lnTo>
                        <a:pt x="196073" y="860"/>
                      </a:lnTo>
                      <a:lnTo>
                        <a:pt x="196073" y="196803"/>
                      </a:lnTo>
                      <a:lnTo>
                        <a:pt x="130" y="196803"/>
                      </a:lnTo>
                      <a:close/>
                    </a:path>
                  </a:pathLst>
                </a:custGeom>
                <a:grpFill/>
                <a:ln w="9797" cap="flat">
                  <a:solidFill>
                    <a:srgbClr val="333333"/>
                  </a:solidFill>
                  <a:prstDash val="solid"/>
                  <a:miter/>
                </a:ln>
              </p:spPr>
              <p:txBody>
                <a:bodyPr rtlCol="0" anchor="ctr"/>
                <a:lstStyle/>
                <a:p>
                  <a:endParaRPr lang="zh-CN" altLang="en-US"/>
                </a:p>
              </p:txBody>
            </p:sp>
            <p:sp>
              <p:nvSpPr>
                <p:cNvPr id="331" name="任意多边形: 形状 330"/>
                <p:cNvSpPr/>
                <p:nvPr/>
              </p:nvSpPr>
              <p:spPr>
                <a:xfrm>
                  <a:off x="3712028" y="5617028"/>
                  <a:ext cx="195942" cy="195942"/>
                </a:xfrm>
                <a:custGeom>
                  <a:avLst/>
                  <a:gdLst>
                    <a:gd name="connsiteX0" fmla="*/ 160 w 195942"/>
                    <a:gd name="connsiteY0" fmla="*/ 860 h 195942"/>
                    <a:gd name="connsiteX1" fmla="*/ 196103 w 195942"/>
                    <a:gd name="connsiteY1" fmla="*/ 860 h 195942"/>
                    <a:gd name="connsiteX2" fmla="*/ 196103 w 195942"/>
                    <a:gd name="connsiteY2" fmla="*/ 196803 h 195942"/>
                    <a:gd name="connsiteX3" fmla="*/ 16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60"/>
                      </a:moveTo>
                      <a:lnTo>
                        <a:pt x="196103" y="860"/>
                      </a:lnTo>
                      <a:lnTo>
                        <a:pt x="196103" y="196803"/>
                      </a:lnTo>
                      <a:lnTo>
                        <a:pt x="160" y="196803"/>
                      </a:lnTo>
                      <a:close/>
                    </a:path>
                  </a:pathLst>
                </a:custGeom>
                <a:grpFill/>
                <a:ln w="9797" cap="flat">
                  <a:solidFill>
                    <a:srgbClr val="333333"/>
                  </a:solidFill>
                  <a:prstDash val="solid"/>
                  <a:miter/>
                </a:ln>
              </p:spPr>
              <p:txBody>
                <a:bodyPr rtlCol="0" anchor="ctr"/>
                <a:lstStyle/>
                <a:p>
                  <a:endParaRPr lang="zh-CN" altLang="en-US"/>
                </a:p>
              </p:txBody>
            </p:sp>
            <p:sp>
              <p:nvSpPr>
                <p:cNvPr id="332" name="任意多边形: 形状 331"/>
                <p:cNvSpPr/>
                <p:nvPr/>
              </p:nvSpPr>
              <p:spPr>
                <a:xfrm>
                  <a:off x="3907971" y="5617028"/>
                  <a:ext cx="195942" cy="195942"/>
                </a:xfrm>
                <a:custGeom>
                  <a:avLst/>
                  <a:gdLst>
                    <a:gd name="connsiteX0" fmla="*/ 190 w 195942"/>
                    <a:gd name="connsiteY0" fmla="*/ 860 h 195942"/>
                    <a:gd name="connsiteX1" fmla="*/ 196133 w 195942"/>
                    <a:gd name="connsiteY1" fmla="*/ 860 h 195942"/>
                    <a:gd name="connsiteX2" fmla="*/ 196133 w 195942"/>
                    <a:gd name="connsiteY2" fmla="*/ 196803 h 195942"/>
                    <a:gd name="connsiteX3" fmla="*/ 19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60"/>
                      </a:moveTo>
                      <a:lnTo>
                        <a:pt x="196133" y="860"/>
                      </a:lnTo>
                      <a:lnTo>
                        <a:pt x="196133" y="196803"/>
                      </a:lnTo>
                      <a:lnTo>
                        <a:pt x="190" y="196803"/>
                      </a:lnTo>
                      <a:close/>
                    </a:path>
                  </a:pathLst>
                </a:custGeom>
                <a:grpFill/>
                <a:ln w="9797" cap="flat">
                  <a:solidFill>
                    <a:srgbClr val="333333"/>
                  </a:solidFill>
                  <a:prstDash val="solid"/>
                  <a:miter/>
                </a:ln>
              </p:spPr>
              <p:txBody>
                <a:bodyPr rtlCol="0" anchor="ctr"/>
                <a:lstStyle/>
                <a:p>
                  <a:endParaRPr lang="zh-CN" altLang="en-US"/>
                </a:p>
              </p:txBody>
            </p:sp>
            <p:sp>
              <p:nvSpPr>
                <p:cNvPr id="333" name="任意多边形: 形状 332"/>
                <p:cNvSpPr/>
                <p:nvPr/>
              </p:nvSpPr>
              <p:spPr>
                <a:xfrm>
                  <a:off x="4103914" y="5617028"/>
                  <a:ext cx="195942" cy="195942"/>
                </a:xfrm>
                <a:custGeom>
                  <a:avLst/>
                  <a:gdLst>
                    <a:gd name="connsiteX0" fmla="*/ 220 w 195942"/>
                    <a:gd name="connsiteY0" fmla="*/ 860 h 195942"/>
                    <a:gd name="connsiteX1" fmla="*/ 196163 w 195942"/>
                    <a:gd name="connsiteY1" fmla="*/ 860 h 195942"/>
                    <a:gd name="connsiteX2" fmla="*/ 196163 w 195942"/>
                    <a:gd name="connsiteY2" fmla="*/ 196803 h 195942"/>
                    <a:gd name="connsiteX3" fmla="*/ 22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60"/>
                      </a:moveTo>
                      <a:lnTo>
                        <a:pt x="196163" y="860"/>
                      </a:lnTo>
                      <a:lnTo>
                        <a:pt x="196163" y="196803"/>
                      </a:lnTo>
                      <a:lnTo>
                        <a:pt x="220" y="196803"/>
                      </a:lnTo>
                      <a:close/>
                    </a:path>
                  </a:pathLst>
                </a:custGeom>
                <a:grpFill/>
                <a:ln w="9797" cap="flat">
                  <a:solidFill>
                    <a:srgbClr val="333333"/>
                  </a:solidFill>
                  <a:prstDash val="solid"/>
                  <a:miter/>
                </a:ln>
              </p:spPr>
              <p:txBody>
                <a:bodyPr rtlCol="0" anchor="ctr"/>
                <a:lstStyle/>
                <a:p>
                  <a:endParaRPr lang="zh-CN" altLang="en-US"/>
                </a:p>
              </p:txBody>
            </p:sp>
          </p:grpSp>
          <p:grpSp>
            <p:nvGrpSpPr>
              <p:cNvPr id="323" name="图形 5"/>
              <p:cNvGrpSpPr/>
              <p:nvPr/>
            </p:nvGrpSpPr>
            <p:grpSpPr>
              <a:xfrm>
                <a:off x="3516085" y="5812971"/>
                <a:ext cx="783771" cy="195942"/>
                <a:chOff x="3516085" y="5812971"/>
                <a:chExt cx="783771" cy="195942"/>
              </a:xfrm>
              <a:grpFill/>
            </p:grpSpPr>
            <p:sp>
              <p:nvSpPr>
                <p:cNvPr id="326" name="任意多边形: 形状 325"/>
                <p:cNvSpPr/>
                <p:nvPr/>
              </p:nvSpPr>
              <p:spPr>
                <a:xfrm>
                  <a:off x="3516085" y="5812971"/>
                  <a:ext cx="195942" cy="195942"/>
                </a:xfrm>
                <a:custGeom>
                  <a:avLst/>
                  <a:gdLst>
                    <a:gd name="connsiteX0" fmla="*/ 130 w 195942"/>
                    <a:gd name="connsiteY0" fmla="*/ 890 h 195942"/>
                    <a:gd name="connsiteX1" fmla="*/ 196073 w 195942"/>
                    <a:gd name="connsiteY1" fmla="*/ 890 h 195942"/>
                    <a:gd name="connsiteX2" fmla="*/ 196073 w 195942"/>
                    <a:gd name="connsiteY2" fmla="*/ 196833 h 195942"/>
                    <a:gd name="connsiteX3" fmla="*/ 13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90"/>
                      </a:moveTo>
                      <a:lnTo>
                        <a:pt x="196073" y="890"/>
                      </a:lnTo>
                      <a:lnTo>
                        <a:pt x="196073" y="196833"/>
                      </a:lnTo>
                      <a:lnTo>
                        <a:pt x="130" y="196833"/>
                      </a:lnTo>
                      <a:close/>
                    </a:path>
                  </a:pathLst>
                </a:custGeom>
                <a:grpFill/>
                <a:ln w="9797" cap="flat">
                  <a:solidFill>
                    <a:srgbClr val="333333"/>
                  </a:solidFill>
                  <a:prstDash val="solid"/>
                  <a:miter/>
                </a:ln>
              </p:spPr>
              <p:txBody>
                <a:bodyPr rtlCol="0" anchor="ctr"/>
                <a:lstStyle/>
                <a:p>
                  <a:endParaRPr lang="zh-CN" altLang="en-US"/>
                </a:p>
              </p:txBody>
            </p:sp>
            <p:sp>
              <p:nvSpPr>
                <p:cNvPr id="327" name="任意多边形: 形状 326"/>
                <p:cNvSpPr/>
                <p:nvPr/>
              </p:nvSpPr>
              <p:spPr>
                <a:xfrm>
                  <a:off x="3712028" y="5812971"/>
                  <a:ext cx="195942" cy="195942"/>
                </a:xfrm>
                <a:custGeom>
                  <a:avLst/>
                  <a:gdLst>
                    <a:gd name="connsiteX0" fmla="*/ 160 w 195942"/>
                    <a:gd name="connsiteY0" fmla="*/ 890 h 195942"/>
                    <a:gd name="connsiteX1" fmla="*/ 196103 w 195942"/>
                    <a:gd name="connsiteY1" fmla="*/ 890 h 195942"/>
                    <a:gd name="connsiteX2" fmla="*/ 196103 w 195942"/>
                    <a:gd name="connsiteY2" fmla="*/ 196833 h 195942"/>
                    <a:gd name="connsiteX3" fmla="*/ 16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90"/>
                      </a:moveTo>
                      <a:lnTo>
                        <a:pt x="196103" y="890"/>
                      </a:lnTo>
                      <a:lnTo>
                        <a:pt x="196103" y="196833"/>
                      </a:lnTo>
                      <a:lnTo>
                        <a:pt x="160" y="196833"/>
                      </a:lnTo>
                      <a:close/>
                    </a:path>
                  </a:pathLst>
                </a:custGeom>
                <a:grpFill/>
                <a:ln w="9797" cap="flat">
                  <a:solidFill>
                    <a:srgbClr val="333333"/>
                  </a:solidFill>
                  <a:prstDash val="solid"/>
                  <a:miter/>
                </a:ln>
              </p:spPr>
              <p:txBody>
                <a:bodyPr rtlCol="0" anchor="ctr"/>
                <a:lstStyle/>
                <a:p>
                  <a:endParaRPr lang="zh-CN" altLang="en-US"/>
                </a:p>
              </p:txBody>
            </p:sp>
            <p:sp>
              <p:nvSpPr>
                <p:cNvPr id="328" name="任意多边形: 形状 327"/>
                <p:cNvSpPr/>
                <p:nvPr/>
              </p:nvSpPr>
              <p:spPr>
                <a:xfrm>
                  <a:off x="3907971" y="5812971"/>
                  <a:ext cx="195942" cy="195942"/>
                </a:xfrm>
                <a:custGeom>
                  <a:avLst/>
                  <a:gdLst>
                    <a:gd name="connsiteX0" fmla="*/ 190 w 195942"/>
                    <a:gd name="connsiteY0" fmla="*/ 890 h 195942"/>
                    <a:gd name="connsiteX1" fmla="*/ 196133 w 195942"/>
                    <a:gd name="connsiteY1" fmla="*/ 890 h 195942"/>
                    <a:gd name="connsiteX2" fmla="*/ 196133 w 195942"/>
                    <a:gd name="connsiteY2" fmla="*/ 196833 h 195942"/>
                    <a:gd name="connsiteX3" fmla="*/ 19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90"/>
                      </a:moveTo>
                      <a:lnTo>
                        <a:pt x="196133" y="890"/>
                      </a:lnTo>
                      <a:lnTo>
                        <a:pt x="196133" y="196833"/>
                      </a:lnTo>
                      <a:lnTo>
                        <a:pt x="190" y="196833"/>
                      </a:lnTo>
                      <a:close/>
                    </a:path>
                  </a:pathLst>
                </a:custGeom>
                <a:grpFill/>
                <a:ln w="9797" cap="flat">
                  <a:solidFill>
                    <a:srgbClr val="333333"/>
                  </a:solidFill>
                  <a:prstDash val="solid"/>
                  <a:miter/>
                </a:ln>
              </p:spPr>
              <p:txBody>
                <a:bodyPr rtlCol="0" anchor="ctr"/>
                <a:lstStyle/>
                <a:p>
                  <a:endParaRPr lang="zh-CN" altLang="en-US"/>
                </a:p>
              </p:txBody>
            </p:sp>
            <p:sp>
              <p:nvSpPr>
                <p:cNvPr id="329" name="任意多边形: 形状 328"/>
                <p:cNvSpPr/>
                <p:nvPr/>
              </p:nvSpPr>
              <p:spPr>
                <a:xfrm>
                  <a:off x="4103914" y="5812971"/>
                  <a:ext cx="195942" cy="195942"/>
                </a:xfrm>
                <a:custGeom>
                  <a:avLst/>
                  <a:gdLst>
                    <a:gd name="connsiteX0" fmla="*/ 220 w 195942"/>
                    <a:gd name="connsiteY0" fmla="*/ 890 h 195942"/>
                    <a:gd name="connsiteX1" fmla="*/ 196163 w 195942"/>
                    <a:gd name="connsiteY1" fmla="*/ 890 h 195942"/>
                    <a:gd name="connsiteX2" fmla="*/ 196163 w 195942"/>
                    <a:gd name="connsiteY2" fmla="*/ 196833 h 195942"/>
                    <a:gd name="connsiteX3" fmla="*/ 22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90"/>
                      </a:moveTo>
                      <a:lnTo>
                        <a:pt x="196163" y="890"/>
                      </a:lnTo>
                      <a:lnTo>
                        <a:pt x="196163" y="196833"/>
                      </a:lnTo>
                      <a:lnTo>
                        <a:pt x="220" y="196833"/>
                      </a:lnTo>
                      <a:close/>
                    </a:path>
                  </a:pathLst>
                </a:custGeom>
                <a:grpFill/>
                <a:ln w="9797" cap="flat">
                  <a:solidFill>
                    <a:srgbClr val="333333"/>
                  </a:solidFill>
                  <a:prstDash val="solid"/>
                  <a:miter/>
                </a:ln>
              </p:spPr>
              <p:txBody>
                <a:bodyPr rtlCol="0" anchor="ctr"/>
                <a:lstStyle/>
                <a:p>
                  <a:endParaRPr lang="zh-CN" altLang="en-US"/>
                </a:p>
              </p:txBody>
            </p:sp>
          </p:grpSp>
        </p:grpSp>
        <p:grpSp>
          <p:nvGrpSpPr>
            <p:cNvPr id="372" name="图形 5"/>
            <p:cNvGrpSpPr/>
            <p:nvPr/>
          </p:nvGrpSpPr>
          <p:grpSpPr>
            <a:xfrm rot="16200000">
              <a:off x="8948521" y="89801"/>
              <a:ext cx="938440" cy="1117413"/>
              <a:chOff x="3516085" y="5029200"/>
              <a:chExt cx="783771" cy="979713"/>
            </a:xfrm>
            <a:solidFill>
              <a:srgbClr val="FFC000"/>
            </a:solidFill>
          </p:grpSpPr>
          <p:grpSp>
            <p:nvGrpSpPr>
              <p:cNvPr id="373" name="图形 5"/>
              <p:cNvGrpSpPr/>
              <p:nvPr/>
            </p:nvGrpSpPr>
            <p:grpSpPr>
              <a:xfrm>
                <a:off x="3516085" y="5029200"/>
                <a:ext cx="783771" cy="195942"/>
                <a:chOff x="3516085" y="5029200"/>
                <a:chExt cx="783771" cy="195942"/>
              </a:xfrm>
              <a:grpFill/>
            </p:grpSpPr>
            <p:sp>
              <p:nvSpPr>
                <p:cNvPr id="394" name="任意多边形: 形状 393"/>
                <p:cNvSpPr/>
                <p:nvPr/>
              </p:nvSpPr>
              <p:spPr>
                <a:xfrm>
                  <a:off x="3516085" y="5029200"/>
                  <a:ext cx="195942" cy="195942"/>
                </a:xfrm>
                <a:custGeom>
                  <a:avLst/>
                  <a:gdLst>
                    <a:gd name="connsiteX0" fmla="*/ 130 w 195942"/>
                    <a:gd name="connsiteY0" fmla="*/ 770 h 195942"/>
                    <a:gd name="connsiteX1" fmla="*/ 196073 w 195942"/>
                    <a:gd name="connsiteY1" fmla="*/ 770 h 195942"/>
                    <a:gd name="connsiteX2" fmla="*/ 196073 w 195942"/>
                    <a:gd name="connsiteY2" fmla="*/ 196713 h 195942"/>
                    <a:gd name="connsiteX3" fmla="*/ 13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770"/>
                      </a:moveTo>
                      <a:lnTo>
                        <a:pt x="196073" y="770"/>
                      </a:lnTo>
                      <a:lnTo>
                        <a:pt x="196073" y="196713"/>
                      </a:lnTo>
                      <a:lnTo>
                        <a:pt x="130" y="196713"/>
                      </a:lnTo>
                      <a:close/>
                    </a:path>
                  </a:pathLst>
                </a:custGeom>
                <a:grpFill/>
                <a:ln w="9797" cap="flat">
                  <a:solidFill>
                    <a:srgbClr val="333333"/>
                  </a:solidFill>
                  <a:prstDash val="solid"/>
                  <a:miter/>
                </a:ln>
              </p:spPr>
              <p:txBody>
                <a:bodyPr rtlCol="0" anchor="ctr"/>
                <a:lstStyle/>
                <a:p>
                  <a:endParaRPr lang="zh-CN" altLang="en-US"/>
                </a:p>
              </p:txBody>
            </p:sp>
            <p:sp>
              <p:nvSpPr>
                <p:cNvPr id="395" name="任意多边形: 形状 394"/>
                <p:cNvSpPr/>
                <p:nvPr/>
              </p:nvSpPr>
              <p:spPr>
                <a:xfrm>
                  <a:off x="3712028" y="5029200"/>
                  <a:ext cx="195942" cy="195942"/>
                </a:xfrm>
                <a:custGeom>
                  <a:avLst/>
                  <a:gdLst>
                    <a:gd name="connsiteX0" fmla="*/ 160 w 195942"/>
                    <a:gd name="connsiteY0" fmla="*/ 770 h 195942"/>
                    <a:gd name="connsiteX1" fmla="*/ 196103 w 195942"/>
                    <a:gd name="connsiteY1" fmla="*/ 770 h 195942"/>
                    <a:gd name="connsiteX2" fmla="*/ 196103 w 195942"/>
                    <a:gd name="connsiteY2" fmla="*/ 196713 h 195942"/>
                    <a:gd name="connsiteX3" fmla="*/ 16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770"/>
                      </a:moveTo>
                      <a:lnTo>
                        <a:pt x="196103" y="770"/>
                      </a:lnTo>
                      <a:lnTo>
                        <a:pt x="196103" y="196713"/>
                      </a:lnTo>
                      <a:lnTo>
                        <a:pt x="160" y="196713"/>
                      </a:lnTo>
                      <a:close/>
                    </a:path>
                  </a:pathLst>
                </a:custGeom>
                <a:grpFill/>
                <a:ln w="9797" cap="flat">
                  <a:solidFill>
                    <a:srgbClr val="333333"/>
                  </a:solidFill>
                  <a:prstDash val="solid"/>
                  <a:miter/>
                </a:ln>
              </p:spPr>
              <p:txBody>
                <a:bodyPr rtlCol="0" anchor="ctr"/>
                <a:lstStyle/>
                <a:p>
                  <a:endParaRPr lang="zh-CN" altLang="en-US"/>
                </a:p>
              </p:txBody>
            </p:sp>
            <p:sp>
              <p:nvSpPr>
                <p:cNvPr id="396" name="任意多边形: 形状 395"/>
                <p:cNvSpPr/>
                <p:nvPr/>
              </p:nvSpPr>
              <p:spPr>
                <a:xfrm>
                  <a:off x="3907971" y="5029200"/>
                  <a:ext cx="195942" cy="195942"/>
                </a:xfrm>
                <a:custGeom>
                  <a:avLst/>
                  <a:gdLst>
                    <a:gd name="connsiteX0" fmla="*/ 190 w 195942"/>
                    <a:gd name="connsiteY0" fmla="*/ 770 h 195942"/>
                    <a:gd name="connsiteX1" fmla="*/ 196133 w 195942"/>
                    <a:gd name="connsiteY1" fmla="*/ 770 h 195942"/>
                    <a:gd name="connsiteX2" fmla="*/ 196133 w 195942"/>
                    <a:gd name="connsiteY2" fmla="*/ 196713 h 195942"/>
                    <a:gd name="connsiteX3" fmla="*/ 19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770"/>
                      </a:moveTo>
                      <a:lnTo>
                        <a:pt x="196133" y="770"/>
                      </a:lnTo>
                      <a:lnTo>
                        <a:pt x="196133" y="196713"/>
                      </a:lnTo>
                      <a:lnTo>
                        <a:pt x="190" y="196713"/>
                      </a:lnTo>
                      <a:close/>
                    </a:path>
                  </a:pathLst>
                </a:custGeom>
                <a:grpFill/>
                <a:ln w="9797" cap="flat">
                  <a:solidFill>
                    <a:srgbClr val="333333"/>
                  </a:solidFill>
                  <a:prstDash val="solid"/>
                  <a:miter/>
                </a:ln>
              </p:spPr>
              <p:txBody>
                <a:bodyPr rtlCol="0" anchor="ctr"/>
                <a:lstStyle/>
                <a:p>
                  <a:endParaRPr lang="zh-CN" altLang="en-US"/>
                </a:p>
              </p:txBody>
            </p:sp>
            <p:sp>
              <p:nvSpPr>
                <p:cNvPr id="397" name="任意多边形: 形状 396"/>
                <p:cNvSpPr/>
                <p:nvPr/>
              </p:nvSpPr>
              <p:spPr>
                <a:xfrm>
                  <a:off x="4103914" y="5029200"/>
                  <a:ext cx="195942" cy="195942"/>
                </a:xfrm>
                <a:custGeom>
                  <a:avLst/>
                  <a:gdLst>
                    <a:gd name="connsiteX0" fmla="*/ 220 w 195942"/>
                    <a:gd name="connsiteY0" fmla="*/ 770 h 195942"/>
                    <a:gd name="connsiteX1" fmla="*/ 196163 w 195942"/>
                    <a:gd name="connsiteY1" fmla="*/ 770 h 195942"/>
                    <a:gd name="connsiteX2" fmla="*/ 196163 w 195942"/>
                    <a:gd name="connsiteY2" fmla="*/ 196713 h 195942"/>
                    <a:gd name="connsiteX3" fmla="*/ 220 w 195942"/>
                    <a:gd name="connsiteY3" fmla="*/ 1967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770"/>
                      </a:moveTo>
                      <a:lnTo>
                        <a:pt x="196163" y="770"/>
                      </a:lnTo>
                      <a:lnTo>
                        <a:pt x="196163" y="196713"/>
                      </a:lnTo>
                      <a:lnTo>
                        <a:pt x="220" y="196713"/>
                      </a:lnTo>
                      <a:close/>
                    </a:path>
                  </a:pathLst>
                </a:custGeom>
                <a:grpFill/>
                <a:ln w="9797" cap="flat">
                  <a:solidFill>
                    <a:srgbClr val="333333"/>
                  </a:solidFill>
                  <a:prstDash val="solid"/>
                  <a:miter/>
                </a:ln>
              </p:spPr>
              <p:txBody>
                <a:bodyPr rtlCol="0" anchor="ctr"/>
                <a:lstStyle/>
                <a:p>
                  <a:endParaRPr lang="zh-CN" altLang="en-US"/>
                </a:p>
              </p:txBody>
            </p:sp>
          </p:grpSp>
          <p:grpSp>
            <p:nvGrpSpPr>
              <p:cNvPr id="374" name="图形 5"/>
              <p:cNvGrpSpPr/>
              <p:nvPr/>
            </p:nvGrpSpPr>
            <p:grpSpPr>
              <a:xfrm>
                <a:off x="3516085" y="5225142"/>
                <a:ext cx="783771" cy="195942"/>
                <a:chOff x="3516085" y="5225142"/>
                <a:chExt cx="783771" cy="195942"/>
              </a:xfrm>
              <a:grpFill/>
            </p:grpSpPr>
            <p:sp>
              <p:nvSpPr>
                <p:cNvPr id="390" name="任意多边形: 形状 389"/>
                <p:cNvSpPr/>
                <p:nvPr/>
              </p:nvSpPr>
              <p:spPr>
                <a:xfrm>
                  <a:off x="3516085" y="5225142"/>
                  <a:ext cx="195942" cy="195942"/>
                </a:xfrm>
                <a:custGeom>
                  <a:avLst/>
                  <a:gdLst>
                    <a:gd name="connsiteX0" fmla="*/ 130 w 195942"/>
                    <a:gd name="connsiteY0" fmla="*/ 800 h 195942"/>
                    <a:gd name="connsiteX1" fmla="*/ 196073 w 195942"/>
                    <a:gd name="connsiteY1" fmla="*/ 800 h 195942"/>
                    <a:gd name="connsiteX2" fmla="*/ 196073 w 195942"/>
                    <a:gd name="connsiteY2" fmla="*/ 196743 h 195942"/>
                    <a:gd name="connsiteX3" fmla="*/ 13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00"/>
                      </a:moveTo>
                      <a:lnTo>
                        <a:pt x="196073" y="800"/>
                      </a:lnTo>
                      <a:lnTo>
                        <a:pt x="196073" y="196743"/>
                      </a:lnTo>
                      <a:lnTo>
                        <a:pt x="130" y="196743"/>
                      </a:lnTo>
                      <a:close/>
                    </a:path>
                  </a:pathLst>
                </a:custGeom>
                <a:grpFill/>
                <a:ln w="9797" cap="flat">
                  <a:solidFill>
                    <a:srgbClr val="333333"/>
                  </a:solidFill>
                  <a:prstDash val="solid"/>
                  <a:miter/>
                </a:ln>
              </p:spPr>
              <p:txBody>
                <a:bodyPr rtlCol="0" anchor="ctr"/>
                <a:lstStyle/>
                <a:p>
                  <a:endParaRPr lang="zh-CN" altLang="en-US"/>
                </a:p>
              </p:txBody>
            </p:sp>
            <p:sp>
              <p:nvSpPr>
                <p:cNvPr id="391" name="任意多边形: 形状 390"/>
                <p:cNvSpPr/>
                <p:nvPr/>
              </p:nvSpPr>
              <p:spPr>
                <a:xfrm>
                  <a:off x="3712028" y="5225142"/>
                  <a:ext cx="195942" cy="195942"/>
                </a:xfrm>
                <a:custGeom>
                  <a:avLst/>
                  <a:gdLst>
                    <a:gd name="connsiteX0" fmla="*/ 160 w 195942"/>
                    <a:gd name="connsiteY0" fmla="*/ 800 h 195942"/>
                    <a:gd name="connsiteX1" fmla="*/ 196103 w 195942"/>
                    <a:gd name="connsiteY1" fmla="*/ 800 h 195942"/>
                    <a:gd name="connsiteX2" fmla="*/ 196103 w 195942"/>
                    <a:gd name="connsiteY2" fmla="*/ 196743 h 195942"/>
                    <a:gd name="connsiteX3" fmla="*/ 16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00"/>
                      </a:moveTo>
                      <a:lnTo>
                        <a:pt x="196103" y="800"/>
                      </a:lnTo>
                      <a:lnTo>
                        <a:pt x="196103" y="196743"/>
                      </a:lnTo>
                      <a:lnTo>
                        <a:pt x="160" y="196743"/>
                      </a:lnTo>
                      <a:close/>
                    </a:path>
                  </a:pathLst>
                </a:custGeom>
                <a:grpFill/>
                <a:ln w="9797" cap="flat">
                  <a:solidFill>
                    <a:srgbClr val="333333"/>
                  </a:solidFill>
                  <a:prstDash val="solid"/>
                  <a:miter/>
                </a:ln>
              </p:spPr>
              <p:txBody>
                <a:bodyPr rtlCol="0" anchor="ctr"/>
                <a:lstStyle/>
                <a:p>
                  <a:endParaRPr lang="zh-CN" altLang="en-US"/>
                </a:p>
              </p:txBody>
            </p:sp>
            <p:sp>
              <p:nvSpPr>
                <p:cNvPr id="392" name="任意多边形: 形状 391"/>
                <p:cNvSpPr/>
                <p:nvPr/>
              </p:nvSpPr>
              <p:spPr>
                <a:xfrm>
                  <a:off x="3907971" y="5225142"/>
                  <a:ext cx="195942" cy="195942"/>
                </a:xfrm>
                <a:custGeom>
                  <a:avLst/>
                  <a:gdLst>
                    <a:gd name="connsiteX0" fmla="*/ 190 w 195942"/>
                    <a:gd name="connsiteY0" fmla="*/ 800 h 195942"/>
                    <a:gd name="connsiteX1" fmla="*/ 196133 w 195942"/>
                    <a:gd name="connsiteY1" fmla="*/ 800 h 195942"/>
                    <a:gd name="connsiteX2" fmla="*/ 196133 w 195942"/>
                    <a:gd name="connsiteY2" fmla="*/ 196743 h 195942"/>
                    <a:gd name="connsiteX3" fmla="*/ 19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00"/>
                      </a:moveTo>
                      <a:lnTo>
                        <a:pt x="196133" y="800"/>
                      </a:lnTo>
                      <a:lnTo>
                        <a:pt x="196133" y="196743"/>
                      </a:lnTo>
                      <a:lnTo>
                        <a:pt x="190" y="196743"/>
                      </a:lnTo>
                      <a:close/>
                    </a:path>
                  </a:pathLst>
                </a:custGeom>
                <a:grpFill/>
                <a:ln w="9797" cap="flat">
                  <a:solidFill>
                    <a:srgbClr val="333333"/>
                  </a:solidFill>
                  <a:prstDash val="solid"/>
                  <a:miter/>
                </a:ln>
              </p:spPr>
              <p:txBody>
                <a:bodyPr rtlCol="0" anchor="ctr"/>
                <a:lstStyle/>
                <a:p>
                  <a:endParaRPr lang="zh-CN" altLang="en-US"/>
                </a:p>
              </p:txBody>
            </p:sp>
            <p:sp>
              <p:nvSpPr>
                <p:cNvPr id="393" name="任意多边形: 形状 392"/>
                <p:cNvSpPr/>
                <p:nvPr/>
              </p:nvSpPr>
              <p:spPr>
                <a:xfrm>
                  <a:off x="4103914" y="5225142"/>
                  <a:ext cx="195942" cy="195942"/>
                </a:xfrm>
                <a:custGeom>
                  <a:avLst/>
                  <a:gdLst>
                    <a:gd name="connsiteX0" fmla="*/ 220 w 195942"/>
                    <a:gd name="connsiteY0" fmla="*/ 800 h 195942"/>
                    <a:gd name="connsiteX1" fmla="*/ 196163 w 195942"/>
                    <a:gd name="connsiteY1" fmla="*/ 800 h 195942"/>
                    <a:gd name="connsiteX2" fmla="*/ 196163 w 195942"/>
                    <a:gd name="connsiteY2" fmla="*/ 196743 h 195942"/>
                    <a:gd name="connsiteX3" fmla="*/ 220 w 195942"/>
                    <a:gd name="connsiteY3" fmla="*/ 1967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00"/>
                      </a:moveTo>
                      <a:lnTo>
                        <a:pt x="196163" y="800"/>
                      </a:lnTo>
                      <a:lnTo>
                        <a:pt x="196163" y="196743"/>
                      </a:lnTo>
                      <a:lnTo>
                        <a:pt x="220" y="196743"/>
                      </a:lnTo>
                      <a:close/>
                    </a:path>
                  </a:pathLst>
                </a:custGeom>
                <a:grpFill/>
                <a:ln w="9797" cap="flat">
                  <a:solidFill>
                    <a:srgbClr val="333333"/>
                  </a:solidFill>
                  <a:prstDash val="solid"/>
                  <a:miter/>
                </a:ln>
              </p:spPr>
              <p:txBody>
                <a:bodyPr rtlCol="0" anchor="ctr"/>
                <a:lstStyle/>
                <a:p>
                  <a:endParaRPr lang="zh-CN" altLang="en-US"/>
                </a:p>
              </p:txBody>
            </p:sp>
          </p:grpSp>
          <p:grpSp>
            <p:nvGrpSpPr>
              <p:cNvPr id="375" name="图形 5"/>
              <p:cNvGrpSpPr/>
              <p:nvPr/>
            </p:nvGrpSpPr>
            <p:grpSpPr>
              <a:xfrm>
                <a:off x="3516085" y="5421085"/>
                <a:ext cx="783771" cy="195942"/>
                <a:chOff x="3516085" y="5421085"/>
                <a:chExt cx="783771" cy="195942"/>
              </a:xfrm>
              <a:grpFill/>
            </p:grpSpPr>
            <p:sp>
              <p:nvSpPr>
                <p:cNvPr id="386" name="任意多边形: 形状 385"/>
                <p:cNvSpPr/>
                <p:nvPr/>
              </p:nvSpPr>
              <p:spPr>
                <a:xfrm>
                  <a:off x="3516085" y="5421085"/>
                  <a:ext cx="195942" cy="195942"/>
                </a:xfrm>
                <a:custGeom>
                  <a:avLst/>
                  <a:gdLst>
                    <a:gd name="connsiteX0" fmla="*/ 130 w 195942"/>
                    <a:gd name="connsiteY0" fmla="*/ 830 h 195942"/>
                    <a:gd name="connsiteX1" fmla="*/ 196073 w 195942"/>
                    <a:gd name="connsiteY1" fmla="*/ 830 h 195942"/>
                    <a:gd name="connsiteX2" fmla="*/ 196073 w 195942"/>
                    <a:gd name="connsiteY2" fmla="*/ 196773 h 195942"/>
                    <a:gd name="connsiteX3" fmla="*/ 13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30"/>
                      </a:moveTo>
                      <a:lnTo>
                        <a:pt x="196073" y="830"/>
                      </a:lnTo>
                      <a:lnTo>
                        <a:pt x="196073" y="196773"/>
                      </a:lnTo>
                      <a:lnTo>
                        <a:pt x="130" y="196773"/>
                      </a:lnTo>
                      <a:close/>
                    </a:path>
                  </a:pathLst>
                </a:custGeom>
                <a:grpFill/>
                <a:ln w="9797" cap="flat">
                  <a:solidFill>
                    <a:srgbClr val="333333"/>
                  </a:solidFill>
                  <a:prstDash val="solid"/>
                  <a:miter/>
                </a:ln>
              </p:spPr>
              <p:txBody>
                <a:bodyPr rtlCol="0" anchor="ctr"/>
                <a:lstStyle/>
                <a:p>
                  <a:endParaRPr lang="zh-CN" altLang="en-US"/>
                </a:p>
              </p:txBody>
            </p:sp>
            <p:sp>
              <p:nvSpPr>
                <p:cNvPr id="387" name="任意多边形: 形状 386"/>
                <p:cNvSpPr/>
                <p:nvPr/>
              </p:nvSpPr>
              <p:spPr>
                <a:xfrm>
                  <a:off x="3712028" y="5421085"/>
                  <a:ext cx="195942" cy="195942"/>
                </a:xfrm>
                <a:custGeom>
                  <a:avLst/>
                  <a:gdLst>
                    <a:gd name="connsiteX0" fmla="*/ 160 w 195942"/>
                    <a:gd name="connsiteY0" fmla="*/ 830 h 195942"/>
                    <a:gd name="connsiteX1" fmla="*/ 196103 w 195942"/>
                    <a:gd name="connsiteY1" fmla="*/ 830 h 195942"/>
                    <a:gd name="connsiteX2" fmla="*/ 196103 w 195942"/>
                    <a:gd name="connsiteY2" fmla="*/ 196773 h 195942"/>
                    <a:gd name="connsiteX3" fmla="*/ 16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30"/>
                      </a:moveTo>
                      <a:lnTo>
                        <a:pt x="196103" y="830"/>
                      </a:lnTo>
                      <a:lnTo>
                        <a:pt x="196103" y="196773"/>
                      </a:lnTo>
                      <a:lnTo>
                        <a:pt x="160" y="196773"/>
                      </a:lnTo>
                      <a:close/>
                    </a:path>
                  </a:pathLst>
                </a:custGeom>
                <a:grpFill/>
                <a:ln w="9797" cap="flat">
                  <a:solidFill>
                    <a:srgbClr val="333333"/>
                  </a:solidFill>
                  <a:prstDash val="solid"/>
                  <a:miter/>
                </a:ln>
              </p:spPr>
              <p:txBody>
                <a:bodyPr rtlCol="0" anchor="ctr"/>
                <a:lstStyle/>
                <a:p>
                  <a:endParaRPr lang="zh-CN" altLang="en-US"/>
                </a:p>
              </p:txBody>
            </p:sp>
            <p:sp>
              <p:nvSpPr>
                <p:cNvPr id="388" name="任意多边形: 形状 387"/>
                <p:cNvSpPr/>
                <p:nvPr/>
              </p:nvSpPr>
              <p:spPr>
                <a:xfrm>
                  <a:off x="3907971" y="5421085"/>
                  <a:ext cx="195942" cy="195942"/>
                </a:xfrm>
                <a:custGeom>
                  <a:avLst/>
                  <a:gdLst>
                    <a:gd name="connsiteX0" fmla="*/ 190 w 195942"/>
                    <a:gd name="connsiteY0" fmla="*/ 830 h 195942"/>
                    <a:gd name="connsiteX1" fmla="*/ 196133 w 195942"/>
                    <a:gd name="connsiteY1" fmla="*/ 830 h 195942"/>
                    <a:gd name="connsiteX2" fmla="*/ 196133 w 195942"/>
                    <a:gd name="connsiteY2" fmla="*/ 196773 h 195942"/>
                    <a:gd name="connsiteX3" fmla="*/ 19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30"/>
                      </a:moveTo>
                      <a:lnTo>
                        <a:pt x="196133" y="830"/>
                      </a:lnTo>
                      <a:lnTo>
                        <a:pt x="196133" y="196773"/>
                      </a:lnTo>
                      <a:lnTo>
                        <a:pt x="190" y="196773"/>
                      </a:lnTo>
                      <a:close/>
                    </a:path>
                  </a:pathLst>
                </a:custGeom>
                <a:grpFill/>
                <a:ln w="9797" cap="flat">
                  <a:solidFill>
                    <a:srgbClr val="333333"/>
                  </a:solidFill>
                  <a:prstDash val="solid"/>
                  <a:miter/>
                </a:ln>
              </p:spPr>
              <p:txBody>
                <a:bodyPr rtlCol="0" anchor="ctr"/>
                <a:lstStyle/>
                <a:p>
                  <a:endParaRPr lang="zh-CN" altLang="en-US"/>
                </a:p>
              </p:txBody>
            </p:sp>
            <p:sp>
              <p:nvSpPr>
                <p:cNvPr id="389" name="任意多边形: 形状 388"/>
                <p:cNvSpPr/>
                <p:nvPr/>
              </p:nvSpPr>
              <p:spPr>
                <a:xfrm>
                  <a:off x="4103914" y="5421085"/>
                  <a:ext cx="195942" cy="195942"/>
                </a:xfrm>
                <a:custGeom>
                  <a:avLst/>
                  <a:gdLst>
                    <a:gd name="connsiteX0" fmla="*/ 220 w 195942"/>
                    <a:gd name="connsiteY0" fmla="*/ 830 h 195942"/>
                    <a:gd name="connsiteX1" fmla="*/ 196163 w 195942"/>
                    <a:gd name="connsiteY1" fmla="*/ 830 h 195942"/>
                    <a:gd name="connsiteX2" fmla="*/ 196163 w 195942"/>
                    <a:gd name="connsiteY2" fmla="*/ 196773 h 195942"/>
                    <a:gd name="connsiteX3" fmla="*/ 220 w 195942"/>
                    <a:gd name="connsiteY3" fmla="*/ 1967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30"/>
                      </a:moveTo>
                      <a:lnTo>
                        <a:pt x="196163" y="830"/>
                      </a:lnTo>
                      <a:lnTo>
                        <a:pt x="196163" y="196773"/>
                      </a:lnTo>
                      <a:lnTo>
                        <a:pt x="220" y="196773"/>
                      </a:lnTo>
                      <a:close/>
                    </a:path>
                  </a:pathLst>
                </a:custGeom>
                <a:grpFill/>
                <a:ln w="9797" cap="flat">
                  <a:solidFill>
                    <a:srgbClr val="333333"/>
                  </a:solidFill>
                  <a:prstDash val="solid"/>
                  <a:miter/>
                </a:ln>
              </p:spPr>
              <p:txBody>
                <a:bodyPr rtlCol="0" anchor="ctr"/>
                <a:lstStyle/>
                <a:p>
                  <a:endParaRPr lang="zh-CN" altLang="en-US"/>
                </a:p>
              </p:txBody>
            </p:sp>
          </p:grpSp>
          <p:grpSp>
            <p:nvGrpSpPr>
              <p:cNvPr id="376" name="图形 5"/>
              <p:cNvGrpSpPr/>
              <p:nvPr/>
            </p:nvGrpSpPr>
            <p:grpSpPr>
              <a:xfrm>
                <a:off x="3516085" y="5617028"/>
                <a:ext cx="783771" cy="195942"/>
                <a:chOff x="3516085" y="5617028"/>
                <a:chExt cx="783771" cy="195942"/>
              </a:xfrm>
              <a:grpFill/>
            </p:grpSpPr>
            <p:sp>
              <p:nvSpPr>
                <p:cNvPr id="382" name="任意多边形: 形状 381"/>
                <p:cNvSpPr/>
                <p:nvPr/>
              </p:nvSpPr>
              <p:spPr>
                <a:xfrm>
                  <a:off x="3516085" y="5617028"/>
                  <a:ext cx="195942" cy="195942"/>
                </a:xfrm>
                <a:custGeom>
                  <a:avLst/>
                  <a:gdLst>
                    <a:gd name="connsiteX0" fmla="*/ 130 w 195942"/>
                    <a:gd name="connsiteY0" fmla="*/ 860 h 195942"/>
                    <a:gd name="connsiteX1" fmla="*/ 196073 w 195942"/>
                    <a:gd name="connsiteY1" fmla="*/ 860 h 195942"/>
                    <a:gd name="connsiteX2" fmla="*/ 196073 w 195942"/>
                    <a:gd name="connsiteY2" fmla="*/ 196803 h 195942"/>
                    <a:gd name="connsiteX3" fmla="*/ 13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60"/>
                      </a:moveTo>
                      <a:lnTo>
                        <a:pt x="196073" y="860"/>
                      </a:lnTo>
                      <a:lnTo>
                        <a:pt x="196073" y="196803"/>
                      </a:lnTo>
                      <a:lnTo>
                        <a:pt x="130" y="196803"/>
                      </a:lnTo>
                      <a:close/>
                    </a:path>
                  </a:pathLst>
                </a:custGeom>
                <a:grpFill/>
                <a:ln w="9797" cap="flat">
                  <a:solidFill>
                    <a:srgbClr val="333333"/>
                  </a:solidFill>
                  <a:prstDash val="solid"/>
                  <a:miter/>
                </a:ln>
              </p:spPr>
              <p:txBody>
                <a:bodyPr rtlCol="0" anchor="ctr"/>
                <a:lstStyle/>
                <a:p>
                  <a:endParaRPr lang="zh-CN" altLang="en-US"/>
                </a:p>
              </p:txBody>
            </p:sp>
            <p:sp>
              <p:nvSpPr>
                <p:cNvPr id="383" name="任意多边形: 形状 382"/>
                <p:cNvSpPr/>
                <p:nvPr/>
              </p:nvSpPr>
              <p:spPr>
                <a:xfrm>
                  <a:off x="3712028" y="5617028"/>
                  <a:ext cx="195942" cy="195942"/>
                </a:xfrm>
                <a:custGeom>
                  <a:avLst/>
                  <a:gdLst>
                    <a:gd name="connsiteX0" fmla="*/ 160 w 195942"/>
                    <a:gd name="connsiteY0" fmla="*/ 860 h 195942"/>
                    <a:gd name="connsiteX1" fmla="*/ 196103 w 195942"/>
                    <a:gd name="connsiteY1" fmla="*/ 860 h 195942"/>
                    <a:gd name="connsiteX2" fmla="*/ 196103 w 195942"/>
                    <a:gd name="connsiteY2" fmla="*/ 196803 h 195942"/>
                    <a:gd name="connsiteX3" fmla="*/ 16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60"/>
                      </a:moveTo>
                      <a:lnTo>
                        <a:pt x="196103" y="860"/>
                      </a:lnTo>
                      <a:lnTo>
                        <a:pt x="196103" y="196803"/>
                      </a:lnTo>
                      <a:lnTo>
                        <a:pt x="160" y="196803"/>
                      </a:lnTo>
                      <a:close/>
                    </a:path>
                  </a:pathLst>
                </a:custGeom>
                <a:grpFill/>
                <a:ln w="9797" cap="flat">
                  <a:solidFill>
                    <a:srgbClr val="333333"/>
                  </a:solidFill>
                  <a:prstDash val="solid"/>
                  <a:miter/>
                </a:ln>
              </p:spPr>
              <p:txBody>
                <a:bodyPr rtlCol="0" anchor="ctr"/>
                <a:lstStyle/>
                <a:p>
                  <a:endParaRPr lang="zh-CN" altLang="en-US"/>
                </a:p>
              </p:txBody>
            </p:sp>
            <p:sp>
              <p:nvSpPr>
                <p:cNvPr id="384" name="任意多边形: 形状 383"/>
                <p:cNvSpPr/>
                <p:nvPr/>
              </p:nvSpPr>
              <p:spPr>
                <a:xfrm>
                  <a:off x="3907971" y="5617028"/>
                  <a:ext cx="195942" cy="195942"/>
                </a:xfrm>
                <a:custGeom>
                  <a:avLst/>
                  <a:gdLst>
                    <a:gd name="connsiteX0" fmla="*/ 190 w 195942"/>
                    <a:gd name="connsiteY0" fmla="*/ 860 h 195942"/>
                    <a:gd name="connsiteX1" fmla="*/ 196133 w 195942"/>
                    <a:gd name="connsiteY1" fmla="*/ 860 h 195942"/>
                    <a:gd name="connsiteX2" fmla="*/ 196133 w 195942"/>
                    <a:gd name="connsiteY2" fmla="*/ 196803 h 195942"/>
                    <a:gd name="connsiteX3" fmla="*/ 19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60"/>
                      </a:moveTo>
                      <a:lnTo>
                        <a:pt x="196133" y="860"/>
                      </a:lnTo>
                      <a:lnTo>
                        <a:pt x="196133" y="196803"/>
                      </a:lnTo>
                      <a:lnTo>
                        <a:pt x="190" y="196803"/>
                      </a:lnTo>
                      <a:close/>
                    </a:path>
                  </a:pathLst>
                </a:custGeom>
                <a:grpFill/>
                <a:ln w="9797" cap="flat">
                  <a:solidFill>
                    <a:srgbClr val="333333"/>
                  </a:solidFill>
                  <a:prstDash val="solid"/>
                  <a:miter/>
                </a:ln>
              </p:spPr>
              <p:txBody>
                <a:bodyPr rtlCol="0" anchor="ctr"/>
                <a:lstStyle/>
                <a:p>
                  <a:endParaRPr lang="zh-CN" altLang="en-US"/>
                </a:p>
              </p:txBody>
            </p:sp>
            <p:sp>
              <p:nvSpPr>
                <p:cNvPr id="385" name="任意多边形: 形状 384"/>
                <p:cNvSpPr/>
                <p:nvPr/>
              </p:nvSpPr>
              <p:spPr>
                <a:xfrm>
                  <a:off x="4103914" y="5617028"/>
                  <a:ext cx="195942" cy="195942"/>
                </a:xfrm>
                <a:custGeom>
                  <a:avLst/>
                  <a:gdLst>
                    <a:gd name="connsiteX0" fmla="*/ 220 w 195942"/>
                    <a:gd name="connsiteY0" fmla="*/ 860 h 195942"/>
                    <a:gd name="connsiteX1" fmla="*/ 196163 w 195942"/>
                    <a:gd name="connsiteY1" fmla="*/ 860 h 195942"/>
                    <a:gd name="connsiteX2" fmla="*/ 196163 w 195942"/>
                    <a:gd name="connsiteY2" fmla="*/ 196803 h 195942"/>
                    <a:gd name="connsiteX3" fmla="*/ 220 w 195942"/>
                    <a:gd name="connsiteY3" fmla="*/ 1968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60"/>
                      </a:moveTo>
                      <a:lnTo>
                        <a:pt x="196163" y="860"/>
                      </a:lnTo>
                      <a:lnTo>
                        <a:pt x="196163" y="196803"/>
                      </a:lnTo>
                      <a:lnTo>
                        <a:pt x="220" y="196803"/>
                      </a:lnTo>
                      <a:close/>
                    </a:path>
                  </a:pathLst>
                </a:custGeom>
                <a:grpFill/>
                <a:ln w="9797" cap="flat">
                  <a:solidFill>
                    <a:srgbClr val="333333"/>
                  </a:solidFill>
                  <a:prstDash val="solid"/>
                  <a:miter/>
                </a:ln>
              </p:spPr>
              <p:txBody>
                <a:bodyPr rtlCol="0" anchor="ctr"/>
                <a:lstStyle/>
                <a:p>
                  <a:endParaRPr lang="zh-CN" altLang="en-US"/>
                </a:p>
              </p:txBody>
            </p:sp>
          </p:grpSp>
          <p:grpSp>
            <p:nvGrpSpPr>
              <p:cNvPr id="377" name="图形 5"/>
              <p:cNvGrpSpPr/>
              <p:nvPr/>
            </p:nvGrpSpPr>
            <p:grpSpPr>
              <a:xfrm>
                <a:off x="3516085" y="5812971"/>
                <a:ext cx="783771" cy="195942"/>
                <a:chOff x="3516085" y="5812971"/>
                <a:chExt cx="783771" cy="195942"/>
              </a:xfrm>
              <a:grpFill/>
            </p:grpSpPr>
            <p:sp>
              <p:nvSpPr>
                <p:cNvPr id="378" name="任意多边形: 形状 377"/>
                <p:cNvSpPr/>
                <p:nvPr/>
              </p:nvSpPr>
              <p:spPr>
                <a:xfrm>
                  <a:off x="3516085" y="5812971"/>
                  <a:ext cx="195942" cy="195942"/>
                </a:xfrm>
                <a:custGeom>
                  <a:avLst/>
                  <a:gdLst>
                    <a:gd name="connsiteX0" fmla="*/ 130 w 195942"/>
                    <a:gd name="connsiteY0" fmla="*/ 890 h 195942"/>
                    <a:gd name="connsiteX1" fmla="*/ 196073 w 195942"/>
                    <a:gd name="connsiteY1" fmla="*/ 890 h 195942"/>
                    <a:gd name="connsiteX2" fmla="*/ 196073 w 195942"/>
                    <a:gd name="connsiteY2" fmla="*/ 196833 h 195942"/>
                    <a:gd name="connsiteX3" fmla="*/ 13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30" y="890"/>
                      </a:moveTo>
                      <a:lnTo>
                        <a:pt x="196073" y="890"/>
                      </a:lnTo>
                      <a:lnTo>
                        <a:pt x="196073" y="196833"/>
                      </a:lnTo>
                      <a:lnTo>
                        <a:pt x="130" y="196833"/>
                      </a:lnTo>
                      <a:close/>
                    </a:path>
                  </a:pathLst>
                </a:custGeom>
                <a:grpFill/>
                <a:ln w="9797" cap="flat">
                  <a:solidFill>
                    <a:srgbClr val="333333"/>
                  </a:solidFill>
                  <a:prstDash val="solid"/>
                  <a:miter/>
                </a:ln>
              </p:spPr>
              <p:txBody>
                <a:bodyPr rtlCol="0" anchor="ctr"/>
                <a:lstStyle/>
                <a:p>
                  <a:endParaRPr lang="zh-CN" altLang="en-US"/>
                </a:p>
              </p:txBody>
            </p:sp>
            <p:sp>
              <p:nvSpPr>
                <p:cNvPr id="379" name="任意多边形: 形状 378"/>
                <p:cNvSpPr/>
                <p:nvPr/>
              </p:nvSpPr>
              <p:spPr>
                <a:xfrm>
                  <a:off x="3712028" y="5812971"/>
                  <a:ext cx="195942" cy="195942"/>
                </a:xfrm>
                <a:custGeom>
                  <a:avLst/>
                  <a:gdLst>
                    <a:gd name="connsiteX0" fmla="*/ 160 w 195942"/>
                    <a:gd name="connsiteY0" fmla="*/ 890 h 195942"/>
                    <a:gd name="connsiteX1" fmla="*/ 196103 w 195942"/>
                    <a:gd name="connsiteY1" fmla="*/ 890 h 195942"/>
                    <a:gd name="connsiteX2" fmla="*/ 196103 w 195942"/>
                    <a:gd name="connsiteY2" fmla="*/ 196833 h 195942"/>
                    <a:gd name="connsiteX3" fmla="*/ 16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60" y="890"/>
                      </a:moveTo>
                      <a:lnTo>
                        <a:pt x="196103" y="890"/>
                      </a:lnTo>
                      <a:lnTo>
                        <a:pt x="196103" y="196833"/>
                      </a:lnTo>
                      <a:lnTo>
                        <a:pt x="160" y="196833"/>
                      </a:lnTo>
                      <a:close/>
                    </a:path>
                  </a:pathLst>
                </a:custGeom>
                <a:grpFill/>
                <a:ln w="9797" cap="flat">
                  <a:solidFill>
                    <a:srgbClr val="333333"/>
                  </a:solidFill>
                  <a:prstDash val="solid"/>
                  <a:miter/>
                </a:ln>
              </p:spPr>
              <p:txBody>
                <a:bodyPr rtlCol="0" anchor="ctr"/>
                <a:lstStyle/>
                <a:p>
                  <a:endParaRPr lang="zh-CN" altLang="en-US"/>
                </a:p>
              </p:txBody>
            </p:sp>
            <p:sp>
              <p:nvSpPr>
                <p:cNvPr id="380" name="任意多边形: 形状 379"/>
                <p:cNvSpPr/>
                <p:nvPr/>
              </p:nvSpPr>
              <p:spPr>
                <a:xfrm>
                  <a:off x="3907971" y="5812971"/>
                  <a:ext cx="195942" cy="195942"/>
                </a:xfrm>
                <a:custGeom>
                  <a:avLst/>
                  <a:gdLst>
                    <a:gd name="connsiteX0" fmla="*/ 190 w 195942"/>
                    <a:gd name="connsiteY0" fmla="*/ 890 h 195942"/>
                    <a:gd name="connsiteX1" fmla="*/ 196133 w 195942"/>
                    <a:gd name="connsiteY1" fmla="*/ 890 h 195942"/>
                    <a:gd name="connsiteX2" fmla="*/ 196133 w 195942"/>
                    <a:gd name="connsiteY2" fmla="*/ 196833 h 195942"/>
                    <a:gd name="connsiteX3" fmla="*/ 19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90" y="890"/>
                      </a:moveTo>
                      <a:lnTo>
                        <a:pt x="196133" y="890"/>
                      </a:lnTo>
                      <a:lnTo>
                        <a:pt x="196133" y="196833"/>
                      </a:lnTo>
                      <a:lnTo>
                        <a:pt x="190" y="196833"/>
                      </a:lnTo>
                      <a:close/>
                    </a:path>
                  </a:pathLst>
                </a:custGeom>
                <a:grpFill/>
                <a:ln w="9797" cap="flat">
                  <a:solidFill>
                    <a:srgbClr val="333333"/>
                  </a:solidFill>
                  <a:prstDash val="solid"/>
                  <a:miter/>
                </a:ln>
              </p:spPr>
              <p:txBody>
                <a:bodyPr rtlCol="0" anchor="ctr"/>
                <a:lstStyle/>
                <a:p>
                  <a:endParaRPr lang="zh-CN" altLang="en-US"/>
                </a:p>
              </p:txBody>
            </p:sp>
            <p:sp>
              <p:nvSpPr>
                <p:cNvPr id="381" name="任意多边形: 形状 380"/>
                <p:cNvSpPr/>
                <p:nvPr/>
              </p:nvSpPr>
              <p:spPr>
                <a:xfrm>
                  <a:off x="4103914" y="5812971"/>
                  <a:ext cx="195942" cy="195942"/>
                </a:xfrm>
                <a:custGeom>
                  <a:avLst/>
                  <a:gdLst>
                    <a:gd name="connsiteX0" fmla="*/ 220 w 195942"/>
                    <a:gd name="connsiteY0" fmla="*/ 890 h 195942"/>
                    <a:gd name="connsiteX1" fmla="*/ 196163 w 195942"/>
                    <a:gd name="connsiteY1" fmla="*/ 890 h 195942"/>
                    <a:gd name="connsiteX2" fmla="*/ 196163 w 195942"/>
                    <a:gd name="connsiteY2" fmla="*/ 196833 h 195942"/>
                    <a:gd name="connsiteX3" fmla="*/ 220 w 195942"/>
                    <a:gd name="connsiteY3" fmla="*/ 1968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20" y="890"/>
                      </a:moveTo>
                      <a:lnTo>
                        <a:pt x="196163" y="890"/>
                      </a:lnTo>
                      <a:lnTo>
                        <a:pt x="196163" y="196833"/>
                      </a:lnTo>
                      <a:lnTo>
                        <a:pt x="220" y="196833"/>
                      </a:lnTo>
                      <a:close/>
                    </a:path>
                  </a:pathLst>
                </a:custGeom>
                <a:grpFill/>
                <a:ln w="9797" cap="flat">
                  <a:solidFill>
                    <a:srgbClr val="333333"/>
                  </a:solidFill>
                  <a:prstDash val="solid"/>
                  <a:miter/>
                </a:ln>
              </p:spPr>
              <p:txBody>
                <a:bodyPr rtlCol="0" anchor="ctr"/>
                <a:lstStyle/>
                <a:p>
                  <a:endParaRPr lang="zh-CN" altLang="en-US"/>
                </a:p>
              </p:txBody>
            </p:sp>
          </p:grpSp>
        </p:grpSp>
        <p:sp>
          <p:nvSpPr>
            <p:cNvPr id="398" name="文本框 397"/>
            <p:cNvSpPr txBox="1"/>
            <p:nvPr/>
          </p:nvSpPr>
          <p:spPr>
            <a:xfrm>
              <a:off x="8055819" y="550818"/>
              <a:ext cx="346165" cy="359228"/>
            </a:xfrm>
            <a:prstGeom prst="rect">
              <a:avLst/>
            </a:prstGeom>
            <a:noFill/>
            <a:ln w="12700" cap="flat">
              <a:noFill/>
              <a:miter lim="400000"/>
            </a:ln>
            <a:effectLst/>
          </p:spPr>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905" b="0" i="0" u="none" strike="noStrike" cap="none" spc="0" normalizeH="0" baseline="0" dirty="0">
                  <a:ln>
                    <a:noFill/>
                  </a:ln>
                  <a:solidFill>
                    <a:srgbClr val="333333"/>
                  </a:solidFill>
                  <a:effectLst/>
                  <a:uFillTx/>
                  <a:latin typeface="Arial" panose="020B0604020202020204"/>
                  <a:ea typeface="等线" panose="02010600030101010101" charset="-122"/>
                  <a:cs typeface="Arial" panose="020B0604020202020204"/>
                  <a:sym typeface="Arial" panose="020B0604020202020204"/>
                  <a:rtl val="0"/>
                </a:rPr>
                <a:t>X</a:t>
              </a:r>
              <a:endParaRPr kumimoji="0" lang="zh-CN" altLang="en-US" sz="1905" b="0" i="0" u="none" strike="noStrike" cap="none" spc="0" normalizeH="0" baseline="0" dirty="0">
                <a:ln>
                  <a:noFill/>
                </a:ln>
                <a:solidFill>
                  <a:srgbClr val="333333"/>
                </a:solidFill>
                <a:effectLst/>
                <a:uFillTx/>
                <a:latin typeface="Arial" panose="020B0604020202020204"/>
                <a:ea typeface="等线" panose="02010600030101010101" charset="-122"/>
                <a:cs typeface="Arial" panose="020B0604020202020204"/>
                <a:sym typeface="Arial" panose="020B0604020202020204"/>
                <a:rtl val="0"/>
              </a:endParaRPr>
            </a:p>
          </p:txBody>
        </p:sp>
        <p:sp>
          <p:nvSpPr>
            <p:cNvPr id="399" name="任意多边形: 形状 398"/>
            <p:cNvSpPr/>
            <p:nvPr/>
          </p:nvSpPr>
          <p:spPr>
            <a:xfrm rot="5400000">
              <a:off x="7749499" y="1709283"/>
              <a:ext cx="718457" cy="326571"/>
            </a:xfrm>
            <a:custGeom>
              <a:avLst/>
              <a:gdLst>
                <a:gd name="connsiteX0" fmla="*/ 0 w 718457"/>
                <a:gd name="connsiteY0" fmla="*/ 97971 h 326571"/>
                <a:gd name="connsiteX1" fmla="*/ 522514 w 718457"/>
                <a:gd name="connsiteY1" fmla="*/ 97971 h 326571"/>
                <a:gd name="connsiteX2" fmla="*/ 522514 w 718457"/>
                <a:gd name="connsiteY2" fmla="*/ 0 h 326571"/>
                <a:gd name="connsiteX3" fmla="*/ 718457 w 718457"/>
                <a:gd name="connsiteY3" fmla="*/ 163286 h 326571"/>
                <a:gd name="connsiteX4" fmla="*/ 522514 w 718457"/>
                <a:gd name="connsiteY4" fmla="*/ 326571 h 326571"/>
                <a:gd name="connsiteX5" fmla="*/ 522514 w 718457"/>
                <a:gd name="connsiteY5" fmla="*/ 228600 h 326571"/>
                <a:gd name="connsiteX6" fmla="*/ 0 w 718457"/>
                <a:gd name="connsiteY6" fmla="*/ 228600 h 326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457" h="326571">
                  <a:moveTo>
                    <a:pt x="0" y="97971"/>
                  </a:moveTo>
                  <a:lnTo>
                    <a:pt x="522514" y="97971"/>
                  </a:lnTo>
                  <a:lnTo>
                    <a:pt x="522514" y="0"/>
                  </a:lnTo>
                  <a:lnTo>
                    <a:pt x="718457" y="163286"/>
                  </a:lnTo>
                  <a:lnTo>
                    <a:pt x="522514" y="326571"/>
                  </a:lnTo>
                  <a:lnTo>
                    <a:pt x="522514" y="228600"/>
                  </a:lnTo>
                  <a:lnTo>
                    <a:pt x="0" y="228600"/>
                  </a:lnTo>
                  <a:close/>
                </a:path>
              </a:pathLst>
            </a:custGeom>
            <a:solidFill>
              <a:srgbClr val="E4D7F5"/>
            </a:solidFill>
            <a:ln w="9797" cap="flat">
              <a:solidFill>
                <a:srgbClr val="555555"/>
              </a:solidFill>
              <a:prstDash val="solid"/>
              <a:miter/>
            </a:ln>
          </p:spPr>
          <p:txBody>
            <a:bodyPr rtlCol="0" anchor="ctr"/>
            <a:lstStyle/>
            <a:p>
              <a:endParaRPr lang="zh-CN" altLang="en-US"/>
            </a:p>
          </p:txBody>
        </p:sp>
        <p:graphicFrame>
          <p:nvGraphicFramePr>
            <p:cNvPr id="400" name="对象 399"/>
            <p:cNvGraphicFramePr>
              <a:graphicFrameLocks noChangeAspect="1"/>
            </p:cNvGraphicFramePr>
            <p:nvPr/>
          </p:nvGraphicFramePr>
          <p:xfrm>
            <a:off x="7075215" y="1404755"/>
            <a:ext cx="321468" cy="428624"/>
          </p:xfrm>
          <a:graphic>
            <a:graphicData uri="http://schemas.openxmlformats.org/presentationml/2006/ole">
              <mc:AlternateContent xmlns:mc="http://schemas.openxmlformats.org/markup-compatibility/2006">
                <mc:Choice xmlns:v="urn:schemas-microsoft-com:vml" Requires="v">
                  <p:oleObj spid="_x0000_s6623" name="Equation" r:id="rId17" imgW="155575" imgH="208915" progId="Equation.DSMT4">
                    <p:embed/>
                  </p:oleObj>
                </mc:Choice>
                <mc:Fallback>
                  <p:oleObj name="Equation" r:id="rId17" imgW="155575" imgH="208915" progId="Equation.DSMT4">
                    <p:embed/>
                    <p:pic>
                      <p:nvPicPr>
                        <p:cNvPr id="0" name="图片 6466"/>
                        <p:cNvPicPr/>
                        <p:nvPr/>
                      </p:nvPicPr>
                      <p:blipFill>
                        <a:blip r:embed="rId18"/>
                        <a:stretch>
                          <a:fillRect/>
                        </a:stretch>
                      </p:blipFill>
                      <p:spPr>
                        <a:xfrm>
                          <a:off x="7075215" y="1404755"/>
                          <a:ext cx="321468" cy="428624"/>
                        </a:xfrm>
                        <a:prstGeom prst="rect">
                          <a:avLst/>
                        </a:prstGeom>
                      </p:spPr>
                    </p:pic>
                  </p:oleObj>
                </mc:Fallback>
              </mc:AlternateContent>
            </a:graphicData>
          </a:graphic>
        </p:graphicFrame>
        <p:graphicFrame>
          <p:nvGraphicFramePr>
            <p:cNvPr id="401" name="对象 400"/>
            <p:cNvGraphicFramePr>
              <a:graphicFrameLocks noChangeAspect="1"/>
            </p:cNvGraphicFramePr>
            <p:nvPr/>
          </p:nvGraphicFramePr>
          <p:xfrm>
            <a:off x="9217146" y="1184839"/>
            <a:ext cx="495878" cy="414110"/>
          </p:xfrm>
          <a:graphic>
            <a:graphicData uri="http://schemas.openxmlformats.org/presentationml/2006/ole">
              <mc:AlternateContent xmlns:mc="http://schemas.openxmlformats.org/markup-compatibility/2006">
                <mc:Choice xmlns:v="urn:schemas-microsoft-com:vml" Requires="v">
                  <p:oleObj spid="_x0000_s6624" name="Equation" r:id="rId19" imgW="233680" imgH="194310" progId="Equation.DSMT4">
                    <p:embed/>
                  </p:oleObj>
                </mc:Choice>
                <mc:Fallback>
                  <p:oleObj name="Equation" r:id="rId19" imgW="233680" imgH="194310" progId="Equation.DSMT4">
                    <p:embed/>
                    <p:pic>
                      <p:nvPicPr>
                        <p:cNvPr id="0" name="图片 6467"/>
                        <p:cNvPicPr/>
                        <p:nvPr/>
                      </p:nvPicPr>
                      <p:blipFill>
                        <a:blip r:embed="rId20"/>
                        <a:stretch>
                          <a:fillRect/>
                        </a:stretch>
                      </p:blipFill>
                      <p:spPr>
                        <a:xfrm>
                          <a:off x="9217146" y="1184839"/>
                          <a:ext cx="495878" cy="414110"/>
                        </a:xfrm>
                        <a:prstGeom prst="rect">
                          <a:avLst/>
                        </a:prstGeom>
                      </p:spPr>
                    </p:pic>
                  </p:oleObj>
                </mc:Fallback>
              </mc:AlternateContent>
            </a:graphicData>
          </a:graphic>
        </p:graphicFrame>
        <p:grpSp>
          <p:nvGrpSpPr>
            <p:cNvPr id="402" name="图形 5"/>
            <p:cNvGrpSpPr/>
            <p:nvPr/>
          </p:nvGrpSpPr>
          <p:grpSpPr>
            <a:xfrm>
              <a:off x="7618869" y="2442224"/>
              <a:ext cx="979715" cy="979713"/>
              <a:chOff x="7238999" y="5127171"/>
              <a:chExt cx="979715" cy="979713"/>
            </a:xfrm>
            <a:solidFill>
              <a:srgbClr val="00B050"/>
            </a:solidFill>
          </p:grpSpPr>
          <p:grpSp>
            <p:nvGrpSpPr>
              <p:cNvPr id="403" name="图形 5"/>
              <p:cNvGrpSpPr/>
              <p:nvPr/>
            </p:nvGrpSpPr>
            <p:grpSpPr>
              <a:xfrm>
                <a:off x="7238999" y="5127171"/>
                <a:ext cx="979714" cy="252506"/>
                <a:chOff x="7238999" y="5127171"/>
                <a:chExt cx="979714" cy="252506"/>
              </a:xfrm>
              <a:grpFill/>
            </p:grpSpPr>
            <p:sp>
              <p:nvSpPr>
                <p:cNvPr id="429" name="任意多边形: 形状 428"/>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430" name="任意多边形: 形状 429"/>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431" name="任意多边形: 形状 430"/>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432" name="任意多边形: 形状 431"/>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sp>
              <p:nvSpPr>
                <p:cNvPr id="433" name="任意多边形: 形状 432"/>
                <p:cNvSpPr/>
                <p:nvPr/>
              </p:nvSpPr>
              <p:spPr>
                <a:xfrm>
                  <a:off x="8022771" y="5127171"/>
                  <a:ext cx="195942" cy="195942"/>
                </a:xfrm>
                <a:custGeom>
                  <a:avLst/>
                  <a:gdLst>
                    <a:gd name="connsiteX0" fmla="*/ 820 w 195942"/>
                    <a:gd name="connsiteY0" fmla="*/ 785 h 195942"/>
                    <a:gd name="connsiteX1" fmla="*/ 196763 w 195942"/>
                    <a:gd name="connsiteY1" fmla="*/ 785 h 195942"/>
                    <a:gd name="connsiteX2" fmla="*/ 196763 w 195942"/>
                    <a:gd name="connsiteY2" fmla="*/ 196728 h 195942"/>
                    <a:gd name="connsiteX3" fmla="*/ 82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785"/>
                      </a:moveTo>
                      <a:lnTo>
                        <a:pt x="196763" y="785"/>
                      </a:lnTo>
                      <a:lnTo>
                        <a:pt x="196763" y="196728"/>
                      </a:lnTo>
                      <a:lnTo>
                        <a:pt x="82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404" name="图形 5"/>
              <p:cNvGrpSpPr/>
              <p:nvPr/>
            </p:nvGrpSpPr>
            <p:grpSpPr>
              <a:xfrm>
                <a:off x="7239000" y="5323114"/>
                <a:ext cx="979714" cy="195942"/>
                <a:chOff x="7239000" y="5323114"/>
                <a:chExt cx="979714" cy="195942"/>
              </a:xfrm>
              <a:grpFill/>
            </p:grpSpPr>
            <p:sp>
              <p:nvSpPr>
                <p:cNvPr id="424" name="任意多边形: 形状 423"/>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425" name="任意多边形: 形状 424"/>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426" name="任意多边形: 形状 425"/>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427" name="任意多边形: 形状 426"/>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sp>
              <p:nvSpPr>
                <p:cNvPr id="428" name="任意多边形: 形状 427"/>
                <p:cNvSpPr/>
                <p:nvPr/>
              </p:nvSpPr>
              <p:spPr>
                <a:xfrm>
                  <a:off x="8022771" y="5323114"/>
                  <a:ext cx="195942" cy="195942"/>
                </a:xfrm>
                <a:custGeom>
                  <a:avLst/>
                  <a:gdLst>
                    <a:gd name="connsiteX0" fmla="*/ 820 w 195942"/>
                    <a:gd name="connsiteY0" fmla="*/ 815 h 195942"/>
                    <a:gd name="connsiteX1" fmla="*/ 196763 w 195942"/>
                    <a:gd name="connsiteY1" fmla="*/ 815 h 195942"/>
                    <a:gd name="connsiteX2" fmla="*/ 196763 w 195942"/>
                    <a:gd name="connsiteY2" fmla="*/ 196758 h 195942"/>
                    <a:gd name="connsiteX3" fmla="*/ 82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15"/>
                      </a:moveTo>
                      <a:lnTo>
                        <a:pt x="196763" y="815"/>
                      </a:lnTo>
                      <a:lnTo>
                        <a:pt x="196763" y="196758"/>
                      </a:lnTo>
                      <a:lnTo>
                        <a:pt x="82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405" name="图形 5"/>
              <p:cNvGrpSpPr/>
              <p:nvPr/>
            </p:nvGrpSpPr>
            <p:grpSpPr>
              <a:xfrm>
                <a:off x="7239000" y="5519057"/>
                <a:ext cx="979713" cy="195942"/>
                <a:chOff x="7239000" y="5519057"/>
                <a:chExt cx="979713" cy="195942"/>
              </a:xfrm>
              <a:grpFill/>
            </p:grpSpPr>
            <p:sp>
              <p:nvSpPr>
                <p:cNvPr id="419" name="任意多边形: 形状 418"/>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420" name="任意多边形: 形状 419"/>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421" name="任意多边形: 形状 420"/>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422" name="任意多边形: 形状 421"/>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23" name="任意多边形: 形状 422"/>
                <p:cNvSpPr/>
                <p:nvPr/>
              </p:nvSpPr>
              <p:spPr>
                <a:xfrm>
                  <a:off x="8022771" y="5519057"/>
                  <a:ext cx="195942" cy="195942"/>
                </a:xfrm>
                <a:custGeom>
                  <a:avLst/>
                  <a:gdLst>
                    <a:gd name="connsiteX0" fmla="*/ 820 w 195942"/>
                    <a:gd name="connsiteY0" fmla="*/ 845 h 195942"/>
                    <a:gd name="connsiteX1" fmla="*/ 196763 w 195942"/>
                    <a:gd name="connsiteY1" fmla="*/ 845 h 195942"/>
                    <a:gd name="connsiteX2" fmla="*/ 196763 w 195942"/>
                    <a:gd name="connsiteY2" fmla="*/ 196788 h 195942"/>
                    <a:gd name="connsiteX3" fmla="*/ 82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45"/>
                      </a:moveTo>
                      <a:lnTo>
                        <a:pt x="196763" y="845"/>
                      </a:lnTo>
                      <a:lnTo>
                        <a:pt x="196763" y="196788"/>
                      </a:lnTo>
                      <a:lnTo>
                        <a:pt x="820" y="196788"/>
                      </a:lnTo>
                      <a:close/>
                    </a:path>
                  </a:pathLst>
                </a:custGeom>
                <a:grpFill/>
                <a:ln w="9797" cap="flat">
                  <a:solidFill>
                    <a:srgbClr val="333333"/>
                  </a:solidFill>
                  <a:prstDash val="solid"/>
                  <a:miter/>
                </a:ln>
              </p:spPr>
              <p:txBody>
                <a:bodyPr rtlCol="0" anchor="ctr"/>
                <a:lstStyle/>
                <a:p>
                  <a:endParaRPr lang="zh-CN" altLang="en-US"/>
                </a:p>
              </p:txBody>
            </p:sp>
          </p:grpSp>
          <p:grpSp>
            <p:nvGrpSpPr>
              <p:cNvPr id="406" name="图形 5"/>
              <p:cNvGrpSpPr/>
              <p:nvPr/>
            </p:nvGrpSpPr>
            <p:grpSpPr>
              <a:xfrm>
                <a:off x="7239000" y="5715000"/>
                <a:ext cx="979714" cy="195942"/>
                <a:chOff x="7239000" y="5715000"/>
                <a:chExt cx="979714" cy="195942"/>
              </a:xfrm>
              <a:grpFill/>
            </p:grpSpPr>
            <p:sp>
              <p:nvSpPr>
                <p:cNvPr id="414" name="任意多边形: 形状 413"/>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415" name="任意多边形: 形状 414"/>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416" name="任意多边形: 形状 415"/>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417" name="任意多边形: 形状 416"/>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sp>
              <p:nvSpPr>
                <p:cNvPr id="418" name="任意多边形: 形状 417"/>
                <p:cNvSpPr/>
                <p:nvPr/>
              </p:nvSpPr>
              <p:spPr>
                <a:xfrm>
                  <a:off x="8022771" y="5715000"/>
                  <a:ext cx="195942" cy="195942"/>
                </a:xfrm>
                <a:custGeom>
                  <a:avLst/>
                  <a:gdLst>
                    <a:gd name="connsiteX0" fmla="*/ 820 w 195942"/>
                    <a:gd name="connsiteY0" fmla="*/ 875 h 195942"/>
                    <a:gd name="connsiteX1" fmla="*/ 196763 w 195942"/>
                    <a:gd name="connsiteY1" fmla="*/ 875 h 195942"/>
                    <a:gd name="connsiteX2" fmla="*/ 196763 w 195942"/>
                    <a:gd name="connsiteY2" fmla="*/ 196818 h 195942"/>
                    <a:gd name="connsiteX3" fmla="*/ 82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75"/>
                      </a:moveTo>
                      <a:lnTo>
                        <a:pt x="196763" y="875"/>
                      </a:lnTo>
                      <a:lnTo>
                        <a:pt x="196763" y="196818"/>
                      </a:lnTo>
                      <a:lnTo>
                        <a:pt x="82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407" name="图形 5"/>
              <p:cNvGrpSpPr/>
              <p:nvPr/>
            </p:nvGrpSpPr>
            <p:grpSpPr>
              <a:xfrm>
                <a:off x="7239000" y="5910942"/>
                <a:ext cx="979714" cy="195942"/>
                <a:chOff x="7239000" y="5910942"/>
                <a:chExt cx="979714" cy="195942"/>
              </a:xfrm>
              <a:grpFill/>
            </p:grpSpPr>
            <p:sp>
              <p:nvSpPr>
                <p:cNvPr id="409" name="任意多边形: 形状 408"/>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410" name="任意多边形: 形状 409"/>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411" name="任意多边形: 形状 410"/>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412" name="任意多边形: 形状 411"/>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sp>
              <p:nvSpPr>
                <p:cNvPr id="413" name="任意多边形: 形状 412"/>
                <p:cNvSpPr/>
                <p:nvPr/>
              </p:nvSpPr>
              <p:spPr>
                <a:xfrm>
                  <a:off x="8022771" y="5910942"/>
                  <a:ext cx="195942" cy="195942"/>
                </a:xfrm>
                <a:custGeom>
                  <a:avLst/>
                  <a:gdLst>
                    <a:gd name="connsiteX0" fmla="*/ 820 w 195942"/>
                    <a:gd name="connsiteY0" fmla="*/ 905 h 195942"/>
                    <a:gd name="connsiteX1" fmla="*/ 196763 w 195942"/>
                    <a:gd name="connsiteY1" fmla="*/ 905 h 195942"/>
                    <a:gd name="connsiteX2" fmla="*/ 196763 w 195942"/>
                    <a:gd name="connsiteY2" fmla="*/ 196848 h 195942"/>
                    <a:gd name="connsiteX3" fmla="*/ 82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905"/>
                      </a:moveTo>
                      <a:lnTo>
                        <a:pt x="196763" y="905"/>
                      </a:lnTo>
                      <a:lnTo>
                        <a:pt x="196763" y="196848"/>
                      </a:lnTo>
                      <a:lnTo>
                        <a:pt x="820" y="196848"/>
                      </a:lnTo>
                      <a:close/>
                    </a:path>
                  </a:pathLst>
                </a:custGeom>
                <a:grpFill/>
                <a:ln w="9797" cap="flat">
                  <a:solidFill>
                    <a:srgbClr val="333333"/>
                  </a:solidFill>
                  <a:prstDash val="solid"/>
                  <a:miter/>
                </a:ln>
              </p:spPr>
              <p:txBody>
                <a:bodyPr rtlCol="0" anchor="ctr"/>
                <a:lstStyle/>
                <a:p>
                  <a:endParaRPr lang="zh-CN" altLang="en-US"/>
                </a:p>
              </p:txBody>
            </p:sp>
          </p:grpSp>
        </p:grpSp>
        <p:graphicFrame>
          <p:nvGraphicFramePr>
            <p:cNvPr id="473" name="对象 472"/>
            <p:cNvGraphicFramePr>
              <a:graphicFrameLocks noChangeAspect="1"/>
            </p:cNvGraphicFramePr>
            <p:nvPr/>
          </p:nvGraphicFramePr>
          <p:xfrm>
            <a:off x="7319406" y="3561500"/>
            <a:ext cx="1456670" cy="757537"/>
          </p:xfrm>
          <a:graphic>
            <a:graphicData uri="http://schemas.openxmlformats.org/presentationml/2006/ole">
              <mc:AlternateContent xmlns:mc="http://schemas.openxmlformats.org/markup-compatibility/2006">
                <mc:Choice xmlns:v="urn:schemas-microsoft-com:vml" Requires="v">
                  <p:oleObj spid="_x0000_s6625" name="Equation" r:id="rId21" imgW="1035685" imgH="539750" progId="Equation.DSMT4">
                    <p:embed/>
                  </p:oleObj>
                </mc:Choice>
                <mc:Fallback>
                  <p:oleObj name="Equation" r:id="rId21" imgW="1035685" imgH="539750" progId="Equation.DSMT4">
                    <p:embed/>
                    <p:pic>
                      <p:nvPicPr>
                        <p:cNvPr id="0" name="图片 6468"/>
                        <p:cNvPicPr/>
                        <p:nvPr/>
                      </p:nvPicPr>
                      <p:blipFill>
                        <a:blip r:embed="rId22"/>
                        <a:stretch>
                          <a:fillRect/>
                        </a:stretch>
                      </p:blipFill>
                      <p:spPr>
                        <a:xfrm>
                          <a:off x="7319406" y="3561500"/>
                          <a:ext cx="1456670" cy="757537"/>
                        </a:xfrm>
                        <a:prstGeom prst="rect">
                          <a:avLst/>
                        </a:prstGeom>
                      </p:spPr>
                    </p:pic>
                  </p:oleObj>
                </mc:Fallback>
              </mc:AlternateContent>
            </a:graphicData>
          </a:graphic>
        </p:graphicFrame>
      </p:grpSp>
      <p:grpSp>
        <p:nvGrpSpPr>
          <p:cNvPr id="469" name="组合 468"/>
          <p:cNvGrpSpPr/>
          <p:nvPr/>
        </p:nvGrpSpPr>
        <p:grpSpPr>
          <a:xfrm>
            <a:off x="311057" y="3975420"/>
            <a:ext cx="2589809" cy="2358058"/>
            <a:chOff x="311057" y="3975420"/>
            <a:chExt cx="2589809" cy="2358058"/>
          </a:xfrm>
        </p:grpSpPr>
        <p:grpSp>
          <p:nvGrpSpPr>
            <p:cNvPr id="535" name="图形 5"/>
            <p:cNvGrpSpPr/>
            <p:nvPr/>
          </p:nvGrpSpPr>
          <p:grpSpPr>
            <a:xfrm>
              <a:off x="856941" y="3975420"/>
              <a:ext cx="2043925" cy="2342102"/>
              <a:chOff x="7238999" y="5127171"/>
              <a:chExt cx="783771" cy="979713"/>
            </a:xfrm>
            <a:solidFill>
              <a:schemeClr val="accent2">
                <a:lumMod val="20000"/>
                <a:lumOff val="80000"/>
              </a:schemeClr>
            </a:solidFill>
          </p:grpSpPr>
          <p:grpSp>
            <p:nvGrpSpPr>
              <p:cNvPr id="536" name="图形 5"/>
              <p:cNvGrpSpPr/>
              <p:nvPr/>
            </p:nvGrpSpPr>
            <p:grpSpPr>
              <a:xfrm>
                <a:off x="7238999" y="5127171"/>
                <a:ext cx="783771" cy="252506"/>
                <a:chOff x="7238999" y="5127171"/>
                <a:chExt cx="783771" cy="252506"/>
              </a:xfrm>
              <a:grpFill/>
            </p:grpSpPr>
            <p:sp>
              <p:nvSpPr>
                <p:cNvPr id="557" name="任意多边形: 形状 556"/>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558" name="任意多边形: 形状 557"/>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559" name="任意多边形: 形状 558"/>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560" name="任意多边形: 形状 559"/>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537" name="图形 5"/>
              <p:cNvGrpSpPr/>
              <p:nvPr/>
            </p:nvGrpSpPr>
            <p:grpSpPr>
              <a:xfrm>
                <a:off x="7239000" y="5323114"/>
                <a:ext cx="783770" cy="195942"/>
                <a:chOff x="7239000" y="5323114"/>
                <a:chExt cx="783770" cy="195942"/>
              </a:xfrm>
              <a:grpFill/>
            </p:grpSpPr>
            <p:sp>
              <p:nvSpPr>
                <p:cNvPr id="553" name="任意多边形: 形状 552"/>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554" name="任意多边形: 形状 553"/>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555" name="任意多边形: 形状 554"/>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556" name="任意多边形: 形状 555"/>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538" name="图形 5"/>
              <p:cNvGrpSpPr/>
              <p:nvPr/>
            </p:nvGrpSpPr>
            <p:grpSpPr>
              <a:xfrm>
                <a:off x="7239000" y="5519057"/>
                <a:ext cx="783770" cy="195942"/>
                <a:chOff x="7239000" y="5519057"/>
                <a:chExt cx="783770" cy="195942"/>
              </a:xfrm>
              <a:grpFill/>
            </p:grpSpPr>
            <p:sp>
              <p:nvSpPr>
                <p:cNvPr id="549" name="任意多边形: 形状 548"/>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550" name="任意多边形: 形状 549"/>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551" name="任意多边形: 形状 550"/>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552" name="任意多边形: 形状 551"/>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39" name="图形 5"/>
              <p:cNvGrpSpPr/>
              <p:nvPr/>
            </p:nvGrpSpPr>
            <p:grpSpPr>
              <a:xfrm>
                <a:off x="7239000" y="5715000"/>
                <a:ext cx="783770" cy="195942"/>
                <a:chOff x="7239000" y="5715000"/>
                <a:chExt cx="783770" cy="195942"/>
              </a:xfrm>
              <a:grpFill/>
            </p:grpSpPr>
            <p:sp>
              <p:nvSpPr>
                <p:cNvPr id="545" name="任意多边形: 形状 544"/>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546" name="任意多边形: 形状 545"/>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547" name="任意多边形: 形状 546"/>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548" name="任意多边形: 形状 547"/>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540" name="图形 5"/>
              <p:cNvGrpSpPr/>
              <p:nvPr/>
            </p:nvGrpSpPr>
            <p:grpSpPr>
              <a:xfrm>
                <a:off x="7239000" y="5910942"/>
                <a:ext cx="783770" cy="195942"/>
                <a:chOff x="7239000" y="5910942"/>
                <a:chExt cx="783770" cy="195942"/>
              </a:xfrm>
              <a:grpFill/>
            </p:grpSpPr>
            <p:sp>
              <p:nvSpPr>
                <p:cNvPr id="541" name="任意多边形: 形状 540"/>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542" name="任意多边形: 形状 541"/>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543" name="任意多边形: 形状 542"/>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544" name="任意多边形: 形状 543"/>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sp>
          <p:nvSpPr>
            <p:cNvPr id="561" name="文本框 560"/>
            <p:cNvSpPr txBox="1"/>
            <p:nvPr/>
          </p:nvSpPr>
          <p:spPr>
            <a:xfrm>
              <a:off x="311057" y="4102098"/>
              <a:ext cx="411128" cy="22313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60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你</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60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爱</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60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吃</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60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糖</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60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吗</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grpSp>
        <p:nvGrpSpPr>
          <p:cNvPr id="11" name="组合 10"/>
          <p:cNvGrpSpPr/>
          <p:nvPr/>
        </p:nvGrpSpPr>
        <p:grpSpPr>
          <a:xfrm>
            <a:off x="9055697" y="1790368"/>
            <a:ext cx="2917498" cy="2882373"/>
            <a:chOff x="9055697" y="1790368"/>
            <a:chExt cx="2917498" cy="2882373"/>
          </a:xfrm>
        </p:grpSpPr>
        <p:sp>
          <p:nvSpPr>
            <p:cNvPr id="588" name="文本框 587"/>
            <p:cNvSpPr txBox="1"/>
            <p:nvPr/>
          </p:nvSpPr>
          <p:spPr>
            <a:xfrm>
              <a:off x="10074790" y="1805431"/>
              <a:ext cx="43217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爱</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92" name="文本框 591"/>
            <p:cNvSpPr txBox="1"/>
            <p:nvPr/>
          </p:nvSpPr>
          <p:spPr>
            <a:xfrm>
              <a:off x="11094616" y="1790368"/>
              <a:ext cx="364426"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糖</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nvGrpSpPr>
            <p:cNvPr id="470" name="图形 5"/>
            <p:cNvGrpSpPr/>
            <p:nvPr/>
          </p:nvGrpSpPr>
          <p:grpSpPr>
            <a:xfrm>
              <a:off x="9529481" y="2214991"/>
              <a:ext cx="2443714" cy="2457750"/>
              <a:chOff x="7238999" y="5127171"/>
              <a:chExt cx="979715" cy="979713"/>
            </a:xfrm>
            <a:solidFill>
              <a:srgbClr val="00B050"/>
            </a:solidFill>
          </p:grpSpPr>
          <p:grpSp>
            <p:nvGrpSpPr>
              <p:cNvPr id="471" name="图形 5"/>
              <p:cNvGrpSpPr/>
              <p:nvPr/>
            </p:nvGrpSpPr>
            <p:grpSpPr>
              <a:xfrm>
                <a:off x="7238999" y="5127171"/>
                <a:ext cx="979714" cy="252506"/>
                <a:chOff x="7238999" y="5127171"/>
                <a:chExt cx="979714" cy="252506"/>
              </a:xfrm>
              <a:grpFill/>
            </p:grpSpPr>
            <p:sp>
              <p:nvSpPr>
                <p:cNvPr id="580" name="任意多边形: 形状 579"/>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581" name="任意多边形: 形状 580"/>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582" name="任意多边形: 形状 581"/>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583" name="任意多边形: 形状 582"/>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sp>
              <p:nvSpPr>
                <p:cNvPr id="584" name="任意多边形: 形状 583"/>
                <p:cNvSpPr/>
                <p:nvPr/>
              </p:nvSpPr>
              <p:spPr>
                <a:xfrm>
                  <a:off x="8022771" y="5127171"/>
                  <a:ext cx="195942" cy="195942"/>
                </a:xfrm>
                <a:custGeom>
                  <a:avLst/>
                  <a:gdLst>
                    <a:gd name="connsiteX0" fmla="*/ 820 w 195942"/>
                    <a:gd name="connsiteY0" fmla="*/ 785 h 195942"/>
                    <a:gd name="connsiteX1" fmla="*/ 196763 w 195942"/>
                    <a:gd name="connsiteY1" fmla="*/ 785 h 195942"/>
                    <a:gd name="connsiteX2" fmla="*/ 196763 w 195942"/>
                    <a:gd name="connsiteY2" fmla="*/ 196728 h 195942"/>
                    <a:gd name="connsiteX3" fmla="*/ 82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785"/>
                      </a:moveTo>
                      <a:lnTo>
                        <a:pt x="196763" y="785"/>
                      </a:lnTo>
                      <a:lnTo>
                        <a:pt x="196763" y="196728"/>
                      </a:lnTo>
                      <a:lnTo>
                        <a:pt x="82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472" name="图形 5"/>
              <p:cNvGrpSpPr/>
              <p:nvPr/>
            </p:nvGrpSpPr>
            <p:grpSpPr>
              <a:xfrm>
                <a:off x="7239000" y="5323114"/>
                <a:ext cx="979714" cy="195942"/>
                <a:chOff x="7239000" y="5323114"/>
                <a:chExt cx="979714" cy="195942"/>
              </a:xfrm>
              <a:grpFill/>
            </p:grpSpPr>
            <p:sp>
              <p:nvSpPr>
                <p:cNvPr id="575" name="任意多边形: 形状 574"/>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576" name="任意多边形: 形状 575"/>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577" name="任意多边形: 形状 576"/>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578" name="任意多边形: 形状 577"/>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sp>
              <p:nvSpPr>
                <p:cNvPr id="579" name="任意多边形: 形状 578"/>
                <p:cNvSpPr/>
                <p:nvPr/>
              </p:nvSpPr>
              <p:spPr>
                <a:xfrm>
                  <a:off x="8022771" y="5323114"/>
                  <a:ext cx="195942" cy="195942"/>
                </a:xfrm>
                <a:custGeom>
                  <a:avLst/>
                  <a:gdLst>
                    <a:gd name="connsiteX0" fmla="*/ 820 w 195942"/>
                    <a:gd name="connsiteY0" fmla="*/ 815 h 195942"/>
                    <a:gd name="connsiteX1" fmla="*/ 196763 w 195942"/>
                    <a:gd name="connsiteY1" fmla="*/ 815 h 195942"/>
                    <a:gd name="connsiteX2" fmla="*/ 196763 w 195942"/>
                    <a:gd name="connsiteY2" fmla="*/ 196758 h 195942"/>
                    <a:gd name="connsiteX3" fmla="*/ 82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15"/>
                      </a:moveTo>
                      <a:lnTo>
                        <a:pt x="196763" y="815"/>
                      </a:lnTo>
                      <a:lnTo>
                        <a:pt x="196763" y="196758"/>
                      </a:lnTo>
                      <a:lnTo>
                        <a:pt x="82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513" name="图形 5"/>
              <p:cNvGrpSpPr/>
              <p:nvPr/>
            </p:nvGrpSpPr>
            <p:grpSpPr>
              <a:xfrm>
                <a:off x="7239000" y="5519057"/>
                <a:ext cx="979713" cy="195942"/>
                <a:chOff x="7239000" y="5519057"/>
                <a:chExt cx="979713" cy="195942"/>
              </a:xfrm>
              <a:grpFill/>
            </p:grpSpPr>
            <p:sp>
              <p:nvSpPr>
                <p:cNvPr id="570" name="任意多边形: 形状 569"/>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571" name="任意多边形: 形状 570"/>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572" name="任意多边形: 形状 571"/>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573" name="任意多边形: 形状 572"/>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solidFill>
                  <a:schemeClr val="accent6">
                    <a:lumMod val="20000"/>
                    <a:lumOff val="80000"/>
                  </a:schemeClr>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74" name="任意多边形: 形状 573"/>
                <p:cNvSpPr/>
                <p:nvPr/>
              </p:nvSpPr>
              <p:spPr>
                <a:xfrm>
                  <a:off x="8022771" y="5519057"/>
                  <a:ext cx="195942" cy="195942"/>
                </a:xfrm>
                <a:custGeom>
                  <a:avLst/>
                  <a:gdLst>
                    <a:gd name="connsiteX0" fmla="*/ 820 w 195942"/>
                    <a:gd name="connsiteY0" fmla="*/ 845 h 195942"/>
                    <a:gd name="connsiteX1" fmla="*/ 196763 w 195942"/>
                    <a:gd name="connsiteY1" fmla="*/ 845 h 195942"/>
                    <a:gd name="connsiteX2" fmla="*/ 196763 w 195942"/>
                    <a:gd name="connsiteY2" fmla="*/ 196788 h 195942"/>
                    <a:gd name="connsiteX3" fmla="*/ 82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45"/>
                      </a:moveTo>
                      <a:lnTo>
                        <a:pt x="196763" y="845"/>
                      </a:lnTo>
                      <a:lnTo>
                        <a:pt x="196763" y="196788"/>
                      </a:lnTo>
                      <a:lnTo>
                        <a:pt x="820" y="196788"/>
                      </a:lnTo>
                      <a:close/>
                    </a:path>
                  </a:pathLst>
                </a:custGeom>
                <a:grpFill/>
                <a:ln w="9797" cap="flat">
                  <a:solidFill>
                    <a:srgbClr val="333333"/>
                  </a:solidFill>
                  <a:prstDash val="solid"/>
                  <a:miter/>
                </a:ln>
              </p:spPr>
              <p:txBody>
                <a:bodyPr rtlCol="0" anchor="ctr"/>
                <a:lstStyle/>
                <a:p>
                  <a:endParaRPr lang="zh-CN" altLang="en-US"/>
                </a:p>
              </p:txBody>
            </p:sp>
          </p:grpSp>
          <p:grpSp>
            <p:nvGrpSpPr>
              <p:cNvPr id="518" name="图形 5"/>
              <p:cNvGrpSpPr/>
              <p:nvPr/>
            </p:nvGrpSpPr>
            <p:grpSpPr>
              <a:xfrm>
                <a:off x="7239000" y="5715000"/>
                <a:ext cx="979714" cy="195942"/>
                <a:chOff x="7239000" y="5715000"/>
                <a:chExt cx="979714" cy="195942"/>
              </a:xfrm>
              <a:grpFill/>
            </p:grpSpPr>
            <p:sp>
              <p:nvSpPr>
                <p:cNvPr id="565" name="任意多边形: 形状 564"/>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566" name="任意多边形: 形状 565"/>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567" name="任意多边形: 形状 566"/>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568" name="任意多边形: 形状 567"/>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sp>
              <p:nvSpPr>
                <p:cNvPr id="569" name="任意多边形: 形状 568"/>
                <p:cNvSpPr/>
                <p:nvPr/>
              </p:nvSpPr>
              <p:spPr>
                <a:xfrm>
                  <a:off x="8022771" y="5715000"/>
                  <a:ext cx="195942" cy="195942"/>
                </a:xfrm>
                <a:custGeom>
                  <a:avLst/>
                  <a:gdLst>
                    <a:gd name="connsiteX0" fmla="*/ 820 w 195942"/>
                    <a:gd name="connsiteY0" fmla="*/ 875 h 195942"/>
                    <a:gd name="connsiteX1" fmla="*/ 196763 w 195942"/>
                    <a:gd name="connsiteY1" fmla="*/ 875 h 195942"/>
                    <a:gd name="connsiteX2" fmla="*/ 196763 w 195942"/>
                    <a:gd name="connsiteY2" fmla="*/ 196818 h 195942"/>
                    <a:gd name="connsiteX3" fmla="*/ 82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75"/>
                      </a:moveTo>
                      <a:lnTo>
                        <a:pt x="196763" y="875"/>
                      </a:lnTo>
                      <a:lnTo>
                        <a:pt x="196763" y="196818"/>
                      </a:lnTo>
                      <a:lnTo>
                        <a:pt x="82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523" name="图形 5"/>
              <p:cNvGrpSpPr/>
              <p:nvPr/>
            </p:nvGrpSpPr>
            <p:grpSpPr>
              <a:xfrm>
                <a:off x="7239000" y="5910942"/>
                <a:ext cx="979714" cy="195942"/>
                <a:chOff x="7239000" y="5910942"/>
                <a:chExt cx="979714" cy="195942"/>
              </a:xfrm>
              <a:grpFill/>
            </p:grpSpPr>
            <p:sp>
              <p:nvSpPr>
                <p:cNvPr id="528" name="任意多边形: 形状 527"/>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533" name="任意多边形: 形状 532"/>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562" name="任意多边形: 形状 561"/>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563" name="任意多边形: 形状 562"/>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sp>
              <p:nvSpPr>
                <p:cNvPr id="564" name="任意多边形: 形状 563"/>
                <p:cNvSpPr/>
                <p:nvPr/>
              </p:nvSpPr>
              <p:spPr>
                <a:xfrm>
                  <a:off x="8022771" y="5910942"/>
                  <a:ext cx="195942" cy="195942"/>
                </a:xfrm>
                <a:custGeom>
                  <a:avLst/>
                  <a:gdLst>
                    <a:gd name="connsiteX0" fmla="*/ 820 w 195942"/>
                    <a:gd name="connsiteY0" fmla="*/ 905 h 195942"/>
                    <a:gd name="connsiteX1" fmla="*/ 196763 w 195942"/>
                    <a:gd name="connsiteY1" fmla="*/ 905 h 195942"/>
                    <a:gd name="connsiteX2" fmla="*/ 196763 w 195942"/>
                    <a:gd name="connsiteY2" fmla="*/ 196848 h 195942"/>
                    <a:gd name="connsiteX3" fmla="*/ 82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905"/>
                      </a:moveTo>
                      <a:lnTo>
                        <a:pt x="196763" y="905"/>
                      </a:lnTo>
                      <a:lnTo>
                        <a:pt x="196763" y="196848"/>
                      </a:lnTo>
                      <a:lnTo>
                        <a:pt x="820" y="196848"/>
                      </a:lnTo>
                      <a:close/>
                    </a:path>
                  </a:pathLst>
                </a:custGeom>
                <a:grpFill/>
                <a:ln w="9797" cap="flat">
                  <a:solidFill>
                    <a:srgbClr val="333333"/>
                  </a:solidFill>
                  <a:prstDash val="solid"/>
                  <a:miter/>
                </a:ln>
              </p:spPr>
              <p:txBody>
                <a:bodyPr rtlCol="0" anchor="ctr"/>
                <a:lstStyle/>
                <a:p>
                  <a:endParaRPr lang="zh-CN" altLang="en-US"/>
                </a:p>
              </p:txBody>
            </p:sp>
          </p:grpSp>
        </p:grpSp>
        <p:sp>
          <p:nvSpPr>
            <p:cNvPr id="585" name="文本框 584"/>
            <p:cNvSpPr txBox="1"/>
            <p:nvPr/>
          </p:nvSpPr>
          <p:spPr>
            <a:xfrm>
              <a:off x="9055697" y="2314022"/>
              <a:ext cx="758769" cy="3362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你</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87" name="文本框 586"/>
            <p:cNvSpPr txBox="1"/>
            <p:nvPr/>
          </p:nvSpPr>
          <p:spPr>
            <a:xfrm>
              <a:off x="9056902" y="2801272"/>
              <a:ext cx="758769" cy="3362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爱</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89" name="文本框 588"/>
            <p:cNvSpPr txBox="1"/>
            <p:nvPr/>
          </p:nvSpPr>
          <p:spPr>
            <a:xfrm>
              <a:off x="9055697" y="3274962"/>
              <a:ext cx="758769" cy="3362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吃</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91" name="文本框 590"/>
            <p:cNvSpPr txBox="1"/>
            <p:nvPr/>
          </p:nvSpPr>
          <p:spPr>
            <a:xfrm>
              <a:off x="9063306" y="3753568"/>
              <a:ext cx="758769" cy="3362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糖</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93" name="文本框 592"/>
            <p:cNvSpPr txBox="1"/>
            <p:nvPr/>
          </p:nvSpPr>
          <p:spPr>
            <a:xfrm>
              <a:off x="9082515" y="4251882"/>
              <a:ext cx="758769" cy="33626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吗</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86" name="文本框 585"/>
            <p:cNvSpPr txBox="1"/>
            <p:nvPr/>
          </p:nvSpPr>
          <p:spPr>
            <a:xfrm>
              <a:off x="9597063" y="1805431"/>
              <a:ext cx="140555"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你</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90" name="文本框 589"/>
            <p:cNvSpPr txBox="1"/>
            <p:nvPr/>
          </p:nvSpPr>
          <p:spPr>
            <a:xfrm>
              <a:off x="10616889" y="1797825"/>
              <a:ext cx="326572"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吃</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94" name="文本框 593"/>
            <p:cNvSpPr txBox="1"/>
            <p:nvPr/>
          </p:nvSpPr>
          <p:spPr>
            <a:xfrm>
              <a:off x="11568943" y="1793769"/>
              <a:ext cx="326572"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吗</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 name="文本框 4"/>
            <p:cNvSpPr txBox="1"/>
            <p:nvPr/>
          </p:nvSpPr>
          <p:spPr>
            <a:xfrm>
              <a:off x="11087800" y="3333487"/>
              <a:ext cx="556734"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1800" b="1"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rPr>
                <a:t>0.9</a:t>
              </a:r>
              <a:endParaRPr kumimoji="0" lang="zh-CN" altLang="en-US" sz="1800" b="1"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grpSp>
        <p:nvGrpSpPr>
          <p:cNvPr id="12" name="组合 11"/>
          <p:cNvGrpSpPr/>
          <p:nvPr/>
        </p:nvGrpSpPr>
        <p:grpSpPr>
          <a:xfrm>
            <a:off x="3386329" y="4874921"/>
            <a:ext cx="6498053" cy="2008479"/>
            <a:chOff x="3386329" y="4874921"/>
            <a:chExt cx="6498053" cy="2008479"/>
          </a:xfrm>
        </p:grpSpPr>
        <p:sp>
          <p:nvSpPr>
            <p:cNvPr id="474" name="文本框 473"/>
            <p:cNvSpPr txBox="1"/>
            <p:nvPr/>
          </p:nvSpPr>
          <p:spPr>
            <a:xfrm>
              <a:off x="8468980" y="5255665"/>
              <a:ext cx="346165" cy="359228"/>
            </a:xfrm>
            <a:prstGeom prst="rect">
              <a:avLst/>
            </a:prstGeom>
            <a:noFill/>
            <a:ln w="12700" cap="flat">
              <a:noFill/>
              <a:miter lim="400000"/>
            </a:ln>
            <a:effectLst/>
          </p:spPr>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1905" b="0" i="0" u="none" strike="noStrike" cap="none" spc="0" normalizeH="0" baseline="0" dirty="0">
                  <a:ln>
                    <a:noFill/>
                  </a:ln>
                  <a:solidFill>
                    <a:srgbClr val="333333"/>
                  </a:solidFill>
                  <a:effectLst/>
                  <a:uFillTx/>
                  <a:latin typeface="Arial" panose="020B0604020202020204"/>
                  <a:ea typeface="等线" panose="02010600030101010101" charset="-122"/>
                  <a:cs typeface="Arial" panose="020B0604020202020204"/>
                  <a:sym typeface="Arial" panose="020B0604020202020204"/>
                  <a:rtl val="0"/>
                </a:rPr>
                <a:t>X</a:t>
              </a:r>
              <a:endParaRPr kumimoji="0" lang="zh-CN" altLang="en-US" sz="1905" b="0" i="0" u="none" strike="noStrike" cap="none" spc="0" normalizeH="0" baseline="0" dirty="0">
                <a:ln>
                  <a:noFill/>
                </a:ln>
                <a:solidFill>
                  <a:srgbClr val="333333"/>
                </a:solidFill>
                <a:effectLst/>
                <a:uFillTx/>
                <a:latin typeface="Arial" panose="020B0604020202020204"/>
                <a:ea typeface="等线" panose="02010600030101010101" charset="-122"/>
                <a:cs typeface="Arial" panose="020B0604020202020204"/>
                <a:sym typeface="Arial" panose="020B0604020202020204"/>
                <a:rtl val="0"/>
              </a:endParaRPr>
            </a:p>
          </p:txBody>
        </p:sp>
        <p:grpSp>
          <p:nvGrpSpPr>
            <p:cNvPr id="475" name="图形 5"/>
            <p:cNvGrpSpPr/>
            <p:nvPr/>
          </p:nvGrpSpPr>
          <p:grpSpPr>
            <a:xfrm>
              <a:off x="9100611" y="4946908"/>
              <a:ext cx="783771" cy="979713"/>
              <a:chOff x="7239000" y="457200"/>
              <a:chExt cx="783771" cy="979713"/>
            </a:xfrm>
            <a:solidFill>
              <a:srgbClr val="FF99CC"/>
            </a:solidFill>
          </p:grpSpPr>
          <p:grpSp>
            <p:nvGrpSpPr>
              <p:cNvPr id="476" name="图形 5"/>
              <p:cNvGrpSpPr/>
              <p:nvPr/>
            </p:nvGrpSpPr>
            <p:grpSpPr>
              <a:xfrm>
                <a:off x="7239000" y="457200"/>
                <a:ext cx="783771" cy="195942"/>
                <a:chOff x="7239000" y="457200"/>
                <a:chExt cx="783771" cy="195942"/>
              </a:xfrm>
              <a:grpFill/>
            </p:grpSpPr>
            <p:sp>
              <p:nvSpPr>
                <p:cNvPr id="497" name="任意多边形: 形状 496"/>
                <p:cNvSpPr/>
                <p:nvPr/>
              </p:nvSpPr>
              <p:spPr>
                <a:xfrm>
                  <a:off x="7239000" y="457200"/>
                  <a:ext cx="195942" cy="195942"/>
                </a:xfrm>
                <a:custGeom>
                  <a:avLst/>
                  <a:gdLst>
                    <a:gd name="connsiteX0" fmla="*/ 700 w 195942"/>
                    <a:gd name="connsiteY0" fmla="*/ 70 h 195942"/>
                    <a:gd name="connsiteX1" fmla="*/ 196643 w 195942"/>
                    <a:gd name="connsiteY1" fmla="*/ 70 h 195942"/>
                    <a:gd name="connsiteX2" fmla="*/ 196643 w 195942"/>
                    <a:gd name="connsiteY2" fmla="*/ 196013 h 195942"/>
                    <a:gd name="connsiteX3" fmla="*/ 70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0"/>
                      </a:moveTo>
                      <a:lnTo>
                        <a:pt x="196643" y="70"/>
                      </a:lnTo>
                      <a:lnTo>
                        <a:pt x="196643" y="196013"/>
                      </a:lnTo>
                      <a:lnTo>
                        <a:pt x="70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dirty="0"/>
                </a:p>
              </p:txBody>
            </p:sp>
            <p:sp>
              <p:nvSpPr>
                <p:cNvPr id="498" name="任意多边形: 形状 497"/>
                <p:cNvSpPr/>
                <p:nvPr/>
              </p:nvSpPr>
              <p:spPr>
                <a:xfrm>
                  <a:off x="7434942" y="457200"/>
                  <a:ext cx="195942" cy="195942"/>
                </a:xfrm>
                <a:custGeom>
                  <a:avLst/>
                  <a:gdLst>
                    <a:gd name="connsiteX0" fmla="*/ 730 w 195942"/>
                    <a:gd name="connsiteY0" fmla="*/ 70 h 195942"/>
                    <a:gd name="connsiteX1" fmla="*/ 196673 w 195942"/>
                    <a:gd name="connsiteY1" fmla="*/ 70 h 195942"/>
                    <a:gd name="connsiteX2" fmla="*/ 196673 w 195942"/>
                    <a:gd name="connsiteY2" fmla="*/ 196013 h 195942"/>
                    <a:gd name="connsiteX3" fmla="*/ 73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0"/>
                      </a:moveTo>
                      <a:lnTo>
                        <a:pt x="196673" y="70"/>
                      </a:lnTo>
                      <a:lnTo>
                        <a:pt x="196673" y="196013"/>
                      </a:lnTo>
                      <a:lnTo>
                        <a:pt x="73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9" name="任意多边形: 形状 498"/>
                <p:cNvSpPr/>
                <p:nvPr/>
              </p:nvSpPr>
              <p:spPr>
                <a:xfrm>
                  <a:off x="7630885" y="457200"/>
                  <a:ext cx="195942" cy="195942"/>
                </a:xfrm>
                <a:custGeom>
                  <a:avLst/>
                  <a:gdLst>
                    <a:gd name="connsiteX0" fmla="*/ 760 w 195942"/>
                    <a:gd name="connsiteY0" fmla="*/ 70 h 195942"/>
                    <a:gd name="connsiteX1" fmla="*/ 196703 w 195942"/>
                    <a:gd name="connsiteY1" fmla="*/ 70 h 195942"/>
                    <a:gd name="connsiteX2" fmla="*/ 196703 w 195942"/>
                    <a:gd name="connsiteY2" fmla="*/ 196013 h 195942"/>
                    <a:gd name="connsiteX3" fmla="*/ 76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0"/>
                      </a:moveTo>
                      <a:lnTo>
                        <a:pt x="196703" y="70"/>
                      </a:lnTo>
                      <a:lnTo>
                        <a:pt x="196703" y="196013"/>
                      </a:lnTo>
                      <a:lnTo>
                        <a:pt x="76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500" name="任意多边形: 形状 499"/>
                <p:cNvSpPr/>
                <p:nvPr/>
              </p:nvSpPr>
              <p:spPr>
                <a:xfrm>
                  <a:off x="7826828" y="457200"/>
                  <a:ext cx="195942" cy="195942"/>
                </a:xfrm>
                <a:custGeom>
                  <a:avLst/>
                  <a:gdLst>
                    <a:gd name="connsiteX0" fmla="*/ 790 w 195942"/>
                    <a:gd name="connsiteY0" fmla="*/ 70 h 195942"/>
                    <a:gd name="connsiteX1" fmla="*/ 196733 w 195942"/>
                    <a:gd name="connsiteY1" fmla="*/ 70 h 195942"/>
                    <a:gd name="connsiteX2" fmla="*/ 196733 w 195942"/>
                    <a:gd name="connsiteY2" fmla="*/ 196013 h 195942"/>
                    <a:gd name="connsiteX3" fmla="*/ 790 w 195942"/>
                    <a:gd name="connsiteY3" fmla="*/ 1960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0"/>
                      </a:moveTo>
                      <a:lnTo>
                        <a:pt x="196733" y="70"/>
                      </a:lnTo>
                      <a:lnTo>
                        <a:pt x="196733" y="196013"/>
                      </a:lnTo>
                      <a:lnTo>
                        <a:pt x="790" y="19601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77" name="图形 5"/>
              <p:cNvGrpSpPr/>
              <p:nvPr/>
            </p:nvGrpSpPr>
            <p:grpSpPr>
              <a:xfrm>
                <a:off x="7239000" y="653142"/>
                <a:ext cx="783771" cy="195942"/>
                <a:chOff x="7239000" y="653142"/>
                <a:chExt cx="783771" cy="195942"/>
              </a:xfrm>
              <a:grpFill/>
            </p:grpSpPr>
            <p:sp>
              <p:nvSpPr>
                <p:cNvPr id="493" name="任意多边形: 形状 492"/>
                <p:cNvSpPr/>
                <p:nvPr/>
              </p:nvSpPr>
              <p:spPr>
                <a:xfrm>
                  <a:off x="7239000" y="653142"/>
                  <a:ext cx="195942" cy="195942"/>
                </a:xfrm>
                <a:custGeom>
                  <a:avLst/>
                  <a:gdLst>
                    <a:gd name="connsiteX0" fmla="*/ 700 w 195942"/>
                    <a:gd name="connsiteY0" fmla="*/ 100 h 195942"/>
                    <a:gd name="connsiteX1" fmla="*/ 196643 w 195942"/>
                    <a:gd name="connsiteY1" fmla="*/ 100 h 195942"/>
                    <a:gd name="connsiteX2" fmla="*/ 196643 w 195942"/>
                    <a:gd name="connsiteY2" fmla="*/ 196043 h 195942"/>
                    <a:gd name="connsiteX3" fmla="*/ 70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00"/>
                      </a:moveTo>
                      <a:lnTo>
                        <a:pt x="196643" y="100"/>
                      </a:lnTo>
                      <a:lnTo>
                        <a:pt x="196643" y="196043"/>
                      </a:lnTo>
                      <a:lnTo>
                        <a:pt x="70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4" name="任意多边形: 形状 493"/>
                <p:cNvSpPr/>
                <p:nvPr/>
              </p:nvSpPr>
              <p:spPr>
                <a:xfrm>
                  <a:off x="7434942" y="653142"/>
                  <a:ext cx="195942" cy="195942"/>
                </a:xfrm>
                <a:custGeom>
                  <a:avLst/>
                  <a:gdLst>
                    <a:gd name="connsiteX0" fmla="*/ 730 w 195942"/>
                    <a:gd name="connsiteY0" fmla="*/ 100 h 195942"/>
                    <a:gd name="connsiteX1" fmla="*/ 196673 w 195942"/>
                    <a:gd name="connsiteY1" fmla="*/ 100 h 195942"/>
                    <a:gd name="connsiteX2" fmla="*/ 196673 w 195942"/>
                    <a:gd name="connsiteY2" fmla="*/ 196043 h 195942"/>
                    <a:gd name="connsiteX3" fmla="*/ 73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00"/>
                      </a:moveTo>
                      <a:lnTo>
                        <a:pt x="196673" y="100"/>
                      </a:lnTo>
                      <a:lnTo>
                        <a:pt x="196673" y="196043"/>
                      </a:lnTo>
                      <a:lnTo>
                        <a:pt x="73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5" name="任意多边形: 形状 494"/>
                <p:cNvSpPr/>
                <p:nvPr/>
              </p:nvSpPr>
              <p:spPr>
                <a:xfrm>
                  <a:off x="7630885" y="653142"/>
                  <a:ext cx="195942" cy="195942"/>
                </a:xfrm>
                <a:custGeom>
                  <a:avLst/>
                  <a:gdLst>
                    <a:gd name="connsiteX0" fmla="*/ 760 w 195942"/>
                    <a:gd name="connsiteY0" fmla="*/ 100 h 195942"/>
                    <a:gd name="connsiteX1" fmla="*/ 196703 w 195942"/>
                    <a:gd name="connsiteY1" fmla="*/ 100 h 195942"/>
                    <a:gd name="connsiteX2" fmla="*/ 196703 w 195942"/>
                    <a:gd name="connsiteY2" fmla="*/ 196043 h 195942"/>
                    <a:gd name="connsiteX3" fmla="*/ 76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00"/>
                      </a:moveTo>
                      <a:lnTo>
                        <a:pt x="196703" y="100"/>
                      </a:lnTo>
                      <a:lnTo>
                        <a:pt x="196703" y="196043"/>
                      </a:lnTo>
                      <a:lnTo>
                        <a:pt x="76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6" name="任意多边形: 形状 495"/>
                <p:cNvSpPr/>
                <p:nvPr/>
              </p:nvSpPr>
              <p:spPr>
                <a:xfrm>
                  <a:off x="7826828" y="653142"/>
                  <a:ext cx="195942" cy="195942"/>
                </a:xfrm>
                <a:custGeom>
                  <a:avLst/>
                  <a:gdLst>
                    <a:gd name="connsiteX0" fmla="*/ 790 w 195942"/>
                    <a:gd name="connsiteY0" fmla="*/ 100 h 195942"/>
                    <a:gd name="connsiteX1" fmla="*/ 196733 w 195942"/>
                    <a:gd name="connsiteY1" fmla="*/ 100 h 195942"/>
                    <a:gd name="connsiteX2" fmla="*/ 196733 w 195942"/>
                    <a:gd name="connsiteY2" fmla="*/ 196043 h 195942"/>
                    <a:gd name="connsiteX3" fmla="*/ 790 w 195942"/>
                    <a:gd name="connsiteY3" fmla="*/ 19604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00"/>
                      </a:moveTo>
                      <a:lnTo>
                        <a:pt x="196733" y="100"/>
                      </a:lnTo>
                      <a:lnTo>
                        <a:pt x="196733" y="196043"/>
                      </a:lnTo>
                      <a:lnTo>
                        <a:pt x="790" y="19604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78" name="图形 5"/>
              <p:cNvGrpSpPr/>
              <p:nvPr/>
            </p:nvGrpSpPr>
            <p:grpSpPr>
              <a:xfrm>
                <a:off x="7239000" y="849085"/>
                <a:ext cx="783771" cy="195942"/>
                <a:chOff x="7239000" y="849085"/>
                <a:chExt cx="783771" cy="195942"/>
              </a:xfrm>
              <a:grpFill/>
            </p:grpSpPr>
            <p:sp>
              <p:nvSpPr>
                <p:cNvPr id="489" name="任意多边形: 形状 488"/>
                <p:cNvSpPr/>
                <p:nvPr/>
              </p:nvSpPr>
              <p:spPr>
                <a:xfrm>
                  <a:off x="7239000" y="849085"/>
                  <a:ext cx="195942" cy="195942"/>
                </a:xfrm>
                <a:custGeom>
                  <a:avLst/>
                  <a:gdLst>
                    <a:gd name="connsiteX0" fmla="*/ 700 w 195942"/>
                    <a:gd name="connsiteY0" fmla="*/ 130 h 195942"/>
                    <a:gd name="connsiteX1" fmla="*/ 196643 w 195942"/>
                    <a:gd name="connsiteY1" fmla="*/ 130 h 195942"/>
                    <a:gd name="connsiteX2" fmla="*/ 196643 w 195942"/>
                    <a:gd name="connsiteY2" fmla="*/ 196073 h 195942"/>
                    <a:gd name="connsiteX3" fmla="*/ 70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30"/>
                      </a:moveTo>
                      <a:lnTo>
                        <a:pt x="196643" y="130"/>
                      </a:lnTo>
                      <a:lnTo>
                        <a:pt x="196643" y="196073"/>
                      </a:lnTo>
                      <a:lnTo>
                        <a:pt x="70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0" name="任意多边形: 形状 489"/>
                <p:cNvSpPr/>
                <p:nvPr/>
              </p:nvSpPr>
              <p:spPr>
                <a:xfrm>
                  <a:off x="7434942" y="849085"/>
                  <a:ext cx="195942" cy="195942"/>
                </a:xfrm>
                <a:custGeom>
                  <a:avLst/>
                  <a:gdLst>
                    <a:gd name="connsiteX0" fmla="*/ 730 w 195942"/>
                    <a:gd name="connsiteY0" fmla="*/ 130 h 195942"/>
                    <a:gd name="connsiteX1" fmla="*/ 196673 w 195942"/>
                    <a:gd name="connsiteY1" fmla="*/ 130 h 195942"/>
                    <a:gd name="connsiteX2" fmla="*/ 196673 w 195942"/>
                    <a:gd name="connsiteY2" fmla="*/ 196073 h 195942"/>
                    <a:gd name="connsiteX3" fmla="*/ 73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30"/>
                      </a:moveTo>
                      <a:lnTo>
                        <a:pt x="196673" y="130"/>
                      </a:lnTo>
                      <a:lnTo>
                        <a:pt x="196673" y="196073"/>
                      </a:lnTo>
                      <a:lnTo>
                        <a:pt x="73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1" name="任意多边形: 形状 490"/>
                <p:cNvSpPr/>
                <p:nvPr/>
              </p:nvSpPr>
              <p:spPr>
                <a:xfrm>
                  <a:off x="7630885" y="849085"/>
                  <a:ext cx="195942" cy="195942"/>
                </a:xfrm>
                <a:custGeom>
                  <a:avLst/>
                  <a:gdLst>
                    <a:gd name="connsiteX0" fmla="*/ 760 w 195942"/>
                    <a:gd name="connsiteY0" fmla="*/ 130 h 195942"/>
                    <a:gd name="connsiteX1" fmla="*/ 196703 w 195942"/>
                    <a:gd name="connsiteY1" fmla="*/ 130 h 195942"/>
                    <a:gd name="connsiteX2" fmla="*/ 196703 w 195942"/>
                    <a:gd name="connsiteY2" fmla="*/ 196073 h 195942"/>
                    <a:gd name="connsiteX3" fmla="*/ 76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30"/>
                      </a:moveTo>
                      <a:lnTo>
                        <a:pt x="196703" y="130"/>
                      </a:lnTo>
                      <a:lnTo>
                        <a:pt x="196703" y="196073"/>
                      </a:lnTo>
                      <a:lnTo>
                        <a:pt x="76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92" name="任意多边形: 形状 491"/>
                <p:cNvSpPr/>
                <p:nvPr/>
              </p:nvSpPr>
              <p:spPr>
                <a:xfrm>
                  <a:off x="7826828" y="849085"/>
                  <a:ext cx="195942" cy="195942"/>
                </a:xfrm>
                <a:custGeom>
                  <a:avLst/>
                  <a:gdLst>
                    <a:gd name="connsiteX0" fmla="*/ 790 w 195942"/>
                    <a:gd name="connsiteY0" fmla="*/ 130 h 195942"/>
                    <a:gd name="connsiteX1" fmla="*/ 196733 w 195942"/>
                    <a:gd name="connsiteY1" fmla="*/ 130 h 195942"/>
                    <a:gd name="connsiteX2" fmla="*/ 196733 w 195942"/>
                    <a:gd name="connsiteY2" fmla="*/ 196073 h 195942"/>
                    <a:gd name="connsiteX3" fmla="*/ 790 w 195942"/>
                    <a:gd name="connsiteY3" fmla="*/ 19607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30"/>
                      </a:moveTo>
                      <a:lnTo>
                        <a:pt x="196733" y="130"/>
                      </a:lnTo>
                      <a:lnTo>
                        <a:pt x="196733" y="196073"/>
                      </a:lnTo>
                      <a:lnTo>
                        <a:pt x="790" y="19607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79" name="图形 5"/>
              <p:cNvGrpSpPr/>
              <p:nvPr/>
            </p:nvGrpSpPr>
            <p:grpSpPr>
              <a:xfrm>
                <a:off x="7239000" y="1045028"/>
                <a:ext cx="783770" cy="195942"/>
                <a:chOff x="7239000" y="1045028"/>
                <a:chExt cx="783770" cy="195942"/>
              </a:xfrm>
              <a:grpFill/>
            </p:grpSpPr>
            <p:sp>
              <p:nvSpPr>
                <p:cNvPr id="485" name="任意多边形: 形状 484"/>
                <p:cNvSpPr/>
                <p:nvPr/>
              </p:nvSpPr>
              <p:spPr>
                <a:xfrm>
                  <a:off x="7239000" y="1045028"/>
                  <a:ext cx="195942" cy="195942"/>
                </a:xfrm>
                <a:custGeom>
                  <a:avLst/>
                  <a:gdLst>
                    <a:gd name="connsiteX0" fmla="*/ 700 w 195942"/>
                    <a:gd name="connsiteY0" fmla="*/ 160 h 195942"/>
                    <a:gd name="connsiteX1" fmla="*/ 196643 w 195942"/>
                    <a:gd name="connsiteY1" fmla="*/ 160 h 195942"/>
                    <a:gd name="connsiteX2" fmla="*/ 196643 w 195942"/>
                    <a:gd name="connsiteY2" fmla="*/ 196103 h 195942"/>
                    <a:gd name="connsiteX3" fmla="*/ 70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60"/>
                      </a:moveTo>
                      <a:lnTo>
                        <a:pt x="196643" y="160"/>
                      </a:lnTo>
                      <a:lnTo>
                        <a:pt x="196643" y="196103"/>
                      </a:lnTo>
                      <a:lnTo>
                        <a:pt x="70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86" name="任意多边形: 形状 485"/>
                <p:cNvSpPr/>
                <p:nvPr/>
              </p:nvSpPr>
              <p:spPr>
                <a:xfrm>
                  <a:off x="7434942" y="1045028"/>
                  <a:ext cx="195942" cy="195942"/>
                </a:xfrm>
                <a:custGeom>
                  <a:avLst/>
                  <a:gdLst>
                    <a:gd name="connsiteX0" fmla="*/ 730 w 195942"/>
                    <a:gd name="connsiteY0" fmla="*/ 160 h 195942"/>
                    <a:gd name="connsiteX1" fmla="*/ 196673 w 195942"/>
                    <a:gd name="connsiteY1" fmla="*/ 160 h 195942"/>
                    <a:gd name="connsiteX2" fmla="*/ 196673 w 195942"/>
                    <a:gd name="connsiteY2" fmla="*/ 196103 h 195942"/>
                    <a:gd name="connsiteX3" fmla="*/ 73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60"/>
                      </a:moveTo>
                      <a:lnTo>
                        <a:pt x="196673" y="160"/>
                      </a:lnTo>
                      <a:lnTo>
                        <a:pt x="196673" y="196103"/>
                      </a:lnTo>
                      <a:lnTo>
                        <a:pt x="73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87" name="任意多边形: 形状 486"/>
                <p:cNvSpPr/>
                <p:nvPr/>
              </p:nvSpPr>
              <p:spPr>
                <a:xfrm>
                  <a:off x="7630885" y="1045028"/>
                  <a:ext cx="195942" cy="195942"/>
                </a:xfrm>
                <a:custGeom>
                  <a:avLst/>
                  <a:gdLst>
                    <a:gd name="connsiteX0" fmla="*/ 760 w 195942"/>
                    <a:gd name="connsiteY0" fmla="*/ 160 h 195942"/>
                    <a:gd name="connsiteX1" fmla="*/ 196703 w 195942"/>
                    <a:gd name="connsiteY1" fmla="*/ 160 h 195942"/>
                    <a:gd name="connsiteX2" fmla="*/ 196703 w 195942"/>
                    <a:gd name="connsiteY2" fmla="*/ 196103 h 195942"/>
                    <a:gd name="connsiteX3" fmla="*/ 76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60"/>
                      </a:moveTo>
                      <a:lnTo>
                        <a:pt x="196703" y="160"/>
                      </a:lnTo>
                      <a:lnTo>
                        <a:pt x="196703" y="196103"/>
                      </a:lnTo>
                      <a:lnTo>
                        <a:pt x="76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88" name="任意多边形: 形状 487"/>
                <p:cNvSpPr/>
                <p:nvPr/>
              </p:nvSpPr>
              <p:spPr>
                <a:xfrm>
                  <a:off x="7826828" y="1045028"/>
                  <a:ext cx="195942" cy="195942"/>
                </a:xfrm>
                <a:custGeom>
                  <a:avLst/>
                  <a:gdLst>
                    <a:gd name="connsiteX0" fmla="*/ 790 w 195942"/>
                    <a:gd name="connsiteY0" fmla="*/ 160 h 195942"/>
                    <a:gd name="connsiteX1" fmla="*/ 196733 w 195942"/>
                    <a:gd name="connsiteY1" fmla="*/ 160 h 195942"/>
                    <a:gd name="connsiteX2" fmla="*/ 196733 w 195942"/>
                    <a:gd name="connsiteY2" fmla="*/ 196103 h 195942"/>
                    <a:gd name="connsiteX3" fmla="*/ 790 w 195942"/>
                    <a:gd name="connsiteY3" fmla="*/ 19610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60"/>
                      </a:moveTo>
                      <a:lnTo>
                        <a:pt x="196733" y="160"/>
                      </a:lnTo>
                      <a:lnTo>
                        <a:pt x="196733" y="196103"/>
                      </a:lnTo>
                      <a:lnTo>
                        <a:pt x="790" y="19610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80" name="图形 5"/>
              <p:cNvGrpSpPr/>
              <p:nvPr/>
            </p:nvGrpSpPr>
            <p:grpSpPr>
              <a:xfrm>
                <a:off x="7239000" y="1240971"/>
                <a:ext cx="783771" cy="195942"/>
                <a:chOff x="7239000" y="1240971"/>
                <a:chExt cx="783771" cy="195942"/>
              </a:xfrm>
              <a:grpFill/>
            </p:grpSpPr>
            <p:sp>
              <p:nvSpPr>
                <p:cNvPr id="481" name="任意多边形: 形状 480"/>
                <p:cNvSpPr/>
                <p:nvPr/>
              </p:nvSpPr>
              <p:spPr>
                <a:xfrm>
                  <a:off x="7239000" y="1240971"/>
                  <a:ext cx="195942" cy="195942"/>
                </a:xfrm>
                <a:custGeom>
                  <a:avLst/>
                  <a:gdLst>
                    <a:gd name="connsiteX0" fmla="*/ 700 w 195942"/>
                    <a:gd name="connsiteY0" fmla="*/ 190 h 195942"/>
                    <a:gd name="connsiteX1" fmla="*/ 196643 w 195942"/>
                    <a:gd name="connsiteY1" fmla="*/ 190 h 195942"/>
                    <a:gd name="connsiteX2" fmla="*/ 196643 w 195942"/>
                    <a:gd name="connsiteY2" fmla="*/ 196133 h 195942"/>
                    <a:gd name="connsiteX3" fmla="*/ 70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190"/>
                      </a:moveTo>
                      <a:lnTo>
                        <a:pt x="196643" y="190"/>
                      </a:lnTo>
                      <a:lnTo>
                        <a:pt x="196643" y="196133"/>
                      </a:lnTo>
                      <a:lnTo>
                        <a:pt x="70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82" name="任意多边形: 形状 481"/>
                <p:cNvSpPr/>
                <p:nvPr/>
              </p:nvSpPr>
              <p:spPr>
                <a:xfrm>
                  <a:off x="7434942" y="1240971"/>
                  <a:ext cx="195942" cy="195942"/>
                </a:xfrm>
                <a:custGeom>
                  <a:avLst/>
                  <a:gdLst>
                    <a:gd name="connsiteX0" fmla="*/ 730 w 195942"/>
                    <a:gd name="connsiteY0" fmla="*/ 190 h 195942"/>
                    <a:gd name="connsiteX1" fmla="*/ 196673 w 195942"/>
                    <a:gd name="connsiteY1" fmla="*/ 190 h 195942"/>
                    <a:gd name="connsiteX2" fmla="*/ 196673 w 195942"/>
                    <a:gd name="connsiteY2" fmla="*/ 196133 h 195942"/>
                    <a:gd name="connsiteX3" fmla="*/ 73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190"/>
                      </a:moveTo>
                      <a:lnTo>
                        <a:pt x="196673" y="190"/>
                      </a:lnTo>
                      <a:lnTo>
                        <a:pt x="196673" y="196133"/>
                      </a:lnTo>
                      <a:lnTo>
                        <a:pt x="73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83" name="任意多边形: 形状 482"/>
                <p:cNvSpPr/>
                <p:nvPr/>
              </p:nvSpPr>
              <p:spPr>
                <a:xfrm>
                  <a:off x="7630885" y="1240971"/>
                  <a:ext cx="195942" cy="195942"/>
                </a:xfrm>
                <a:custGeom>
                  <a:avLst/>
                  <a:gdLst>
                    <a:gd name="connsiteX0" fmla="*/ 760 w 195942"/>
                    <a:gd name="connsiteY0" fmla="*/ 190 h 195942"/>
                    <a:gd name="connsiteX1" fmla="*/ 196703 w 195942"/>
                    <a:gd name="connsiteY1" fmla="*/ 190 h 195942"/>
                    <a:gd name="connsiteX2" fmla="*/ 196703 w 195942"/>
                    <a:gd name="connsiteY2" fmla="*/ 196133 h 195942"/>
                    <a:gd name="connsiteX3" fmla="*/ 76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190"/>
                      </a:moveTo>
                      <a:lnTo>
                        <a:pt x="196703" y="190"/>
                      </a:lnTo>
                      <a:lnTo>
                        <a:pt x="196703" y="196133"/>
                      </a:lnTo>
                      <a:lnTo>
                        <a:pt x="76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84" name="任意多边形: 形状 483"/>
                <p:cNvSpPr/>
                <p:nvPr/>
              </p:nvSpPr>
              <p:spPr>
                <a:xfrm>
                  <a:off x="7826828" y="1240971"/>
                  <a:ext cx="195942" cy="195942"/>
                </a:xfrm>
                <a:custGeom>
                  <a:avLst/>
                  <a:gdLst>
                    <a:gd name="connsiteX0" fmla="*/ 790 w 195942"/>
                    <a:gd name="connsiteY0" fmla="*/ 190 h 195942"/>
                    <a:gd name="connsiteX1" fmla="*/ 196733 w 195942"/>
                    <a:gd name="connsiteY1" fmla="*/ 190 h 195942"/>
                    <a:gd name="connsiteX2" fmla="*/ 196733 w 195942"/>
                    <a:gd name="connsiteY2" fmla="*/ 196133 h 195942"/>
                    <a:gd name="connsiteX3" fmla="*/ 790 w 195942"/>
                    <a:gd name="connsiteY3" fmla="*/ 196133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190"/>
                      </a:moveTo>
                      <a:lnTo>
                        <a:pt x="196733" y="190"/>
                      </a:lnTo>
                      <a:lnTo>
                        <a:pt x="196733" y="196133"/>
                      </a:lnTo>
                      <a:lnTo>
                        <a:pt x="790" y="196133"/>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graphicFrame>
          <p:nvGraphicFramePr>
            <p:cNvPr id="501" name="对象 500"/>
            <p:cNvGraphicFramePr>
              <a:graphicFrameLocks noChangeAspect="1"/>
            </p:cNvGraphicFramePr>
            <p:nvPr/>
          </p:nvGraphicFramePr>
          <p:xfrm>
            <a:off x="9296553" y="6200787"/>
            <a:ext cx="330200" cy="387350"/>
          </p:xfrm>
          <a:graphic>
            <a:graphicData uri="http://schemas.openxmlformats.org/presentationml/2006/ole">
              <mc:AlternateContent xmlns:mc="http://schemas.openxmlformats.org/markup-compatibility/2006">
                <mc:Choice xmlns:v="urn:schemas-microsoft-com:vml" Requires="v">
                  <p:oleObj spid="_x0000_s6626" name="Equation" r:id="rId23" imgW="257810" imgH="301625" progId="Equation.DSMT4">
                    <p:embed/>
                  </p:oleObj>
                </mc:Choice>
                <mc:Fallback>
                  <p:oleObj name="Equation" r:id="rId23" imgW="257810" imgH="301625" progId="Equation.DSMT4">
                    <p:embed/>
                    <p:pic>
                      <p:nvPicPr>
                        <p:cNvPr id="0" name="图片 6469"/>
                        <p:cNvPicPr/>
                        <p:nvPr/>
                      </p:nvPicPr>
                      <p:blipFill>
                        <a:blip r:embed="rId24"/>
                        <a:stretch>
                          <a:fillRect/>
                        </a:stretch>
                      </p:blipFill>
                      <p:spPr>
                        <a:xfrm>
                          <a:off x="9296553" y="6200787"/>
                          <a:ext cx="330200" cy="387350"/>
                        </a:xfrm>
                        <a:prstGeom prst="rect">
                          <a:avLst/>
                        </a:prstGeom>
                      </p:spPr>
                    </p:pic>
                  </p:oleObj>
                </mc:Fallback>
              </mc:AlternateContent>
            </a:graphicData>
          </a:graphic>
        </p:graphicFrame>
        <p:sp>
          <p:nvSpPr>
            <p:cNvPr id="502" name="任意多边形: 形状 501"/>
            <p:cNvSpPr/>
            <p:nvPr/>
          </p:nvSpPr>
          <p:spPr>
            <a:xfrm rot="10800000">
              <a:off x="6100050" y="5217173"/>
              <a:ext cx="718457" cy="326571"/>
            </a:xfrm>
            <a:custGeom>
              <a:avLst/>
              <a:gdLst>
                <a:gd name="connsiteX0" fmla="*/ 0 w 718457"/>
                <a:gd name="connsiteY0" fmla="*/ 97971 h 326571"/>
                <a:gd name="connsiteX1" fmla="*/ 522514 w 718457"/>
                <a:gd name="connsiteY1" fmla="*/ 97971 h 326571"/>
                <a:gd name="connsiteX2" fmla="*/ 522514 w 718457"/>
                <a:gd name="connsiteY2" fmla="*/ 0 h 326571"/>
                <a:gd name="connsiteX3" fmla="*/ 718457 w 718457"/>
                <a:gd name="connsiteY3" fmla="*/ 163286 h 326571"/>
                <a:gd name="connsiteX4" fmla="*/ 522514 w 718457"/>
                <a:gd name="connsiteY4" fmla="*/ 326571 h 326571"/>
                <a:gd name="connsiteX5" fmla="*/ 522514 w 718457"/>
                <a:gd name="connsiteY5" fmla="*/ 228600 h 326571"/>
                <a:gd name="connsiteX6" fmla="*/ 0 w 718457"/>
                <a:gd name="connsiteY6" fmla="*/ 228600 h 326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457" h="326571">
                  <a:moveTo>
                    <a:pt x="0" y="97971"/>
                  </a:moveTo>
                  <a:lnTo>
                    <a:pt x="522514" y="97971"/>
                  </a:lnTo>
                  <a:lnTo>
                    <a:pt x="522514" y="0"/>
                  </a:lnTo>
                  <a:lnTo>
                    <a:pt x="718457" y="163286"/>
                  </a:lnTo>
                  <a:lnTo>
                    <a:pt x="522514" y="326571"/>
                  </a:lnTo>
                  <a:lnTo>
                    <a:pt x="522514" y="228600"/>
                  </a:lnTo>
                  <a:lnTo>
                    <a:pt x="0" y="228600"/>
                  </a:lnTo>
                  <a:close/>
                </a:path>
              </a:pathLst>
            </a:custGeom>
            <a:solidFill>
              <a:srgbClr val="E4D7F5"/>
            </a:solidFill>
            <a:ln w="9797" cap="flat">
              <a:solidFill>
                <a:srgbClr val="555555"/>
              </a:solidFill>
              <a:prstDash val="solid"/>
              <a:miter/>
            </a:ln>
          </p:spPr>
          <p:txBody>
            <a:bodyPr rtlCol="0" anchor="ctr"/>
            <a:lstStyle/>
            <a:p>
              <a:endParaRPr lang="zh-CN" altLang="en-US"/>
            </a:p>
          </p:txBody>
        </p:sp>
        <p:grpSp>
          <p:nvGrpSpPr>
            <p:cNvPr id="503" name="图形 5"/>
            <p:cNvGrpSpPr/>
            <p:nvPr/>
          </p:nvGrpSpPr>
          <p:grpSpPr>
            <a:xfrm>
              <a:off x="5219012" y="4888651"/>
              <a:ext cx="783771" cy="979713"/>
              <a:chOff x="7238999" y="5127171"/>
              <a:chExt cx="783771" cy="979713"/>
            </a:xfrm>
            <a:solidFill>
              <a:schemeClr val="accent2">
                <a:lumMod val="20000"/>
                <a:lumOff val="80000"/>
              </a:schemeClr>
            </a:solidFill>
          </p:grpSpPr>
          <p:grpSp>
            <p:nvGrpSpPr>
              <p:cNvPr id="504" name="图形 5"/>
              <p:cNvGrpSpPr/>
              <p:nvPr/>
            </p:nvGrpSpPr>
            <p:grpSpPr>
              <a:xfrm>
                <a:off x="7238999" y="5127171"/>
                <a:ext cx="783771" cy="252506"/>
                <a:chOff x="7238999" y="5127171"/>
                <a:chExt cx="783771" cy="252506"/>
              </a:xfrm>
              <a:grpFill/>
            </p:grpSpPr>
            <p:sp>
              <p:nvSpPr>
                <p:cNvPr id="529" name="任意多边形: 形状 528"/>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530" name="任意多边形: 形状 529"/>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531" name="任意多边形: 形状 530"/>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532" name="任意多边形: 形状 531"/>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505" name="图形 5"/>
              <p:cNvGrpSpPr/>
              <p:nvPr/>
            </p:nvGrpSpPr>
            <p:grpSpPr>
              <a:xfrm>
                <a:off x="7239000" y="5323114"/>
                <a:ext cx="783770" cy="195942"/>
                <a:chOff x="7239000" y="5323114"/>
                <a:chExt cx="783770" cy="195942"/>
              </a:xfrm>
              <a:grpFill/>
            </p:grpSpPr>
            <p:sp>
              <p:nvSpPr>
                <p:cNvPr id="524" name="任意多边形: 形状 523"/>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525" name="任意多边形: 形状 524"/>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526" name="任意多边形: 形状 525"/>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527" name="任意多边形: 形状 526"/>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506" name="图形 5"/>
              <p:cNvGrpSpPr/>
              <p:nvPr/>
            </p:nvGrpSpPr>
            <p:grpSpPr>
              <a:xfrm>
                <a:off x="7239000" y="5519057"/>
                <a:ext cx="783770" cy="195942"/>
                <a:chOff x="7239000" y="5519057"/>
                <a:chExt cx="783770" cy="195942"/>
              </a:xfrm>
              <a:grpFill/>
            </p:grpSpPr>
            <p:sp>
              <p:nvSpPr>
                <p:cNvPr id="519" name="任意多边形: 形状 518"/>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520" name="任意多边形: 形状 519"/>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521" name="任意多边形: 形状 520"/>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522" name="任意多边形: 形状 521"/>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07" name="图形 5"/>
              <p:cNvGrpSpPr/>
              <p:nvPr/>
            </p:nvGrpSpPr>
            <p:grpSpPr>
              <a:xfrm>
                <a:off x="7239000" y="5715000"/>
                <a:ext cx="783770" cy="195942"/>
                <a:chOff x="7239000" y="5715000"/>
                <a:chExt cx="783770" cy="195942"/>
              </a:xfrm>
              <a:grpFill/>
            </p:grpSpPr>
            <p:sp>
              <p:nvSpPr>
                <p:cNvPr id="514" name="任意多边形: 形状 513"/>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515" name="任意多边形: 形状 514"/>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516" name="任意多边形: 形状 515"/>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517" name="任意多边形: 形状 516"/>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508" name="图形 5"/>
              <p:cNvGrpSpPr/>
              <p:nvPr/>
            </p:nvGrpSpPr>
            <p:grpSpPr>
              <a:xfrm>
                <a:off x="7239000" y="5910942"/>
                <a:ext cx="783770" cy="195942"/>
                <a:chOff x="7239000" y="5910942"/>
                <a:chExt cx="783770" cy="195942"/>
              </a:xfrm>
              <a:grpFill/>
            </p:grpSpPr>
            <p:sp>
              <p:nvSpPr>
                <p:cNvPr id="509" name="任意多边形: 形状 508"/>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510" name="任意多边形: 形状 509"/>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511" name="任意多边形: 形状 510"/>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512" name="任意多边形: 形状 511"/>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graphicFrame>
          <p:nvGraphicFramePr>
            <p:cNvPr id="534" name="对象 533"/>
            <p:cNvGraphicFramePr>
              <a:graphicFrameLocks noChangeAspect="1"/>
            </p:cNvGraphicFramePr>
            <p:nvPr/>
          </p:nvGraphicFramePr>
          <p:xfrm>
            <a:off x="3386329" y="5044879"/>
            <a:ext cx="1737927" cy="804224"/>
          </p:xfrm>
          <a:graphic>
            <a:graphicData uri="http://schemas.openxmlformats.org/presentationml/2006/ole">
              <mc:AlternateContent xmlns:mc="http://schemas.openxmlformats.org/markup-compatibility/2006">
                <mc:Choice xmlns:v="urn:schemas-microsoft-com:vml" Requires="v">
                  <p:oleObj spid="_x0000_s6627" name="Equation" r:id="rId25" imgW="1162685" imgH="539750" progId="Equation.DSMT4">
                    <p:embed/>
                  </p:oleObj>
                </mc:Choice>
                <mc:Fallback>
                  <p:oleObj name="Equation" r:id="rId25" imgW="1162685" imgH="539750" progId="Equation.DSMT4">
                    <p:embed/>
                    <p:pic>
                      <p:nvPicPr>
                        <p:cNvPr id="0" name="图片 6470"/>
                        <p:cNvPicPr/>
                        <p:nvPr/>
                      </p:nvPicPr>
                      <p:blipFill>
                        <a:blip r:embed="rId26"/>
                        <a:stretch>
                          <a:fillRect/>
                        </a:stretch>
                      </p:blipFill>
                      <p:spPr>
                        <a:xfrm>
                          <a:off x="3386329" y="5044879"/>
                          <a:ext cx="1737927" cy="804224"/>
                        </a:xfrm>
                        <a:prstGeom prst="rect">
                          <a:avLst/>
                        </a:prstGeom>
                      </p:spPr>
                    </p:pic>
                  </p:oleObj>
                </mc:Fallback>
              </mc:AlternateContent>
            </a:graphicData>
          </a:graphic>
        </p:graphicFrame>
        <p:grpSp>
          <p:nvGrpSpPr>
            <p:cNvPr id="438" name="图形 5"/>
            <p:cNvGrpSpPr/>
            <p:nvPr/>
          </p:nvGrpSpPr>
          <p:grpSpPr>
            <a:xfrm>
              <a:off x="7257782" y="4874921"/>
              <a:ext cx="979715" cy="979713"/>
              <a:chOff x="7238999" y="5127171"/>
              <a:chExt cx="979715" cy="979713"/>
            </a:xfrm>
            <a:solidFill>
              <a:srgbClr val="00B050"/>
            </a:solidFill>
          </p:grpSpPr>
          <p:grpSp>
            <p:nvGrpSpPr>
              <p:cNvPr id="439" name="图形 5"/>
              <p:cNvGrpSpPr/>
              <p:nvPr/>
            </p:nvGrpSpPr>
            <p:grpSpPr>
              <a:xfrm>
                <a:off x="7238999" y="5127171"/>
                <a:ext cx="979714" cy="252506"/>
                <a:chOff x="7238999" y="5127171"/>
                <a:chExt cx="979714" cy="252506"/>
              </a:xfrm>
              <a:grpFill/>
            </p:grpSpPr>
            <p:sp>
              <p:nvSpPr>
                <p:cNvPr id="464" name="任意多边形: 形状 463"/>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465" name="任意多边形: 形状 464"/>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466" name="任意多边形: 形状 465"/>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467" name="任意多边形: 形状 466"/>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sp>
              <p:nvSpPr>
                <p:cNvPr id="468" name="任意多边形: 形状 467"/>
                <p:cNvSpPr/>
                <p:nvPr/>
              </p:nvSpPr>
              <p:spPr>
                <a:xfrm>
                  <a:off x="8022771" y="5127171"/>
                  <a:ext cx="195942" cy="195942"/>
                </a:xfrm>
                <a:custGeom>
                  <a:avLst/>
                  <a:gdLst>
                    <a:gd name="connsiteX0" fmla="*/ 820 w 195942"/>
                    <a:gd name="connsiteY0" fmla="*/ 785 h 195942"/>
                    <a:gd name="connsiteX1" fmla="*/ 196763 w 195942"/>
                    <a:gd name="connsiteY1" fmla="*/ 785 h 195942"/>
                    <a:gd name="connsiteX2" fmla="*/ 196763 w 195942"/>
                    <a:gd name="connsiteY2" fmla="*/ 196728 h 195942"/>
                    <a:gd name="connsiteX3" fmla="*/ 82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785"/>
                      </a:moveTo>
                      <a:lnTo>
                        <a:pt x="196763" y="785"/>
                      </a:lnTo>
                      <a:lnTo>
                        <a:pt x="196763" y="196728"/>
                      </a:lnTo>
                      <a:lnTo>
                        <a:pt x="82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440" name="图形 5"/>
              <p:cNvGrpSpPr/>
              <p:nvPr/>
            </p:nvGrpSpPr>
            <p:grpSpPr>
              <a:xfrm>
                <a:off x="7239000" y="5323114"/>
                <a:ext cx="979714" cy="195942"/>
                <a:chOff x="7239000" y="5323114"/>
                <a:chExt cx="979714" cy="195942"/>
              </a:xfrm>
              <a:grpFill/>
            </p:grpSpPr>
            <p:sp>
              <p:nvSpPr>
                <p:cNvPr id="459" name="任意多边形: 形状 458"/>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460" name="任意多边形: 形状 459"/>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461" name="任意多边形: 形状 460"/>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462" name="任意多边形: 形状 461"/>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sp>
              <p:nvSpPr>
                <p:cNvPr id="463" name="任意多边形: 形状 462"/>
                <p:cNvSpPr/>
                <p:nvPr/>
              </p:nvSpPr>
              <p:spPr>
                <a:xfrm>
                  <a:off x="8022771" y="5323114"/>
                  <a:ext cx="195942" cy="195942"/>
                </a:xfrm>
                <a:custGeom>
                  <a:avLst/>
                  <a:gdLst>
                    <a:gd name="connsiteX0" fmla="*/ 820 w 195942"/>
                    <a:gd name="connsiteY0" fmla="*/ 815 h 195942"/>
                    <a:gd name="connsiteX1" fmla="*/ 196763 w 195942"/>
                    <a:gd name="connsiteY1" fmla="*/ 815 h 195942"/>
                    <a:gd name="connsiteX2" fmla="*/ 196763 w 195942"/>
                    <a:gd name="connsiteY2" fmla="*/ 196758 h 195942"/>
                    <a:gd name="connsiteX3" fmla="*/ 82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15"/>
                      </a:moveTo>
                      <a:lnTo>
                        <a:pt x="196763" y="815"/>
                      </a:lnTo>
                      <a:lnTo>
                        <a:pt x="196763" y="196758"/>
                      </a:lnTo>
                      <a:lnTo>
                        <a:pt x="82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441" name="图形 5"/>
              <p:cNvGrpSpPr/>
              <p:nvPr/>
            </p:nvGrpSpPr>
            <p:grpSpPr>
              <a:xfrm>
                <a:off x="7239000" y="5519057"/>
                <a:ext cx="979713" cy="195942"/>
                <a:chOff x="7239000" y="5519057"/>
                <a:chExt cx="979713" cy="195942"/>
              </a:xfrm>
              <a:grpFill/>
            </p:grpSpPr>
            <p:sp>
              <p:nvSpPr>
                <p:cNvPr id="454" name="任意多边形: 形状 453"/>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455" name="任意多边形: 形状 454"/>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456" name="任意多边形: 形状 455"/>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457" name="任意多边形: 形状 456"/>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8" name="任意多边形: 形状 457"/>
                <p:cNvSpPr/>
                <p:nvPr/>
              </p:nvSpPr>
              <p:spPr>
                <a:xfrm>
                  <a:off x="8022771" y="5519057"/>
                  <a:ext cx="195942" cy="195942"/>
                </a:xfrm>
                <a:custGeom>
                  <a:avLst/>
                  <a:gdLst>
                    <a:gd name="connsiteX0" fmla="*/ 820 w 195942"/>
                    <a:gd name="connsiteY0" fmla="*/ 845 h 195942"/>
                    <a:gd name="connsiteX1" fmla="*/ 196763 w 195942"/>
                    <a:gd name="connsiteY1" fmla="*/ 845 h 195942"/>
                    <a:gd name="connsiteX2" fmla="*/ 196763 w 195942"/>
                    <a:gd name="connsiteY2" fmla="*/ 196788 h 195942"/>
                    <a:gd name="connsiteX3" fmla="*/ 82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45"/>
                      </a:moveTo>
                      <a:lnTo>
                        <a:pt x="196763" y="845"/>
                      </a:lnTo>
                      <a:lnTo>
                        <a:pt x="196763" y="196788"/>
                      </a:lnTo>
                      <a:lnTo>
                        <a:pt x="820" y="196788"/>
                      </a:lnTo>
                      <a:close/>
                    </a:path>
                  </a:pathLst>
                </a:custGeom>
                <a:grpFill/>
                <a:ln w="9797" cap="flat">
                  <a:solidFill>
                    <a:srgbClr val="333333"/>
                  </a:solidFill>
                  <a:prstDash val="solid"/>
                  <a:miter/>
                </a:ln>
              </p:spPr>
              <p:txBody>
                <a:bodyPr rtlCol="0" anchor="ctr"/>
                <a:lstStyle/>
                <a:p>
                  <a:endParaRPr lang="zh-CN" altLang="en-US"/>
                </a:p>
              </p:txBody>
            </p:sp>
          </p:grpSp>
          <p:grpSp>
            <p:nvGrpSpPr>
              <p:cNvPr id="442" name="图形 5"/>
              <p:cNvGrpSpPr/>
              <p:nvPr/>
            </p:nvGrpSpPr>
            <p:grpSpPr>
              <a:xfrm>
                <a:off x="7239000" y="5715000"/>
                <a:ext cx="979714" cy="195942"/>
                <a:chOff x="7239000" y="5715000"/>
                <a:chExt cx="979714" cy="195942"/>
              </a:xfrm>
              <a:grpFill/>
            </p:grpSpPr>
            <p:sp>
              <p:nvSpPr>
                <p:cNvPr id="449" name="任意多边形: 形状 448"/>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450" name="任意多边形: 形状 449"/>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451" name="任意多边形: 形状 450"/>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452" name="任意多边形: 形状 451"/>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sp>
              <p:nvSpPr>
                <p:cNvPr id="453" name="任意多边形: 形状 452"/>
                <p:cNvSpPr/>
                <p:nvPr/>
              </p:nvSpPr>
              <p:spPr>
                <a:xfrm>
                  <a:off x="8022771" y="5715000"/>
                  <a:ext cx="195942" cy="195942"/>
                </a:xfrm>
                <a:custGeom>
                  <a:avLst/>
                  <a:gdLst>
                    <a:gd name="connsiteX0" fmla="*/ 820 w 195942"/>
                    <a:gd name="connsiteY0" fmla="*/ 875 h 195942"/>
                    <a:gd name="connsiteX1" fmla="*/ 196763 w 195942"/>
                    <a:gd name="connsiteY1" fmla="*/ 875 h 195942"/>
                    <a:gd name="connsiteX2" fmla="*/ 196763 w 195942"/>
                    <a:gd name="connsiteY2" fmla="*/ 196818 h 195942"/>
                    <a:gd name="connsiteX3" fmla="*/ 82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875"/>
                      </a:moveTo>
                      <a:lnTo>
                        <a:pt x="196763" y="875"/>
                      </a:lnTo>
                      <a:lnTo>
                        <a:pt x="196763" y="196818"/>
                      </a:lnTo>
                      <a:lnTo>
                        <a:pt x="82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443" name="图形 5"/>
              <p:cNvGrpSpPr/>
              <p:nvPr/>
            </p:nvGrpSpPr>
            <p:grpSpPr>
              <a:xfrm>
                <a:off x="7239000" y="5910942"/>
                <a:ext cx="979714" cy="195942"/>
                <a:chOff x="7239000" y="5910942"/>
                <a:chExt cx="979714" cy="195942"/>
              </a:xfrm>
              <a:grpFill/>
            </p:grpSpPr>
            <p:sp>
              <p:nvSpPr>
                <p:cNvPr id="444" name="任意多边形: 形状 443"/>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445" name="任意多边形: 形状 444"/>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446" name="任意多边形: 形状 445"/>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447" name="任意多边形: 形状 446"/>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sp>
              <p:nvSpPr>
                <p:cNvPr id="448" name="任意多边形: 形状 447"/>
                <p:cNvSpPr/>
                <p:nvPr/>
              </p:nvSpPr>
              <p:spPr>
                <a:xfrm>
                  <a:off x="8022771" y="5910942"/>
                  <a:ext cx="195942" cy="195942"/>
                </a:xfrm>
                <a:custGeom>
                  <a:avLst/>
                  <a:gdLst>
                    <a:gd name="connsiteX0" fmla="*/ 820 w 195942"/>
                    <a:gd name="connsiteY0" fmla="*/ 905 h 195942"/>
                    <a:gd name="connsiteX1" fmla="*/ 196763 w 195942"/>
                    <a:gd name="connsiteY1" fmla="*/ 905 h 195942"/>
                    <a:gd name="connsiteX2" fmla="*/ 196763 w 195942"/>
                    <a:gd name="connsiteY2" fmla="*/ 196848 h 195942"/>
                    <a:gd name="connsiteX3" fmla="*/ 82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820" y="905"/>
                      </a:moveTo>
                      <a:lnTo>
                        <a:pt x="196763" y="905"/>
                      </a:lnTo>
                      <a:lnTo>
                        <a:pt x="196763" y="196848"/>
                      </a:lnTo>
                      <a:lnTo>
                        <a:pt x="820" y="196848"/>
                      </a:lnTo>
                      <a:close/>
                    </a:path>
                  </a:pathLst>
                </a:custGeom>
                <a:grpFill/>
                <a:ln w="9797" cap="flat">
                  <a:solidFill>
                    <a:srgbClr val="333333"/>
                  </a:solidFill>
                  <a:prstDash val="solid"/>
                  <a:miter/>
                </a:ln>
              </p:spPr>
              <p:txBody>
                <a:bodyPr rtlCol="0" anchor="ctr"/>
                <a:lstStyle/>
                <a:p>
                  <a:endParaRPr lang="zh-CN" altLang="en-US"/>
                </a:p>
              </p:txBody>
            </p:sp>
          </p:grpSp>
        </p:grpSp>
        <p:graphicFrame>
          <p:nvGraphicFramePr>
            <p:cNvPr id="4" name="对象 3"/>
            <p:cNvGraphicFramePr>
              <a:graphicFrameLocks noChangeAspect="1"/>
            </p:cNvGraphicFramePr>
            <p:nvPr/>
          </p:nvGraphicFramePr>
          <p:xfrm>
            <a:off x="6367704" y="5818806"/>
            <a:ext cx="2048672" cy="1064594"/>
          </p:xfrm>
          <a:graphic>
            <a:graphicData uri="http://schemas.openxmlformats.org/presentationml/2006/ole">
              <mc:AlternateContent xmlns:mc="http://schemas.openxmlformats.org/markup-compatibility/2006">
                <mc:Choice xmlns:v="urn:schemas-microsoft-com:vml" Requires="v">
                  <p:oleObj spid="_x0000_s6628" name="Equation" r:id="rId27" imgW="1118870" imgH="583565" progId="Equation.DSMT4">
                    <p:embed/>
                  </p:oleObj>
                </mc:Choice>
                <mc:Fallback>
                  <p:oleObj name="Equation" r:id="rId27" imgW="1118870" imgH="583565" progId="Equation.DSMT4">
                    <p:embed/>
                    <p:pic>
                      <p:nvPicPr>
                        <p:cNvPr id="0" name="图片 6471"/>
                        <p:cNvPicPr/>
                        <p:nvPr/>
                      </p:nvPicPr>
                      <p:blipFill>
                        <a:blip r:embed="rId28"/>
                        <a:stretch>
                          <a:fillRect/>
                        </a:stretch>
                      </p:blipFill>
                      <p:spPr>
                        <a:xfrm>
                          <a:off x="6367704" y="5818806"/>
                          <a:ext cx="2048672" cy="1064594"/>
                        </a:xfrm>
                        <a:prstGeom prst="rect">
                          <a:avLst/>
                        </a:prstGeom>
                      </p:spPr>
                    </p:pic>
                  </p:oleObj>
                </mc:Fallback>
              </mc:AlternateContent>
            </a:graphicData>
          </a:graphic>
        </p:graphicFrame>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69"/>
                                        </p:tgtEl>
                                        <p:attrNameLst>
                                          <p:attrName>style.visibility</p:attrName>
                                        </p:attrNameLst>
                                      </p:cBhvr>
                                      <p:to>
                                        <p:strVal val="visible"/>
                                      </p:to>
                                    </p:set>
                                    <p:animEffect transition="in" filter="fade">
                                      <p:cBhvr>
                                        <p:cTn id="22" dur="5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1"/>
          <a:stretch>
            <a:fillRect/>
          </a:stretch>
        </p:blipFill>
        <p:spPr>
          <a:xfrm>
            <a:off x="1480659" y="2843802"/>
            <a:ext cx="7743308" cy="2169152"/>
          </a:xfrm>
          <a:prstGeom prst="rect">
            <a:avLst/>
          </a:prstGeom>
        </p:spPr>
      </p:pic>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2"/>
          <a:stretch>
            <a:fillRect/>
          </a:stretch>
        </p:blipFill>
        <p:spPr>
          <a:xfrm>
            <a:off x="2095000" y="0"/>
            <a:ext cx="6299534" cy="2894625"/>
          </a:xfrm>
          <a:prstGeom prst="rect">
            <a:avLst/>
          </a:prstGeom>
        </p:spPr>
      </p:pic>
      <p:pic>
        <p:nvPicPr>
          <p:cNvPr id="7" name="图片 6"/>
          <p:cNvPicPr>
            <a:picLocks noChangeAspect="1"/>
          </p:cNvPicPr>
          <p:nvPr/>
        </p:nvPicPr>
        <p:blipFill>
          <a:blip r:embed="rId3"/>
          <a:stretch>
            <a:fillRect/>
          </a:stretch>
        </p:blipFill>
        <p:spPr>
          <a:xfrm>
            <a:off x="2795773" y="4956307"/>
            <a:ext cx="5321881" cy="1645522"/>
          </a:xfrm>
          <a:prstGeom prst="rect">
            <a:avLst/>
          </a:prstGeom>
        </p:spPr>
      </p:pic>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多头注意力机制</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grpSp>
        <p:nvGrpSpPr>
          <p:cNvPr id="294" name="组合 293"/>
          <p:cNvGrpSpPr/>
          <p:nvPr/>
        </p:nvGrpSpPr>
        <p:grpSpPr>
          <a:xfrm>
            <a:off x="126622" y="1864658"/>
            <a:ext cx="4030223" cy="868659"/>
            <a:chOff x="878637" y="2235758"/>
            <a:chExt cx="4030223" cy="868659"/>
          </a:xfrm>
        </p:grpSpPr>
        <p:grpSp>
          <p:nvGrpSpPr>
            <p:cNvPr id="6" name="组合 5"/>
            <p:cNvGrpSpPr/>
            <p:nvPr/>
          </p:nvGrpSpPr>
          <p:grpSpPr>
            <a:xfrm>
              <a:off x="878637" y="2326419"/>
              <a:ext cx="766417" cy="777998"/>
              <a:chOff x="1900048" y="3635022"/>
              <a:chExt cx="1175657" cy="979713"/>
            </a:xfrm>
          </p:grpSpPr>
          <p:grpSp>
            <p:nvGrpSpPr>
              <p:cNvPr id="12" name="图形 5"/>
              <p:cNvGrpSpPr/>
              <p:nvPr/>
            </p:nvGrpSpPr>
            <p:grpSpPr>
              <a:xfrm>
                <a:off x="1900048" y="3635022"/>
                <a:ext cx="1175656" cy="195942"/>
                <a:chOff x="3450771" y="1632857"/>
                <a:chExt cx="1175656" cy="195942"/>
              </a:xfrm>
              <a:solidFill>
                <a:schemeClr val="accent6">
                  <a:lumMod val="50000"/>
                </a:schemeClr>
              </a:solidFill>
            </p:grpSpPr>
            <p:sp>
              <p:nvSpPr>
                <p:cNvPr id="41" name="任意多边形: 形状 40"/>
                <p:cNvSpPr/>
                <p:nvPr/>
              </p:nvSpPr>
              <p:spPr>
                <a:xfrm>
                  <a:off x="3450771" y="1632857"/>
                  <a:ext cx="195942" cy="195942"/>
                </a:xfrm>
                <a:custGeom>
                  <a:avLst/>
                  <a:gdLst>
                    <a:gd name="connsiteX0" fmla="*/ 120 w 195942"/>
                    <a:gd name="connsiteY0" fmla="*/ 250 h 195942"/>
                    <a:gd name="connsiteX1" fmla="*/ 196063 w 195942"/>
                    <a:gd name="connsiteY1" fmla="*/ 250 h 195942"/>
                    <a:gd name="connsiteX2" fmla="*/ 196063 w 195942"/>
                    <a:gd name="connsiteY2" fmla="*/ 196193 h 195942"/>
                    <a:gd name="connsiteX3" fmla="*/ 12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50"/>
                      </a:moveTo>
                      <a:lnTo>
                        <a:pt x="196063" y="250"/>
                      </a:lnTo>
                      <a:lnTo>
                        <a:pt x="196063" y="196193"/>
                      </a:lnTo>
                      <a:lnTo>
                        <a:pt x="12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2" name="任意多边形: 形状 41"/>
                <p:cNvSpPr/>
                <p:nvPr/>
              </p:nvSpPr>
              <p:spPr>
                <a:xfrm>
                  <a:off x="3646714" y="1632857"/>
                  <a:ext cx="195942" cy="195942"/>
                </a:xfrm>
                <a:custGeom>
                  <a:avLst/>
                  <a:gdLst>
                    <a:gd name="connsiteX0" fmla="*/ 150 w 195942"/>
                    <a:gd name="connsiteY0" fmla="*/ 250 h 195942"/>
                    <a:gd name="connsiteX1" fmla="*/ 196093 w 195942"/>
                    <a:gd name="connsiteY1" fmla="*/ 250 h 195942"/>
                    <a:gd name="connsiteX2" fmla="*/ 196093 w 195942"/>
                    <a:gd name="connsiteY2" fmla="*/ 196193 h 195942"/>
                    <a:gd name="connsiteX3" fmla="*/ 15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50"/>
                      </a:moveTo>
                      <a:lnTo>
                        <a:pt x="196093" y="250"/>
                      </a:lnTo>
                      <a:lnTo>
                        <a:pt x="196093" y="196193"/>
                      </a:lnTo>
                      <a:lnTo>
                        <a:pt x="15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3" name="任意多边形: 形状 42"/>
                <p:cNvSpPr/>
                <p:nvPr/>
              </p:nvSpPr>
              <p:spPr>
                <a:xfrm>
                  <a:off x="3842657" y="1632857"/>
                  <a:ext cx="195942" cy="195942"/>
                </a:xfrm>
                <a:custGeom>
                  <a:avLst/>
                  <a:gdLst>
                    <a:gd name="connsiteX0" fmla="*/ 180 w 195942"/>
                    <a:gd name="connsiteY0" fmla="*/ 250 h 195942"/>
                    <a:gd name="connsiteX1" fmla="*/ 196123 w 195942"/>
                    <a:gd name="connsiteY1" fmla="*/ 250 h 195942"/>
                    <a:gd name="connsiteX2" fmla="*/ 196123 w 195942"/>
                    <a:gd name="connsiteY2" fmla="*/ 196193 h 195942"/>
                    <a:gd name="connsiteX3" fmla="*/ 18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50"/>
                      </a:moveTo>
                      <a:lnTo>
                        <a:pt x="196123" y="250"/>
                      </a:lnTo>
                      <a:lnTo>
                        <a:pt x="196123" y="196193"/>
                      </a:lnTo>
                      <a:lnTo>
                        <a:pt x="18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4" name="任意多边形: 形状 43"/>
                <p:cNvSpPr/>
                <p:nvPr/>
              </p:nvSpPr>
              <p:spPr>
                <a:xfrm>
                  <a:off x="4038600" y="1632857"/>
                  <a:ext cx="195942" cy="195942"/>
                </a:xfrm>
                <a:custGeom>
                  <a:avLst/>
                  <a:gdLst>
                    <a:gd name="connsiteX0" fmla="*/ 210 w 195942"/>
                    <a:gd name="connsiteY0" fmla="*/ 250 h 195942"/>
                    <a:gd name="connsiteX1" fmla="*/ 196153 w 195942"/>
                    <a:gd name="connsiteY1" fmla="*/ 250 h 195942"/>
                    <a:gd name="connsiteX2" fmla="*/ 196153 w 195942"/>
                    <a:gd name="connsiteY2" fmla="*/ 196193 h 195942"/>
                    <a:gd name="connsiteX3" fmla="*/ 21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50"/>
                      </a:moveTo>
                      <a:lnTo>
                        <a:pt x="196153" y="250"/>
                      </a:lnTo>
                      <a:lnTo>
                        <a:pt x="196153" y="196193"/>
                      </a:lnTo>
                      <a:lnTo>
                        <a:pt x="21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 name="任意多边形: 形状 44"/>
                <p:cNvSpPr/>
                <p:nvPr/>
              </p:nvSpPr>
              <p:spPr>
                <a:xfrm>
                  <a:off x="4234542" y="1632857"/>
                  <a:ext cx="195942" cy="195942"/>
                </a:xfrm>
                <a:custGeom>
                  <a:avLst/>
                  <a:gdLst>
                    <a:gd name="connsiteX0" fmla="*/ 240 w 195942"/>
                    <a:gd name="connsiteY0" fmla="*/ 250 h 195942"/>
                    <a:gd name="connsiteX1" fmla="*/ 196183 w 195942"/>
                    <a:gd name="connsiteY1" fmla="*/ 250 h 195942"/>
                    <a:gd name="connsiteX2" fmla="*/ 196183 w 195942"/>
                    <a:gd name="connsiteY2" fmla="*/ 196193 h 195942"/>
                    <a:gd name="connsiteX3" fmla="*/ 24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50"/>
                      </a:moveTo>
                      <a:lnTo>
                        <a:pt x="196183" y="250"/>
                      </a:lnTo>
                      <a:lnTo>
                        <a:pt x="196183" y="196193"/>
                      </a:lnTo>
                      <a:lnTo>
                        <a:pt x="24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6" name="任意多边形: 形状 45"/>
                <p:cNvSpPr/>
                <p:nvPr/>
              </p:nvSpPr>
              <p:spPr>
                <a:xfrm>
                  <a:off x="4430485" y="1632857"/>
                  <a:ext cx="195942" cy="195942"/>
                </a:xfrm>
                <a:custGeom>
                  <a:avLst/>
                  <a:gdLst>
                    <a:gd name="connsiteX0" fmla="*/ 270 w 195942"/>
                    <a:gd name="connsiteY0" fmla="*/ 250 h 195942"/>
                    <a:gd name="connsiteX1" fmla="*/ 196213 w 195942"/>
                    <a:gd name="connsiteY1" fmla="*/ 250 h 195942"/>
                    <a:gd name="connsiteX2" fmla="*/ 196213 w 195942"/>
                    <a:gd name="connsiteY2" fmla="*/ 196193 h 195942"/>
                    <a:gd name="connsiteX3" fmla="*/ 27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50"/>
                      </a:moveTo>
                      <a:lnTo>
                        <a:pt x="196213" y="250"/>
                      </a:lnTo>
                      <a:lnTo>
                        <a:pt x="196213" y="196193"/>
                      </a:lnTo>
                      <a:lnTo>
                        <a:pt x="27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13" name="图形 5"/>
              <p:cNvGrpSpPr/>
              <p:nvPr/>
            </p:nvGrpSpPr>
            <p:grpSpPr>
              <a:xfrm>
                <a:off x="1900048" y="3830110"/>
                <a:ext cx="1175656" cy="196797"/>
                <a:chOff x="3450771" y="1827945"/>
                <a:chExt cx="1175656" cy="196797"/>
              </a:xfrm>
              <a:solidFill>
                <a:srgbClr val="000000"/>
              </a:solidFill>
            </p:grpSpPr>
            <p:sp>
              <p:nvSpPr>
                <p:cNvPr id="35" name="任意多边形: 形状 34"/>
                <p:cNvSpPr/>
                <p:nvPr/>
              </p:nvSpPr>
              <p:spPr>
                <a:xfrm>
                  <a:off x="3450771" y="1828800"/>
                  <a:ext cx="195942" cy="195942"/>
                </a:xfrm>
                <a:custGeom>
                  <a:avLst/>
                  <a:gdLst>
                    <a:gd name="connsiteX0" fmla="*/ 120 w 195942"/>
                    <a:gd name="connsiteY0" fmla="*/ 280 h 195942"/>
                    <a:gd name="connsiteX1" fmla="*/ 196063 w 195942"/>
                    <a:gd name="connsiteY1" fmla="*/ 280 h 195942"/>
                    <a:gd name="connsiteX2" fmla="*/ 196063 w 195942"/>
                    <a:gd name="connsiteY2" fmla="*/ 196223 h 195942"/>
                    <a:gd name="connsiteX3" fmla="*/ 12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80"/>
                      </a:moveTo>
                      <a:lnTo>
                        <a:pt x="196063" y="280"/>
                      </a:lnTo>
                      <a:lnTo>
                        <a:pt x="196063" y="196223"/>
                      </a:lnTo>
                      <a:lnTo>
                        <a:pt x="12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6" name="任意多边形: 形状 35"/>
                <p:cNvSpPr/>
                <p:nvPr/>
              </p:nvSpPr>
              <p:spPr>
                <a:xfrm>
                  <a:off x="3646714" y="1828800"/>
                  <a:ext cx="195942" cy="195942"/>
                </a:xfrm>
                <a:custGeom>
                  <a:avLst/>
                  <a:gdLst>
                    <a:gd name="connsiteX0" fmla="*/ 150 w 195942"/>
                    <a:gd name="connsiteY0" fmla="*/ 280 h 195942"/>
                    <a:gd name="connsiteX1" fmla="*/ 196093 w 195942"/>
                    <a:gd name="connsiteY1" fmla="*/ 280 h 195942"/>
                    <a:gd name="connsiteX2" fmla="*/ 196093 w 195942"/>
                    <a:gd name="connsiteY2" fmla="*/ 196223 h 195942"/>
                    <a:gd name="connsiteX3" fmla="*/ 15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80"/>
                      </a:moveTo>
                      <a:lnTo>
                        <a:pt x="196093" y="280"/>
                      </a:lnTo>
                      <a:lnTo>
                        <a:pt x="196093" y="196223"/>
                      </a:lnTo>
                      <a:lnTo>
                        <a:pt x="15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7" name="任意多边形: 形状 36"/>
                <p:cNvSpPr/>
                <p:nvPr/>
              </p:nvSpPr>
              <p:spPr>
                <a:xfrm>
                  <a:off x="3842657" y="1827945"/>
                  <a:ext cx="195942" cy="195942"/>
                </a:xfrm>
                <a:custGeom>
                  <a:avLst/>
                  <a:gdLst>
                    <a:gd name="connsiteX0" fmla="*/ 180 w 195942"/>
                    <a:gd name="connsiteY0" fmla="*/ 280 h 195942"/>
                    <a:gd name="connsiteX1" fmla="*/ 196123 w 195942"/>
                    <a:gd name="connsiteY1" fmla="*/ 280 h 195942"/>
                    <a:gd name="connsiteX2" fmla="*/ 196123 w 195942"/>
                    <a:gd name="connsiteY2" fmla="*/ 196223 h 195942"/>
                    <a:gd name="connsiteX3" fmla="*/ 18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80"/>
                      </a:moveTo>
                      <a:lnTo>
                        <a:pt x="196123" y="280"/>
                      </a:lnTo>
                      <a:lnTo>
                        <a:pt x="196123" y="196223"/>
                      </a:lnTo>
                      <a:lnTo>
                        <a:pt x="18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8" name="任意多边形: 形状 37"/>
                <p:cNvSpPr/>
                <p:nvPr/>
              </p:nvSpPr>
              <p:spPr>
                <a:xfrm>
                  <a:off x="4038600" y="1828800"/>
                  <a:ext cx="195942" cy="195942"/>
                </a:xfrm>
                <a:custGeom>
                  <a:avLst/>
                  <a:gdLst>
                    <a:gd name="connsiteX0" fmla="*/ 210 w 195942"/>
                    <a:gd name="connsiteY0" fmla="*/ 280 h 195942"/>
                    <a:gd name="connsiteX1" fmla="*/ 196153 w 195942"/>
                    <a:gd name="connsiteY1" fmla="*/ 280 h 195942"/>
                    <a:gd name="connsiteX2" fmla="*/ 196153 w 195942"/>
                    <a:gd name="connsiteY2" fmla="*/ 196223 h 195942"/>
                    <a:gd name="connsiteX3" fmla="*/ 21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80"/>
                      </a:moveTo>
                      <a:lnTo>
                        <a:pt x="196153" y="280"/>
                      </a:lnTo>
                      <a:lnTo>
                        <a:pt x="196153" y="196223"/>
                      </a:lnTo>
                      <a:lnTo>
                        <a:pt x="21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9" name="任意多边形: 形状 38"/>
                <p:cNvSpPr/>
                <p:nvPr/>
              </p:nvSpPr>
              <p:spPr>
                <a:xfrm>
                  <a:off x="4234542" y="1828800"/>
                  <a:ext cx="195942" cy="195942"/>
                </a:xfrm>
                <a:custGeom>
                  <a:avLst/>
                  <a:gdLst>
                    <a:gd name="connsiteX0" fmla="*/ 240 w 195942"/>
                    <a:gd name="connsiteY0" fmla="*/ 280 h 195942"/>
                    <a:gd name="connsiteX1" fmla="*/ 196183 w 195942"/>
                    <a:gd name="connsiteY1" fmla="*/ 280 h 195942"/>
                    <a:gd name="connsiteX2" fmla="*/ 196183 w 195942"/>
                    <a:gd name="connsiteY2" fmla="*/ 196223 h 195942"/>
                    <a:gd name="connsiteX3" fmla="*/ 24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80"/>
                      </a:moveTo>
                      <a:lnTo>
                        <a:pt x="196183" y="280"/>
                      </a:lnTo>
                      <a:lnTo>
                        <a:pt x="196183" y="196223"/>
                      </a:lnTo>
                      <a:lnTo>
                        <a:pt x="24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0" name="任意多边形: 形状 39"/>
                <p:cNvSpPr/>
                <p:nvPr/>
              </p:nvSpPr>
              <p:spPr>
                <a:xfrm>
                  <a:off x="4430485" y="1828800"/>
                  <a:ext cx="195942" cy="195942"/>
                </a:xfrm>
                <a:custGeom>
                  <a:avLst/>
                  <a:gdLst>
                    <a:gd name="connsiteX0" fmla="*/ 270 w 195942"/>
                    <a:gd name="connsiteY0" fmla="*/ 280 h 195942"/>
                    <a:gd name="connsiteX1" fmla="*/ 196213 w 195942"/>
                    <a:gd name="connsiteY1" fmla="*/ 280 h 195942"/>
                    <a:gd name="connsiteX2" fmla="*/ 196213 w 195942"/>
                    <a:gd name="connsiteY2" fmla="*/ 196223 h 195942"/>
                    <a:gd name="connsiteX3" fmla="*/ 27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80"/>
                      </a:moveTo>
                      <a:lnTo>
                        <a:pt x="196213" y="280"/>
                      </a:lnTo>
                      <a:lnTo>
                        <a:pt x="196213" y="196223"/>
                      </a:lnTo>
                      <a:lnTo>
                        <a:pt x="27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14" name="图形 5"/>
              <p:cNvGrpSpPr/>
              <p:nvPr/>
            </p:nvGrpSpPr>
            <p:grpSpPr>
              <a:xfrm>
                <a:off x="1900048" y="4026907"/>
                <a:ext cx="1175657" cy="195942"/>
                <a:chOff x="3450771" y="2024742"/>
                <a:chExt cx="1175657" cy="195942"/>
              </a:xfrm>
              <a:solidFill>
                <a:srgbClr val="000000"/>
              </a:solidFill>
            </p:grpSpPr>
            <p:sp>
              <p:nvSpPr>
                <p:cNvPr id="29" name="任意多边形: 形状 28"/>
                <p:cNvSpPr/>
                <p:nvPr/>
              </p:nvSpPr>
              <p:spPr>
                <a:xfrm>
                  <a:off x="3450771" y="2024742"/>
                  <a:ext cx="195942" cy="195942"/>
                </a:xfrm>
                <a:custGeom>
                  <a:avLst/>
                  <a:gdLst>
                    <a:gd name="connsiteX0" fmla="*/ 120 w 195942"/>
                    <a:gd name="connsiteY0" fmla="*/ 310 h 195942"/>
                    <a:gd name="connsiteX1" fmla="*/ 196063 w 195942"/>
                    <a:gd name="connsiteY1" fmla="*/ 310 h 195942"/>
                    <a:gd name="connsiteX2" fmla="*/ 196063 w 195942"/>
                    <a:gd name="connsiteY2" fmla="*/ 196253 h 195942"/>
                    <a:gd name="connsiteX3" fmla="*/ 12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10"/>
                      </a:moveTo>
                      <a:lnTo>
                        <a:pt x="196063" y="310"/>
                      </a:lnTo>
                      <a:lnTo>
                        <a:pt x="196063" y="196253"/>
                      </a:lnTo>
                      <a:lnTo>
                        <a:pt x="12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0" name="任意多边形: 形状 29"/>
                <p:cNvSpPr/>
                <p:nvPr/>
              </p:nvSpPr>
              <p:spPr>
                <a:xfrm>
                  <a:off x="3646714" y="2024742"/>
                  <a:ext cx="195942" cy="195942"/>
                </a:xfrm>
                <a:custGeom>
                  <a:avLst/>
                  <a:gdLst>
                    <a:gd name="connsiteX0" fmla="*/ 150 w 195942"/>
                    <a:gd name="connsiteY0" fmla="*/ 310 h 195942"/>
                    <a:gd name="connsiteX1" fmla="*/ 196093 w 195942"/>
                    <a:gd name="connsiteY1" fmla="*/ 310 h 195942"/>
                    <a:gd name="connsiteX2" fmla="*/ 196093 w 195942"/>
                    <a:gd name="connsiteY2" fmla="*/ 196253 h 195942"/>
                    <a:gd name="connsiteX3" fmla="*/ 15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10"/>
                      </a:moveTo>
                      <a:lnTo>
                        <a:pt x="196093" y="310"/>
                      </a:lnTo>
                      <a:lnTo>
                        <a:pt x="196093" y="196253"/>
                      </a:lnTo>
                      <a:lnTo>
                        <a:pt x="15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1" name="任意多边形: 形状 30"/>
                <p:cNvSpPr/>
                <p:nvPr/>
              </p:nvSpPr>
              <p:spPr>
                <a:xfrm>
                  <a:off x="3842657" y="2024742"/>
                  <a:ext cx="195942" cy="195942"/>
                </a:xfrm>
                <a:custGeom>
                  <a:avLst/>
                  <a:gdLst>
                    <a:gd name="connsiteX0" fmla="*/ 180 w 195942"/>
                    <a:gd name="connsiteY0" fmla="*/ 310 h 195942"/>
                    <a:gd name="connsiteX1" fmla="*/ 196123 w 195942"/>
                    <a:gd name="connsiteY1" fmla="*/ 310 h 195942"/>
                    <a:gd name="connsiteX2" fmla="*/ 196123 w 195942"/>
                    <a:gd name="connsiteY2" fmla="*/ 196253 h 195942"/>
                    <a:gd name="connsiteX3" fmla="*/ 18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10"/>
                      </a:moveTo>
                      <a:lnTo>
                        <a:pt x="196123" y="310"/>
                      </a:lnTo>
                      <a:lnTo>
                        <a:pt x="196123" y="196253"/>
                      </a:lnTo>
                      <a:lnTo>
                        <a:pt x="18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2" name="任意多边形: 形状 31"/>
                <p:cNvSpPr/>
                <p:nvPr/>
              </p:nvSpPr>
              <p:spPr>
                <a:xfrm>
                  <a:off x="4038600" y="2024742"/>
                  <a:ext cx="195942" cy="195942"/>
                </a:xfrm>
                <a:custGeom>
                  <a:avLst/>
                  <a:gdLst>
                    <a:gd name="connsiteX0" fmla="*/ 210 w 195942"/>
                    <a:gd name="connsiteY0" fmla="*/ 310 h 195942"/>
                    <a:gd name="connsiteX1" fmla="*/ 196153 w 195942"/>
                    <a:gd name="connsiteY1" fmla="*/ 310 h 195942"/>
                    <a:gd name="connsiteX2" fmla="*/ 196153 w 195942"/>
                    <a:gd name="connsiteY2" fmla="*/ 196253 h 195942"/>
                    <a:gd name="connsiteX3" fmla="*/ 21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10"/>
                      </a:moveTo>
                      <a:lnTo>
                        <a:pt x="196153" y="310"/>
                      </a:lnTo>
                      <a:lnTo>
                        <a:pt x="196153" y="196253"/>
                      </a:lnTo>
                      <a:lnTo>
                        <a:pt x="21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 name="任意多边形: 形状 32"/>
                <p:cNvSpPr/>
                <p:nvPr/>
              </p:nvSpPr>
              <p:spPr>
                <a:xfrm>
                  <a:off x="4234542" y="2024742"/>
                  <a:ext cx="195942" cy="195942"/>
                </a:xfrm>
                <a:custGeom>
                  <a:avLst/>
                  <a:gdLst>
                    <a:gd name="connsiteX0" fmla="*/ 240 w 195942"/>
                    <a:gd name="connsiteY0" fmla="*/ 310 h 195942"/>
                    <a:gd name="connsiteX1" fmla="*/ 196183 w 195942"/>
                    <a:gd name="connsiteY1" fmla="*/ 310 h 195942"/>
                    <a:gd name="connsiteX2" fmla="*/ 196183 w 195942"/>
                    <a:gd name="connsiteY2" fmla="*/ 196253 h 195942"/>
                    <a:gd name="connsiteX3" fmla="*/ 24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10"/>
                      </a:moveTo>
                      <a:lnTo>
                        <a:pt x="196183" y="310"/>
                      </a:lnTo>
                      <a:lnTo>
                        <a:pt x="196183" y="196253"/>
                      </a:lnTo>
                      <a:lnTo>
                        <a:pt x="24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 name="任意多边形: 形状 33"/>
                <p:cNvSpPr/>
                <p:nvPr/>
              </p:nvSpPr>
              <p:spPr>
                <a:xfrm>
                  <a:off x="4430485" y="2024742"/>
                  <a:ext cx="195942" cy="195942"/>
                </a:xfrm>
                <a:custGeom>
                  <a:avLst/>
                  <a:gdLst>
                    <a:gd name="connsiteX0" fmla="*/ 270 w 195942"/>
                    <a:gd name="connsiteY0" fmla="*/ 310 h 195942"/>
                    <a:gd name="connsiteX1" fmla="*/ 196213 w 195942"/>
                    <a:gd name="connsiteY1" fmla="*/ 310 h 195942"/>
                    <a:gd name="connsiteX2" fmla="*/ 196213 w 195942"/>
                    <a:gd name="connsiteY2" fmla="*/ 196253 h 195942"/>
                    <a:gd name="connsiteX3" fmla="*/ 27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10"/>
                      </a:moveTo>
                      <a:lnTo>
                        <a:pt x="196213" y="310"/>
                      </a:lnTo>
                      <a:lnTo>
                        <a:pt x="196213" y="196253"/>
                      </a:lnTo>
                      <a:lnTo>
                        <a:pt x="27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15" name="图形 5"/>
              <p:cNvGrpSpPr/>
              <p:nvPr/>
            </p:nvGrpSpPr>
            <p:grpSpPr>
              <a:xfrm>
                <a:off x="1900048" y="4222850"/>
                <a:ext cx="1175657" cy="195942"/>
                <a:chOff x="3450771" y="2220685"/>
                <a:chExt cx="1175657" cy="195942"/>
              </a:xfrm>
              <a:solidFill>
                <a:srgbClr val="000000"/>
              </a:solidFill>
            </p:grpSpPr>
            <p:sp>
              <p:nvSpPr>
                <p:cNvPr id="23" name="任意多边形: 形状 22"/>
                <p:cNvSpPr/>
                <p:nvPr/>
              </p:nvSpPr>
              <p:spPr>
                <a:xfrm>
                  <a:off x="3450771" y="2220685"/>
                  <a:ext cx="195942" cy="195942"/>
                </a:xfrm>
                <a:custGeom>
                  <a:avLst/>
                  <a:gdLst>
                    <a:gd name="connsiteX0" fmla="*/ 120 w 195942"/>
                    <a:gd name="connsiteY0" fmla="*/ 340 h 195942"/>
                    <a:gd name="connsiteX1" fmla="*/ 196063 w 195942"/>
                    <a:gd name="connsiteY1" fmla="*/ 340 h 195942"/>
                    <a:gd name="connsiteX2" fmla="*/ 196063 w 195942"/>
                    <a:gd name="connsiteY2" fmla="*/ 196283 h 195942"/>
                    <a:gd name="connsiteX3" fmla="*/ 12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40"/>
                      </a:moveTo>
                      <a:lnTo>
                        <a:pt x="196063" y="340"/>
                      </a:lnTo>
                      <a:lnTo>
                        <a:pt x="196063" y="196283"/>
                      </a:lnTo>
                      <a:lnTo>
                        <a:pt x="12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4" name="任意多边形: 形状 23"/>
                <p:cNvSpPr/>
                <p:nvPr/>
              </p:nvSpPr>
              <p:spPr>
                <a:xfrm>
                  <a:off x="3646714" y="2220685"/>
                  <a:ext cx="195942" cy="195942"/>
                </a:xfrm>
                <a:custGeom>
                  <a:avLst/>
                  <a:gdLst>
                    <a:gd name="connsiteX0" fmla="*/ 150 w 195942"/>
                    <a:gd name="connsiteY0" fmla="*/ 340 h 195942"/>
                    <a:gd name="connsiteX1" fmla="*/ 196093 w 195942"/>
                    <a:gd name="connsiteY1" fmla="*/ 340 h 195942"/>
                    <a:gd name="connsiteX2" fmla="*/ 196093 w 195942"/>
                    <a:gd name="connsiteY2" fmla="*/ 196283 h 195942"/>
                    <a:gd name="connsiteX3" fmla="*/ 15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40"/>
                      </a:moveTo>
                      <a:lnTo>
                        <a:pt x="196093" y="340"/>
                      </a:lnTo>
                      <a:lnTo>
                        <a:pt x="196093" y="196283"/>
                      </a:lnTo>
                      <a:lnTo>
                        <a:pt x="15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5" name="任意多边形: 形状 24"/>
                <p:cNvSpPr/>
                <p:nvPr/>
              </p:nvSpPr>
              <p:spPr>
                <a:xfrm>
                  <a:off x="3842657" y="2220685"/>
                  <a:ext cx="195942" cy="195942"/>
                </a:xfrm>
                <a:custGeom>
                  <a:avLst/>
                  <a:gdLst>
                    <a:gd name="connsiteX0" fmla="*/ 180 w 195942"/>
                    <a:gd name="connsiteY0" fmla="*/ 340 h 195942"/>
                    <a:gd name="connsiteX1" fmla="*/ 196123 w 195942"/>
                    <a:gd name="connsiteY1" fmla="*/ 340 h 195942"/>
                    <a:gd name="connsiteX2" fmla="*/ 196123 w 195942"/>
                    <a:gd name="connsiteY2" fmla="*/ 196283 h 195942"/>
                    <a:gd name="connsiteX3" fmla="*/ 18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40"/>
                      </a:moveTo>
                      <a:lnTo>
                        <a:pt x="196123" y="340"/>
                      </a:lnTo>
                      <a:lnTo>
                        <a:pt x="196123" y="196283"/>
                      </a:lnTo>
                      <a:lnTo>
                        <a:pt x="18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6" name="任意多边形: 形状 25"/>
                <p:cNvSpPr/>
                <p:nvPr/>
              </p:nvSpPr>
              <p:spPr>
                <a:xfrm>
                  <a:off x="4038600" y="2220685"/>
                  <a:ext cx="195942" cy="195942"/>
                </a:xfrm>
                <a:custGeom>
                  <a:avLst/>
                  <a:gdLst>
                    <a:gd name="connsiteX0" fmla="*/ 210 w 195942"/>
                    <a:gd name="connsiteY0" fmla="*/ 340 h 195942"/>
                    <a:gd name="connsiteX1" fmla="*/ 196153 w 195942"/>
                    <a:gd name="connsiteY1" fmla="*/ 340 h 195942"/>
                    <a:gd name="connsiteX2" fmla="*/ 196153 w 195942"/>
                    <a:gd name="connsiteY2" fmla="*/ 196283 h 195942"/>
                    <a:gd name="connsiteX3" fmla="*/ 21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40"/>
                      </a:moveTo>
                      <a:lnTo>
                        <a:pt x="196153" y="340"/>
                      </a:lnTo>
                      <a:lnTo>
                        <a:pt x="196153" y="196283"/>
                      </a:lnTo>
                      <a:lnTo>
                        <a:pt x="21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7" name="任意多边形: 形状 26"/>
                <p:cNvSpPr/>
                <p:nvPr/>
              </p:nvSpPr>
              <p:spPr>
                <a:xfrm>
                  <a:off x="4234542" y="2220685"/>
                  <a:ext cx="195942" cy="195942"/>
                </a:xfrm>
                <a:custGeom>
                  <a:avLst/>
                  <a:gdLst>
                    <a:gd name="connsiteX0" fmla="*/ 240 w 195942"/>
                    <a:gd name="connsiteY0" fmla="*/ 340 h 195942"/>
                    <a:gd name="connsiteX1" fmla="*/ 196183 w 195942"/>
                    <a:gd name="connsiteY1" fmla="*/ 340 h 195942"/>
                    <a:gd name="connsiteX2" fmla="*/ 196183 w 195942"/>
                    <a:gd name="connsiteY2" fmla="*/ 196283 h 195942"/>
                    <a:gd name="connsiteX3" fmla="*/ 24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40"/>
                      </a:moveTo>
                      <a:lnTo>
                        <a:pt x="196183" y="340"/>
                      </a:lnTo>
                      <a:lnTo>
                        <a:pt x="196183" y="196283"/>
                      </a:lnTo>
                      <a:lnTo>
                        <a:pt x="24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8" name="任意多边形: 形状 27"/>
                <p:cNvSpPr/>
                <p:nvPr/>
              </p:nvSpPr>
              <p:spPr>
                <a:xfrm>
                  <a:off x="4430485" y="2220685"/>
                  <a:ext cx="195942" cy="195942"/>
                </a:xfrm>
                <a:custGeom>
                  <a:avLst/>
                  <a:gdLst>
                    <a:gd name="connsiteX0" fmla="*/ 270 w 195942"/>
                    <a:gd name="connsiteY0" fmla="*/ 340 h 195942"/>
                    <a:gd name="connsiteX1" fmla="*/ 196213 w 195942"/>
                    <a:gd name="connsiteY1" fmla="*/ 340 h 195942"/>
                    <a:gd name="connsiteX2" fmla="*/ 196213 w 195942"/>
                    <a:gd name="connsiteY2" fmla="*/ 196283 h 195942"/>
                    <a:gd name="connsiteX3" fmla="*/ 27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40"/>
                      </a:moveTo>
                      <a:lnTo>
                        <a:pt x="196213" y="340"/>
                      </a:lnTo>
                      <a:lnTo>
                        <a:pt x="196213" y="196283"/>
                      </a:lnTo>
                      <a:lnTo>
                        <a:pt x="27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16" name="图形 5"/>
              <p:cNvGrpSpPr/>
              <p:nvPr/>
            </p:nvGrpSpPr>
            <p:grpSpPr>
              <a:xfrm>
                <a:off x="1900048" y="4418793"/>
                <a:ext cx="1175657" cy="195942"/>
                <a:chOff x="3450771" y="2416628"/>
                <a:chExt cx="1175657" cy="195942"/>
              </a:xfrm>
              <a:solidFill>
                <a:srgbClr val="000000"/>
              </a:solidFill>
            </p:grpSpPr>
            <p:sp>
              <p:nvSpPr>
                <p:cNvPr id="17" name="任意多边形: 形状 16"/>
                <p:cNvSpPr/>
                <p:nvPr/>
              </p:nvSpPr>
              <p:spPr>
                <a:xfrm>
                  <a:off x="3450771" y="2416628"/>
                  <a:ext cx="195942" cy="195942"/>
                </a:xfrm>
                <a:custGeom>
                  <a:avLst/>
                  <a:gdLst>
                    <a:gd name="connsiteX0" fmla="*/ 120 w 195942"/>
                    <a:gd name="connsiteY0" fmla="*/ 370 h 195942"/>
                    <a:gd name="connsiteX1" fmla="*/ 196063 w 195942"/>
                    <a:gd name="connsiteY1" fmla="*/ 370 h 195942"/>
                    <a:gd name="connsiteX2" fmla="*/ 196063 w 195942"/>
                    <a:gd name="connsiteY2" fmla="*/ 196313 h 195942"/>
                    <a:gd name="connsiteX3" fmla="*/ 12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70"/>
                      </a:moveTo>
                      <a:lnTo>
                        <a:pt x="196063" y="370"/>
                      </a:lnTo>
                      <a:lnTo>
                        <a:pt x="196063" y="196313"/>
                      </a:lnTo>
                      <a:lnTo>
                        <a:pt x="12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18" name="任意多边形: 形状 17"/>
                <p:cNvSpPr/>
                <p:nvPr/>
              </p:nvSpPr>
              <p:spPr>
                <a:xfrm>
                  <a:off x="3646714" y="2416628"/>
                  <a:ext cx="195942" cy="195942"/>
                </a:xfrm>
                <a:custGeom>
                  <a:avLst/>
                  <a:gdLst>
                    <a:gd name="connsiteX0" fmla="*/ 150 w 195942"/>
                    <a:gd name="connsiteY0" fmla="*/ 370 h 195942"/>
                    <a:gd name="connsiteX1" fmla="*/ 196093 w 195942"/>
                    <a:gd name="connsiteY1" fmla="*/ 370 h 195942"/>
                    <a:gd name="connsiteX2" fmla="*/ 196093 w 195942"/>
                    <a:gd name="connsiteY2" fmla="*/ 196313 h 195942"/>
                    <a:gd name="connsiteX3" fmla="*/ 15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70"/>
                      </a:moveTo>
                      <a:lnTo>
                        <a:pt x="196093" y="370"/>
                      </a:lnTo>
                      <a:lnTo>
                        <a:pt x="196093" y="196313"/>
                      </a:lnTo>
                      <a:lnTo>
                        <a:pt x="15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19" name="任意多边形: 形状 18"/>
                <p:cNvSpPr/>
                <p:nvPr/>
              </p:nvSpPr>
              <p:spPr>
                <a:xfrm>
                  <a:off x="3842657" y="2416628"/>
                  <a:ext cx="195942" cy="195942"/>
                </a:xfrm>
                <a:custGeom>
                  <a:avLst/>
                  <a:gdLst>
                    <a:gd name="connsiteX0" fmla="*/ 180 w 195942"/>
                    <a:gd name="connsiteY0" fmla="*/ 370 h 195942"/>
                    <a:gd name="connsiteX1" fmla="*/ 196123 w 195942"/>
                    <a:gd name="connsiteY1" fmla="*/ 370 h 195942"/>
                    <a:gd name="connsiteX2" fmla="*/ 196123 w 195942"/>
                    <a:gd name="connsiteY2" fmla="*/ 196313 h 195942"/>
                    <a:gd name="connsiteX3" fmla="*/ 18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70"/>
                      </a:moveTo>
                      <a:lnTo>
                        <a:pt x="196123" y="370"/>
                      </a:lnTo>
                      <a:lnTo>
                        <a:pt x="196123" y="196313"/>
                      </a:lnTo>
                      <a:lnTo>
                        <a:pt x="18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0" name="任意多边形: 形状 19"/>
                <p:cNvSpPr/>
                <p:nvPr/>
              </p:nvSpPr>
              <p:spPr>
                <a:xfrm>
                  <a:off x="4038600" y="2416628"/>
                  <a:ext cx="195942" cy="195942"/>
                </a:xfrm>
                <a:custGeom>
                  <a:avLst/>
                  <a:gdLst>
                    <a:gd name="connsiteX0" fmla="*/ 210 w 195942"/>
                    <a:gd name="connsiteY0" fmla="*/ 370 h 195942"/>
                    <a:gd name="connsiteX1" fmla="*/ 196153 w 195942"/>
                    <a:gd name="connsiteY1" fmla="*/ 370 h 195942"/>
                    <a:gd name="connsiteX2" fmla="*/ 196153 w 195942"/>
                    <a:gd name="connsiteY2" fmla="*/ 196313 h 195942"/>
                    <a:gd name="connsiteX3" fmla="*/ 21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70"/>
                      </a:moveTo>
                      <a:lnTo>
                        <a:pt x="196153" y="370"/>
                      </a:lnTo>
                      <a:lnTo>
                        <a:pt x="196153" y="196313"/>
                      </a:lnTo>
                      <a:lnTo>
                        <a:pt x="21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1" name="任意多边形: 形状 20"/>
                <p:cNvSpPr/>
                <p:nvPr/>
              </p:nvSpPr>
              <p:spPr>
                <a:xfrm>
                  <a:off x="4234542" y="2416628"/>
                  <a:ext cx="195942" cy="195942"/>
                </a:xfrm>
                <a:custGeom>
                  <a:avLst/>
                  <a:gdLst>
                    <a:gd name="connsiteX0" fmla="*/ 240 w 195942"/>
                    <a:gd name="connsiteY0" fmla="*/ 370 h 195942"/>
                    <a:gd name="connsiteX1" fmla="*/ 196183 w 195942"/>
                    <a:gd name="connsiteY1" fmla="*/ 370 h 195942"/>
                    <a:gd name="connsiteX2" fmla="*/ 196183 w 195942"/>
                    <a:gd name="connsiteY2" fmla="*/ 196313 h 195942"/>
                    <a:gd name="connsiteX3" fmla="*/ 24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70"/>
                      </a:moveTo>
                      <a:lnTo>
                        <a:pt x="196183" y="370"/>
                      </a:lnTo>
                      <a:lnTo>
                        <a:pt x="196183" y="196313"/>
                      </a:lnTo>
                      <a:lnTo>
                        <a:pt x="24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22" name="任意多边形: 形状 21"/>
                <p:cNvSpPr/>
                <p:nvPr/>
              </p:nvSpPr>
              <p:spPr>
                <a:xfrm>
                  <a:off x="4430485" y="2416628"/>
                  <a:ext cx="195942" cy="195942"/>
                </a:xfrm>
                <a:custGeom>
                  <a:avLst/>
                  <a:gdLst>
                    <a:gd name="connsiteX0" fmla="*/ 270 w 195942"/>
                    <a:gd name="connsiteY0" fmla="*/ 370 h 195942"/>
                    <a:gd name="connsiteX1" fmla="*/ 196213 w 195942"/>
                    <a:gd name="connsiteY1" fmla="*/ 370 h 195942"/>
                    <a:gd name="connsiteX2" fmla="*/ 196213 w 195942"/>
                    <a:gd name="connsiteY2" fmla="*/ 196313 h 195942"/>
                    <a:gd name="connsiteX3" fmla="*/ 27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70"/>
                      </a:moveTo>
                      <a:lnTo>
                        <a:pt x="196213" y="370"/>
                      </a:lnTo>
                      <a:lnTo>
                        <a:pt x="196213" y="196313"/>
                      </a:lnTo>
                      <a:lnTo>
                        <a:pt x="27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cxnSp>
          <p:nvCxnSpPr>
            <p:cNvPr id="264" name="直接箭头连接符 263"/>
            <p:cNvCxnSpPr/>
            <p:nvPr/>
          </p:nvCxnSpPr>
          <p:spPr>
            <a:xfrm flipV="1">
              <a:off x="1724606" y="2715417"/>
              <a:ext cx="2303530" cy="464"/>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265" name="文本框 264"/>
            <p:cNvSpPr txBox="1"/>
            <p:nvPr/>
          </p:nvSpPr>
          <p:spPr>
            <a:xfrm>
              <a:off x="1793458" y="2289384"/>
              <a:ext cx="2248869"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Self attention 1</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nvGrpSpPr>
            <p:cNvPr id="267" name="图形 5"/>
            <p:cNvGrpSpPr/>
            <p:nvPr/>
          </p:nvGrpSpPr>
          <p:grpSpPr>
            <a:xfrm>
              <a:off x="4169300" y="2235758"/>
              <a:ext cx="739560" cy="845916"/>
              <a:chOff x="7238999" y="5127171"/>
              <a:chExt cx="783771" cy="979713"/>
            </a:xfrm>
            <a:solidFill>
              <a:schemeClr val="accent2">
                <a:lumMod val="20000"/>
                <a:lumOff val="80000"/>
              </a:schemeClr>
            </a:solidFill>
          </p:grpSpPr>
          <p:grpSp>
            <p:nvGrpSpPr>
              <p:cNvPr id="268" name="图形 5"/>
              <p:cNvGrpSpPr/>
              <p:nvPr/>
            </p:nvGrpSpPr>
            <p:grpSpPr>
              <a:xfrm>
                <a:off x="7238999" y="5127171"/>
                <a:ext cx="783771" cy="252506"/>
                <a:chOff x="7238999" y="5127171"/>
                <a:chExt cx="783771" cy="252506"/>
              </a:xfrm>
              <a:grpFill/>
            </p:grpSpPr>
            <p:sp>
              <p:nvSpPr>
                <p:cNvPr id="289" name="任意多边形: 形状 288"/>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290" name="任意多边形: 形状 289"/>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291" name="任意多边形: 形状 290"/>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292" name="任意多边形: 形状 291"/>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269" name="图形 5"/>
              <p:cNvGrpSpPr/>
              <p:nvPr/>
            </p:nvGrpSpPr>
            <p:grpSpPr>
              <a:xfrm>
                <a:off x="7239000" y="5323114"/>
                <a:ext cx="783770" cy="195942"/>
                <a:chOff x="7239000" y="5323114"/>
                <a:chExt cx="783770" cy="195942"/>
              </a:xfrm>
              <a:grpFill/>
            </p:grpSpPr>
            <p:sp>
              <p:nvSpPr>
                <p:cNvPr id="285" name="任意多边形: 形状 284"/>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286" name="任意多边形: 形状 285"/>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287" name="任意多边形: 形状 286"/>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288" name="任意多边形: 形状 287"/>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270" name="图形 5"/>
              <p:cNvGrpSpPr/>
              <p:nvPr/>
            </p:nvGrpSpPr>
            <p:grpSpPr>
              <a:xfrm>
                <a:off x="7239000" y="5519057"/>
                <a:ext cx="783770" cy="195942"/>
                <a:chOff x="7239000" y="5519057"/>
                <a:chExt cx="783770" cy="195942"/>
              </a:xfrm>
              <a:grpFill/>
            </p:grpSpPr>
            <p:sp>
              <p:nvSpPr>
                <p:cNvPr id="281" name="任意多边形: 形状 280"/>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282" name="任意多边形: 形状 281"/>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283" name="任意多边形: 形状 282"/>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284" name="任意多边形: 形状 283"/>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271" name="图形 5"/>
              <p:cNvGrpSpPr/>
              <p:nvPr/>
            </p:nvGrpSpPr>
            <p:grpSpPr>
              <a:xfrm>
                <a:off x="7239000" y="5715000"/>
                <a:ext cx="783770" cy="195942"/>
                <a:chOff x="7239000" y="5715000"/>
                <a:chExt cx="783770" cy="195942"/>
              </a:xfrm>
              <a:grpFill/>
            </p:grpSpPr>
            <p:sp>
              <p:nvSpPr>
                <p:cNvPr id="277" name="任意多边形: 形状 276"/>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278" name="任意多边形: 形状 277"/>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279" name="任意多边形: 形状 278"/>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280" name="任意多边形: 形状 279"/>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272" name="图形 5"/>
              <p:cNvGrpSpPr/>
              <p:nvPr/>
            </p:nvGrpSpPr>
            <p:grpSpPr>
              <a:xfrm>
                <a:off x="7239000" y="5910942"/>
                <a:ext cx="783770" cy="195942"/>
                <a:chOff x="7239000" y="5910942"/>
                <a:chExt cx="783770" cy="195942"/>
              </a:xfrm>
              <a:grpFill/>
            </p:grpSpPr>
            <p:sp>
              <p:nvSpPr>
                <p:cNvPr id="273" name="任意多边形: 形状 272"/>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274" name="任意多边形: 形状 273"/>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275" name="任意多边形: 形状 274"/>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276" name="任意多边形: 形状 275"/>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grpSp>
      <p:grpSp>
        <p:nvGrpSpPr>
          <p:cNvPr id="295" name="组合 294"/>
          <p:cNvGrpSpPr/>
          <p:nvPr/>
        </p:nvGrpSpPr>
        <p:grpSpPr>
          <a:xfrm>
            <a:off x="126622" y="2996105"/>
            <a:ext cx="4030223" cy="868659"/>
            <a:chOff x="878637" y="2235758"/>
            <a:chExt cx="4030223" cy="868659"/>
          </a:xfrm>
        </p:grpSpPr>
        <p:grpSp>
          <p:nvGrpSpPr>
            <p:cNvPr id="296" name="组合 295"/>
            <p:cNvGrpSpPr/>
            <p:nvPr/>
          </p:nvGrpSpPr>
          <p:grpSpPr>
            <a:xfrm>
              <a:off x="878637" y="2326419"/>
              <a:ext cx="766417" cy="777998"/>
              <a:chOff x="1900048" y="3635022"/>
              <a:chExt cx="1175657" cy="979713"/>
            </a:xfrm>
          </p:grpSpPr>
          <p:grpSp>
            <p:nvGrpSpPr>
              <p:cNvPr id="325" name="图形 5"/>
              <p:cNvGrpSpPr/>
              <p:nvPr/>
            </p:nvGrpSpPr>
            <p:grpSpPr>
              <a:xfrm>
                <a:off x="1900048" y="3635022"/>
                <a:ext cx="1175656" cy="195942"/>
                <a:chOff x="3450771" y="1632857"/>
                <a:chExt cx="1175656" cy="195942"/>
              </a:xfrm>
              <a:solidFill>
                <a:schemeClr val="accent6">
                  <a:lumMod val="50000"/>
                </a:schemeClr>
              </a:solidFill>
            </p:grpSpPr>
            <p:sp>
              <p:nvSpPr>
                <p:cNvPr id="354" name="任意多边形: 形状 353"/>
                <p:cNvSpPr/>
                <p:nvPr/>
              </p:nvSpPr>
              <p:spPr>
                <a:xfrm>
                  <a:off x="3450771" y="1632857"/>
                  <a:ext cx="195942" cy="195942"/>
                </a:xfrm>
                <a:custGeom>
                  <a:avLst/>
                  <a:gdLst>
                    <a:gd name="connsiteX0" fmla="*/ 120 w 195942"/>
                    <a:gd name="connsiteY0" fmla="*/ 250 h 195942"/>
                    <a:gd name="connsiteX1" fmla="*/ 196063 w 195942"/>
                    <a:gd name="connsiteY1" fmla="*/ 250 h 195942"/>
                    <a:gd name="connsiteX2" fmla="*/ 196063 w 195942"/>
                    <a:gd name="connsiteY2" fmla="*/ 196193 h 195942"/>
                    <a:gd name="connsiteX3" fmla="*/ 12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50"/>
                      </a:moveTo>
                      <a:lnTo>
                        <a:pt x="196063" y="250"/>
                      </a:lnTo>
                      <a:lnTo>
                        <a:pt x="196063" y="196193"/>
                      </a:lnTo>
                      <a:lnTo>
                        <a:pt x="12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55" name="任意多边形: 形状 354"/>
                <p:cNvSpPr/>
                <p:nvPr/>
              </p:nvSpPr>
              <p:spPr>
                <a:xfrm>
                  <a:off x="3646714" y="1632857"/>
                  <a:ext cx="195942" cy="195942"/>
                </a:xfrm>
                <a:custGeom>
                  <a:avLst/>
                  <a:gdLst>
                    <a:gd name="connsiteX0" fmla="*/ 150 w 195942"/>
                    <a:gd name="connsiteY0" fmla="*/ 250 h 195942"/>
                    <a:gd name="connsiteX1" fmla="*/ 196093 w 195942"/>
                    <a:gd name="connsiteY1" fmla="*/ 250 h 195942"/>
                    <a:gd name="connsiteX2" fmla="*/ 196093 w 195942"/>
                    <a:gd name="connsiteY2" fmla="*/ 196193 h 195942"/>
                    <a:gd name="connsiteX3" fmla="*/ 15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50"/>
                      </a:moveTo>
                      <a:lnTo>
                        <a:pt x="196093" y="250"/>
                      </a:lnTo>
                      <a:lnTo>
                        <a:pt x="196093" y="196193"/>
                      </a:lnTo>
                      <a:lnTo>
                        <a:pt x="15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56" name="任意多边形: 形状 355"/>
                <p:cNvSpPr/>
                <p:nvPr/>
              </p:nvSpPr>
              <p:spPr>
                <a:xfrm>
                  <a:off x="3842657" y="1632857"/>
                  <a:ext cx="195942" cy="195942"/>
                </a:xfrm>
                <a:custGeom>
                  <a:avLst/>
                  <a:gdLst>
                    <a:gd name="connsiteX0" fmla="*/ 180 w 195942"/>
                    <a:gd name="connsiteY0" fmla="*/ 250 h 195942"/>
                    <a:gd name="connsiteX1" fmla="*/ 196123 w 195942"/>
                    <a:gd name="connsiteY1" fmla="*/ 250 h 195942"/>
                    <a:gd name="connsiteX2" fmla="*/ 196123 w 195942"/>
                    <a:gd name="connsiteY2" fmla="*/ 196193 h 195942"/>
                    <a:gd name="connsiteX3" fmla="*/ 18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50"/>
                      </a:moveTo>
                      <a:lnTo>
                        <a:pt x="196123" y="250"/>
                      </a:lnTo>
                      <a:lnTo>
                        <a:pt x="196123" y="196193"/>
                      </a:lnTo>
                      <a:lnTo>
                        <a:pt x="18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57" name="任意多边形: 形状 356"/>
                <p:cNvSpPr/>
                <p:nvPr/>
              </p:nvSpPr>
              <p:spPr>
                <a:xfrm>
                  <a:off x="4038600" y="1632857"/>
                  <a:ext cx="195942" cy="195942"/>
                </a:xfrm>
                <a:custGeom>
                  <a:avLst/>
                  <a:gdLst>
                    <a:gd name="connsiteX0" fmla="*/ 210 w 195942"/>
                    <a:gd name="connsiteY0" fmla="*/ 250 h 195942"/>
                    <a:gd name="connsiteX1" fmla="*/ 196153 w 195942"/>
                    <a:gd name="connsiteY1" fmla="*/ 250 h 195942"/>
                    <a:gd name="connsiteX2" fmla="*/ 196153 w 195942"/>
                    <a:gd name="connsiteY2" fmla="*/ 196193 h 195942"/>
                    <a:gd name="connsiteX3" fmla="*/ 21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50"/>
                      </a:moveTo>
                      <a:lnTo>
                        <a:pt x="196153" y="250"/>
                      </a:lnTo>
                      <a:lnTo>
                        <a:pt x="196153" y="196193"/>
                      </a:lnTo>
                      <a:lnTo>
                        <a:pt x="21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58" name="任意多边形: 形状 357"/>
                <p:cNvSpPr/>
                <p:nvPr/>
              </p:nvSpPr>
              <p:spPr>
                <a:xfrm>
                  <a:off x="4234542" y="1632857"/>
                  <a:ext cx="195942" cy="195942"/>
                </a:xfrm>
                <a:custGeom>
                  <a:avLst/>
                  <a:gdLst>
                    <a:gd name="connsiteX0" fmla="*/ 240 w 195942"/>
                    <a:gd name="connsiteY0" fmla="*/ 250 h 195942"/>
                    <a:gd name="connsiteX1" fmla="*/ 196183 w 195942"/>
                    <a:gd name="connsiteY1" fmla="*/ 250 h 195942"/>
                    <a:gd name="connsiteX2" fmla="*/ 196183 w 195942"/>
                    <a:gd name="connsiteY2" fmla="*/ 196193 h 195942"/>
                    <a:gd name="connsiteX3" fmla="*/ 24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50"/>
                      </a:moveTo>
                      <a:lnTo>
                        <a:pt x="196183" y="250"/>
                      </a:lnTo>
                      <a:lnTo>
                        <a:pt x="196183" y="196193"/>
                      </a:lnTo>
                      <a:lnTo>
                        <a:pt x="24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359" name="任意多边形: 形状 358"/>
                <p:cNvSpPr/>
                <p:nvPr/>
              </p:nvSpPr>
              <p:spPr>
                <a:xfrm>
                  <a:off x="4430485" y="1632857"/>
                  <a:ext cx="195942" cy="195942"/>
                </a:xfrm>
                <a:custGeom>
                  <a:avLst/>
                  <a:gdLst>
                    <a:gd name="connsiteX0" fmla="*/ 270 w 195942"/>
                    <a:gd name="connsiteY0" fmla="*/ 250 h 195942"/>
                    <a:gd name="connsiteX1" fmla="*/ 196213 w 195942"/>
                    <a:gd name="connsiteY1" fmla="*/ 250 h 195942"/>
                    <a:gd name="connsiteX2" fmla="*/ 196213 w 195942"/>
                    <a:gd name="connsiteY2" fmla="*/ 196193 h 195942"/>
                    <a:gd name="connsiteX3" fmla="*/ 27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50"/>
                      </a:moveTo>
                      <a:lnTo>
                        <a:pt x="196213" y="250"/>
                      </a:lnTo>
                      <a:lnTo>
                        <a:pt x="196213" y="196193"/>
                      </a:lnTo>
                      <a:lnTo>
                        <a:pt x="27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326" name="图形 5"/>
              <p:cNvGrpSpPr/>
              <p:nvPr/>
            </p:nvGrpSpPr>
            <p:grpSpPr>
              <a:xfrm>
                <a:off x="1900048" y="3830110"/>
                <a:ext cx="1175656" cy="196797"/>
                <a:chOff x="3450771" y="1827945"/>
                <a:chExt cx="1175656" cy="196797"/>
              </a:xfrm>
              <a:solidFill>
                <a:srgbClr val="000000"/>
              </a:solidFill>
            </p:grpSpPr>
            <p:sp>
              <p:nvSpPr>
                <p:cNvPr id="348" name="任意多边形: 形状 347"/>
                <p:cNvSpPr/>
                <p:nvPr/>
              </p:nvSpPr>
              <p:spPr>
                <a:xfrm>
                  <a:off x="3450771" y="1828800"/>
                  <a:ext cx="195942" cy="195942"/>
                </a:xfrm>
                <a:custGeom>
                  <a:avLst/>
                  <a:gdLst>
                    <a:gd name="connsiteX0" fmla="*/ 120 w 195942"/>
                    <a:gd name="connsiteY0" fmla="*/ 280 h 195942"/>
                    <a:gd name="connsiteX1" fmla="*/ 196063 w 195942"/>
                    <a:gd name="connsiteY1" fmla="*/ 280 h 195942"/>
                    <a:gd name="connsiteX2" fmla="*/ 196063 w 195942"/>
                    <a:gd name="connsiteY2" fmla="*/ 196223 h 195942"/>
                    <a:gd name="connsiteX3" fmla="*/ 12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80"/>
                      </a:moveTo>
                      <a:lnTo>
                        <a:pt x="196063" y="280"/>
                      </a:lnTo>
                      <a:lnTo>
                        <a:pt x="196063" y="196223"/>
                      </a:lnTo>
                      <a:lnTo>
                        <a:pt x="12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9" name="任意多边形: 形状 348"/>
                <p:cNvSpPr/>
                <p:nvPr/>
              </p:nvSpPr>
              <p:spPr>
                <a:xfrm>
                  <a:off x="3646714" y="1828800"/>
                  <a:ext cx="195942" cy="195942"/>
                </a:xfrm>
                <a:custGeom>
                  <a:avLst/>
                  <a:gdLst>
                    <a:gd name="connsiteX0" fmla="*/ 150 w 195942"/>
                    <a:gd name="connsiteY0" fmla="*/ 280 h 195942"/>
                    <a:gd name="connsiteX1" fmla="*/ 196093 w 195942"/>
                    <a:gd name="connsiteY1" fmla="*/ 280 h 195942"/>
                    <a:gd name="connsiteX2" fmla="*/ 196093 w 195942"/>
                    <a:gd name="connsiteY2" fmla="*/ 196223 h 195942"/>
                    <a:gd name="connsiteX3" fmla="*/ 15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80"/>
                      </a:moveTo>
                      <a:lnTo>
                        <a:pt x="196093" y="280"/>
                      </a:lnTo>
                      <a:lnTo>
                        <a:pt x="196093" y="196223"/>
                      </a:lnTo>
                      <a:lnTo>
                        <a:pt x="15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50" name="任意多边形: 形状 349"/>
                <p:cNvSpPr/>
                <p:nvPr/>
              </p:nvSpPr>
              <p:spPr>
                <a:xfrm>
                  <a:off x="3842657" y="1827945"/>
                  <a:ext cx="195942" cy="195942"/>
                </a:xfrm>
                <a:custGeom>
                  <a:avLst/>
                  <a:gdLst>
                    <a:gd name="connsiteX0" fmla="*/ 180 w 195942"/>
                    <a:gd name="connsiteY0" fmla="*/ 280 h 195942"/>
                    <a:gd name="connsiteX1" fmla="*/ 196123 w 195942"/>
                    <a:gd name="connsiteY1" fmla="*/ 280 h 195942"/>
                    <a:gd name="connsiteX2" fmla="*/ 196123 w 195942"/>
                    <a:gd name="connsiteY2" fmla="*/ 196223 h 195942"/>
                    <a:gd name="connsiteX3" fmla="*/ 18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80"/>
                      </a:moveTo>
                      <a:lnTo>
                        <a:pt x="196123" y="280"/>
                      </a:lnTo>
                      <a:lnTo>
                        <a:pt x="196123" y="196223"/>
                      </a:lnTo>
                      <a:lnTo>
                        <a:pt x="18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51" name="任意多边形: 形状 350"/>
                <p:cNvSpPr/>
                <p:nvPr/>
              </p:nvSpPr>
              <p:spPr>
                <a:xfrm>
                  <a:off x="4038600" y="1828800"/>
                  <a:ext cx="195942" cy="195942"/>
                </a:xfrm>
                <a:custGeom>
                  <a:avLst/>
                  <a:gdLst>
                    <a:gd name="connsiteX0" fmla="*/ 210 w 195942"/>
                    <a:gd name="connsiteY0" fmla="*/ 280 h 195942"/>
                    <a:gd name="connsiteX1" fmla="*/ 196153 w 195942"/>
                    <a:gd name="connsiteY1" fmla="*/ 280 h 195942"/>
                    <a:gd name="connsiteX2" fmla="*/ 196153 w 195942"/>
                    <a:gd name="connsiteY2" fmla="*/ 196223 h 195942"/>
                    <a:gd name="connsiteX3" fmla="*/ 21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80"/>
                      </a:moveTo>
                      <a:lnTo>
                        <a:pt x="196153" y="280"/>
                      </a:lnTo>
                      <a:lnTo>
                        <a:pt x="196153" y="196223"/>
                      </a:lnTo>
                      <a:lnTo>
                        <a:pt x="21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52" name="任意多边形: 形状 351"/>
                <p:cNvSpPr/>
                <p:nvPr/>
              </p:nvSpPr>
              <p:spPr>
                <a:xfrm>
                  <a:off x="4234542" y="1828800"/>
                  <a:ext cx="195942" cy="195942"/>
                </a:xfrm>
                <a:custGeom>
                  <a:avLst/>
                  <a:gdLst>
                    <a:gd name="connsiteX0" fmla="*/ 240 w 195942"/>
                    <a:gd name="connsiteY0" fmla="*/ 280 h 195942"/>
                    <a:gd name="connsiteX1" fmla="*/ 196183 w 195942"/>
                    <a:gd name="connsiteY1" fmla="*/ 280 h 195942"/>
                    <a:gd name="connsiteX2" fmla="*/ 196183 w 195942"/>
                    <a:gd name="connsiteY2" fmla="*/ 196223 h 195942"/>
                    <a:gd name="connsiteX3" fmla="*/ 24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80"/>
                      </a:moveTo>
                      <a:lnTo>
                        <a:pt x="196183" y="280"/>
                      </a:lnTo>
                      <a:lnTo>
                        <a:pt x="196183" y="196223"/>
                      </a:lnTo>
                      <a:lnTo>
                        <a:pt x="24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53" name="任意多边形: 形状 352"/>
                <p:cNvSpPr/>
                <p:nvPr/>
              </p:nvSpPr>
              <p:spPr>
                <a:xfrm>
                  <a:off x="4430485" y="1828800"/>
                  <a:ext cx="195942" cy="195942"/>
                </a:xfrm>
                <a:custGeom>
                  <a:avLst/>
                  <a:gdLst>
                    <a:gd name="connsiteX0" fmla="*/ 270 w 195942"/>
                    <a:gd name="connsiteY0" fmla="*/ 280 h 195942"/>
                    <a:gd name="connsiteX1" fmla="*/ 196213 w 195942"/>
                    <a:gd name="connsiteY1" fmla="*/ 280 h 195942"/>
                    <a:gd name="connsiteX2" fmla="*/ 196213 w 195942"/>
                    <a:gd name="connsiteY2" fmla="*/ 196223 h 195942"/>
                    <a:gd name="connsiteX3" fmla="*/ 27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80"/>
                      </a:moveTo>
                      <a:lnTo>
                        <a:pt x="196213" y="280"/>
                      </a:lnTo>
                      <a:lnTo>
                        <a:pt x="196213" y="196223"/>
                      </a:lnTo>
                      <a:lnTo>
                        <a:pt x="27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327" name="图形 5"/>
              <p:cNvGrpSpPr/>
              <p:nvPr/>
            </p:nvGrpSpPr>
            <p:grpSpPr>
              <a:xfrm>
                <a:off x="1900048" y="4026907"/>
                <a:ext cx="1175657" cy="195942"/>
                <a:chOff x="3450771" y="2024742"/>
                <a:chExt cx="1175657" cy="195942"/>
              </a:xfrm>
              <a:solidFill>
                <a:srgbClr val="000000"/>
              </a:solidFill>
            </p:grpSpPr>
            <p:sp>
              <p:nvSpPr>
                <p:cNvPr id="342" name="任意多边形: 形状 341"/>
                <p:cNvSpPr/>
                <p:nvPr/>
              </p:nvSpPr>
              <p:spPr>
                <a:xfrm>
                  <a:off x="3450771" y="2024742"/>
                  <a:ext cx="195942" cy="195942"/>
                </a:xfrm>
                <a:custGeom>
                  <a:avLst/>
                  <a:gdLst>
                    <a:gd name="connsiteX0" fmla="*/ 120 w 195942"/>
                    <a:gd name="connsiteY0" fmla="*/ 310 h 195942"/>
                    <a:gd name="connsiteX1" fmla="*/ 196063 w 195942"/>
                    <a:gd name="connsiteY1" fmla="*/ 310 h 195942"/>
                    <a:gd name="connsiteX2" fmla="*/ 196063 w 195942"/>
                    <a:gd name="connsiteY2" fmla="*/ 196253 h 195942"/>
                    <a:gd name="connsiteX3" fmla="*/ 12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10"/>
                      </a:moveTo>
                      <a:lnTo>
                        <a:pt x="196063" y="310"/>
                      </a:lnTo>
                      <a:lnTo>
                        <a:pt x="196063" y="196253"/>
                      </a:lnTo>
                      <a:lnTo>
                        <a:pt x="12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3" name="任意多边形: 形状 342"/>
                <p:cNvSpPr/>
                <p:nvPr/>
              </p:nvSpPr>
              <p:spPr>
                <a:xfrm>
                  <a:off x="3646714" y="2024742"/>
                  <a:ext cx="195942" cy="195942"/>
                </a:xfrm>
                <a:custGeom>
                  <a:avLst/>
                  <a:gdLst>
                    <a:gd name="connsiteX0" fmla="*/ 150 w 195942"/>
                    <a:gd name="connsiteY0" fmla="*/ 310 h 195942"/>
                    <a:gd name="connsiteX1" fmla="*/ 196093 w 195942"/>
                    <a:gd name="connsiteY1" fmla="*/ 310 h 195942"/>
                    <a:gd name="connsiteX2" fmla="*/ 196093 w 195942"/>
                    <a:gd name="connsiteY2" fmla="*/ 196253 h 195942"/>
                    <a:gd name="connsiteX3" fmla="*/ 15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10"/>
                      </a:moveTo>
                      <a:lnTo>
                        <a:pt x="196093" y="310"/>
                      </a:lnTo>
                      <a:lnTo>
                        <a:pt x="196093" y="196253"/>
                      </a:lnTo>
                      <a:lnTo>
                        <a:pt x="15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4" name="任意多边形: 形状 343"/>
                <p:cNvSpPr/>
                <p:nvPr/>
              </p:nvSpPr>
              <p:spPr>
                <a:xfrm>
                  <a:off x="3842657" y="2024742"/>
                  <a:ext cx="195942" cy="195942"/>
                </a:xfrm>
                <a:custGeom>
                  <a:avLst/>
                  <a:gdLst>
                    <a:gd name="connsiteX0" fmla="*/ 180 w 195942"/>
                    <a:gd name="connsiteY0" fmla="*/ 310 h 195942"/>
                    <a:gd name="connsiteX1" fmla="*/ 196123 w 195942"/>
                    <a:gd name="connsiteY1" fmla="*/ 310 h 195942"/>
                    <a:gd name="connsiteX2" fmla="*/ 196123 w 195942"/>
                    <a:gd name="connsiteY2" fmla="*/ 196253 h 195942"/>
                    <a:gd name="connsiteX3" fmla="*/ 18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10"/>
                      </a:moveTo>
                      <a:lnTo>
                        <a:pt x="196123" y="310"/>
                      </a:lnTo>
                      <a:lnTo>
                        <a:pt x="196123" y="196253"/>
                      </a:lnTo>
                      <a:lnTo>
                        <a:pt x="18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5" name="任意多边形: 形状 344"/>
                <p:cNvSpPr/>
                <p:nvPr/>
              </p:nvSpPr>
              <p:spPr>
                <a:xfrm>
                  <a:off x="4038600" y="2024742"/>
                  <a:ext cx="195942" cy="195942"/>
                </a:xfrm>
                <a:custGeom>
                  <a:avLst/>
                  <a:gdLst>
                    <a:gd name="connsiteX0" fmla="*/ 210 w 195942"/>
                    <a:gd name="connsiteY0" fmla="*/ 310 h 195942"/>
                    <a:gd name="connsiteX1" fmla="*/ 196153 w 195942"/>
                    <a:gd name="connsiteY1" fmla="*/ 310 h 195942"/>
                    <a:gd name="connsiteX2" fmla="*/ 196153 w 195942"/>
                    <a:gd name="connsiteY2" fmla="*/ 196253 h 195942"/>
                    <a:gd name="connsiteX3" fmla="*/ 21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10"/>
                      </a:moveTo>
                      <a:lnTo>
                        <a:pt x="196153" y="310"/>
                      </a:lnTo>
                      <a:lnTo>
                        <a:pt x="196153" y="196253"/>
                      </a:lnTo>
                      <a:lnTo>
                        <a:pt x="21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6" name="任意多边形: 形状 345"/>
                <p:cNvSpPr/>
                <p:nvPr/>
              </p:nvSpPr>
              <p:spPr>
                <a:xfrm>
                  <a:off x="4234542" y="2024742"/>
                  <a:ext cx="195942" cy="195942"/>
                </a:xfrm>
                <a:custGeom>
                  <a:avLst/>
                  <a:gdLst>
                    <a:gd name="connsiteX0" fmla="*/ 240 w 195942"/>
                    <a:gd name="connsiteY0" fmla="*/ 310 h 195942"/>
                    <a:gd name="connsiteX1" fmla="*/ 196183 w 195942"/>
                    <a:gd name="connsiteY1" fmla="*/ 310 h 195942"/>
                    <a:gd name="connsiteX2" fmla="*/ 196183 w 195942"/>
                    <a:gd name="connsiteY2" fmla="*/ 196253 h 195942"/>
                    <a:gd name="connsiteX3" fmla="*/ 24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10"/>
                      </a:moveTo>
                      <a:lnTo>
                        <a:pt x="196183" y="310"/>
                      </a:lnTo>
                      <a:lnTo>
                        <a:pt x="196183" y="196253"/>
                      </a:lnTo>
                      <a:lnTo>
                        <a:pt x="24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7" name="任意多边形: 形状 346"/>
                <p:cNvSpPr/>
                <p:nvPr/>
              </p:nvSpPr>
              <p:spPr>
                <a:xfrm>
                  <a:off x="4430485" y="2024742"/>
                  <a:ext cx="195942" cy="195942"/>
                </a:xfrm>
                <a:custGeom>
                  <a:avLst/>
                  <a:gdLst>
                    <a:gd name="connsiteX0" fmla="*/ 270 w 195942"/>
                    <a:gd name="connsiteY0" fmla="*/ 310 h 195942"/>
                    <a:gd name="connsiteX1" fmla="*/ 196213 w 195942"/>
                    <a:gd name="connsiteY1" fmla="*/ 310 h 195942"/>
                    <a:gd name="connsiteX2" fmla="*/ 196213 w 195942"/>
                    <a:gd name="connsiteY2" fmla="*/ 196253 h 195942"/>
                    <a:gd name="connsiteX3" fmla="*/ 27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10"/>
                      </a:moveTo>
                      <a:lnTo>
                        <a:pt x="196213" y="310"/>
                      </a:lnTo>
                      <a:lnTo>
                        <a:pt x="196213" y="196253"/>
                      </a:lnTo>
                      <a:lnTo>
                        <a:pt x="27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328" name="图形 5"/>
              <p:cNvGrpSpPr/>
              <p:nvPr/>
            </p:nvGrpSpPr>
            <p:grpSpPr>
              <a:xfrm>
                <a:off x="1900048" y="4222850"/>
                <a:ext cx="1175657" cy="195942"/>
                <a:chOff x="3450771" y="2220685"/>
                <a:chExt cx="1175657" cy="195942"/>
              </a:xfrm>
              <a:solidFill>
                <a:srgbClr val="000000"/>
              </a:solidFill>
            </p:grpSpPr>
            <p:sp>
              <p:nvSpPr>
                <p:cNvPr id="336" name="任意多边形: 形状 335"/>
                <p:cNvSpPr/>
                <p:nvPr/>
              </p:nvSpPr>
              <p:spPr>
                <a:xfrm>
                  <a:off x="3450771" y="2220685"/>
                  <a:ext cx="195942" cy="195942"/>
                </a:xfrm>
                <a:custGeom>
                  <a:avLst/>
                  <a:gdLst>
                    <a:gd name="connsiteX0" fmla="*/ 120 w 195942"/>
                    <a:gd name="connsiteY0" fmla="*/ 340 h 195942"/>
                    <a:gd name="connsiteX1" fmla="*/ 196063 w 195942"/>
                    <a:gd name="connsiteY1" fmla="*/ 340 h 195942"/>
                    <a:gd name="connsiteX2" fmla="*/ 196063 w 195942"/>
                    <a:gd name="connsiteY2" fmla="*/ 196283 h 195942"/>
                    <a:gd name="connsiteX3" fmla="*/ 12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40"/>
                      </a:moveTo>
                      <a:lnTo>
                        <a:pt x="196063" y="340"/>
                      </a:lnTo>
                      <a:lnTo>
                        <a:pt x="196063" y="196283"/>
                      </a:lnTo>
                      <a:lnTo>
                        <a:pt x="12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7" name="任意多边形: 形状 336"/>
                <p:cNvSpPr/>
                <p:nvPr/>
              </p:nvSpPr>
              <p:spPr>
                <a:xfrm>
                  <a:off x="3646714" y="2220685"/>
                  <a:ext cx="195942" cy="195942"/>
                </a:xfrm>
                <a:custGeom>
                  <a:avLst/>
                  <a:gdLst>
                    <a:gd name="connsiteX0" fmla="*/ 150 w 195942"/>
                    <a:gd name="connsiteY0" fmla="*/ 340 h 195942"/>
                    <a:gd name="connsiteX1" fmla="*/ 196093 w 195942"/>
                    <a:gd name="connsiteY1" fmla="*/ 340 h 195942"/>
                    <a:gd name="connsiteX2" fmla="*/ 196093 w 195942"/>
                    <a:gd name="connsiteY2" fmla="*/ 196283 h 195942"/>
                    <a:gd name="connsiteX3" fmla="*/ 15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40"/>
                      </a:moveTo>
                      <a:lnTo>
                        <a:pt x="196093" y="340"/>
                      </a:lnTo>
                      <a:lnTo>
                        <a:pt x="196093" y="196283"/>
                      </a:lnTo>
                      <a:lnTo>
                        <a:pt x="15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8" name="任意多边形: 形状 337"/>
                <p:cNvSpPr/>
                <p:nvPr/>
              </p:nvSpPr>
              <p:spPr>
                <a:xfrm>
                  <a:off x="3842657" y="2220685"/>
                  <a:ext cx="195942" cy="195942"/>
                </a:xfrm>
                <a:custGeom>
                  <a:avLst/>
                  <a:gdLst>
                    <a:gd name="connsiteX0" fmla="*/ 180 w 195942"/>
                    <a:gd name="connsiteY0" fmla="*/ 340 h 195942"/>
                    <a:gd name="connsiteX1" fmla="*/ 196123 w 195942"/>
                    <a:gd name="connsiteY1" fmla="*/ 340 h 195942"/>
                    <a:gd name="connsiteX2" fmla="*/ 196123 w 195942"/>
                    <a:gd name="connsiteY2" fmla="*/ 196283 h 195942"/>
                    <a:gd name="connsiteX3" fmla="*/ 18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40"/>
                      </a:moveTo>
                      <a:lnTo>
                        <a:pt x="196123" y="340"/>
                      </a:lnTo>
                      <a:lnTo>
                        <a:pt x="196123" y="196283"/>
                      </a:lnTo>
                      <a:lnTo>
                        <a:pt x="18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9" name="任意多边形: 形状 338"/>
                <p:cNvSpPr/>
                <p:nvPr/>
              </p:nvSpPr>
              <p:spPr>
                <a:xfrm>
                  <a:off x="4038600" y="2220685"/>
                  <a:ext cx="195942" cy="195942"/>
                </a:xfrm>
                <a:custGeom>
                  <a:avLst/>
                  <a:gdLst>
                    <a:gd name="connsiteX0" fmla="*/ 210 w 195942"/>
                    <a:gd name="connsiteY0" fmla="*/ 340 h 195942"/>
                    <a:gd name="connsiteX1" fmla="*/ 196153 w 195942"/>
                    <a:gd name="connsiteY1" fmla="*/ 340 h 195942"/>
                    <a:gd name="connsiteX2" fmla="*/ 196153 w 195942"/>
                    <a:gd name="connsiteY2" fmla="*/ 196283 h 195942"/>
                    <a:gd name="connsiteX3" fmla="*/ 21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40"/>
                      </a:moveTo>
                      <a:lnTo>
                        <a:pt x="196153" y="340"/>
                      </a:lnTo>
                      <a:lnTo>
                        <a:pt x="196153" y="196283"/>
                      </a:lnTo>
                      <a:lnTo>
                        <a:pt x="21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0" name="任意多边形: 形状 339"/>
                <p:cNvSpPr/>
                <p:nvPr/>
              </p:nvSpPr>
              <p:spPr>
                <a:xfrm>
                  <a:off x="4234542" y="2220685"/>
                  <a:ext cx="195942" cy="195942"/>
                </a:xfrm>
                <a:custGeom>
                  <a:avLst/>
                  <a:gdLst>
                    <a:gd name="connsiteX0" fmla="*/ 240 w 195942"/>
                    <a:gd name="connsiteY0" fmla="*/ 340 h 195942"/>
                    <a:gd name="connsiteX1" fmla="*/ 196183 w 195942"/>
                    <a:gd name="connsiteY1" fmla="*/ 340 h 195942"/>
                    <a:gd name="connsiteX2" fmla="*/ 196183 w 195942"/>
                    <a:gd name="connsiteY2" fmla="*/ 196283 h 195942"/>
                    <a:gd name="connsiteX3" fmla="*/ 24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40"/>
                      </a:moveTo>
                      <a:lnTo>
                        <a:pt x="196183" y="340"/>
                      </a:lnTo>
                      <a:lnTo>
                        <a:pt x="196183" y="196283"/>
                      </a:lnTo>
                      <a:lnTo>
                        <a:pt x="24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41" name="任意多边形: 形状 340"/>
                <p:cNvSpPr/>
                <p:nvPr/>
              </p:nvSpPr>
              <p:spPr>
                <a:xfrm>
                  <a:off x="4430485" y="2220685"/>
                  <a:ext cx="195942" cy="195942"/>
                </a:xfrm>
                <a:custGeom>
                  <a:avLst/>
                  <a:gdLst>
                    <a:gd name="connsiteX0" fmla="*/ 270 w 195942"/>
                    <a:gd name="connsiteY0" fmla="*/ 340 h 195942"/>
                    <a:gd name="connsiteX1" fmla="*/ 196213 w 195942"/>
                    <a:gd name="connsiteY1" fmla="*/ 340 h 195942"/>
                    <a:gd name="connsiteX2" fmla="*/ 196213 w 195942"/>
                    <a:gd name="connsiteY2" fmla="*/ 196283 h 195942"/>
                    <a:gd name="connsiteX3" fmla="*/ 27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40"/>
                      </a:moveTo>
                      <a:lnTo>
                        <a:pt x="196213" y="340"/>
                      </a:lnTo>
                      <a:lnTo>
                        <a:pt x="196213" y="196283"/>
                      </a:lnTo>
                      <a:lnTo>
                        <a:pt x="27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329" name="图形 5"/>
              <p:cNvGrpSpPr/>
              <p:nvPr/>
            </p:nvGrpSpPr>
            <p:grpSpPr>
              <a:xfrm>
                <a:off x="1900048" y="4418793"/>
                <a:ext cx="1175657" cy="195942"/>
                <a:chOff x="3450771" y="2416628"/>
                <a:chExt cx="1175657" cy="195942"/>
              </a:xfrm>
              <a:solidFill>
                <a:srgbClr val="000000"/>
              </a:solidFill>
            </p:grpSpPr>
            <p:sp>
              <p:nvSpPr>
                <p:cNvPr id="330" name="任意多边形: 形状 329"/>
                <p:cNvSpPr/>
                <p:nvPr/>
              </p:nvSpPr>
              <p:spPr>
                <a:xfrm>
                  <a:off x="3450771" y="2416628"/>
                  <a:ext cx="195942" cy="195942"/>
                </a:xfrm>
                <a:custGeom>
                  <a:avLst/>
                  <a:gdLst>
                    <a:gd name="connsiteX0" fmla="*/ 120 w 195942"/>
                    <a:gd name="connsiteY0" fmla="*/ 370 h 195942"/>
                    <a:gd name="connsiteX1" fmla="*/ 196063 w 195942"/>
                    <a:gd name="connsiteY1" fmla="*/ 370 h 195942"/>
                    <a:gd name="connsiteX2" fmla="*/ 196063 w 195942"/>
                    <a:gd name="connsiteY2" fmla="*/ 196313 h 195942"/>
                    <a:gd name="connsiteX3" fmla="*/ 12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70"/>
                      </a:moveTo>
                      <a:lnTo>
                        <a:pt x="196063" y="370"/>
                      </a:lnTo>
                      <a:lnTo>
                        <a:pt x="196063" y="196313"/>
                      </a:lnTo>
                      <a:lnTo>
                        <a:pt x="12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1" name="任意多边形: 形状 330"/>
                <p:cNvSpPr/>
                <p:nvPr/>
              </p:nvSpPr>
              <p:spPr>
                <a:xfrm>
                  <a:off x="3646714" y="2416628"/>
                  <a:ext cx="195942" cy="195942"/>
                </a:xfrm>
                <a:custGeom>
                  <a:avLst/>
                  <a:gdLst>
                    <a:gd name="connsiteX0" fmla="*/ 150 w 195942"/>
                    <a:gd name="connsiteY0" fmla="*/ 370 h 195942"/>
                    <a:gd name="connsiteX1" fmla="*/ 196093 w 195942"/>
                    <a:gd name="connsiteY1" fmla="*/ 370 h 195942"/>
                    <a:gd name="connsiteX2" fmla="*/ 196093 w 195942"/>
                    <a:gd name="connsiteY2" fmla="*/ 196313 h 195942"/>
                    <a:gd name="connsiteX3" fmla="*/ 15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70"/>
                      </a:moveTo>
                      <a:lnTo>
                        <a:pt x="196093" y="370"/>
                      </a:lnTo>
                      <a:lnTo>
                        <a:pt x="196093" y="196313"/>
                      </a:lnTo>
                      <a:lnTo>
                        <a:pt x="15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2" name="任意多边形: 形状 331"/>
                <p:cNvSpPr/>
                <p:nvPr/>
              </p:nvSpPr>
              <p:spPr>
                <a:xfrm>
                  <a:off x="3842657" y="2416628"/>
                  <a:ext cx="195942" cy="195942"/>
                </a:xfrm>
                <a:custGeom>
                  <a:avLst/>
                  <a:gdLst>
                    <a:gd name="connsiteX0" fmla="*/ 180 w 195942"/>
                    <a:gd name="connsiteY0" fmla="*/ 370 h 195942"/>
                    <a:gd name="connsiteX1" fmla="*/ 196123 w 195942"/>
                    <a:gd name="connsiteY1" fmla="*/ 370 h 195942"/>
                    <a:gd name="connsiteX2" fmla="*/ 196123 w 195942"/>
                    <a:gd name="connsiteY2" fmla="*/ 196313 h 195942"/>
                    <a:gd name="connsiteX3" fmla="*/ 18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70"/>
                      </a:moveTo>
                      <a:lnTo>
                        <a:pt x="196123" y="370"/>
                      </a:lnTo>
                      <a:lnTo>
                        <a:pt x="196123" y="196313"/>
                      </a:lnTo>
                      <a:lnTo>
                        <a:pt x="18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3" name="任意多边形: 形状 332"/>
                <p:cNvSpPr/>
                <p:nvPr/>
              </p:nvSpPr>
              <p:spPr>
                <a:xfrm>
                  <a:off x="4038600" y="2416628"/>
                  <a:ext cx="195942" cy="195942"/>
                </a:xfrm>
                <a:custGeom>
                  <a:avLst/>
                  <a:gdLst>
                    <a:gd name="connsiteX0" fmla="*/ 210 w 195942"/>
                    <a:gd name="connsiteY0" fmla="*/ 370 h 195942"/>
                    <a:gd name="connsiteX1" fmla="*/ 196153 w 195942"/>
                    <a:gd name="connsiteY1" fmla="*/ 370 h 195942"/>
                    <a:gd name="connsiteX2" fmla="*/ 196153 w 195942"/>
                    <a:gd name="connsiteY2" fmla="*/ 196313 h 195942"/>
                    <a:gd name="connsiteX3" fmla="*/ 21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70"/>
                      </a:moveTo>
                      <a:lnTo>
                        <a:pt x="196153" y="370"/>
                      </a:lnTo>
                      <a:lnTo>
                        <a:pt x="196153" y="196313"/>
                      </a:lnTo>
                      <a:lnTo>
                        <a:pt x="21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4" name="任意多边形: 形状 333"/>
                <p:cNvSpPr/>
                <p:nvPr/>
              </p:nvSpPr>
              <p:spPr>
                <a:xfrm>
                  <a:off x="4234542" y="2416628"/>
                  <a:ext cx="195942" cy="195942"/>
                </a:xfrm>
                <a:custGeom>
                  <a:avLst/>
                  <a:gdLst>
                    <a:gd name="connsiteX0" fmla="*/ 240 w 195942"/>
                    <a:gd name="connsiteY0" fmla="*/ 370 h 195942"/>
                    <a:gd name="connsiteX1" fmla="*/ 196183 w 195942"/>
                    <a:gd name="connsiteY1" fmla="*/ 370 h 195942"/>
                    <a:gd name="connsiteX2" fmla="*/ 196183 w 195942"/>
                    <a:gd name="connsiteY2" fmla="*/ 196313 h 195942"/>
                    <a:gd name="connsiteX3" fmla="*/ 24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70"/>
                      </a:moveTo>
                      <a:lnTo>
                        <a:pt x="196183" y="370"/>
                      </a:lnTo>
                      <a:lnTo>
                        <a:pt x="196183" y="196313"/>
                      </a:lnTo>
                      <a:lnTo>
                        <a:pt x="24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335" name="任意多边形: 形状 334"/>
                <p:cNvSpPr/>
                <p:nvPr/>
              </p:nvSpPr>
              <p:spPr>
                <a:xfrm>
                  <a:off x="4430485" y="2416628"/>
                  <a:ext cx="195942" cy="195942"/>
                </a:xfrm>
                <a:custGeom>
                  <a:avLst/>
                  <a:gdLst>
                    <a:gd name="connsiteX0" fmla="*/ 270 w 195942"/>
                    <a:gd name="connsiteY0" fmla="*/ 370 h 195942"/>
                    <a:gd name="connsiteX1" fmla="*/ 196213 w 195942"/>
                    <a:gd name="connsiteY1" fmla="*/ 370 h 195942"/>
                    <a:gd name="connsiteX2" fmla="*/ 196213 w 195942"/>
                    <a:gd name="connsiteY2" fmla="*/ 196313 h 195942"/>
                    <a:gd name="connsiteX3" fmla="*/ 27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70"/>
                      </a:moveTo>
                      <a:lnTo>
                        <a:pt x="196213" y="370"/>
                      </a:lnTo>
                      <a:lnTo>
                        <a:pt x="196213" y="196313"/>
                      </a:lnTo>
                      <a:lnTo>
                        <a:pt x="27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cxnSp>
          <p:nvCxnSpPr>
            <p:cNvPr id="297" name="直接箭头连接符 296"/>
            <p:cNvCxnSpPr/>
            <p:nvPr/>
          </p:nvCxnSpPr>
          <p:spPr>
            <a:xfrm flipV="1">
              <a:off x="1724606" y="2715417"/>
              <a:ext cx="2303530" cy="464"/>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298" name="文本框 297"/>
            <p:cNvSpPr txBox="1"/>
            <p:nvPr/>
          </p:nvSpPr>
          <p:spPr>
            <a:xfrm>
              <a:off x="1799937" y="2296674"/>
              <a:ext cx="2298781"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Self attention 2</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nvGrpSpPr>
            <p:cNvPr id="299" name="图形 5"/>
            <p:cNvGrpSpPr/>
            <p:nvPr/>
          </p:nvGrpSpPr>
          <p:grpSpPr>
            <a:xfrm>
              <a:off x="4169300" y="2235758"/>
              <a:ext cx="739560" cy="845916"/>
              <a:chOff x="7238999" y="5127171"/>
              <a:chExt cx="783771" cy="979713"/>
            </a:xfrm>
            <a:solidFill>
              <a:schemeClr val="accent2">
                <a:lumMod val="20000"/>
                <a:lumOff val="80000"/>
              </a:schemeClr>
            </a:solidFill>
          </p:grpSpPr>
          <p:grpSp>
            <p:nvGrpSpPr>
              <p:cNvPr id="300" name="图形 5"/>
              <p:cNvGrpSpPr/>
              <p:nvPr/>
            </p:nvGrpSpPr>
            <p:grpSpPr>
              <a:xfrm>
                <a:off x="7238999" y="5127171"/>
                <a:ext cx="783771" cy="252506"/>
                <a:chOff x="7238999" y="5127171"/>
                <a:chExt cx="783771" cy="252506"/>
              </a:xfrm>
              <a:grpFill/>
            </p:grpSpPr>
            <p:sp>
              <p:nvSpPr>
                <p:cNvPr id="321" name="任意多边形: 形状 320"/>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322" name="任意多边形: 形状 321"/>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323" name="任意多边形: 形状 322"/>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324" name="任意多边形: 形状 323"/>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301" name="图形 5"/>
              <p:cNvGrpSpPr/>
              <p:nvPr/>
            </p:nvGrpSpPr>
            <p:grpSpPr>
              <a:xfrm>
                <a:off x="7239000" y="5323114"/>
                <a:ext cx="783770" cy="195942"/>
                <a:chOff x="7239000" y="5323114"/>
                <a:chExt cx="783770" cy="195942"/>
              </a:xfrm>
              <a:grpFill/>
            </p:grpSpPr>
            <p:sp>
              <p:nvSpPr>
                <p:cNvPr id="317" name="任意多边形: 形状 316"/>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318" name="任意多边形: 形状 317"/>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319" name="任意多边形: 形状 318"/>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320" name="任意多边形: 形状 319"/>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302" name="图形 5"/>
              <p:cNvGrpSpPr/>
              <p:nvPr/>
            </p:nvGrpSpPr>
            <p:grpSpPr>
              <a:xfrm>
                <a:off x="7239000" y="5519057"/>
                <a:ext cx="783770" cy="195942"/>
                <a:chOff x="7239000" y="5519057"/>
                <a:chExt cx="783770" cy="195942"/>
              </a:xfrm>
              <a:grpFill/>
            </p:grpSpPr>
            <p:sp>
              <p:nvSpPr>
                <p:cNvPr id="313" name="任意多边形: 形状 312"/>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314" name="任意多边形: 形状 313"/>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315" name="任意多边形: 形状 314"/>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316" name="任意多边形: 形状 315"/>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303" name="图形 5"/>
              <p:cNvGrpSpPr/>
              <p:nvPr/>
            </p:nvGrpSpPr>
            <p:grpSpPr>
              <a:xfrm>
                <a:off x="7239000" y="5715000"/>
                <a:ext cx="783770" cy="195942"/>
                <a:chOff x="7239000" y="5715000"/>
                <a:chExt cx="783770" cy="195942"/>
              </a:xfrm>
              <a:grpFill/>
            </p:grpSpPr>
            <p:sp>
              <p:nvSpPr>
                <p:cNvPr id="309" name="任意多边形: 形状 308"/>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310" name="任意多边形: 形状 309"/>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311" name="任意多边形: 形状 310"/>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312" name="任意多边形: 形状 311"/>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304" name="图形 5"/>
              <p:cNvGrpSpPr/>
              <p:nvPr/>
            </p:nvGrpSpPr>
            <p:grpSpPr>
              <a:xfrm>
                <a:off x="7239000" y="5910942"/>
                <a:ext cx="783770" cy="195942"/>
                <a:chOff x="7239000" y="5910942"/>
                <a:chExt cx="783770" cy="195942"/>
              </a:xfrm>
              <a:grpFill/>
            </p:grpSpPr>
            <p:sp>
              <p:nvSpPr>
                <p:cNvPr id="305" name="任意多边形: 形状 304"/>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306" name="任意多边形: 形状 305"/>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307" name="任意多边形: 形状 306"/>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308" name="任意多边形: 形状 307"/>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grpSp>
      <p:grpSp>
        <p:nvGrpSpPr>
          <p:cNvPr id="396" name="组合 395"/>
          <p:cNvGrpSpPr/>
          <p:nvPr/>
        </p:nvGrpSpPr>
        <p:grpSpPr>
          <a:xfrm>
            <a:off x="83110" y="4913831"/>
            <a:ext cx="4030223" cy="868659"/>
            <a:chOff x="878637" y="2235758"/>
            <a:chExt cx="4030223" cy="868659"/>
          </a:xfrm>
        </p:grpSpPr>
        <p:grpSp>
          <p:nvGrpSpPr>
            <p:cNvPr id="397" name="组合 396"/>
            <p:cNvGrpSpPr/>
            <p:nvPr/>
          </p:nvGrpSpPr>
          <p:grpSpPr>
            <a:xfrm>
              <a:off x="878637" y="2326419"/>
              <a:ext cx="766417" cy="777998"/>
              <a:chOff x="1900048" y="3635022"/>
              <a:chExt cx="1175657" cy="979713"/>
            </a:xfrm>
          </p:grpSpPr>
          <p:grpSp>
            <p:nvGrpSpPr>
              <p:cNvPr id="426" name="图形 5"/>
              <p:cNvGrpSpPr/>
              <p:nvPr/>
            </p:nvGrpSpPr>
            <p:grpSpPr>
              <a:xfrm>
                <a:off x="1900048" y="3635022"/>
                <a:ext cx="1175656" cy="195942"/>
                <a:chOff x="3450771" y="1632857"/>
                <a:chExt cx="1175656" cy="195942"/>
              </a:xfrm>
              <a:solidFill>
                <a:schemeClr val="accent6">
                  <a:lumMod val="50000"/>
                </a:schemeClr>
              </a:solidFill>
            </p:grpSpPr>
            <p:sp>
              <p:nvSpPr>
                <p:cNvPr id="455" name="任意多边形: 形状 454"/>
                <p:cNvSpPr/>
                <p:nvPr/>
              </p:nvSpPr>
              <p:spPr>
                <a:xfrm>
                  <a:off x="3450771" y="1632857"/>
                  <a:ext cx="195942" cy="195942"/>
                </a:xfrm>
                <a:custGeom>
                  <a:avLst/>
                  <a:gdLst>
                    <a:gd name="connsiteX0" fmla="*/ 120 w 195942"/>
                    <a:gd name="connsiteY0" fmla="*/ 250 h 195942"/>
                    <a:gd name="connsiteX1" fmla="*/ 196063 w 195942"/>
                    <a:gd name="connsiteY1" fmla="*/ 250 h 195942"/>
                    <a:gd name="connsiteX2" fmla="*/ 196063 w 195942"/>
                    <a:gd name="connsiteY2" fmla="*/ 196193 h 195942"/>
                    <a:gd name="connsiteX3" fmla="*/ 12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50"/>
                      </a:moveTo>
                      <a:lnTo>
                        <a:pt x="196063" y="250"/>
                      </a:lnTo>
                      <a:lnTo>
                        <a:pt x="196063" y="196193"/>
                      </a:lnTo>
                      <a:lnTo>
                        <a:pt x="12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6" name="任意多边形: 形状 455"/>
                <p:cNvSpPr/>
                <p:nvPr/>
              </p:nvSpPr>
              <p:spPr>
                <a:xfrm>
                  <a:off x="3646714" y="1632857"/>
                  <a:ext cx="195942" cy="195942"/>
                </a:xfrm>
                <a:custGeom>
                  <a:avLst/>
                  <a:gdLst>
                    <a:gd name="connsiteX0" fmla="*/ 150 w 195942"/>
                    <a:gd name="connsiteY0" fmla="*/ 250 h 195942"/>
                    <a:gd name="connsiteX1" fmla="*/ 196093 w 195942"/>
                    <a:gd name="connsiteY1" fmla="*/ 250 h 195942"/>
                    <a:gd name="connsiteX2" fmla="*/ 196093 w 195942"/>
                    <a:gd name="connsiteY2" fmla="*/ 196193 h 195942"/>
                    <a:gd name="connsiteX3" fmla="*/ 15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50"/>
                      </a:moveTo>
                      <a:lnTo>
                        <a:pt x="196093" y="250"/>
                      </a:lnTo>
                      <a:lnTo>
                        <a:pt x="196093" y="196193"/>
                      </a:lnTo>
                      <a:lnTo>
                        <a:pt x="15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7" name="任意多边形: 形状 456"/>
                <p:cNvSpPr/>
                <p:nvPr/>
              </p:nvSpPr>
              <p:spPr>
                <a:xfrm>
                  <a:off x="3842657" y="1632857"/>
                  <a:ext cx="195942" cy="195942"/>
                </a:xfrm>
                <a:custGeom>
                  <a:avLst/>
                  <a:gdLst>
                    <a:gd name="connsiteX0" fmla="*/ 180 w 195942"/>
                    <a:gd name="connsiteY0" fmla="*/ 250 h 195942"/>
                    <a:gd name="connsiteX1" fmla="*/ 196123 w 195942"/>
                    <a:gd name="connsiteY1" fmla="*/ 250 h 195942"/>
                    <a:gd name="connsiteX2" fmla="*/ 196123 w 195942"/>
                    <a:gd name="connsiteY2" fmla="*/ 196193 h 195942"/>
                    <a:gd name="connsiteX3" fmla="*/ 18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50"/>
                      </a:moveTo>
                      <a:lnTo>
                        <a:pt x="196123" y="250"/>
                      </a:lnTo>
                      <a:lnTo>
                        <a:pt x="196123" y="196193"/>
                      </a:lnTo>
                      <a:lnTo>
                        <a:pt x="18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8" name="任意多边形: 形状 457"/>
                <p:cNvSpPr/>
                <p:nvPr/>
              </p:nvSpPr>
              <p:spPr>
                <a:xfrm>
                  <a:off x="4038600" y="1632857"/>
                  <a:ext cx="195942" cy="195942"/>
                </a:xfrm>
                <a:custGeom>
                  <a:avLst/>
                  <a:gdLst>
                    <a:gd name="connsiteX0" fmla="*/ 210 w 195942"/>
                    <a:gd name="connsiteY0" fmla="*/ 250 h 195942"/>
                    <a:gd name="connsiteX1" fmla="*/ 196153 w 195942"/>
                    <a:gd name="connsiteY1" fmla="*/ 250 h 195942"/>
                    <a:gd name="connsiteX2" fmla="*/ 196153 w 195942"/>
                    <a:gd name="connsiteY2" fmla="*/ 196193 h 195942"/>
                    <a:gd name="connsiteX3" fmla="*/ 21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50"/>
                      </a:moveTo>
                      <a:lnTo>
                        <a:pt x="196153" y="250"/>
                      </a:lnTo>
                      <a:lnTo>
                        <a:pt x="196153" y="196193"/>
                      </a:lnTo>
                      <a:lnTo>
                        <a:pt x="21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59" name="任意多边形: 形状 458"/>
                <p:cNvSpPr/>
                <p:nvPr/>
              </p:nvSpPr>
              <p:spPr>
                <a:xfrm>
                  <a:off x="4234542" y="1632857"/>
                  <a:ext cx="195942" cy="195942"/>
                </a:xfrm>
                <a:custGeom>
                  <a:avLst/>
                  <a:gdLst>
                    <a:gd name="connsiteX0" fmla="*/ 240 w 195942"/>
                    <a:gd name="connsiteY0" fmla="*/ 250 h 195942"/>
                    <a:gd name="connsiteX1" fmla="*/ 196183 w 195942"/>
                    <a:gd name="connsiteY1" fmla="*/ 250 h 195942"/>
                    <a:gd name="connsiteX2" fmla="*/ 196183 w 195942"/>
                    <a:gd name="connsiteY2" fmla="*/ 196193 h 195942"/>
                    <a:gd name="connsiteX3" fmla="*/ 24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50"/>
                      </a:moveTo>
                      <a:lnTo>
                        <a:pt x="196183" y="250"/>
                      </a:lnTo>
                      <a:lnTo>
                        <a:pt x="196183" y="196193"/>
                      </a:lnTo>
                      <a:lnTo>
                        <a:pt x="24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sp>
              <p:nvSpPr>
                <p:cNvPr id="460" name="任意多边形: 形状 459"/>
                <p:cNvSpPr/>
                <p:nvPr/>
              </p:nvSpPr>
              <p:spPr>
                <a:xfrm>
                  <a:off x="4430485" y="1632857"/>
                  <a:ext cx="195942" cy="195942"/>
                </a:xfrm>
                <a:custGeom>
                  <a:avLst/>
                  <a:gdLst>
                    <a:gd name="connsiteX0" fmla="*/ 270 w 195942"/>
                    <a:gd name="connsiteY0" fmla="*/ 250 h 195942"/>
                    <a:gd name="connsiteX1" fmla="*/ 196213 w 195942"/>
                    <a:gd name="connsiteY1" fmla="*/ 250 h 195942"/>
                    <a:gd name="connsiteX2" fmla="*/ 196213 w 195942"/>
                    <a:gd name="connsiteY2" fmla="*/ 196193 h 195942"/>
                    <a:gd name="connsiteX3" fmla="*/ 270 w 195942"/>
                    <a:gd name="connsiteY3" fmla="*/ 19619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50"/>
                      </a:moveTo>
                      <a:lnTo>
                        <a:pt x="196213" y="250"/>
                      </a:lnTo>
                      <a:lnTo>
                        <a:pt x="196213" y="196193"/>
                      </a:lnTo>
                      <a:lnTo>
                        <a:pt x="270" y="196193"/>
                      </a:lnTo>
                      <a:close/>
                    </a:path>
                  </a:pathLst>
                </a:custGeom>
                <a:solidFill>
                  <a:srgbClr val="D9EAD3"/>
                </a:solid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27" name="图形 5"/>
              <p:cNvGrpSpPr/>
              <p:nvPr/>
            </p:nvGrpSpPr>
            <p:grpSpPr>
              <a:xfrm>
                <a:off x="1900048" y="3830110"/>
                <a:ext cx="1175656" cy="196797"/>
                <a:chOff x="3450771" y="1827945"/>
                <a:chExt cx="1175656" cy="196797"/>
              </a:xfrm>
              <a:solidFill>
                <a:srgbClr val="000000"/>
              </a:solidFill>
            </p:grpSpPr>
            <p:sp>
              <p:nvSpPr>
                <p:cNvPr id="449" name="任意多边形: 形状 448"/>
                <p:cNvSpPr/>
                <p:nvPr/>
              </p:nvSpPr>
              <p:spPr>
                <a:xfrm>
                  <a:off x="3450771" y="1828800"/>
                  <a:ext cx="195942" cy="195942"/>
                </a:xfrm>
                <a:custGeom>
                  <a:avLst/>
                  <a:gdLst>
                    <a:gd name="connsiteX0" fmla="*/ 120 w 195942"/>
                    <a:gd name="connsiteY0" fmla="*/ 280 h 195942"/>
                    <a:gd name="connsiteX1" fmla="*/ 196063 w 195942"/>
                    <a:gd name="connsiteY1" fmla="*/ 280 h 195942"/>
                    <a:gd name="connsiteX2" fmla="*/ 196063 w 195942"/>
                    <a:gd name="connsiteY2" fmla="*/ 196223 h 195942"/>
                    <a:gd name="connsiteX3" fmla="*/ 12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280"/>
                      </a:moveTo>
                      <a:lnTo>
                        <a:pt x="196063" y="280"/>
                      </a:lnTo>
                      <a:lnTo>
                        <a:pt x="196063" y="196223"/>
                      </a:lnTo>
                      <a:lnTo>
                        <a:pt x="12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50" name="任意多边形: 形状 449"/>
                <p:cNvSpPr/>
                <p:nvPr/>
              </p:nvSpPr>
              <p:spPr>
                <a:xfrm>
                  <a:off x="3646714" y="1828800"/>
                  <a:ext cx="195942" cy="195942"/>
                </a:xfrm>
                <a:custGeom>
                  <a:avLst/>
                  <a:gdLst>
                    <a:gd name="connsiteX0" fmla="*/ 150 w 195942"/>
                    <a:gd name="connsiteY0" fmla="*/ 280 h 195942"/>
                    <a:gd name="connsiteX1" fmla="*/ 196093 w 195942"/>
                    <a:gd name="connsiteY1" fmla="*/ 280 h 195942"/>
                    <a:gd name="connsiteX2" fmla="*/ 196093 w 195942"/>
                    <a:gd name="connsiteY2" fmla="*/ 196223 h 195942"/>
                    <a:gd name="connsiteX3" fmla="*/ 15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280"/>
                      </a:moveTo>
                      <a:lnTo>
                        <a:pt x="196093" y="280"/>
                      </a:lnTo>
                      <a:lnTo>
                        <a:pt x="196093" y="196223"/>
                      </a:lnTo>
                      <a:lnTo>
                        <a:pt x="15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51" name="任意多边形: 形状 450"/>
                <p:cNvSpPr/>
                <p:nvPr/>
              </p:nvSpPr>
              <p:spPr>
                <a:xfrm>
                  <a:off x="3842657" y="1827945"/>
                  <a:ext cx="195942" cy="195942"/>
                </a:xfrm>
                <a:custGeom>
                  <a:avLst/>
                  <a:gdLst>
                    <a:gd name="connsiteX0" fmla="*/ 180 w 195942"/>
                    <a:gd name="connsiteY0" fmla="*/ 280 h 195942"/>
                    <a:gd name="connsiteX1" fmla="*/ 196123 w 195942"/>
                    <a:gd name="connsiteY1" fmla="*/ 280 h 195942"/>
                    <a:gd name="connsiteX2" fmla="*/ 196123 w 195942"/>
                    <a:gd name="connsiteY2" fmla="*/ 196223 h 195942"/>
                    <a:gd name="connsiteX3" fmla="*/ 18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280"/>
                      </a:moveTo>
                      <a:lnTo>
                        <a:pt x="196123" y="280"/>
                      </a:lnTo>
                      <a:lnTo>
                        <a:pt x="196123" y="196223"/>
                      </a:lnTo>
                      <a:lnTo>
                        <a:pt x="18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52" name="任意多边形: 形状 451"/>
                <p:cNvSpPr/>
                <p:nvPr/>
              </p:nvSpPr>
              <p:spPr>
                <a:xfrm>
                  <a:off x="4038600" y="1828800"/>
                  <a:ext cx="195942" cy="195942"/>
                </a:xfrm>
                <a:custGeom>
                  <a:avLst/>
                  <a:gdLst>
                    <a:gd name="connsiteX0" fmla="*/ 210 w 195942"/>
                    <a:gd name="connsiteY0" fmla="*/ 280 h 195942"/>
                    <a:gd name="connsiteX1" fmla="*/ 196153 w 195942"/>
                    <a:gd name="connsiteY1" fmla="*/ 280 h 195942"/>
                    <a:gd name="connsiteX2" fmla="*/ 196153 w 195942"/>
                    <a:gd name="connsiteY2" fmla="*/ 196223 h 195942"/>
                    <a:gd name="connsiteX3" fmla="*/ 21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280"/>
                      </a:moveTo>
                      <a:lnTo>
                        <a:pt x="196153" y="280"/>
                      </a:lnTo>
                      <a:lnTo>
                        <a:pt x="196153" y="196223"/>
                      </a:lnTo>
                      <a:lnTo>
                        <a:pt x="21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53" name="任意多边形: 形状 452"/>
                <p:cNvSpPr/>
                <p:nvPr/>
              </p:nvSpPr>
              <p:spPr>
                <a:xfrm>
                  <a:off x="4234542" y="1828800"/>
                  <a:ext cx="195942" cy="195942"/>
                </a:xfrm>
                <a:custGeom>
                  <a:avLst/>
                  <a:gdLst>
                    <a:gd name="connsiteX0" fmla="*/ 240 w 195942"/>
                    <a:gd name="connsiteY0" fmla="*/ 280 h 195942"/>
                    <a:gd name="connsiteX1" fmla="*/ 196183 w 195942"/>
                    <a:gd name="connsiteY1" fmla="*/ 280 h 195942"/>
                    <a:gd name="connsiteX2" fmla="*/ 196183 w 195942"/>
                    <a:gd name="connsiteY2" fmla="*/ 196223 h 195942"/>
                    <a:gd name="connsiteX3" fmla="*/ 24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280"/>
                      </a:moveTo>
                      <a:lnTo>
                        <a:pt x="196183" y="280"/>
                      </a:lnTo>
                      <a:lnTo>
                        <a:pt x="196183" y="196223"/>
                      </a:lnTo>
                      <a:lnTo>
                        <a:pt x="24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54" name="任意多边形: 形状 453"/>
                <p:cNvSpPr/>
                <p:nvPr/>
              </p:nvSpPr>
              <p:spPr>
                <a:xfrm>
                  <a:off x="4430485" y="1828800"/>
                  <a:ext cx="195942" cy="195942"/>
                </a:xfrm>
                <a:custGeom>
                  <a:avLst/>
                  <a:gdLst>
                    <a:gd name="connsiteX0" fmla="*/ 270 w 195942"/>
                    <a:gd name="connsiteY0" fmla="*/ 280 h 195942"/>
                    <a:gd name="connsiteX1" fmla="*/ 196213 w 195942"/>
                    <a:gd name="connsiteY1" fmla="*/ 280 h 195942"/>
                    <a:gd name="connsiteX2" fmla="*/ 196213 w 195942"/>
                    <a:gd name="connsiteY2" fmla="*/ 196223 h 195942"/>
                    <a:gd name="connsiteX3" fmla="*/ 270 w 195942"/>
                    <a:gd name="connsiteY3" fmla="*/ 19622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280"/>
                      </a:moveTo>
                      <a:lnTo>
                        <a:pt x="196213" y="280"/>
                      </a:lnTo>
                      <a:lnTo>
                        <a:pt x="196213" y="196223"/>
                      </a:lnTo>
                      <a:lnTo>
                        <a:pt x="270" y="19622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428" name="图形 5"/>
              <p:cNvGrpSpPr/>
              <p:nvPr/>
            </p:nvGrpSpPr>
            <p:grpSpPr>
              <a:xfrm>
                <a:off x="1900048" y="4026907"/>
                <a:ext cx="1175657" cy="195942"/>
                <a:chOff x="3450771" y="2024742"/>
                <a:chExt cx="1175657" cy="195942"/>
              </a:xfrm>
              <a:solidFill>
                <a:srgbClr val="000000"/>
              </a:solidFill>
            </p:grpSpPr>
            <p:sp>
              <p:nvSpPr>
                <p:cNvPr id="443" name="任意多边形: 形状 442"/>
                <p:cNvSpPr/>
                <p:nvPr/>
              </p:nvSpPr>
              <p:spPr>
                <a:xfrm>
                  <a:off x="3450771" y="2024742"/>
                  <a:ext cx="195942" cy="195942"/>
                </a:xfrm>
                <a:custGeom>
                  <a:avLst/>
                  <a:gdLst>
                    <a:gd name="connsiteX0" fmla="*/ 120 w 195942"/>
                    <a:gd name="connsiteY0" fmla="*/ 310 h 195942"/>
                    <a:gd name="connsiteX1" fmla="*/ 196063 w 195942"/>
                    <a:gd name="connsiteY1" fmla="*/ 310 h 195942"/>
                    <a:gd name="connsiteX2" fmla="*/ 196063 w 195942"/>
                    <a:gd name="connsiteY2" fmla="*/ 196253 h 195942"/>
                    <a:gd name="connsiteX3" fmla="*/ 12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10"/>
                      </a:moveTo>
                      <a:lnTo>
                        <a:pt x="196063" y="310"/>
                      </a:lnTo>
                      <a:lnTo>
                        <a:pt x="196063" y="196253"/>
                      </a:lnTo>
                      <a:lnTo>
                        <a:pt x="12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4" name="任意多边形: 形状 443"/>
                <p:cNvSpPr/>
                <p:nvPr/>
              </p:nvSpPr>
              <p:spPr>
                <a:xfrm>
                  <a:off x="3646714" y="2024742"/>
                  <a:ext cx="195942" cy="195942"/>
                </a:xfrm>
                <a:custGeom>
                  <a:avLst/>
                  <a:gdLst>
                    <a:gd name="connsiteX0" fmla="*/ 150 w 195942"/>
                    <a:gd name="connsiteY0" fmla="*/ 310 h 195942"/>
                    <a:gd name="connsiteX1" fmla="*/ 196093 w 195942"/>
                    <a:gd name="connsiteY1" fmla="*/ 310 h 195942"/>
                    <a:gd name="connsiteX2" fmla="*/ 196093 w 195942"/>
                    <a:gd name="connsiteY2" fmla="*/ 196253 h 195942"/>
                    <a:gd name="connsiteX3" fmla="*/ 15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10"/>
                      </a:moveTo>
                      <a:lnTo>
                        <a:pt x="196093" y="310"/>
                      </a:lnTo>
                      <a:lnTo>
                        <a:pt x="196093" y="196253"/>
                      </a:lnTo>
                      <a:lnTo>
                        <a:pt x="15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5" name="任意多边形: 形状 444"/>
                <p:cNvSpPr/>
                <p:nvPr/>
              </p:nvSpPr>
              <p:spPr>
                <a:xfrm>
                  <a:off x="3842657" y="2024742"/>
                  <a:ext cx="195942" cy="195942"/>
                </a:xfrm>
                <a:custGeom>
                  <a:avLst/>
                  <a:gdLst>
                    <a:gd name="connsiteX0" fmla="*/ 180 w 195942"/>
                    <a:gd name="connsiteY0" fmla="*/ 310 h 195942"/>
                    <a:gd name="connsiteX1" fmla="*/ 196123 w 195942"/>
                    <a:gd name="connsiteY1" fmla="*/ 310 h 195942"/>
                    <a:gd name="connsiteX2" fmla="*/ 196123 w 195942"/>
                    <a:gd name="connsiteY2" fmla="*/ 196253 h 195942"/>
                    <a:gd name="connsiteX3" fmla="*/ 18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10"/>
                      </a:moveTo>
                      <a:lnTo>
                        <a:pt x="196123" y="310"/>
                      </a:lnTo>
                      <a:lnTo>
                        <a:pt x="196123" y="196253"/>
                      </a:lnTo>
                      <a:lnTo>
                        <a:pt x="18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6" name="任意多边形: 形状 445"/>
                <p:cNvSpPr/>
                <p:nvPr/>
              </p:nvSpPr>
              <p:spPr>
                <a:xfrm>
                  <a:off x="4038600" y="2024742"/>
                  <a:ext cx="195942" cy="195942"/>
                </a:xfrm>
                <a:custGeom>
                  <a:avLst/>
                  <a:gdLst>
                    <a:gd name="connsiteX0" fmla="*/ 210 w 195942"/>
                    <a:gd name="connsiteY0" fmla="*/ 310 h 195942"/>
                    <a:gd name="connsiteX1" fmla="*/ 196153 w 195942"/>
                    <a:gd name="connsiteY1" fmla="*/ 310 h 195942"/>
                    <a:gd name="connsiteX2" fmla="*/ 196153 w 195942"/>
                    <a:gd name="connsiteY2" fmla="*/ 196253 h 195942"/>
                    <a:gd name="connsiteX3" fmla="*/ 21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10"/>
                      </a:moveTo>
                      <a:lnTo>
                        <a:pt x="196153" y="310"/>
                      </a:lnTo>
                      <a:lnTo>
                        <a:pt x="196153" y="196253"/>
                      </a:lnTo>
                      <a:lnTo>
                        <a:pt x="21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7" name="任意多边形: 形状 446"/>
                <p:cNvSpPr/>
                <p:nvPr/>
              </p:nvSpPr>
              <p:spPr>
                <a:xfrm>
                  <a:off x="4234542" y="2024742"/>
                  <a:ext cx="195942" cy="195942"/>
                </a:xfrm>
                <a:custGeom>
                  <a:avLst/>
                  <a:gdLst>
                    <a:gd name="connsiteX0" fmla="*/ 240 w 195942"/>
                    <a:gd name="connsiteY0" fmla="*/ 310 h 195942"/>
                    <a:gd name="connsiteX1" fmla="*/ 196183 w 195942"/>
                    <a:gd name="connsiteY1" fmla="*/ 310 h 195942"/>
                    <a:gd name="connsiteX2" fmla="*/ 196183 w 195942"/>
                    <a:gd name="connsiteY2" fmla="*/ 196253 h 195942"/>
                    <a:gd name="connsiteX3" fmla="*/ 24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10"/>
                      </a:moveTo>
                      <a:lnTo>
                        <a:pt x="196183" y="310"/>
                      </a:lnTo>
                      <a:lnTo>
                        <a:pt x="196183" y="196253"/>
                      </a:lnTo>
                      <a:lnTo>
                        <a:pt x="24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8" name="任意多边形: 形状 447"/>
                <p:cNvSpPr/>
                <p:nvPr/>
              </p:nvSpPr>
              <p:spPr>
                <a:xfrm>
                  <a:off x="4430485" y="2024742"/>
                  <a:ext cx="195942" cy="195942"/>
                </a:xfrm>
                <a:custGeom>
                  <a:avLst/>
                  <a:gdLst>
                    <a:gd name="connsiteX0" fmla="*/ 270 w 195942"/>
                    <a:gd name="connsiteY0" fmla="*/ 310 h 195942"/>
                    <a:gd name="connsiteX1" fmla="*/ 196213 w 195942"/>
                    <a:gd name="connsiteY1" fmla="*/ 310 h 195942"/>
                    <a:gd name="connsiteX2" fmla="*/ 196213 w 195942"/>
                    <a:gd name="connsiteY2" fmla="*/ 196253 h 195942"/>
                    <a:gd name="connsiteX3" fmla="*/ 270 w 195942"/>
                    <a:gd name="connsiteY3" fmla="*/ 19625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10"/>
                      </a:moveTo>
                      <a:lnTo>
                        <a:pt x="196213" y="310"/>
                      </a:lnTo>
                      <a:lnTo>
                        <a:pt x="196213" y="196253"/>
                      </a:lnTo>
                      <a:lnTo>
                        <a:pt x="270" y="19625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429" name="图形 5"/>
              <p:cNvGrpSpPr/>
              <p:nvPr/>
            </p:nvGrpSpPr>
            <p:grpSpPr>
              <a:xfrm>
                <a:off x="1900048" y="4222850"/>
                <a:ext cx="1175657" cy="195942"/>
                <a:chOff x="3450771" y="2220685"/>
                <a:chExt cx="1175657" cy="195942"/>
              </a:xfrm>
              <a:solidFill>
                <a:srgbClr val="000000"/>
              </a:solidFill>
            </p:grpSpPr>
            <p:sp>
              <p:nvSpPr>
                <p:cNvPr id="437" name="任意多边形: 形状 436"/>
                <p:cNvSpPr/>
                <p:nvPr/>
              </p:nvSpPr>
              <p:spPr>
                <a:xfrm>
                  <a:off x="3450771" y="2220685"/>
                  <a:ext cx="195942" cy="195942"/>
                </a:xfrm>
                <a:custGeom>
                  <a:avLst/>
                  <a:gdLst>
                    <a:gd name="connsiteX0" fmla="*/ 120 w 195942"/>
                    <a:gd name="connsiteY0" fmla="*/ 340 h 195942"/>
                    <a:gd name="connsiteX1" fmla="*/ 196063 w 195942"/>
                    <a:gd name="connsiteY1" fmla="*/ 340 h 195942"/>
                    <a:gd name="connsiteX2" fmla="*/ 196063 w 195942"/>
                    <a:gd name="connsiteY2" fmla="*/ 196283 h 195942"/>
                    <a:gd name="connsiteX3" fmla="*/ 12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40"/>
                      </a:moveTo>
                      <a:lnTo>
                        <a:pt x="196063" y="340"/>
                      </a:lnTo>
                      <a:lnTo>
                        <a:pt x="196063" y="196283"/>
                      </a:lnTo>
                      <a:lnTo>
                        <a:pt x="12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8" name="任意多边形: 形状 437"/>
                <p:cNvSpPr/>
                <p:nvPr/>
              </p:nvSpPr>
              <p:spPr>
                <a:xfrm>
                  <a:off x="3646714" y="2220685"/>
                  <a:ext cx="195942" cy="195942"/>
                </a:xfrm>
                <a:custGeom>
                  <a:avLst/>
                  <a:gdLst>
                    <a:gd name="connsiteX0" fmla="*/ 150 w 195942"/>
                    <a:gd name="connsiteY0" fmla="*/ 340 h 195942"/>
                    <a:gd name="connsiteX1" fmla="*/ 196093 w 195942"/>
                    <a:gd name="connsiteY1" fmla="*/ 340 h 195942"/>
                    <a:gd name="connsiteX2" fmla="*/ 196093 w 195942"/>
                    <a:gd name="connsiteY2" fmla="*/ 196283 h 195942"/>
                    <a:gd name="connsiteX3" fmla="*/ 15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40"/>
                      </a:moveTo>
                      <a:lnTo>
                        <a:pt x="196093" y="340"/>
                      </a:lnTo>
                      <a:lnTo>
                        <a:pt x="196093" y="196283"/>
                      </a:lnTo>
                      <a:lnTo>
                        <a:pt x="15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9" name="任意多边形: 形状 438"/>
                <p:cNvSpPr/>
                <p:nvPr/>
              </p:nvSpPr>
              <p:spPr>
                <a:xfrm>
                  <a:off x="3842657" y="2220685"/>
                  <a:ext cx="195942" cy="195942"/>
                </a:xfrm>
                <a:custGeom>
                  <a:avLst/>
                  <a:gdLst>
                    <a:gd name="connsiteX0" fmla="*/ 180 w 195942"/>
                    <a:gd name="connsiteY0" fmla="*/ 340 h 195942"/>
                    <a:gd name="connsiteX1" fmla="*/ 196123 w 195942"/>
                    <a:gd name="connsiteY1" fmla="*/ 340 h 195942"/>
                    <a:gd name="connsiteX2" fmla="*/ 196123 w 195942"/>
                    <a:gd name="connsiteY2" fmla="*/ 196283 h 195942"/>
                    <a:gd name="connsiteX3" fmla="*/ 18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40"/>
                      </a:moveTo>
                      <a:lnTo>
                        <a:pt x="196123" y="340"/>
                      </a:lnTo>
                      <a:lnTo>
                        <a:pt x="196123" y="196283"/>
                      </a:lnTo>
                      <a:lnTo>
                        <a:pt x="18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0" name="任意多边形: 形状 439"/>
                <p:cNvSpPr/>
                <p:nvPr/>
              </p:nvSpPr>
              <p:spPr>
                <a:xfrm>
                  <a:off x="4038600" y="2220685"/>
                  <a:ext cx="195942" cy="195942"/>
                </a:xfrm>
                <a:custGeom>
                  <a:avLst/>
                  <a:gdLst>
                    <a:gd name="connsiteX0" fmla="*/ 210 w 195942"/>
                    <a:gd name="connsiteY0" fmla="*/ 340 h 195942"/>
                    <a:gd name="connsiteX1" fmla="*/ 196153 w 195942"/>
                    <a:gd name="connsiteY1" fmla="*/ 340 h 195942"/>
                    <a:gd name="connsiteX2" fmla="*/ 196153 w 195942"/>
                    <a:gd name="connsiteY2" fmla="*/ 196283 h 195942"/>
                    <a:gd name="connsiteX3" fmla="*/ 21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40"/>
                      </a:moveTo>
                      <a:lnTo>
                        <a:pt x="196153" y="340"/>
                      </a:lnTo>
                      <a:lnTo>
                        <a:pt x="196153" y="196283"/>
                      </a:lnTo>
                      <a:lnTo>
                        <a:pt x="21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1" name="任意多边形: 形状 440"/>
                <p:cNvSpPr/>
                <p:nvPr/>
              </p:nvSpPr>
              <p:spPr>
                <a:xfrm>
                  <a:off x="4234542" y="2220685"/>
                  <a:ext cx="195942" cy="195942"/>
                </a:xfrm>
                <a:custGeom>
                  <a:avLst/>
                  <a:gdLst>
                    <a:gd name="connsiteX0" fmla="*/ 240 w 195942"/>
                    <a:gd name="connsiteY0" fmla="*/ 340 h 195942"/>
                    <a:gd name="connsiteX1" fmla="*/ 196183 w 195942"/>
                    <a:gd name="connsiteY1" fmla="*/ 340 h 195942"/>
                    <a:gd name="connsiteX2" fmla="*/ 196183 w 195942"/>
                    <a:gd name="connsiteY2" fmla="*/ 196283 h 195942"/>
                    <a:gd name="connsiteX3" fmla="*/ 24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40"/>
                      </a:moveTo>
                      <a:lnTo>
                        <a:pt x="196183" y="340"/>
                      </a:lnTo>
                      <a:lnTo>
                        <a:pt x="196183" y="196283"/>
                      </a:lnTo>
                      <a:lnTo>
                        <a:pt x="24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42" name="任意多边形: 形状 441"/>
                <p:cNvSpPr/>
                <p:nvPr/>
              </p:nvSpPr>
              <p:spPr>
                <a:xfrm>
                  <a:off x="4430485" y="2220685"/>
                  <a:ext cx="195942" cy="195942"/>
                </a:xfrm>
                <a:custGeom>
                  <a:avLst/>
                  <a:gdLst>
                    <a:gd name="connsiteX0" fmla="*/ 270 w 195942"/>
                    <a:gd name="connsiteY0" fmla="*/ 340 h 195942"/>
                    <a:gd name="connsiteX1" fmla="*/ 196213 w 195942"/>
                    <a:gd name="connsiteY1" fmla="*/ 340 h 195942"/>
                    <a:gd name="connsiteX2" fmla="*/ 196213 w 195942"/>
                    <a:gd name="connsiteY2" fmla="*/ 196283 h 195942"/>
                    <a:gd name="connsiteX3" fmla="*/ 270 w 195942"/>
                    <a:gd name="connsiteY3" fmla="*/ 19628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40"/>
                      </a:moveTo>
                      <a:lnTo>
                        <a:pt x="196213" y="340"/>
                      </a:lnTo>
                      <a:lnTo>
                        <a:pt x="196213" y="196283"/>
                      </a:lnTo>
                      <a:lnTo>
                        <a:pt x="270" y="19628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nvGrpSpPr>
              <p:cNvPr id="430" name="图形 5"/>
              <p:cNvGrpSpPr/>
              <p:nvPr/>
            </p:nvGrpSpPr>
            <p:grpSpPr>
              <a:xfrm>
                <a:off x="1900048" y="4418793"/>
                <a:ext cx="1175657" cy="195942"/>
                <a:chOff x="3450771" y="2416628"/>
                <a:chExt cx="1175657" cy="195942"/>
              </a:xfrm>
              <a:solidFill>
                <a:srgbClr val="000000"/>
              </a:solidFill>
            </p:grpSpPr>
            <p:sp>
              <p:nvSpPr>
                <p:cNvPr id="431" name="任意多边形: 形状 430"/>
                <p:cNvSpPr/>
                <p:nvPr/>
              </p:nvSpPr>
              <p:spPr>
                <a:xfrm>
                  <a:off x="3450771" y="2416628"/>
                  <a:ext cx="195942" cy="195942"/>
                </a:xfrm>
                <a:custGeom>
                  <a:avLst/>
                  <a:gdLst>
                    <a:gd name="connsiteX0" fmla="*/ 120 w 195942"/>
                    <a:gd name="connsiteY0" fmla="*/ 370 h 195942"/>
                    <a:gd name="connsiteX1" fmla="*/ 196063 w 195942"/>
                    <a:gd name="connsiteY1" fmla="*/ 370 h 195942"/>
                    <a:gd name="connsiteX2" fmla="*/ 196063 w 195942"/>
                    <a:gd name="connsiteY2" fmla="*/ 196313 h 195942"/>
                    <a:gd name="connsiteX3" fmla="*/ 12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20" y="370"/>
                      </a:moveTo>
                      <a:lnTo>
                        <a:pt x="196063" y="370"/>
                      </a:lnTo>
                      <a:lnTo>
                        <a:pt x="196063" y="196313"/>
                      </a:lnTo>
                      <a:lnTo>
                        <a:pt x="12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2" name="任意多边形: 形状 431"/>
                <p:cNvSpPr/>
                <p:nvPr/>
              </p:nvSpPr>
              <p:spPr>
                <a:xfrm>
                  <a:off x="3646714" y="2416628"/>
                  <a:ext cx="195942" cy="195942"/>
                </a:xfrm>
                <a:custGeom>
                  <a:avLst/>
                  <a:gdLst>
                    <a:gd name="connsiteX0" fmla="*/ 150 w 195942"/>
                    <a:gd name="connsiteY0" fmla="*/ 370 h 195942"/>
                    <a:gd name="connsiteX1" fmla="*/ 196093 w 195942"/>
                    <a:gd name="connsiteY1" fmla="*/ 370 h 195942"/>
                    <a:gd name="connsiteX2" fmla="*/ 196093 w 195942"/>
                    <a:gd name="connsiteY2" fmla="*/ 196313 h 195942"/>
                    <a:gd name="connsiteX3" fmla="*/ 15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50" y="370"/>
                      </a:moveTo>
                      <a:lnTo>
                        <a:pt x="196093" y="370"/>
                      </a:lnTo>
                      <a:lnTo>
                        <a:pt x="196093" y="196313"/>
                      </a:lnTo>
                      <a:lnTo>
                        <a:pt x="15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3" name="任意多边形: 形状 432"/>
                <p:cNvSpPr/>
                <p:nvPr/>
              </p:nvSpPr>
              <p:spPr>
                <a:xfrm>
                  <a:off x="3842657" y="2416628"/>
                  <a:ext cx="195942" cy="195942"/>
                </a:xfrm>
                <a:custGeom>
                  <a:avLst/>
                  <a:gdLst>
                    <a:gd name="connsiteX0" fmla="*/ 180 w 195942"/>
                    <a:gd name="connsiteY0" fmla="*/ 370 h 195942"/>
                    <a:gd name="connsiteX1" fmla="*/ 196123 w 195942"/>
                    <a:gd name="connsiteY1" fmla="*/ 370 h 195942"/>
                    <a:gd name="connsiteX2" fmla="*/ 196123 w 195942"/>
                    <a:gd name="connsiteY2" fmla="*/ 196313 h 195942"/>
                    <a:gd name="connsiteX3" fmla="*/ 18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180" y="370"/>
                      </a:moveTo>
                      <a:lnTo>
                        <a:pt x="196123" y="370"/>
                      </a:lnTo>
                      <a:lnTo>
                        <a:pt x="196123" y="196313"/>
                      </a:lnTo>
                      <a:lnTo>
                        <a:pt x="18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4" name="任意多边形: 形状 433"/>
                <p:cNvSpPr/>
                <p:nvPr/>
              </p:nvSpPr>
              <p:spPr>
                <a:xfrm>
                  <a:off x="4038600" y="2416628"/>
                  <a:ext cx="195942" cy="195942"/>
                </a:xfrm>
                <a:custGeom>
                  <a:avLst/>
                  <a:gdLst>
                    <a:gd name="connsiteX0" fmla="*/ 210 w 195942"/>
                    <a:gd name="connsiteY0" fmla="*/ 370 h 195942"/>
                    <a:gd name="connsiteX1" fmla="*/ 196153 w 195942"/>
                    <a:gd name="connsiteY1" fmla="*/ 370 h 195942"/>
                    <a:gd name="connsiteX2" fmla="*/ 196153 w 195942"/>
                    <a:gd name="connsiteY2" fmla="*/ 196313 h 195942"/>
                    <a:gd name="connsiteX3" fmla="*/ 21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10" y="370"/>
                      </a:moveTo>
                      <a:lnTo>
                        <a:pt x="196153" y="370"/>
                      </a:lnTo>
                      <a:lnTo>
                        <a:pt x="196153" y="196313"/>
                      </a:lnTo>
                      <a:lnTo>
                        <a:pt x="21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5" name="任意多边形: 形状 434"/>
                <p:cNvSpPr/>
                <p:nvPr/>
              </p:nvSpPr>
              <p:spPr>
                <a:xfrm>
                  <a:off x="4234542" y="2416628"/>
                  <a:ext cx="195942" cy="195942"/>
                </a:xfrm>
                <a:custGeom>
                  <a:avLst/>
                  <a:gdLst>
                    <a:gd name="connsiteX0" fmla="*/ 240 w 195942"/>
                    <a:gd name="connsiteY0" fmla="*/ 370 h 195942"/>
                    <a:gd name="connsiteX1" fmla="*/ 196183 w 195942"/>
                    <a:gd name="connsiteY1" fmla="*/ 370 h 195942"/>
                    <a:gd name="connsiteX2" fmla="*/ 196183 w 195942"/>
                    <a:gd name="connsiteY2" fmla="*/ 196313 h 195942"/>
                    <a:gd name="connsiteX3" fmla="*/ 24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40" y="370"/>
                      </a:moveTo>
                      <a:lnTo>
                        <a:pt x="196183" y="370"/>
                      </a:lnTo>
                      <a:lnTo>
                        <a:pt x="196183" y="196313"/>
                      </a:lnTo>
                      <a:lnTo>
                        <a:pt x="24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sp>
              <p:nvSpPr>
                <p:cNvPr id="436" name="任意多边形: 形状 435"/>
                <p:cNvSpPr/>
                <p:nvPr/>
              </p:nvSpPr>
              <p:spPr>
                <a:xfrm>
                  <a:off x="4430485" y="2416628"/>
                  <a:ext cx="195942" cy="195942"/>
                </a:xfrm>
                <a:custGeom>
                  <a:avLst/>
                  <a:gdLst>
                    <a:gd name="connsiteX0" fmla="*/ 270 w 195942"/>
                    <a:gd name="connsiteY0" fmla="*/ 370 h 195942"/>
                    <a:gd name="connsiteX1" fmla="*/ 196213 w 195942"/>
                    <a:gd name="connsiteY1" fmla="*/ 370 h 195942"/>
                    <a:gd name="connsiteX2" fmla="*/ 196213 w 195942"/>
                    <a:gd name="connsiteY2" fmla="*/ 196313 h 195942"/>
                    <a:gd name="connsiteX3" fmla="*/ 270 w 195942"/>
                    <a:gd name="connsiteY3" fmla="*/ 196313 h 195942"/>
                  </a:gdLst>
                  <a:ahLst/>
                  <a:cxnLst>
                    <a:cxn ang="0">
                      <a:pos x="connsiteX0" y="connsiteY0"/>
                    </a:cxn>
                    <a:cxn ang="0">
                      <a:pos x="connsiteX1" y="connsiteY1"/>
                    </a:cxn>
                    <a:cxn ang="0">
                      <a:pos x="connsiteX2" y="connsiteY2"/>
                    </a:cxn>
                    <a:cxn ang="0">
                      <a:pos x="connsiteX3" y="connsiteY3"/>
                    </a:cxn>
                  </a:cxnLst>
                  <a:rect l="l" t="t" r="r" b="b"/>
                  <a:pathLst>
                    <a:path w="195942" h="195942">
                      <a:moveTo>
                        <a:pt x="270" y="370"/>
                      </a:moveTo>
                      <a:lnTo>
                        <a:pt x="196213" y="370"/>
                      </a:lnTo>
                      <a:lnTo>
                        <a:pt x="196213" y="196313"/>
                      </a:lnTo>
                      <a:lnTo>
                        <a:pt x="270" y="196313"/>
                      </a:lnTo>
                      <a:close/>
                    </a:path>
                  </a:pathLst>
                </a:custGeom>
                <a:solidFill>
                  <a:srgbClr val="D9EAD3"/>
                </a:solidFill>
                <a:ln w="9797" cap="flat">
                  <a:solidFill>
                    <a:srgbClr val="333333"/>
                  </a:solidFill>
                  <a:prstDash val="solid"/>
                  <a:miter/>
                </a:ln>
              </p:spPr>
              <p:txBody>
                <a:bodyPr rtlCol="0" anchor="ctr"/>
                <a:lstStyle/>
                <a:p>
                  <a:endParaRPr lang="zh-CN" altLang="en-US"/>
                </a:p>
              </p:txBody>
            </p:sp>
          </p:grpSp>
        </p:grpSp>
        <p:cxnSp>
          <p:nvCxnSpPr>
            <p:cNvPr id="398" name="直接箭头连接符 397"/>
            <p:cNvCxnSpPr/>
            <p:nvPr/>
          </p:nvCxnSpPr>
          <p:spPr>
            <a:xfrm flipV="1">
              <a:off x="1724606" y="2715417"/>
              <a:ext cx="2303530" cy="464"/>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399" name="文本框 398"/>
            <p:cNvSpPr txBox="1"/>
            <p:nvPr/>
          </p:nvSpPr>
          <p:spPr>
            <a:xfrm>
              <a:off x="1793458" y="2296674"/>
              <a:ext cx="241935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Self attention N</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nvGrpSpPr>
            <p:cNvPr id="400" name="图形 5"/>
            <p:cNvGrpSpPr/>
            <p:nvPr/>
          </p:nvGrpSpPr>
          <p:grpSpPr>
            <a:xfrm>
              <a:off x="4169300" y="2235758"/>
              <a:ext cx="739560" cy="845916"/>
              <a:chOff x="7238999" y="5127171"/>
              <a:chExt cx="783771" cy="979713"/>
            </a:xfrm>
            <a:solidFill>
              <a:schemeClr val="accent2">
                <a:lumMod val="20000"/>
                <a:lumOff val="80000"/>
              </a:schemeClr>
            </a:solidFill>
          </p:grpSpPr>
          <p:grpSp>
            <p:nvGrpSpPr>
              <p:cNvPr id="401" name="图形 5"/>
              <p:cNvGrpSpPr/>
              <p:nvPr/>
            </p:nvGrpSpPr>
            <p:grpSpPr>
              <a:xfrm>
                <a:off x="7238999" y="5127171"/>
                <a:ext cx="783771" cy="252506"/>
                <a:chOff x="7238999" y="5127171"/>
                <a:chExt cx="783771" cy="252506"/>
              </a:xfrm>
              <a:grpFill/>
            </p:grpSpPr>
            <p:sp>
              <p:nvSpPr>
                <p:cNvPr id="422" name="任意多边形: 形状 421"/>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423" name="任意多边形: 形状 422"/>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424" name="任意多边形: 形状 423"/>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425" name="任意多边形: 形状 424"/>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402" name="图形 5"/>
              <p:cNvGrpSpPr/>
              <p:nvPr/>
            </p:nvGrpSpPr>
            <p:grpSpPr>
              <a:xfrm>
                <a:off x="7239000" y="5323114"/>
                <a:ext cx="783770" cy="195942"/>
                <a:chOff x="7239000" y="5323114"/>
                <a:chExt cx="783770" cy="195942"/>
              </a:xfrm>
              <a:grpFill/>
            </p:grpSpPr>
            <p:sp>
              <p:nvSpPr>
                <p:cNvPr id="418" name="任意多边形: 形状 417"/>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419" name="任意多边形: 形状 418"/>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420" name="任意多边形: 形状 419"/>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421" name="任意多边形: 形状 420"/>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403" name="图形 5"/>
              <p:cNvGrpSpPr/>
              <p:nvPr/>
            </p:nvGrpSpPr>
            <p:grpSpPr>
              <a:xfrm>
                <a:off x="7239000" y="5519057"/>
                <a:ext cx="783770" cy="195942"/>
                <a:chOff x="7239000" y="5519057"/>
                <a:chExt cx="783770" cy="195942"/>
              </a:xfrm>
              <a:grpFill/>
            </p:grpSpPr>
            <p:sp>
              <p:nvSpPr>
                <p:cNvPr id="414" name="任意多边形: 形状 413"/>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415" name="任意多边形: 形状 414"/>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416" name="任意多边形: 形状 415"/>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417" name="任意多边形: 形状 416"/>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04" name="图形 5"/>
              <p:cNvGrpSpPr/>
              <p:nvPr/>
            </p:nvGrpSpPr>
            <p:grpSpPr>
              <a:xfrm>
                <a:off x="7239000" y="5715000"/>
                <a:ext cx="783770" cy="195942"/>
                <a:chOff x="7239000" y="5715000"/>
                <a:chExt cx="783770" cy="195942"/>
              </a:xfrm>
              <a:grpFill/>
            </p:grpSpPr>
            <p:sp>
              <p:nvSpPr>
                <p:cNvPr id="410" name="任意多边形: 形状 409"/>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411" name="任意多边形: 形状 410"/>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412" name="任意多边形: 形状 411"/>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413" name="任意多边形: 形状 412"/>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405" name="图形 5"/>
              <p:cNvGrpSpPr/>
              <p:nvPr/>
            </p:nvGrpSpPr>
            <p:grpSpPr>
              <a:xfrm>
                <a:off x="7239000" y="5910942"/>
                <a:ext cx="783770" cy="195942"/>
                <a:chOff x="7239000" y="5910942"/>
                <a:chExt cx="783770" cy="195942"/>
              </a:xfrm>
              <a:grpFill/>
            </p:grpSpPr>
            <p:sp>
              <p:nvSpPr>
                <p:cNvPr id="406" name="任意多边形: 形状 405"/>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407" name="任意多边形: 形状 406"/>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408" name="任意多边形: 形状 407"/>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409" name="任意多边形: 形状 408"/>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grpSp>
      <p:sp>
        <p:nvSpPr>
          <p:cNvPr id="461" name="文本框 460"/>
          <p:cNvSpPr txBox="1"/>
          <p:nvPr/>
        </p:nvSpPr>
        <p:spPr>
          <a:xfrm>
            <a:off x="0" y="4231777"/>
            <a:ext cx="4380137"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b="1" dirty="0"/>
              <a:t>……………</a:t>
            </a:r>
            <a:r>
              <a:rPr lang="zh-CN" altLang="en-US" b="1" dirty="0"/>
              <a:t> </a:t>
            </a:r>
            <a:r>
              <a:rPr lang="zh-CN" altLang="en-US" dirty="0"/>
              <a:t>                                       </a:t>
            </a:r>
            <a:r>
              <a:rPr lang="en-US" altLang="zh-CN" b="1" dirty="0"/>
              <a:t>…………</a:t>
            </a:r>
            <a:endParaRPr kumimoji="0" lang="zh-CN" altLang="en-US" sz="1800" b="1"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462" name="文本框 461"/>
          <p:cNvSpPr txBox="1"/>
          <p:nvPr/>
        </p:nvSpPr>
        <p:spPr>
          <a:xfrm>
            <a:off x="4380137" y="1764359"/>
            <a:ext cx="7701150" cy="258532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单头注意力：只能在一个维度上寻找相似性，容易丢失其他潜在的语义关联</a:t>
            </a:r>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b="1" dirty="0">
                <a:solidFill>
                  <a:schemeClr val="accent1"/>
                </a:solidFill>
                <a:latin typeface="微软雅黑" panose="020B0503020204020204" pitchFamily="34" charset="-122"/>
                <a:ea typeface="微软雅黑" panose="020B0503020204020204" pitchFamily="34" charset="-122"/>
              </a:rPr>
              <a:t>多头注意力</a:t>
            </a:r>
            <a:r>
              <a:rPr lang="zh-CN" altLang="en-US" sz="2400" dirty="0">
                <a:solidFill>
                  <a:schemeClr val="accent1"/>
                </a:solidFill>
                <a:latin typeface="微软雅黑" panose="020B0503020204020204" pitchFamily="34" charset="-122"/>
                <a:ea typeface="微软雅黑" panose="020B0503020204020204" pitchFamily="34" charset="-122"/>
              </a:rPr>
              <a:t>：有多个关联，计算多组不同维度的注意力</a:t>
            </a:r>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en-US" altLang="zh-CN" sz="2400" dirty="0">
              <a:solidFill>
                <a:schemeClr val="accent1"/>
              </a:solidFill>
              <a:latin typeface="微软雅黑" panose="020B0503020204020204" pitchFamily="34" charset="-122"/>
              <a:ea typeface="微软雅黑" panose="020B0503020204020204" pitchFamily="34" charset="-122"/>
            </a:endParaRPr>
          </a:p>
          <a:p>
            <a:endParaRPr lang="zh-CN" altLang="en-US" sz="2400" dirty="0">
              <a:solidFill>
                <a:schemeClr val="accent1"/>
              </a:solidFill>
              <a:latin typeface="微软雅黑" panose="020B0503020204020204" pitchFamily="34" charset="-122"/>
              <a:ea typeface="微软雅黑" panose="020B0503020204020204" pitchFamily="34" charset="-122"/>
            </a:endParaRPr>
          </a:p>
        </p:txBody>
      </p:sp>
      <p:grpSp>
        <p:nvGrpSpPr>
          <p:cNvPr id="465" name="图形 5"/>
          <p:cNvGrpSpPr/>
          <p:nvPr/>
        </p:nvGrpSpPr>
        <p:grpSpPr>
          <a:xfrm>
            <a:off x="5219012" y="4888651"/>
            <a:ext cx="783771" cy="979713"/>
            <a:chOff x="7238999" y="5127171"/>
            <a:chExt cx="783771" cy="979713"/>
          </a:xfrm>
          <a:solidFill>
            <a:schemeClr val="accent2">
              <a:lumMod val="20000"/>
              <a:lumOff val="80000"/>
            </a:schemeClr>
          </a:solidFill>
        </p:grpSpPr>
        <p:grpSp>
          <p:nvGrpSpPr>
            <p:cNvPr id="466" name="图形 5"/>
            <p:cNvGrpSpPr/>
            <p:nvPr/>
          </p:nvGrpSpPr>
          <p:grpSpPr>
            <a:xfrm>
              <a:off x="7238999" y="5127171"/>
              <a:ext cx="783771" cy="252506"/>
              <a:chOff x="7238999" y="5127171"/>
              <a:chExt cx="783771" cy="252506"/>
            </a:xfrm>
            <a:grpFill/>
          </p:grpSpPr>
          <p:sp>
            <p:nvSpPr>
              <p:cNvPr id="487" name="任意多边形: 形状 486"/>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488" name="任意多边形: 形状 487"/>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489" name="任意多边形: 形状 488"/>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490" name="任意多边形: 形状 489"/>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467" name="图形 5"/>
            <p:cNvGrpSpPr/>
            <p:nvPr/>
          </p:nvGrpSpPr>
          <p:grpSpPr>
            <a:xfrm>
              <a:off x="7239000" y="5323114"/>
              <a:ext cx="783770" cy="195942"/>
              <a:chOff x="7239000" y="5323114"/>
              <a:chExt cx="783770" cy="195942"/>
            </a:xfrm>
            <a:grpFill/>
          </p:grpSpPr>
          <p:sp>
            <p:nvSpPr>
              <p:cNvPr id="483" name="任意多边形: 形状 482"/>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484" name="任意多边形: 形状 483"/>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485" name="任意多边形: 形状 484"/>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486" name="任意多边形: 形状 485"/>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468" name="图形 5"/>
            <p:cNvGrpSpPr/>
            <p:nvPr/>
          </p:nvGrpSpPr>
          <p:grpSpPr>
            <a:xfrm>
              <a:off x="7239000" y="5519057"/>
              <a:ext cx="783770" cy="195942"/>
              <a:chOff x="7239000" y="5519057"/>
              <a:chExt cx="783770" cy="195942"/>
            </a:xfrm>
            <a:grpFill/>
          </p:grpSpPr>
          <p:sp>
            <p:nvSpPr>
              <p:cNvPr id="479" name="任意多边形: 形状 478"/>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480" name="任意多边形: 形状 479"/>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481" name="任意多边形: 形状 480"/>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482" name="任意多边形: 形状 481"/>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69" name="图形 5"/>
            <p:cNvGrpSpPr/>
            <p:nvPr/>
          </p:nvGrpSpPr>
          <p:grpSpPr>
            <a:xfrm>
              <a:off x="7239000" y="5715000"/>
              <a:ext cx="783770" cy="195942"/>
              <a:chOff x="7239000" y="5715000"/>
              <a:chExt cx="783770" cy="195942"/>
            </a:xfrm>
            <a:grpFill/>
          </p:grpSpPr>
          <p:sp>
            <p:nvSpPr>
              <p:cNvPr id="475" name="任意多边形: 形状 474"/>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476" name="任意多边形: 形状 475"/>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477" name="任意多边形: 形状 476"/>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478" name="任意多边形: 形状 477"/>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470" name="图形 5"/>
            <p:cNvGrpSpPr/>
            <p:nvPr/>
          </p:nvGrpSpPr>
          <p:grpSpPr>
            <a:xfrm>
              <a:off x="7239000" y="5910942"/>
              <a:ext cx="783770" cy="195942"/>
              <a:chOff x="7239000" y="5910942"/>
              <a:chExt cx="783770" cy="195942"/>
            </a:xfrm>
            <a:grpFill/>
          </p:grpSpPr>
          <p:sp>
            <p:nvSpPr>
              <p:cNvPr id="471" name="任意多边形: 形状 470"/>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472" name="任意多边形: 形状 471"/>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473" name="任意多边形: 形状 472"/>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474" name="任意多边形: 形状 473"/>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grpSp>
        <p:nvGrpSpPr>
          <p:cNvPr id="491" name="图形 5"/>
          <p:cNvGrpSpPr/>
          <p:nvPr/>
        </p:nvGrpSpPr>
        <p:grpSpPr>
          <a:xfrm>
            <a:off x="6038698" y="4883490"/>
            <a:ext cx="783771" cy="979713"/>
            <a:chOff x="7238999" y="5127171"/>
            <a:chExt cx="783771" cy="979713"/>
          </a:xfrm>
          <a:solidFill>
            <a:schemeClr val="accent2">
              <a:lumMod val="20000"/>
              <a:lumOff val="80000"/>
            </a:schemeClr>
          </a:solidFill>
        </p:grpSpPr>
        <p:grpSp>
          <p:nvGrpSpPr>
            <p:cNvPr id="492" name="图形 5"/>
            <p:cNvGrpSpPr/>
            <p:nvPr/>
          </p:nvGrpSpPr>
          <p:grpSpPr>
            <a:xfrm>
              <a:off x="7238999" y="5127171"/>
              <a:ext cx="783771" cy="252506"/>
              <a:chOff x="7238999" y="5127171"/>
              <a:chExt cx="783771" cy="252506"/>
            </a:xfrm>
            <a:grpFill/>
          </p:grpSpPr>
          <p:sp>
            <p:nvSpPr>
              <p:cNvPr id="513" name="任意多边形: 形状 512"/>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514" name="任意多边形: 形状 513"/>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515" name="任意多边形: 形状 514"/>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516" name="任意多边形: 形状 515"/>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493" name="图形 5"/>
            <p:cNvGrpSpPr/>
            <p:nvPr/>
          </p:nvGrpSpPr>
          <p:grpSpPr>
            <a:xfrm>
              <a:off x="7239000" y="5323114"/>
              <a:ext cx="783770" cy="195942"/>
              <a:chOff x="7239000" y="5323114"/>
              <a:chExt cx="783770" cy="195942"/>
            </a:xfrm>
            <a:grpFill/>
          </p:grpSpPr>
          <p:sp>
            <p:nvSpPr>
              <p:cNvPr id="509" name="任意多边形: 形状 508"/>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510" name="任意多边形: 形状 509"/>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511" name="任意多边形: 形状 510"/>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512" name="任意多边形: 形状 511"/>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494" name="图形 5"/>
            <p:cNvGrpSpPr/>
            <p:nvPr/>
          </p:nvGrpSpPr>
          <p:grpSpPr>
            <a:xfrm>
              <a:off x="7239000" y="5519057"/>
              <a:ext cx="783770" cy="195942"/>
              <a:chOff x="7239000" y="5519057"/>
              <a:chExt cx="783770" cy="195942"/>
            </a:xfrm>
            <a:grpFill/>
          </p:grpSpPr>
          <p:sp>
            <p:nvSpPr>
              <p:cNvPr id="505" name="任意多边形: 形状 504"/>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506" name="任意多边形: 形状 505"/>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507" name="任意多边形: 形状 506"/>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508" name="任意多边形: 形状 507"/>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495" name="图形 5"/>
            <p:cNvGrpSpPr/>
            <p:nvPr/>
          </p:nvGrpSpPr>
          <p:grpSpPr>
            <a:xfrm>
              <a:off x="7239000" y="5715000"/>
              <a:ext cx="783770" cy="195942"/>
              <a:chOff x="7239000" y="5715000"/>
              <a:chExt cx="783770" cy="195942"/>
            </a:xfrm>
            <a:grpFill/>
          </p:grpSpPr>
          <p:sp>
            <p:nvSpPr>
              <p:cNvPr id="501" name="任意多边形: 形状 500"/>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502" name="任意多边形: 形状 501"/>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503" name="任意多边形: 形状 502"/>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504" name="任意多边形: 形状 503"/>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496" name="图形 5"/>
            <p:cNvGrpSpPr/>
            <p:nvPr/>
          </p:nvGrpSpPr>
          <p:grpSpPr>
            <a:xfrm>
              <a:off x="7239000" y="5910942"/>
              <a:ext cx="783770" cy="195942"/>
              <a:chOff x="7239000" y="5910942"/>
              <a:chExt cx="783770" cy="195942"/>
            </a:xfrm>
            <a:grpFill/>
          </p:grpSpPr>
          <p:sp>
            <p:nvSpPr>
              <p:cNvPr id="497" name="任意多边形: 形状 496"/>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498" name="任意多边形: 形状 497"/>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499" name="任意多边形: 形状 498"/>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500" name="任意多边形: 形状 499"/>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grpSp>
        <p:nvGrpSpPr>
          <p:cNvPr id="517" name="图形 5"/>
          <p:cNvGrpSpPr/>
          <p:nvPr/>
        </p:nvGrpSpPr>
        <p:grpSpPr>
          <a:xfrm>
            <a:off x="7809858" y="4883490"/>
            <a:ext cx="783771" cy="979713"/>
            <a:chOff x="7238999" y="5127171"/>
            <a:chExt cx="783771" cy="979713"/>
          </a:xfrm>
          <a:solidFill>
            <a:schemeClr val="accent2">
              <a:lumMod val="20000"/>
              <a:lumOff val="80000"/>
            </a:schemeClr>
          </a:solidFill>
        </p:grpSpPr>
        <p:grpSp>
          <p:nvGrpSpPr>
            <p:cNvPr id="518" name="图形 5"/>
            <p:cNvGrpSpPr/>
            <p:nvPr/>
          </p:nvGrpSpPr>
          <p:grpSpPr>
            <a:xfrm>
              <a:off x="7238999" y="5127171"/>
              <a:ext cx="783771" cy="252506"/>
              <a:chOff x="7238999" y="5127171"/>
              <a:chExt cx="783771" cy="252506"/>
            </a:xfrm>
            <a:grpFill/>
          </p:grpSpPr>
          <p:sp>
            <p:nvSpPr>
              <p:cNvPr id="539" name="任意多边形: 形状 538"/>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grpFill/>
              <a:ln w="9797" cap="flat">
                <a:solidFill>
                  <a:srgbClr val="333333"/>
                </a:solidFill>
                <a:prstDash val="solid"/>
                <a:miter/>
              </a:ln>
            </p:spPr>
            <p:txBody>
              <a:bodyPr rtlCol="0" anchor="ctr"/>
              <a:lstStyle/>
              <a:p>
                <a:endParaRPr lang="zh-CN" altLang="en-US"/>
              </a:p>
            </p:txBody>
          </p:sp>
          <p:sp>
            <p:nvSpPr>
              <p:cNvPr id="540" name="任意多边形: 形状 539"/>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grpFill/>
              <a:ln w="9797" cap="flat">
                <a:solidFill>
                  <a:srgbClr val="333333"/>
                </a:solidFill>
                <a:prstDash val="solid"/>
                <a:miter/>
              </a:ln>
            </p:spPr>
            <p:txBody>
              <a:bodyPr rtlCol="0" anchor="ctr"/>
              <a:lstStyle/>
              <a:p>
                <a:endParaRPr lang="zh-CN" altLang="en-US"/>
              </a:p>
            </p:txBody>
          </p:sp>
          <p:sp>
            <p:nvSpPr>
              <p:cNvPr id="541" name="任意多边形: 形状 540"/>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grpFill/>
              <a:ln w="9797" cap="flat">
                <a:solidFill>
                  <a:srgbClr val="333333"/>
                </a:solidFill>
                <a:prstDash val="solid"/>
                <a:miter/>
              </a:ln>
            </p:spPr>
            <p:txBody>
              <a:bodyPr rtlCol="0" anchor="ctr"/>
              <a:lstStyle/>
              <a:p>
                <a:endParaRPr lang="zh-CN" altLang="en-US"/>
              </a:p>
            </p:txBody>
          </p:sp>
          <p:sp>
            <p:nvSpPr>
              <p:cNvPr id="542" name="任意多边形: 形状 541"/>
              <p:cNvSpPr/>
              <p:nvPr/>
            </p:nvSpPr>
            <p:spPr>
              <a:xfrm>
                <a:off x="7826828" y="5127171"/>
                <a:ext cx="195942" cy="195942"/>
              </a:xfrm>
              <a:custGeom>
                <a:avLst/>
                <a:gdLst>
                  <a:gd name="connsiteX0" fmla="*/ 790 w 195942"/>
                  <a:gd name="connsiteY0" fmla="*/ 785 h 195942"/>
                  <a:gd name="connsiteX1" fmla="*/ 196733 w 195942"/>
                  <a:gd name="connsiteY1" fmla="*/ 785 h 195942"/>
                  <a:gd name="connsiteX2" fmla="*/ 196733 w 195942"/>
                  <a:gd name="connsiteY2" fmla="*/ 196728 h 195942"/>
                  <a:gd name="connsiteX3" fmla="*/ 79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785"/>
                    </a:moveTo>
                    <a:lnTo>
                      <a:pt x="196733" y="785"/>
                    </a:lnTo>
                    <a:lnTo>
                      <a:pt x="196733" y="196728"/>
                    </a:lnTo>
                    <a:lnTo>
                      <a:pt x="790" y="196728"/>
                    </a:lnTo>
                    <a:close/>
                  </a:path>
                </a:pathLst>
              </a:custGeom>
              <a:grpFill/>
              <a:ln w="9797" cap="flat">
                <a:solidFill>
                  <a:srgbClr val="333333"/>
                </a:solidFill>
                <a:prstDash val="solid"/>
                <a:miter/>
              </a:ln>
            </p:spPr>
            <p:txBody>
              <a:bodyPr rtlCol="0" anchor="ctr"/>
              <a:lstStyle/>
              <a:p>
                <a:endParaRPr lang="zh-CN" altLang="en-US"/>
              </a:p>
            </p:txBody>
          </p:sp>
        </p:grpSp>
        <p:grpSp>
          <p:nvGrpSpPr>
            <p:cNvPr id="519" name="图形 5"/>
            <p:cNvGrpSpPr/>
            <p:nvPr/>
          </p:nvGrpSpPr>
          <p:grpSpPr>
            <a:xfrm>
              <a:off x="7239000" y="5323114"/>
              <a:ext cx="783770" cy="195942"/>
              <a:chOff x="7239000" y="5323114"/>
              <a:chExt cx="783770" cy="195942"/>
            </a:xfrm>
            <a:grpFill/>
          </p:grpSpPr>
          <p:sp>
            <p:nvSpPr>
              <p:cNvPr id="535" name="任意多边形: 形状 534"/>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grpFill/>
              <a:ln w="9797" cap="flat">
                <a:solidFill>
                  <a:srgbClr val="333333"/>
                </a:solidFill>
                <a:prstDash val="solid"/>
                <a:miter/>
              </a:ln>
            </p:spPr>
            <p:txBody>
              <a:bodyPr rtlCol="0" anchor="ctr"/>
              <a:lstStyle/>
              <a:p>
                <a:endParaRPr lang="zh-CN" altLang="en-US"/>
              </a:p>
            </p:txBody>
          </p:sp>
          <p:sp>
            <p:nvSpPr>
              <p:cNvPr id="536" name="任意多边形: 形状 535"/>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grpFill/>
              <a:ln w="9797" cap="flat">
                <a:solidFill>
                  <a:srgbClr val="333333"/>
                </a:solidFill>
                <a:prstDash val="solid"/>
                <a:miter/>
              </a:ln>
            </p:spPr>
            <p:txBody>
              <a:bodyPr rtlCol="0" anchor="ctr"/>
              <a:lstStyle/>
              <a:p>
                <a:endParaRPr lang="zh-CN" altLang="en-US"/>
              </a:p>
            </p:txBody>
          </p:sp>
          <p:sp>
            <p:nvSpPr>
              <p:cNvPr id="537" name="任意多边形: 形状 536"/>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grpFill/>
              <a:ln w="9797" cap="flat">
                <a:solidFill>
                  <a:srgbClr val="333333"/>
                </a:solidFill>
                <a:prstDash val="solid"/>
                <a:miter/>
              </a:ln>
            </p:spPr>
            <p:txBody>
              <a:bodyPr rtlCol="0" anchor="ctr"/>
              <a:lstStyle/>
              <a:p>
                <a:endParaRPr lang="zh-CN" altLang="en-US"/>
              </a:p>
            </p:txBody>
          </p:sp>
          <p:sp>
            <p:nvSpPr>
              <p:cNvPr id="538" name="任意多边形: 形状 537"/>
              <p:cNvSpPr/>
              <p:nvPr/>
            </p:nvSpPr>
            <p:spPr>
              <a:xfrm>
                <a:off x="7826828" y="5323114"/>
                <a:ext cx="195942" cy="195942"/>
              </a:xfrm>
              <a:custGeom>
                <a:avLst/>
                <a:gdLst>
                  <a:gd name="connsiteX0" fmla="*/ 790 w 195942"/>
                  <a:gd name="connsiteY0" fmla="*/ 815 h 195942"/>
                  <a:gd name="connsiteX1" fmla="*/ 196733 w 195942"/>
                  <a:gd name="connsiteY1" fmla="*/ 815 h 195942"/>
                  <a:gd name="connsiteX2" fmla="*/ 196733 w 195942"/>
                  <a:gd name="connsiteY2" fmla="*/ 196758 h 195942"/>
                  <a:gd name="connsiteX3" fmla="*/ 79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15"/>
                    </a:moveTo>
                    <a:lnTo>
                      <a:pt x="196733" y="815"/>
                    </a:lnTo>
                    <a:lnTo>
                      <a:pt x="196733" y="196758"/>
                    </a:lnTo>
                    <a:lnTo>
                      <a:pt x="790" y="196758"/>
                    </a:lnTo>
                    <a:close/>
                  </a:path>
                </a:pathLst>
              </a:custGeom>
              <a:grpFill/>
              <a:ln w="9797" cap="flat">
                <a:solidFill>
                  <a:srgbClr val="333333"/>
                </a:solidFill>
                <a:prstDash val="solid"/>
                <a:miter/>
              </a:ln>
            </p:spPr>
            <p:txBody>
              <a:bodyPr rtlCol="0" anchor="ctr"/>
              <a:lstStyle/>
              <a:p>
                <a:endParaRPr lang="zh-CN" altLang="en-US"/>
              </a:p>
            </p:txBody>
          </p:sp>
        </p:grpSp>
        <p:grpSp>
          <p:nvGrpSpPr>
            <p:cNvPr id="520" name="图形 5"/>
            <p:cNvGrpSpPr/>
            <p:nvPr/>
          </p:nvGrpSpPr>
          <p:grpSpPr>
            <a:xfrm>
              <a:off x="7239000" y="5519057"/>
              <a:ext cx="783770" cy="195942"/>
              <a:chOff x="7239000" y="5519057"/>
              <a:chExt cx="783770" cy="195942"/>
            </a:xfrm>
            <a:grpFill/>
          </p:grpSpPr>
          <p:sp>
            <p:nvSpPr>
              <p:cNvPr id="531" name="任意多边形: 形状 530"/>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grpFill/>
              <a:ln w="9797" cap="flat">
                <a:solidFill>
                  <a:srgbClr val="333333"/>
                </a:solidFill>
                <a:prstDash val="solid"/>
                <a:miter/>
              </a:ln>
            </p:spPr>
            <p:txBody>
              <a:bodyPr rtlCol="0" anchor="ctr"/>
              <a:lstStyle/>
              <a:p>
                <a:endParaRPr lang="zh-CN" altLang="en-US"/>
              </a:p>
            </p:txBody>
          </p:sp>
          <p:sp>
            <p:nvSpPr>
              <p:cNvPr id="532" name="任意多边形: 形状 531"/>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grpFill/>
              <a:ln w="9797" cap="flat">
                <a:solidFill>
                  <a:srgbClr val="333333"/>
                </a:solidFill>
                <a:prstDash val="solid"/>
                <a:miter/>
              </a:ln>
            </p:spPr>
            <p:txBody>
              <a:bodyPr rtlCol="0" anchor="ctr"/>
              <a:lstStyle/>
              <a:p>
                <a:endParaRPr lang="zh-CN" altLang="en-US"/>
              </a:p>
            </p:txBody>
          </p:sp>
          <p:sp>
            <p:nvSpPr>
              <p:cNvPr id="533" name="任意多边形: 形状 532"/>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grpFill/>
              <a:ln w="9797" cap="flat">
                <a:solidFill>
                  <a:srgbClr val="333333"/>
                </a:solidFill>
                <a:prstDash val="solid"/>
                <a:miter/>
              </a:ln>
            </p:spPr>
            <p:txBody>
              <a:bodyPr rtlCol="0" anchor="ctr"/>
              <a:lstStyle/>
              <a:p>
                <a:endParaRPr lang="zh-CN" altLang="en-US"/>
              </a:p>
            </p:txBody>
          </p:sp>
          <p:sp>
            <p:nvSpPr>
              <p:cNvPr id="534" name="任意多边形: 形状 533"/>
              <p:cNvSpPr/>
              <p:nvPr/>
            </p:nvSpPr>
            <p:spPr>
              <a:xfrm>
                <a:off x="7826828" y="5519057"/>
                <a:ext cx="195942" cy="195942"/>
              </a:xfrm>
              <a:custGeom>
                <a:avLst/>
                <a:gdLst>
                  <a:gd name="connsiteX0" fmla="*/ 790 w 195942"/>
                  <a:gd name="connsiteY0" fmla="*/ 845 h 195942"/>
                  <a:gd name="connsiteX1" fmla="*/ 196733 w 195942"/>
                  <a:gd name="connsiteY1" fmla="*/ 845 h 195942"/>
                  <a:gd name="connsiteX2" fmla="*/ 196733 w 195942"/>
                  <a:gd name="connsiteY2" fmla="*/ 196788 h 195942"/>
                  <a:gd name="connsiteX3" fmla="*/ 79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45"/>
                    </a:moveTo>
                    <a:lnTo>
                      <a:pt x="196733" y="845"/>
                    </a:lnTo>
                    <a:lnTo>
                      <a:pt x="196733" y="196788"/>
                    </a:lnTo>
                    <a:lnTo>
                      <a:pt x="790" y="196788"/>
                    </a:lnTo>
                    <a:close/>
                  </a:path>
                </a:pathLst>
              </a:custGeom>
              <a:grpFill/>
              <a:ln w="9797" cap="flat">
                <a:solidFill>
                  <a:srgbClr val="333333"/>
                </a:solid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p>
            </p:txBody>
          </p:sp>
        </p:grpSp>
        <p:grpSp>
          <p:nvGrpSpPr>
            <p:cNvPr id="521" name="图形 5"/>
            <p:cNvGrpSpPr/>
            <p:nvPr/>
          </p:nvGrpSpPr>
          <p:grpSpPr>
            <a:xfrm>
              <a:off x="7239000" y="5715000"/>
              <a:ext cx="783770" cy="195942"/>
              <a:chOff x="7239000" y="5715000"/>
              <a:chExt cx="783770" cy="195942"/>
            </a:xfrm>
            <a:grpFill/>
          </p:grpSpPr>
          <p:sp>
            <p:nvSpPr>
              <p:cNvPr id="527" name="任意多边形: 形状 526"/>
              <p:cNvSpPr/>
              <p:nvPr/>
            </p:nvSpPr>
            <p:spPr>
              <a:xfrm>
                <a:off x="7239000" y="5715000"/>
                <a:ext cx="195942" cy="195942"/>
              </a:xfrm>
              <a:custGeom>
                <a:avLst/>
                <a:gdLst>
                  <a:gd name="connsiteX0" fmla="*/ 700 w 195942"/>
                  <a:gd name="connsiteY0" fmla="*/ 875 h 195942"/>
                  <a:gd name="connsiteX1" fmla="*/ 196643 w 195942"/>
                  <a:gd name="connsiteY1" fmla="*/ 875 h 195942"/>
                  <a:gd name="connsiteX2" fmla="*/ 196643 w 195942"/>
                  <a:gd name="connsiteY2" fmla="*/ 196818 h 195942"/>
                  <a:gd name="connsiteX3" fmla="*/ 70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75"/>
                    </a:moveTo>
                    <a:lnTo>
                      <a:pt x="196643" y="875"/>
                    </a:lnTo>
                    <a:lnTo>
                      <a:pt x="196643" y="196818"/>
                    </a:lnTo>
                    <a:lnTo>
                      <a:pt x="700" y="196818"/>
                    </a:lnTo>
                    <a:close/>
                  </a:path>
                </a:pathLst>
              </a:custGeom>
              <a:grpFill/>
              <a:ln w="9797" cap="flat">
                <a:solidFill>
                  <a:srgbClr val="333333"/>
                </a:solidFill>
                <a:prstDash val="solid"/>
                <a:miter/>
              </a:ln>
            </p:spPr>
            <p:txBody>
              <a:bodyPr rtlCol="0" anchor="ctr"/>
              <a:lstStyle/>
              <a:p>
                <a:endParaRPr lang="zh-CN" altLang="en-US"/>
              </a:p>
            </p:txBody>
          </p:sp>
          <p:sp>
            <p:nvSpPr>
              <p:cNvPr id="528" name="任意多边形: 形状 527"/>
              <p:cNvSpPr/>
              <p:nvPr/>
            </p:nvSpPr>
            <p:spPr>
              <a:xfrm>
                <a:off x="7434942" y="5715000"/>
                <a:ext cx="195942" cy="195942"/>
              </a:xfrm>
              <a:custGeom>
                <a:avLst/>
                <a:gdLst>
                  <a:gd name="connsiteX0" fmla="*/ 730 w 195942"/>
                  <a:gd name="connsiteY0" fmla="*/ 875 h 195942"/>
                  <a:gd name="connsiteX1" fmla="*/ 196673 w 195942"/>
                  <a:gd name="connsiteY1" fmla="*/ 875 h 195942"/>
                  <a:gd name="connsiteX2" fmla="*/ 196673 w 195942"/>
                  <a:gd name="connsiteY2" fmla="*/ 196818 h 195942"/>
                  <a:gd name="connsiteX3" fmla="*/ 73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75"/>
                    </a:moveTo>
                    <a:lnTo>
                      <a:pt x="196673" y="875"/>
                    </a:lnTo>
                    <a:lnTo>
                      <a:pt x="196673" y="196818"/>
                    </a:lnTo>
                    <a:lnTo>
                      <a:pt x="730" y="196818"/>
                    </a:lnTo>
                    <a:close/>
                  </a:path>
                </a:pathLst>
              </a:custGeom>
              <a:grpFill/>
              <a:ln w="9797" cap="flat">
                <a:solidFill>
                  <a:srgbClr val="333333"/>
                </a:solidFill>
                <a:prstDash val="solid"/>
                <a:miter/>
              </a:ln>
            </p:spPr>
            <p:txBody>
              <a:bodyPr rtlCol="0" anchor="ctr"/>
              <a:lstStyle/>
              <a:p>
                <a:endParaRPr lang="zh-CN" altLang="en-US"/>
              </a:p>
            </p:txBody>
          </p:sp>
          <p:sp>
            <p:nvSpPr>
              <p:cNvPr id="529" name="任意多边形: 形状 528"/>
              <p:cNvSpPr/>
              <p:nvPr/>
            </p:nvSpPr>
            <p:spPr>
              <a:xfrm>
                <a:off x="7630885" y="5715000"/>
                <a:ext cx="195942" cy="195942"/>
              </a:xfrm>
              <a:custGeom>
                <a:avLst/>
                <a:gdLst>
                  <a:gd name="connsiteX0" fmla="*/ 760 w 195942"/>
                  <a:gd name="connsiteY0" fmla="*/ 875 h 195942"/>
                  <a:gd name="connsiteX1" fmla="*/ 196703 w 195942"/>
                  <a:gd name="connsiteY1" fmla="*/ 875 h 195942"/>
                  <a:gd name="connsiteX2" fmla="*/ 196703 w 195942"/>
                  <a:gd name="connsiteY2" fmla="*/ 196818 h 195942"/>
                  <a:gd name="connsiteX3" fmla="*/ 76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75"/>
                    </a:moveTo>
                    <a:lnTo>
                      <a:pt x="196703" y="875"/>
                    </a:lnTo>
                    <a:lnTo>
                      <a:pt x="196703" y="196818"/>
                    </a:lnTo>
                    <a:lnTo>
                      <a:pt x="760" y="196818"/>
                    </a:lnTo>
                    <a:close/>
                  </a:path>
                </a:pathLst>
              </a:custGeom>
              <a:grpFill/>
              <a:ln w="9797" cap="flat">
                <a:solidFill>
                  <a:srgbClr val="333333"/>
                </a:solidFill>
                <a:prstDash val="solid"/>
                <a:miter/>
              </a:ln>
            </p:spPr>
            <p:txBody>
              <a:bodyPr rtlCol="0" anchor="ctr"/>
              <a:lstStyle/>
              <a:p>
                <a:endParaRPr lang="zh-CN" altLang="en-US"/>
              </a:p>
            </p:txBody>
          </p:sp>
          <p:sp>
            <p:nvSpPr>
              <p:cNvPr id="530" name="任意多边形: 形状 529"/>
              <p:cNvSpPr/>
              <p:nvPr/>
            </p:nvSpPr>
            <p:spPr>
              <a:xfrm>
                <a:off x="7826828" y="5715000"/>
                <a:ext cx="195942" cy="195942"/>
              </a:xfrm>
              <a:custGeom>
                <a:avLst/>
                <a:gdLst>
                  <a:gd name="connsiteX0" fmla="*/ 790 w 195942"/>
                  <a:gd name="connsiteY0" fmla="*/ 875 h 195942"/>
                  <a:gd name="connsiteX1" fmla="*/ 196733 w 195942"/>
                  <a:gd name="connsiteY1" fmla="*/ 875 h 195942"/>
                  <a:gd name="connsiteX2" fmla="*/ 196733 w 195942"/>
                  <a:gd name="connsiteY2" fmla="*/ 196818 h 195942"/>
                  <a:gd name="connsiteX3" fmla="*/ 790 w 195942"/>
                  <a:gd name="connsiteY3" fmla="*/ 19681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875"/>
                    </a:moveTo>
                    <a:lnTo>
                      <a:pt x="196733" y="875"/>
                    </a:lnTo>
                    <a:lnTo>
                      <a:pt x="196733" y="196818"/>
                    </a:lnTo>
                    <a:lnTo>
                      <a:pt x="790" y="196818"/>
                    </a:lnTo>
                    <a:close/>
                  </a:path>
                </a:pathLst>
              </a:custGeom>
              <a:grpFill/>
              <a:ln w="9797" cap="flat">
                <a:solidFill>
                  <a:srgbClr val="333333"/>
                </a:solidFill>
                <a:prstDash val="solid"/>
                <a:miter/>
              </a:ln>
            </p:spPr>
            <p:txBody>
              <a:bodyPr rtlCol="0" anchor="ctr"/>
              <a:lstStyle/>
              <a:p>
                <a:endParaRPr lang="zh-CN" altLang="en-US"/>
              </a:p>
            </p:txBody>
          </p:sp>
        </p:grpSp>
        <p:grpSp>
          <p:nvGrpSpPr>
            <p:cNvPr id="522" name="图形 5"/>
            <p:cNvGrpSpPr/>
            <p:nvPr/>
          </p:nvGrpSpPr>
          <p:grpSpPr>
            <a:xfrm>
              <a:off x="7239000" y="5910942"/>
              <a:ext cx="783770" cy="195942"/>
              <a:chOff x="7239000" y="5910942"/>
              <a:chExt cx="783770" cy="195942"/>
            </a:xfrm>
            <a:grpFill/>
          </p:grpSpPr>
          <p:sp>
            <p:nvSpPr>
              <p:cNvPr id="523" name="任意多边形: 形状 522"/>
              <p:cNvSpPr/>
              <p:nvPr/>
            </p:nvSpPr>
            <p:spPr>
              <a:xfrm>
                <a:off x="7239000" y="5910942"/>
                <a:ext cx="195942" cy="195942"/>
              </a:xfrm>
              <a:custGeom>
                <a:avLst/>
                <a:gdLst>
                  <a:gd name="connsiteX0" fmla="*/ 700 w 195942"/>
                  <a:gd name="connsiteY0" fmla="*/ 905 h 195942"/>
                  <a:gd name="connsiteX1" fmla="*/ 196643 w 195942"/>
                  <a:gd name="connsiteY1" fmla="*/ 905 h 195942"/>
                  <a:gd name="connsiteX2" fmla="*/ 196643 w 195942"/>
                  <a:gd name="connsiteY2" fmla="*/ 196848 h 195942"/>
                  <a:gd name="connsiteX3" fmla="*/ 70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905"/>
                    </a:moveTo>
                    <a:lnTo>
                      <a:pt x="196643" y="905"/>
                    </a:lnTo>
                    <a:lnTo>
                      <a:pt x="196643" y="196848"/>
                    </a:lnTo>
                    <a:lnTo>
                      <a:pt x="700" y="196848"/>
                    </a:lnTo>
                    <a:close/>
                  </a:path>
                </a:pathLst>
              </a:custGeom>
              <a:grpFill/>
              <a:ln w="9797" cap="flat">
                <a:solidFill>
                  <a:srgbClr val="333333"/>
                </a:solidFill>
                <a:prstDash val="solid"/>
                <a:miter/>
              </a:ln>
            </p:spPr>
            <p:txBody>
              <a:bodyPr rtlCol="0" anchor="ctr"/>
              <a:lstStyle/>
              <a:p>
                <a:endParaRPr lang="zh-CN" altLang="en-US"/>
              </a:p>
            </p:txBody>
          </p:sp>
          <p:sp>
            <p:nvSpPr>
              <p:cNvPr id="524" name="任意多边形: 形状 523"/>
              <p:cNvSpPr/>
              <p:nvPr/>
            </p:nvSpPr>
            <p:spPr>
              <a:xfrm>
                <a:off x="7434942" y="5910942"/>
                <a:ext cx="195942" cy="195942"/>
              </a:xfrm>
              <a:custGeom>
                <a:avLst/>
                <a:gdLst>
                  <a:gd name="connsiteX0" fmla="*/ 730 w 195942"/>
                  <a:gd name="connsiteY0" fmla="*/ 905 h 195942"/>
                  <a:gd name="connsiteX1" fmla="*/ 196673 w 195942"/>
                  <a:gd name="connsiteY1" fmla="*/ 905 h 195942"/>
                  <a:gd name="connsiteX2" fmla="*/ 196673 w 195942"/>
                  <a:gd name="connsiteY2" fmla="*/ 196848 h 195942"/>
                  <a:gd name="connsiteX3" fmla="*/ 73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905"/>
                    </a:moveTo>
                    <a:lnTo>
                      <a:pt x="196673" y="905"/>
                    </a:lnTo>
                    <a:lnTo>
                      <a:pt x="196673" y="196848"/>
                    </a:lnTo>
                    <a:lnTo>
                      <a:pt x="730" y="196848"/>
                    </a:lnTo>
                    <a:close/>
                  </a:path>
                </a:pathLst>
              </a:custGeom>
              <a:grpFill/>
              <a:ln w="9797" cap="flat">
                <a:solidFill>
                  <a:srgbClr val="333333"/>
                </a:solidFill>
                <a:prstDash val="solid"/>
                <a:miter/>
              </a:ln>
            </p:spPr>
            <p:txBody>
              <a:bodyPr rtlCol="0" anchor="ctr"/>
              <a:lstStyle/>
              <a:p>
                <a:endParaRPr lang="zh-CN" altLang="en-US"/>
              </a:p>
            </p:txBody>
          </p:sp>
          <p:sp>
            <p:nvSpPr>
              <p:cNvPr id="525" name="任意多边形: 形状 524"/>
              <p:cNvSpPr/>
              <p:nvPr/>
            </p:nvSpPr>
            <p:spPr>
              <a:xfrm>
                <a:off x="7630885" y="5910942"/>
                <a:ext cx="195942" cy="195942"/>
              </a:xfrm>
              <a:custGeom>
                <a:avLst/>
                <a:gdLst>
                  <a:gd name="connsiteX0" fmla="*/ 760 w 195942"/>
                  <a:gd name="connsiteY0" fmla="*/ 905 h 195942"/>
                  <a:gd name="connsiteX1" fmla="*/ 196703 w 195942"/>
                  <a:gd name="connsiteY1" fmla="*/ 905 h 195942"/>
                  <a:gd name="connsiteX2" fmla="*/ 196703 w 195942"/>
                  <a:gd name="connsiteY2" fmla="*/ 196848 h 195942"/>
                  <a:gd name="connsiteX3" fmla="*/ 76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905"/>
                    </a:moveTo>
                    <a:lnTo>
                      <a:pt x="196703" y="905"/>
                    </a:lnTo>
                    <a:lnTo>
                      <a:pt x="196703" y="196848"/>
                    </a:lnTo>
                    <a:lnTo>
                      <a:pt x="760" y="196848"/>
                    </a:lnTo>
                    <a:close/>
                  </a:path>
                </a:pathLst>
              </a:custGeom>
              <a:grpFill/>
              <a:ln w="9797" cap="flat">
                <a:solidFill>
                  <a:srgbClr val="333333"/>
                </a:solidFill>
                <a:prstDash val="solid"/>
                <a:miter/>
              </a:ln>
            </p:spPr>
            <p:txBody>
              <a:bodyPr rtlCol="0" anchor="ctr"/>
              <a:lstStyle/>
              <a:p>
                <a:endParaRPr lang="zh-CN" altLang="en-US"/>
              </a:p>
            </p:txBody>
          </p:sp>
          <p:sp>
            <p:nvSpPr>
              <p:cNvPr id="526" name="任意多边形: 形状 525"/>
              <p:cNvSpPr/>
              <p:nvPr/>
            </p:nvSpPr>
            <p:spPr>
              <a:xfrm>
                <a:off x="7826828" y="5910942"/>
                <a:ext cx="195942" cy="195942"/>
              </a:xfrm>
              <a:custGeom>
                <a:avLst/>
                <a:gdLst>
                  <a:gd name="connsiteX0" fmla="*/ 790 w 195942"/>
                  <a:gd name="connsiteY0" fmla="*/ 905 h 195942"/>
                  <a:gd name="connsiteX1" fmla="*/ 196733 w 195942"/>
                  <a:gd name="connsiteY1" fmla="*/ 905 h 195942"/>
                  <a:gd name="connsiteX2" fmla="*/ 196733 w 195942"/>
                  <a:gd name="connsiteY2" fmla="*/ 196848 h 195942"/>
                  <a:gd name="connsiteX3" fmla="*/ 790 w 195942"/>
                  <a:gd name="connsiteY3" fmla="*/ 19684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90" y="905"/>
                    </a:moveTo>
                    <a:lnTo>
                      <a:pt x="196733" y="905"/>
                    </a:lnTo>
                    <a:lnTo>
                      <a:pt x="196733" y="196848"/>
                    </a:lnTo>
                    <a:lnTo>
                      <a:pt x="790" y="196848"/>
                    </a:lnTo>
                    <a:close/>
                  </a:path>
                </a:pathLst>
              </a:custGeom>
              <a:grpFill/>
              <a:ln w="9797" cap="flat">
                <a:solidFill>
                  <a:srgbClr val="333333"/>
                </a:solidFill>
                <a:prstDash val="solid"/>
                <a:miter/>
              </a:ln>
            </p:spPr>
            <p:txBody>
              <a:bodyPr rtlCol="0" anchor="ctr"/>
              <a:lstStyle/>
              <a:p>
                <a:endParaRPr lang="zh-CN" altLang="en-US"/>
              </a:p>
            </p:txBody>
          </p:sp>
        </p:grpSp>
      </p:grpSp>
      <p:sp>
        <p:nvSpPr>
          <p:cNvPr id="544" name="文本框 543"/>
          <p:cNvSpPr txBox="1"/>
          <p:nvPr/>
        </p:nvSpPr>
        <p:spPr>
          <a:xfrm>
            <a:off x="6850902" y="5167606"/>
            <a:ext cx="978837" cy="369332"/>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en-US" altLang="zh-CN" b="1" dirty="0"/>
              <a:t>…………</a:t>
            </a:r>
            <a:endParaRPr lang="zh-CN" altLang="en-US" dirty="0"/>
          </a:p>
        </p:txBody>
      </p:sp>
      <p:cxnSp>
        <p:nvCxnSpPr>
          <p:cNvPr id="546" name="直接箭头连接符 545"/>
          <p:cNvCxnSpPr/>
          <p:nvPr/>
        </p:nvCxnSpPr>
        <p:spPr>
          <a:xfrm>
            <a:off x="8718550" y="5315012"/>
            <a:ext cx="1333500" cy="21777"/>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547" name="文本框 546"/>
          <p:cNvSpPr txBox="1"/>
          <p:nvPr/>
        </p:nvSpPr>
        <p:spPr>
          <a:xfrm>
            <a:off x="8870886" y="4867880"/>
            <a:ext cx="150832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线性变换</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548" name="文本框 547"/>
          <p:cNvSpPr txBox="1"/>
          <p:nvPr/>
        </p:nvSpPr>
        <p:spPr>
          <a:xfrm>
            <a:off x="10379209" y="5152123"/>
            <a:ext cx="150832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信息组合</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6600084" y="4438297"/>
            <a:ext cx="1307746"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拼接操作</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pic>
        <p:nvPicPr>
          <p:cNvPr id="5" name="图片 4"/>
          <p:cNvPicPr>
            <a:picLocks noChangeAspect="1"/>
          </p:cNvPicPr>
          <p:nvPr/>
        </p:nvPicPr>
        <p:blipFill>
          <a:blip r:embed="rId1"/>
          <a:stretch>
            <a:fillRect/>
          </a:stretch>
        </p:blipFill>
        <p:spPr>
          <a:xfrm>
            <a:off x="-635" y="1691005"/>
            <a:ext cx="4245610" cy="409194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5"/>
                                        </p:tgtEl>
                                        <p:attrNameLst>
                                          <p:attrName>ppt_x</p:attrName>
                                        </p:attrNameLst>
                                      </p:cBhvr>
                                      <p:tavLst>
                                        <p:tav tm="0">
                                          <p:val>
                                            <p:strVal val="ppt_x"/>
                                          </p:val>
                                        </p:tav>
                                        <p:tav tm="100000">
                                          <p:val>
                                            <p:strVal val="ppt_x"/>
                                          </p:val>
                                        </p:tav>
                                      </p:tavLst>
                                    </p:anim>
                                    <p:anim calcmode="lin" valueType="num">
                                      <p:cBhvr additive="base">
                                        <p:cTn id="7" dur="500"/>
                                        <p:tgtEl>
                                          <p:spTgt spid="5"/>
                                        </p:tgtEl>
                                        <p:attrNameLst>
                                          <p:attrName>ppt_y</p:attrName>
                                        </p:attrNameLst>
                                      </p:cBhvr>
                                      <p:tavLst>
                                        <p:tav tm="0">
                                          <p:val>
                                            <p:strVal val="ppt_y"/>
                                          </p:val>
                                        </p:tav>
                                        <p:tav tm="100000">
                                          <p:val>
                                            <p:strVal val="1+ppt_h/2"/>
                                          </p:val>
                                        </p:tav>
                                      </p:tavLst>
                                    </p:anim>
                                    <p:set>
                                      <p:cBhvr>
                                        <p:cTn id="8" dur="1" fill="hold">
                                          <p:stCondLst>
                                            <p:cond delay="499"/>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介绍</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en-US" altLang="zh-CN" dirty="0"/>
              <a:t>Transformer </a:t>
            </a:r>
            <a:r>
              <a:rPr lang="zh-CN" altLang="en-US" dirty="0"/>
              <a:t>是一种专门处理序列数据的神经网络架构</a:t>
            </a:r>
            <a:endParaRPr lang="en-US" altLang="zh-CN" dirty="0"/>
          </a:p>
          <a:p>
            <a:pPr marL="0" indent="0">
              <a:buNone/>
            </a:pPr>
            <a:r>
              <a:rPr lang="zh-CN" altLang="en-US" dirty="0"/>
              <a:t>所谓序列，就是具有顺序的数据，例如一句话、一段语音，或者一串时间序列</a:t>
            </a:r>
            <a:endParaRPr lang="en-US" altLang="zh-CN" dirty="0"/>
          </a:p>
          <a:p>
            <a:pPr marL="0" indent="0">
              <a:buNone/>
            </a:pPr>
            <a:endParaRPr lang="en-US" altLang="zh-CN" dirty="0"/>
          </a:p>
          <a:p>
            <a:pPr marL="0" indent="0">
              <a:buNone/>
            </a:pPr>
            <a:r>
              <a:rPr lang="zh-CN" altLang="en-US" b="1" dirty="0"/>
              <a:t>核心思路：让所有</a:t>
            </a:r>
            <a:r>
              <a:rPr lang="en-US" altLang="zh-CN" b="1" dirty="0"/>
              <a:t>token</a:t>
            </a:r>
            <a:r>
              <a:rPr lang="zh-CN" altLang="en-US" b="1" dirty="0"/>
              <a:t>都可以直接互相查看，直接建立联系</a:t>
            </a:r>
            <a:endParaRPr lang="zh-CN" altLang="en-US" b="1" dirty="0"/>
          </a:p>
        </p:txBody>
      </p:sp>
      <p:cxnSp>
        <p:nvCxnSpPr>
          <p:cNvPr id="7" name="直接箭头连接符 6"/>
          <p:cNvCxnSpPr/>
          <p:nvPr/>
        </p:nvCxnSpPr>
        <p:spPr>
          <a:xfrm flipV="1">
            <a:off x="2692400" y="3689350"/>
            <a:ext cx="527050" cy="104775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9" name="文本框 8"/>
          <p:cNvSpPr txBox="1"/>
          <p:nvPr/>
        </p:nvSpPr>
        <p:spPr>
          <a:xfrm>
            <a:off x="1354440" y="4845050"/>
            <a:ext cx="33718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注意力机制</a:t>
            </a:r>
            <a:r>
              <a:rPr lang="en-US" altLang="zh-CN" sz="2400" dirty="0">
                <a:solidFill>
                  <a:schemeClr val="accent1"/>
                </a:solidFill>
                <a:latin typeface="微软雅黑" panose="020B0503020204020204" pitchFamily="34" charset="-122"/>
                <a:ea typeface="微软雅黑" panose="020B0503020204020204" pitchFamily="34" charset="-122"/>
              </a:rPr>
              <a:t>Attention</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49300" y="-11341"/>
            <a:ext cx="10515600" cy="1325563"/>
          </a:xfrm>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8200" y="1396489"/>
            <a:ext cx="11140214" cy="4351338"/>
          </a:xfrm>
        </p:spPr>
        <p:txBody>
          <a:bodyPr/>
          <a:lstStyle/>
          <a:p>
            <a:pPr>
              <a:buFont typeface="Wingdings" panose="05000000000000000000" pitchFamily="2" charset="2"/>
              <a:buChar char="ü"/>
            </a:pPr>
            <a:r>
              <a:rPr lang="en-US" altLang="zh-CN" dirty="0"/>
              <a:t>Encoder</a:t>
            </a:r>
            <a:r>
              <a:rPr lang="zh-CN" altLang="en-US" dirty="0"/>
              <a:t>：理解输入</a:t>
            </a:r>
            <a:endParaRPr lang="en-US" altLang="zh-CN" dirty="0"/>
          </a:p>
          <a:p>
            <a:pPr>
              <a:buFont typeface="Wingdings" panose="05000000000000000000" pitchFamily="2" charset="2"/>
              <a:buChar char="ü"/>
            </a:pPr>
            <a:r>
              <a:rPr lang="en-US" altLang="zh-CN" dirty="0"/>
              <a:t>Decoder</a:t>
            </a:r>
            <a:r>
              <a:rPr lang="zh-CN" altLang="en-US" dirty="0"/>
              <a:t>：生成输出</a:t>
            </a:r>
            <a:endParaRPr lang="zh-CN" altLang="en-US" dirty="0"/>
          </a:p>
        </p:txBody>
      </p:sp>
      <p:pic>
        <p:nvPicPr>
          <p:cNvPr id="5" name="图片 4"/>
          <p:cNvPicPr>
            <a:picLocks noChangeAspect="1"/>
          </p:cNvPicPr>
          <p:nvPr/>
        </p:nvPicPr>
        <p:blipFill>
          <a:blip r:embed="rId1"/>
          <a:stretch>
            <a:fillRect/>
          </a:stretch>
        </p:blipFill>
        <p:spPr>
          <a:xfrm>
            <a:off x="1109112" y="2319088"/>
            <a:ext cx="3139038" cy="4354445"/>
          </a:xfrm>
          <a:prstGeom prst="rect">
            <a:avLst/>
          </a:prstGeom>
        </p:spPr>
      </p:pic>
      <p:graphicFrame>
        <p:nvGraphicFramePr>
          <p:cNvPr id="6" name="表格 5"/>
          <p:cNvGraphicFramePr>
            <a:graphicFrameLocks noGrp="1"/>
          </p:cNvGraphicFramePr>
          <p:nvPr>
            <p:custDataLst>
              <p:tags r:id="rId2"/>
            </p:custDataLst>
          </p:nvPr>
        </p:nvGraphicFramePr>
        <p:xfrm>
          <a:off x="4519062" y="1957456"/>
          <a:ext cx="7179733" cy="4814819"/>
        </p:xfrm>
        <a:graphic>
          <a:graphicData uri="http://schemas.openxmlformats.org/drawingml/2006/table">
            <a:tbl>
              <a:tblPr firstRow="1" firstCol="1">
                <a:tableStyleId>{CF821DB8-F4EB-4A41-A1BA-3FCAFE7338EE}</a:tableStyleId>
              </a:tblPr>
              <a:tblGrid>
                <a:gridCol w="2415848"/>
                <a:gridCol w="4763885"/>
              </a:tblGrid>
              <a:tr h="439637">
                <a:tc>
                  <a:txBody>
                    <a:bodyPr/>
                    <a:lstStyle/>
                    <a:p>
                      <a:pPr algn="ctr">
                        <a:buNone/>
                      </a:pPr>
                      <a:r>
                        <a:rPr lang="zh-CN" altLang="en-US" sz="1600" dirty="0">
                          <a:latin typeface="微软雅黑" panose="020B0503020204020204" pitchFamily="34" charset="-122"/>
                          <a:ea typeface="微软雅黑" panose="020B0503020204020204" pitchFamily="34" charset="-122"/>
                          <a:cs typeface="Arial" panose="020B0604020202020204" pitchFamily="34" charset="0"/>
                        </a:rPr>
                        <a:t>组件</a:t>
                      </a:r>
                      <a:endParaRPr lang="zh-CN" altLang="en-US" sz="16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1600" dirty="0">
                          <a:latin typeface="微软雅黑" panose="020B0503020204020204" pitchFamily="34" charset="-122"/>
                          <a:ea typeface="微软雅黑" panose="020B0503020204020204" pitchFamily="34" charset="-122"/>
                          <a:cs typeface="Arial" panose="020B0604020202020204" pitchFamily="34" charset="0"/>
                        </a:rPr>
                        <a:t>具体解释</a:t>
                      </a:r>
                      <a:endParaRPr lang="en-US" altLang="zh-CN" sz="16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algn="ctr">
                        <a:buNone/>
                      </a:pPr>
                      <a:r>
                        <a:rPr lang="en-US" altLang="zh-CN" sz="1600" b="1" dirty="0">
                          <a:latin typeface="微软雅黑" panose="020B0503020204020204" pitchFamily="34" charset="-122"/>
                          <a:ea typeface="微软雅黑" panose="020B0503020204020204" pitchFamily="34" charset="-122"/>
                          <a:cs typeface="Arial" panose="020B0604020202020204" pitchFamily="34" charset="0"/>
                        </a:rPr>
                        <a:t>Input</a:t>
                      </a:r>
                      <a:endParaRPr lang="zh-CN" sz="1600" b="1"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Encoder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输入端：接收原始输入序列</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algn="ctr">
                        <a:buNone/>
                      </a:pPr>
                      <a:r>
                        <a:rPr lang="en-US" altLang="zh-CN" sz="1600" b="1" dirty="0">
                          <a:latin typeface="微软雅黑" panose="020B0503020204020204" pitchFamily="34" charset="-122"/>
                          <a:ea typeface="微软雅黑" panose="020B0503020204020204" pitchFamily="34" charset="-122"/>
                          <a:cs typeface="Arial" panose="020B0604020202020204" pitchFamily="34" charset="0"/>
                        </a:rPr>
                        <a:t>Output</a:t>
                      </a:r>
                      <a:endParaRPr lang="zh-CN" altLang="en-US" sz="1600" b="1"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输入端：接收已经生成的输出词</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Input Embedding</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Encoder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底部：把每个 </a:t>
                      </a: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Token </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转换成向量</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Output Embedding</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底部：把已生成的词转换成向量</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Positional Encoding</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Embedding</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后：提供词语的位置信息</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Layer Normalization</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Add&amp; Norm</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中：稳定数据分布，加快训练</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0497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Multi-Head Self-Attention</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Encoder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中：分析输入序列中各个词之间的关系</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04971">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Masked Multi-Head Attention</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第一部分：只能关注当前位置及之前的词</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39637">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Feed Forward Network</a:t>
                      </a:r>
                      <a:endParaRPr lang="zh-CN" altLang="en-US" sz="16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Encoder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和</a:t>
                      </a:r>
                      <a:r>
                        <a:rPr lang="en-US" altLang="zh-CN"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Decoder</a:t>
                      </a:r>
                      <a:r>
                        <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中：对每个位置的特征进行进一步加工</a:t>
                      </a:r>
                      <a:endParaRPr lang="zh-CN" altLang="en-US" sz="16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8" name="文本框 7"/>
          <p:cNvSpPr txBox="1"/>
          <p:nvPr/>
        </p:nvSpPr>
        <p:spPr>
          <a:xfrm>
            <a:off x="4857750" y="1170690"/>
            <a:ext cx="565150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“我喜欢猫”翻译成 “</a:t>
            </a:r>
            <a:r>
              <a:rPr lang="en-US" altLang="zh-CN" sz="2400" dirty="0">
                <a:solidFill>
                  <a:schemeClr val="accent1"/>
                </a:solidFill>
                <a:latin typeface="微软雅黑" panose="020B0503020204020204" pitchFamily="34" charset="-122"/>
                <a:ea typeface="微软雅黑" panose="020B0503020204020204" pitchFamily="34" charset="-122"/>
              </a:rPr>
              <a:t>I like cats” </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en-US" altLang="zh-CN" b="1" dirty="0">
                <a:solidFill>
                  <a:srgbClr val="C00000"/>
                </a:solidFill>
              </a:rPr>
              <a:t>No.1  Input</a:t>
            </a:r>
            <a:r>
              <a:rPr lang="zh-CN" altLang="en-US" b="1" dirty="0">
                <a:solidFill>
                  <a:srgbClr val="C00000"/>
                </a:solidFill>
              </a:rPr>
              <a:t>前的处理</a:t>
            </a:r>
            <a:endParaRPr lang="en-US" altLang="zh-CN" b="1" dirty="0">
              <a:solidFill>
                <a:srgbClr val="C00000"/>
              </a:solidFill>
            </a:endParaRPr>
          </a:p>
          <a:p>
            <a:pPr marL="0" indent="0">
              <a:buNone/>
            </a:pPr>
            <a:r>
              <a:rPr lang="zh-CN" altLang="en-US" dirty="0"/>
              <a:t>将输入句子“我喜欢猫”分成一个个</a:t>
            </a:r>
            <a:r>
              <a:rPr lang="en-US" altLang="zh-CN" dirty="0"/>
              <a:t>token</a:t>
            </a:r>
            <a:r>
              <a:rPr lang="zh-CN" altLang="en-US" dirty="0"/>
              <a:t>“</a:t>
            </a:r>
            <a:r>
              <a:rPr lang="zh-CN" altLang="en-US" u="sng" dirty="0"/>
              <a:t>我</a:t>
            </a:r>
            <a:r>
              <a:rPr lang="zh-CN" altLang="en-US" dirty="0"/>
              <a:t> </a:t>
            </a:r>
            <a:r>
              <a:rPr lang="zh-CN" altLang="en-US" u="sng" dirty="0"/>
              <a:t>喜欢</a:t>
            </a:r>
            <a:r>
              <a:rPr lang="zh-CN" altLang="en-US" dirty="0"/>
              <a:t> </a:t>
            </a:r>
            <a:r>
              <a:rPr lang="zh-CN" altLang="en-US" u="sng" dirty="0"/>
              <a:t>猫</a:t>
            </a:r>
            <a:r>
              <a:rPr lang="zh-CN" altLang="en-US" dirty="0"/>
              <a:t>”</a:t>
            </a:r>
            <a:endParaRPr lang="en-US" altLang="zh-CN" dirty="0"/>
          </a:p>
          <a:p>
            <a:pPr marL="0" indent="0">
              <a:buNone/>
            </a:pPr>
            <a:endParaRPr lang="en-US" altLang="zh-CN" dirty="0"/>
          </a:p>
          <a:p>
            <a:pPr marL="0" indent="0">
              <a:buNone/>
            </a:pPr>
            <a:endParaRPr lang="en-US" altLang="zh-CN" dirty="0"/>
          </a:p>
          <a:p>
            <a:pPr marL="0" indent="0">
              <a:buNone/>
            </a:pPr>
            <a:r>
              <a:rPr lang="en-US" altLang="zh-CN" b="1" dirty="0">
                <a:solidFill>
                  <a:srgbClr val="C00000"/>
                </a:solidFill>
              </a:rPr>
              <a:t>No.2  Input Embedding</a:t>
            </a:r>
            <a:r>
              <a:rPr lang="zh-CN" altLang="en-US" b="1" dirty="0">
                <a:solidFill>
                  <a:srgbClr val="C00000"/>
                </a:solidFill>
              </a:rPr>
              <a:t>：词的身份信息</a:t>
            </a:r>
            <a:endParaRPr lang="en-US" altLang="zh-CN" b="1" dirty="0">
              <a:solidFill>
                <a:srgbClr val="C00000"/>
              </a:solidFill>
            </a:endParaRPr>
          </a:p>
          <a:p>
            <a:pPr marL="0" indent="0">
              <a:buNone/>
            </a:pPr>
            <a:r>
              <a:rPr lang="zh-CN" altLang="en-US" dirty="0"/>
              <a:t>把每个词转换成一个高维向量</a:t>
            </a:r>
            <a:endParaRPr lang="en-US" altLang="zh-CN" b="1" dirty="0"/>
          </a:p>
          <a:p>
            <a:pPr marL="0" indent="0">
              <a:buNone/>
            </a:pPr>
            <a:r>
              <a:rPr lang="zh-CN" altLang="en-US" dirty="0"/>
              <a:t>我     → </a:t>
            </a:r>
            <a:r>
              <a:rPr lang="en-US" altLang="zh-CN" dirty="0"/>
              <a:t>[0.2, 0.7, 0.1, ...]</a:t>
            </a:r>
            <a:endParaRPr lang="en-US" altLang="zh-CN" dirty="0"/>
          </a:p>
          <a:p>
            <a:pPr marL="0" indent="0">
              <a:buNone/>
            </a:pPr>
            <a:r>
              <a:rPr lang="zh-CN" altLang="en-US" dirty="0"/>
              <a:t>喜欢   → </a:t>
            </a:r>
            <a:r>
              <a:rPr lang="en-US" altLang="zh-CN" dirty="0"/>
              <a:t>[0.8, 0.3, 0.6, ...]   </a:t>
            </a:r>
            <a:r>
              <a:rPr lang="zh-CN" altLang="en-US" dirty="0"/>
              <a:t>模型学习出来的“词的含义表示”</a:t>
            </a:r>
            <a:endParaRPr lang="en-US" altLang="zh-CN" dirty="0"/>
          </a:p>
          <a:p>
            <a:pPr marL="0" indent="0">
              <a:buNone/>
            </a:pPr>
            <a:r>
              <a:rPr lang="zh-CN" altLang="en-US" dirty="0"/>
              <a:t>猫     → </a:t>
            </a:r>
            <a:r>
              <a:rPr lang="en-US" altLang="zh-CN" dirty="0"/>
              <a:t>[0.4, 0.9, 0.2, ...]</a:t>
            </a:r>
            <a:endParaRPr lang="zh-CN" altLang="en-US" dirty="0"/>
          </a:p>
        </p:txBody>
      </p:sp>
      <p:pic>
        <p:nvPicPr>
          <p:cNvPr id="5" name="图片 4"/>
          <p:cNvPicPr>
            <a:picLocks noChangeAspect="1"/>
          </p:cNvPicPr>
          <p:nvPr/>
        </p:nvPicPr>
        <p:blipFill>
          <a:blip r:embed="rId1"/>
          <a:stretch>
            <a:fillRect/>
          </a:stretch>
        </p:blipFill>
        <p:spPr>
          <a:xfrm>
            <a:off x="9052962" y="1684020"/>
            <a:ext cx="3139038" cy="4354445"/>
          </a:xfrm>
          <a:prstGeom prst="rect">
            <a:avLst/>
          </a:prstGeom>
        </p:spPr>
      </p:pic>
      <p:sp>
        <p:nvSpPr>
          <p:cNvPr id="6" name="矩形 5"/>
          <p:cNvSpPr/>
          <p:nvPr/>
        </p:nvSpPr>
        <p:spPr>
          <a:xfrm>
            <a:off x="9607549" y="5173980"/>
            <a:ext cx="1014931" cy="817880"/>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no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8199" y="1633220"/>
            <a:ext cx="11719878" cy="5751513"/>
          </a:xfrm>
        </p:spPr>
        <p:txBody>
          <a:bodyPr>
            <a:normAutofit/>
          </a:bodyPr>
          <a:lstStyle/>
          <a:p>
            <a:pPr marL="0" indent="0">
              <a:buNone/>
            </a:pPr>
            <a:r>
              <a:rPr lang="en-US" altLang="zh-CN" b="1" dirty="0">
                <a:solidFill>
                  <a:srgbClr val="C00000"/>
                </a:solidFill>
              </a:rPr>
              <a:t>No.3</a:t>
            </a:r>
            <a:r>
              <a:rPr lang="zh-CN" altLang="en-US" b="1" dirty="0">
                <a:solidFill>
                  <a:srgbClr val="C00000"/>
                </a:solidFill>
              </a:rPr>
              <a:t> </a:t>
            </a:r>
            <a:r>
              <a:rPr lang="en-US" altLang="zh-CN" b="1" dirty="0">
                <a:solidFill>
                  <a:srgbClr val="C00000"/>
                </a:solidFill>
              </a:rPr>
              <a:t>Positional Encoding</a:t>
            </a:r>
            <a:r>
              <a:rPr lang="zh-CN" altLang="en-US" b="1" dirty="0">
                <a:solidFill>
                  <a:srgbClr val="C00000"/>
                </a:solidFill>
              </a:rPr>
              <a:t>：补充位置信息</a:t>
            </a:r>
            <a:endParaRPr lang="en-US" altLang="zh-CN" b="1" dirty="0">
              <a:solidFill>
                <a:srgbClr val="C00000"/>
              </a:solidFill>
            </a:endParaRPr>
          </a:p>
          <a:p>
            <a:pPr>
              <a:buFont typeface="Wingdings" panose="05000000000000000000" pitchFamily="2" charset="2"/>
              <a:buChar char="ü"/>
            </a:pPr>
            <a:r>
              <a:rPr lang="zh-CN" altLang="en-US" dirty="0"/>
              <a:t>排列不变性质</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r>
              <a:rPr lang="zh-CN" altLang="en-US" dirty="0"/>
              <a:t>输入表示 </a:t>
            </a:r>
            <a:r>
              <a:rPr lang="en-US" altLang="zh-CN" dirty="0"/>
              <a:t>= </a:t>
            </a:r>
            <a:r>
              <a:rPr lang="zh-CN" altLang="en-US" dirty="0"/>
              <a:t>词向量 </a:t>
            </a:r>
            <a:r>
              <a:rPr lang="en-US" altLang="zh-CN" dirty="0"/>
              <a:t>+ </a:t>
            </a:r>
            <a:r>
              <a:rPr lang="zh-CN" altLang="en-US" dirty="0"/>
              <a:t>位置编码</a:t>
            </a:r>
            <a:endParaRPr lang="en-US" altLang="zh-CN" dirty="0"/>
          </a:p>
          <a:p>
            <a:pPr marL="0" indent="0">
              <a:buNone/>
            </a:pPr>
            <a:r>
              <a:rPr lang="zh-CN" altLang="en-US" dirty="0"/>
              <a:t>位置编码特点：唯一、不需要训练学习</a:t>
            </a:r>
            <a:endParaRPr lang="en-US" altLang="zh-CN" dirty="0"/>
          </a:p>
          <a:p>
            <a:pPr>
              <a:buFont typeface="Wingdings" panose="05000000000000000000" pitchFamily="2" charset="2"/>
              <a:buChar char="Ø"/>
            </a:pPr>
            <a:r>
              <a:rPr lang="es-ES" altLang="zh-CN" dirty="0"/>
              <a:t>Embedding(“</a:t>
            </a:r>
            <a:r>
              <a:rPr lang="zh-CN" altLang="en-US" dirty="0"/>
              <a:t>我</a:t>
            </a:r>
            <a:r>
              <a:rPr lang="es-ES" altLang="zh-CN" dirty="0"/>
              <a:t>") + Pos_Vector(1)</a:t>
            </a:r>
            <a:endParaRPr lang="es-ES" altLang="zh-CN" dirty="0"/>
          </a:p>
          <a:p>
            <a:pPr>
              <a:buFont typeface="Wingdings" panose="05000000000000000000" pitchFamily="2" charset="2"/>
              <a:buChar char="Ø"/>
            </a:pPr>
            <a:r>
              <a:rPr lang="es-ES" altLang="zh-CN" dirty="0"/>
              <a:t>Embedding(“</a:t>
            </a:r>
            <a:r>
              <a:rPr lang="zh-CN" altLang="en-US" dirty="0"/>
              <a:t>喜欢</a:t>
            </a:r>
            <a:r>
              <a:rPr lang="es-ES" altLang="zh-CN" dirty="0"/>
              <a:t>") + Pos_Vector(2)</a:t>
            </a:r>
            <a:endParaRPr lang="es-ES" altLang="zh-CN" dirty="0"/>
          </a:p>
          <a:p>
            <a:pPr>
              <a:buFont typeface="Wingdings" panose="05000000000000000000" pitchFamily="2" charset="2"/>
              <a:buChar char="Ø"/>
            </a:pPr>
            <a:r>
              <a:rPr lang="es-ES" altLang="zh-CN" dirty="0"/>
              <a:t>Embedding(“</a:t>
            </a:r>
            <a:r>
              <a:rPr lang="zh-CN" altLang="en-US" dirty="0"/>
              <a:t>猫</a:t>
            </a:r>
            <a:r>
              <a:rPr lang="es-ES" altLang="zh-CN" dirty="0"/>
              <a:t>") + Pos_Vector(3)</a:t>
            </a:r>
            <a:endParaRPr lang="es-ES" altLang="zh-CN" dirty="0"/>
          </a:p>
          <a:p>
            <a:pPr marL="0" indent="0">
              <a:buNone/>
            </a:pPr>
            <a:endParaRPr lang="en-US" altLang="zh-CN" dirty="0"/>
          </a:p>
        </p:txBody>
      </p:sp>
      <p:pic>
        <p:nvPicPr>
          <p:cNvPr id="5" name="图片 4"/>
          <p:cNvPicPr>
            <a:picLocks noChangeAspect="1"/>
          </p:cNvPicPr>
          <p:nvPr/>
        </p:nvPicPr>
        <p:blipFill>
          <a:blip r:embed="rId1"/>
          <a:stretch>
            <a:fillRect/>
          </a:stretch>
        </p:blipFill>
        <p:spPr>
          <a:xfrm>
            <a:off x="9052962" y="1633220"/>
            <a:ext cx="3139038" cy="4354445"/>
          </a:xfrm>
          <a:prstGeom prst="rect">
            <a:avLst/>
          </a:prstGeom>
        </p:spPr>
      </p:pic>
      <p:sp>
        <p:nvSpPr>
          <p:cNvPr id="6" name="矩形 5"/>
          <p:cNvSpPr/>
          <p:nvPr/>
        </p:nvSpPr>
        <p:spPr>
          <a:xfrm>
            <a:off x="9105900" y="4826000"/>
            <a:ext cx="1663700" cy="355600"/>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7" name="Rectangle 1"/>
          <p:cNvSpPr>
            <a:spLocks noChangeArrowheads="1"/>
          </p:cNvSpPr>
          <p:nvPr/>
        </p:nvSpPr>
        <p:spPr bwMode="auto">
          <a:xfrm>
            <a:off x="838198" y="2714129"/>
            <a:ext cx="9014006"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zh-CN" altLang="zh-CN" dirty="0">
                <a:solidFill>
                  <a:schemeClr val="accent1"/>
                </a:solidFill>
                <a:latin typeface="微软雅黑" panose="020B0503020204020204" pitchFamily="34" charset="-122"/>
                <a:ea typeface="微软雅黑" panose="020B0503020204020204" pitchFamily="34" charset="-122"/>
              </a:rPr>
              <a:t>集合 A：['史蒂夫', '建造', '房子'] （Steve builds a house. 这是一个正常的陈述句）</a:t>
            </a:r>
            <a:endParaRPr lang="zh-CN" altLang="zh-CN" dirty="0">
              <a:solidFill>
                <a:schemeClr val="accent1"/>
              </a:solidFill>
              <a:latin typeface="微软雅黑" panose="020B0503020204020204" pitchFamily="34" charset="-122"/>
              <a:ea typeface="微软雅黑" panose="020B0503020204020204" pitchFamily="34" charset="-122"/>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lang="zh-CN" altLang="zh-CN" dirty="0">
                <a:solidFill>
                  <a:schemeClr val="accent1"/>
                </a:solidFill>
                <a:latin typeface="微软雅黑" panose="020B0503020204020204" pitchFamily="34" charset="-122"/>
                <a:ea typeface="微软雅黑" panose="020B0503020204020204" pitchFamily="34" charset="-122"/>
              </a:rPr>
              <a:t>集合 B：['房子', '建造', '史蒂夫'] （House builds Steve. 这在逻辑上是荒谬的）</a:t>
            </a:r>
            <a:endParaRPr lang="en-US" altLang="zh-CN" dirty="0">
              <a:solidFill>
                <a:schemeClr val="accent1"/>
              </a:solidFill>
              <a:latin typeface="微软雅黑" panose="020B0503020204020204" pitchFamily="34" charset="-122"/>
              <a:ea typeface="微软雅黑" panose="020B0503020204020204" pitchFamily="34" charset="-122"/>
            </a:endParaRPr>
          </a:p>
          <a:p>
            <a:pPr marR="0" lvl="0" algn="l" defTabSz="914400" rtl="0" eaLnBrk="0" fontAlgn="base" latinLnBrk="0" hangingPunct="0">
              <a:lnSpc>
                <a:spcPct val="100000"/>
              </a:lnSpc>
              <a:spcBef>
                <a:spcPct val="0"/>
              </a:spcBef>
              <a:spcAft>
                <a:spcPct val="0"/>
              </a:spcAft>
              <a:buClrTx/>
              <a:buSzTx/>
            </a:pPr>
            <a:r>
              <a:rPr lang="zh-CN" altLang="en-US" dirty="0">
                <a:solidFill>
                  <a:schemeClr val="accent1"/>
                </a:solidFill>
                <a:latin typeface="微软雅黑" panose="020B0503020204020204" pitchFamily="34" charset="-122"/>
                <a:ea typeface="微软雅黑" panose="020B0503020204020204" pitchFamily="34" charset="-122"/>
              </a:rPr>
              <a:t>计算自注意力时结果相等</a:t>
            </a:r>
            <a:endParaRPr lang="zh-CN" altLang="zh-CN"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913874" y="1409721"/>
            <a:ext cx="11040428" cy="4351338"/>
          </a:xfrm>
        </p:spPr>
        <p:txBody>
          <a:bodyPr>
            <a:normAutofit/>
          </a:bodyPr>
          <a:lstStyle/>
          <a:p>
            <a:pPr marL="0" indent="0">
              <a:buNone/>
            </a:pPr>
            <a:r>
              <a:rPr lang="en-US" altLang="zh-CN" b="1" dirty="0">
                <a:solidFill>
                  <a:srgbClr val="C00000"/>
                </a:solidFill>
              </a:rPr>
              <a:t>No.4 Encoder</a:t>
            </a:r>
            <a:r>
              <a:rPr lang="zh-CN" altLang="en-US" b="1" dirty="0">
                <a:solidFill>
                  <a:srgbClr val="C00000"/>
                </a:solidFill>
              </a:rPr>
              <a:t>编码器部分</a:t>
            </a:r>
            <a:endParaRPr lang="en-US" altLang="zh-CN" b="1" dirty="0">
              <a:solidFill>
                <a:srgbClr val="C00000"/>
              </a:solidFill>
            </a:endParaRPr>
          </a:p>
          <a:p>
            <a:pPr marL="0" indent="0">
              <a:buNone/>
            </a:pPr>
            <a:r>
              <a:rPr lang="zh-CN" altLang="en-US" dirty="0"/>
              <a:t>由多个相同的编码器堆叠而成</a:t>
            </a:r>
            <a:endParaRPr lang="en-US" altLang="zh-CN" dirty="0"/>
          </a:p>
          <a:p>
            <a:pPr marL="0" indent="0">
              <a:buNone/>
            </a:pPr>
            <a:r>
              <a:rPr lang="zh-CN" altLang="en-US" dirty="0"/>
              <a:t>每一层主要包含</a:t>
            </a:r>
            <a:r>
              <a:rPr lang="en-US" altLang="zh-CN" sz="2000" dirty="0"/>
              <a:t>Multi-Head Self-Attention </a:t>
            </a:r>
            <a:r>
              <a:rPr lang="zh-CN" altLang="en-US" sz="2000" dirty="0"/>
              <a:t>、</a:t>
            </a:r>
            <a:r>
              <a:rPr lang="en-US" altLang="zh-CN" sz="2000" dirty="0"/>
              <a:t> Add &amp; Norm</a:t>
            </a:r>
            <a:r>
              <a:rPr lang="zh-CN" altLang="en-US" sz="2000" dirty="0"/>
              <a:t>、</a:t>
            </a:r>
            <a:r>
              <a:rPr lang="en-US" altLang="zh-CN" sz="2000" dirty="0"/>
              <a:t> Feed Forward</a:t>
            </a:r>
            <a:endParaRPr lang="en-US" altLang="zh-CN" sz="2000" dirty="0"/>
          </a:p>
          <a:p>
            <a:pPr marL="0" indent="0">
              <a:buNone/>
            </a:pPr>
            <a:endParaRPr lang="en-US" altLang="zh-CN" dirty="0"/>
          </a:p>
          <a:p>
            <a:pPr marL="0" indent="0">
              <a:buNone/>
            </a:pPr>
            <a:r>
              <a:rPr lang="en-US" altLang="zh-CN" b="1" dirty="0">
                <a:solidFill>
                  <a:srgbClr val="C00000"/>
                </a:solidFill>
              </a:rPr>
              <a:t>No.4.1Multi-Head Self-Attention</a:t>
            </a:r>
            <a:r>
              <a:rPr lang="zh-CN" altLang="en-US" b="1" dirty="0">
                <a:solidFill>
                  <a:srgbClr val="C00000"/>
                </a:solidFill>
              </a:rPr>
              <a:t>：理解词与词之间的关系</a:t>
            </a:r>
            <a:endParaRPr lang="en-US" altLang="zh-CN" b="1" dirty="0">
              <a:solidFill>
                <a:srgbClr val="C00000"/>
              </a:solidFill>
            </a:endParaRPr>
          </a:p>
          <a:p>
            <a:pPr marL="0" indent="0">
              <a:buNone/>
            </a:pPr>
            <a:r>
              <a:rPr lang="en-US" altLang="zh-CN" dirty="0"/>
              <a:t>     </a:t>
            </a:r>
            <a:endParaRPr lang="en-US" altLang="zh-CN" dirty="0"/>
          </a:p>
        </p:txBody>
      </p:sp>
      <p:pic>
        <p:nvPicPr>
          <p:cNvPr id="5" name="图片 4"/>
          <p:cNvPicPr>
            <a:picLocks noChangeAspect="1"/>
          </p:cNvPicPr>
          <p:nvPr/>
        </p:nvPicPr>
        <p:blipFill>
          <a:blip r:embed="rId1"/>
          <a:stretch>
            <a:fillRect/>
          </a:stretch>
        </p:blipFill>
        <p:spPr>
          <a:xfrm>
            <a:off x="9367622" y="2940050"/>
            <a:ext cx="2824377" cy="3917950"/>
          </a:xfrm>
          <a:prstGeom prst="rect">
            <a:avLst/>
          </a:prstGeom>
        </p:spPr>
      </p:pic>
      <p:grpSp>
        <p:nvGrpSpPr>
          <p:cNvPr id="6" name="图形 5"/>
          <p:cNvGrpSpPr/>
          <p:nvPr/>
        </p:nvGrpSpPr>
        <p:grpSpPr>
          <a:xfrm>
            <a:off x="2907160" y="4132352"/>
            <a:ext cx="2409292" cy="2122534"/>
            <a:chOff x="7238999" y="5127171"/>
            <a:chExt cx="587828" cy="587828"/>
          </a:xfrm>
          <a:solidFill>
            <a:srgbClr val="00B050"/>
          </a:solidFill>
        </p:grpSpPr>
        <p:grpSp>
          <p:nvGrpSpPr>
            <p:cNvPr id="7" name="图形 5"/>
            <p:cNvGrpSpPr/>
            <p:nvPr/>
          </p:nvGrpSpPr>
          <p:grpSpPr>
            <a:xfrm>
              <a:off x="7238999" y="5127171"/>
              <a:ext cx="587828" cy="252506"/>
              <a:chOff x="7238999" y="5127171"/>
              <a:chExt cx="587828" cy="252506"/>
            </a:xfrm>
            <a:grpFill/>
          </p:grpSpPr>
          <p:sp>
            <p:nvSpPr>
              <p:cNvPr id="32" name="任意多边形: 形状 31"/>
              <p:cNvSpPr/>
              <p:nvPr/>
            </p:nvSpPr>
            <p:spPr>
              <a:xfrm>
                <a:off x="7238999" y="5127171"/>
                <a:ext cx="234609" cy="252506"/>
              </a:xfrm>
              <a:custGeom>
                <a:avLst/>
                <a:gdLst>
                  <a:gd name="connsiteX0" fmla="*/ 700 w 195942"/>
                  <a:gd name="connsiteY0" fmla="*/ 785 h 195942"/>
                  <a:gd name="connsiteX1" fmla="*/ 196643 w 195942"/>
                  <a:gd name="connsiteY1" fmla="*/ 785 h 195942"/>
                  <a:gd name="connsiteX2" fmla="*/ 196643 w 195942"/>
                  <a:gd name="connsiteY2" fmla="*/ 196728 h 195942"/>
                  <a:gd name="connsiteX3" fmla="*/ 70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785"/>
                    </a:moveTo>
                    <a:lnTo>
                      <a:pt x="196643" y="785"/>
                    </a:lnTo>
                    <a:lnTo>
                      <a:pt x="196643" y="196728"/>
                    </a:lnTo>
                    <a:lnTo>
                      <a:pt x="700" y="19672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dirty="0"/>
              </a:p>
            </p:txBody>
          </p:sp>
          <p:sp>
            <p:nvSpPr>
              <p:cNvPr id="33" name="任意多边形: 形状 32"/>
              <p:cNvSpPr/>
              <p:nvPr/>
            </p:nvSpPr>
            <p:spPr>
              <a:xfrm>
                <a:off x="7434942" y="5127171"/>
                <a:ext cx="195942" cy="195942"/>
              </a:xfrm>
              <a:custGeom>
                <a:avLst/>
                <a:gdLst>
                  <a:gd name="connsiteX0" fmla="*/ 730 w 195942"/>
                  <a:gd name="connsiteY0" fmla="*/ 785 h 195942"/>
                  <a:gd name="connsiteX1" fmla="*/ 196673 w 195942"/>
                  <a:gd name="connsiteY1" fmla="*/ 785 h 195942"/>
                  <a:gd name="connsiteX2" fmla="*/ 196673 w 195942"/>
                  <a:gd name="connsiteY2" fmla="*/ 196728 h 195942"/>
                  <a:gd name="connsiteX3" fmla="*/ 73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785"/>
                    </a:moveTo>
                    <a:lnTo>
                      <a:pt x="196673" y="785"/>
                    </a:lnTo>
                    <a:lnTo>
                      <a:pt x="196673" y="196728"/>
                    </a:lnTo>
                    <a:lnTo>
                      <a:pt x="730" y="19672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sp>
            <p:nvSpPr>
              <p:cNvPr id="34" name="任意多边形: 形状 33"/>
              <p:cNvSpPr/>
              <p:nvPr/>
            </p:nvSpPr>
            <p:spPr>
              <a:xfrm>
                <a:off x="7630885" y="5127171"/>
                <a:ext cx="195942" cy="195942"/>
              </a:xfrm>
              <a:custGeom>
                <a:avLst/>
                <a:gdLst>
                  <a:gd name="connsiteX0" fmla="*/ 760 w 195942"/>
                  <a:gd name="connsiteY0" fmla="*/ 785 h 195942"/>
                  <a:gd name="connsiteX1" fmla="*/ 196703 w 195942"/>
                  <a:gd name="connsiteY1" fmla="*/ 785 h 195942"/>
                  <a:gd name="connsiteX2" fmla="*/ 196703 w 195942"/>
                  <a:gd name="connsiteY2" fmla="*/ 196728 h 195942"/>
                  <a:gd name="connsiteX3" fmla="*/ 760 w 195942"/>
                  <a:gd name="connsiteY3" fmla="*/ 19672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785"/>
                    </a:moveTo>
                    <a:lnTo>
                      <a:pt x="196703" y="785"/>
                    </a:lnTo>
                    <a:lnTo>
                      <a:pt x="196703" y="196728"/>
                    </a:lnTo>
                    <a:lnTo>
                      <a:pt x="760" y="19672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grpSp>
        <p:grpSp>
          <p:nvGrpSpPr>
            <p:cNvPr id="8" name="图形 5"/>
            <p:cNvGrpSpPr/>
            <p:nvPr/>
          </p:nvGrpSpPr>
          <p:grpSpPr>
            <a:xfrm>
              <a:off x="7239000" y="5323114"/>
              <a:ext cx="587827" cy="195942"/>
              <a:chOff x="7239000" y="5323114"/>
              <a:chExt cx="587827" cy="195942"/>
            </a:xfrm>
            <a:grpFill/>
          </p:grpSpPr>
          <p:sp>
            <p:nvSpPr>
              <p:cNvPr id="27" name="任意多边形: 形状 26"/>
              <p:cNvSpPr/>
              <p:nvPr/>
            </p:nvSpPr>
            <p:spPr>
              <a:xfrm>
                <a:off x="7239000" y="5323114"/>
                <a:ext cx="195942" cy="195942"/>
              </a:xfrm>
              <a:custGeom>
                <a:avLst/>
                <a:gdLst>
                  <a:gd name="connsiteX0" fmla="*/ 700 w 195942"/>
                  <a:gd name="connsiteY0" fmla="*/ 815 h 195942"/>
                  <a:gd name="connsiteX1" fmla="*/ 196643 w 195942"/>
                  <a:gd name="connsiteY1" fmla="*/ 815 h 195942"/>
                  <a:gd name="connsiteX2" fmla="*/ 196643 w 195942"/>
                  <a:gd name="connsiteY2" fmla="*/ 196758 h 195942"/>
                  <a:gd name="connsiteX3" fmla="*/ 70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15"/>
                    </a:moveTo>
                    <a:lnTo>
                      <a:pt x="196643" y="815"/>
                    </a:lnTo>
                    <a:lnTo>
                      <a:pt x="196643" y="196758"/>
                    </a:lnTo>
                    <a:lnTo>
                      <a:pt x="700" y="19675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sp>
            <p:nvSpPr>
              <p:cNvPr id="28" name="任意多边形: 形状 27"/>
              <p:cNvSpPr/>
              <p:nvPr/>
            </p:nvSpPr>
            <p:spPr>
              <a:xfrm>
                <a:off x="7434942" y="5323114"/>
                <a:ext cx="195942" cy="195942"/>
              </a:xfrm>
              <a:custGeom>
                <a:avLst/>
                <a:gdLst>
                  <a:gd name="connsiteX0" fmla="*/ 730 w 195942"/>
                  <a:gd name="connsiteY0" fmla="*/ 815 h 195942"/>
                  <a:gd name="connsiteX1" fmla="*/ 196673 w 195942"/>
                  <a:gd name="connsiteY1" fmla="*/ 815 h 195942"/>
                  <a:gd name="connsiteX2" fmla="*/ 196673 w 195942"/>
                  <a:gd name="connsiteY2" fmla="*/ 196758 h 195942"/>
                  <a:gd name="connsiteX3" fmla="*/ 73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15"/>
                    </a:moveTo>
                    <a:lnTo>
                      <a:pt x="196673" y="815"/>
                    </a:lnTo>
                    <a:lnTo>
                      <a:pt x="196673" y="196758"/>
                    </a:lnTo>
                    <a:lnTo>
                      <a:pt x="730" y="19675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sp>
            <p:nvSpPr>
              <p:cNvPr id="29" name="任意多边形: 形状 28"/>
              <p:cNvSpPr/>
              <p:nvPr/>
            </p:nvSpPr>
            <p:spPr>
              <a:xfrm>
                <a:off x="7630885" y="5323114"/>
                <a:ext cx="195942" cy="195942"/>
              </a:xfrm>
              <a:custGeom>
                <a:avLst/>
                <a:gdLst>
                  <a:gd name="connsiteX0" fmla="*/ 760 w 195942"/>
                  <a:gd name="connsiteY0" fmla="*/ 815 h 195942"/>
                  <a:gd name="connsiteX1" fmla="*/ 196703 w 195942"/>
                  <a:gd name="connsiteY1" fmla="*/ 815 h 195942"/>
                  <a:gd name="connsiteX2" fmla="*/ 196703 w 195942"/>
                  <a:gd name="connsiteY2" fmla="*/ 196758 h 195942"/>
                  <a:gd name="connsiteX3" fmla="*/ 760 w 195942"/>
                  <a:gd name="connsiteY3" fmla="*/ 19675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15"/>
                    </a:moveTo>
                    <a:lnTo>
                      <a:pt x="196703" y="815"/>
                    </a:lnTo>
                    <a:lnTo>
                      <a:pt x="196703" y="196758"/>
                    </a:lnTo>
                    <a:lnTo>
                      <a:pt x="760" y="196758"/>
                    </a:lnTo>
                    <a:close/>
                  </a:path>
                </a:pathLst>
              </a:custGeom>
              <a:solidFill>
                <a:srgbClr val="FFC000"/>
              </a:solidFill>
              <a:ln w="9797" cap="flat">
                <a:solidFill>
                  <a:srgbClr val="333333"/>
                </a:solidFill>
                <a:prstDash val="solid"/>
                <a:miter/>
              </a:ln>
            </p:spPr>
            <p:txBody>
              <a:bodyPr rtlCol="0" anchor="ctr"/>
              <a:lstStyle/>
              <a:p>
                <a:endParaRPr lang="zh-CN" altLang="en-US" dirty="0"/>
              </a:p>
            </p:txBody>
          </p:sp>
        </p:grpSp>
        <p:grpSp>
          <p:nvGrpSpPr>
            <p:cNvPr id="9" name="图形 5"/>
            <p:cNvGrpSpPr/>
            <p:nvPr/>
          </p:nvGrpSpPr>
          <p:grpSpPr>
            <a:xfrm>
              <a:off x="7239000" y="5519057"/>
              <a:ext cx="587827" cy="195942"/>
              <a:chOff x="7239000" y="5519057"/>
              <a:chExt cx="587827" cy="195942"/>
            </a:xfrm>
            <a:grpFill/>
          </p:grpSpPr>
          <p:sp>
            <p:nvSpPr>
              <p:cNvPr id="22" name="任意多边形: 形状 21"/>
              <p:cNvSpPr/>
              <p:nvPr/>
            </p:nvSpPr>
            <p:spPr>
              <a:xfrm>
                <a:off x="7239000" y="5519057"/>
                <a:ext cx="195942" cy="195942"/>
              </a:xfrm>
              <a:custGeom>
                <a:avLst/>
                <a:gdLst>
                  <a:gd name="connsiteX0" fmla="*/ 700 w 195942"/>
                  <a:gd name="connsiteY0" fmla="*/ 845 h 195942"/>
                  <a:gd name="connsiteX1" fmla="*/ 196643 w 195942"/>
                  <a:gd name="connsiteY1" fmla="*/ 845 h 195942"/>
                  <a:gd name="connsiteX2" fmla="*/ 196643 w 195942"/>
                  <a:gd name="connsiteY2" fmla="*/ 196788 h 195942"/>
                  <a:gd name="connsiteX3" fmla="*/ 70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00" y="845"/>
                    </a:moveTo>
                    <a:lnTo>
                      <a:pt x="196643" y="845"/>
                    </a:lnTo>
                    <a:lnTo>
                      <a:pt x="196643" y="196788"/>
                    </a:lnTo>
                    <a:lnTo>
                      <a:pt x="700" y="19678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sp>
            <p:nvSpPr>
              <p:cNvPr id="23" name="任意多边形: 形状 22"/>
              <p:cNvSpPr/>
              <p:nvPr/>
            </p:nvSpPr>
            <p:spPr>
              <a:xfrm>
                <a:off x="7434942" y="5519057"/>
                <a:ext cx="195942" cy="195942"/>
              </a:xfrm>
              <a:custGeom>
                <a:avLst/>
                <a:gdLst>
                  <a:gd name="connsiteX0" fmla="*/ 730 w 195942"/>
                  <a:gd name="connsiteY0" fmla="*/ 845 h 195942"/>
                  <a:gd name="connsiteX1" fmla="*/ 196673 w 195942"/>
                  <a:gd name="connsiteY1" fmla="*/ 845 h 195942"/>
                  <a:gd name="connsiteX2" fmla="*/ 196673 w 195942"/>
                  <a:gd name="connsiteY2" fmla="*/ 196788 h 195942"/>
                  <a:gd name="connsiteX3" fmla="*/ 73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30" y="845"/>
                    </a:moveTo>
                    <a:lnTo>
                      <a:pt x="196673" y="845"/>
                    </a:lnTo>
                    <a:lnTo>
                      <a:pt x="196673" y="196788"/>
                    </a:lnTo>
                    <a:lnTo>
                      <a:pt x="730" y="19678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sp>
            <p:nvSpPr>
              <p:cNvPr id="24" name="任意多边形: 形状 23"/>
              <p:cNvSpPr/>
              <p:nvPr/>
            </p:nvSpPr>
            <p:spPr>
              <a:xfrm>
                <a:off x="7630885" y="5519057"/>
                <a:ext cx="195942" cy="195942"/>
              </a:xfrm>
              <a:custGeom>
                <a:avLst/>
                <a:gdLst>
                  <a:gd name="connsiteX0" fmla="*/ 760 w 195942"/>
                  <a:gd name="connsiteY0" fmla="*/ 845 h 195942"/>
                  <a:gd name="connsiteX1" fmla="*/ 196703 w 195942"/>
                  <a:gd name="connsiteY1" fmla="*/ 845 h 195942"/>
                  <a:gd name="connsiteX2" fmla="*/ 196703 w 195942"/>
                  <a:gd name="connsiteY2" fmla="*/ 196788 h 195942"/>
                  <a:gd name="connsiteX3" fmla="*/ 760 w 195942"/>
                  <a:gd name="connsiteY3" fmla="*/ 196788 h 195942"/>
                </a:gdLst>
                <a:ahLst/>
                <a:cxnLst>
                  <a:cxn ang="0">
                    <a:pos x="connsiteX0" y="connsiteY0"/>
                  </a:cxn>
                  <a:cxn ang="0">
                    <a:pos x="connsiteX1" y="connsiteY1"/>
                  </a:cxn>
                  <a:cxn ang="0">
                    <a:pos x="connsiteX2" y="connsiteY2"/>
                  </a:cxn>
                  <a:cxn ang="0">
                    <a:pos x="connsiteX3" y="connsiteY3"/>
                  </a:cxn>
                </a:cxnLst>
                <a:rect l="l" t="t" r="r" b="b"/>
                <a:pathLst>
                  <a:path w="195942" h="195942">
                    <a:moveTo>
                      <a:pt x="760" y="845"/>
                    </a:moveTo>
                    <a:lnTo>
                      <a:pt x="196703" y="845"/>
                    </a:lnTo>
                    <a:lnTo>
                      <a:pt x="196703" y="196788"/>
                    </a:lnTo>
                    <a:lnTo>
                      <a:pt x="760" y="196788"/>
                    </a:lnTo>
                    <a:close/>
                  </a:path>
                </a:pathLst>
              </a:custGeom>
              <a:solidFill>
                <a:schemeClr val="accent1">
                  <a:lumMod val="20000"/>
                  <a:lumOff val="80000"/>
                </a:schemeClr>
              </a:solidFill>
              <a:ln w="9797" cap="flat">
                <a:solidFill>
                  <a:srgbClr val="333333"/>
                </a:solidFill>
                <a:prstDash val="solid"/>
                <a:miter/>
              </a:ln>
            </p:spPr>
            <p:txBody>
              <a:bodyPr rtlCol="0" anchor="ctr"/>
              <a:lstStyle/>
              <a:p>
                <a:endParaRPr lang="zh-CN" altLang="en-US"/>
              </a:p>
            </p:txBody>
          </p:sp>
        </p:grpSp>
      </p:grpSp>
      <p:sp>
        <p:nvSpPr>
          <p:cNvPr id="37" name="文本框 36"/>
          <p:cNvSpPr txBox="1"/>
          <p:nvPr/>
        </p:nvSpPr>
        <p:spPr>
          <a:xfrm>
            <a:off x="3148312" y="3682825"/>
            <a:ext cx="479272"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我</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8" name="文本框 37"/>
          <p:cNvSpPr txBox="1"/>
          <p:nvPr/>
        </p:nvSpPr>
        <p:spPr>
          <a:xfrm>
            <a:off x="2285091" y="4301440"/>
            <a:ext cx="479272"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我</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39" name="文本框 38"/>
          <p:cNvSpPr txBox="1"/>
          <p:nvPr/>
        </p:nvSpPr>
        <p:spPr>
          <a:xfrm>
            <a:off x="3795448" y="3682825"/>
            <a:ext cx="717906"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喜欢</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0" name="文本框 39"/>
          <p:cNvSpPr txBox="1"/>
          <p:nvPr/>
        </p:nvSpPr>
        <p:spPr>
          <a:xfrm>
            <a:off x="2104069" y="5008953"/>
            <a:ext cx="961576"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喜欢</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1" name="文本框 40"/>
          <p:cNvSpPr txBox="1"/>
          <p:nvPr/>
        </p:nvSpPr>
        <p:spPr>
          <a:xfrm>
            <a:off x="4727642" y="3685502"/>
            <a:ext cx="487786"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猫</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42" name="文本框 41"/>
          <p:cNvSpPr txBox="1"/>
          <p:nvPr/>
        </p:nvSpPr>
        <p:spPr>
          <a:xfrm>
            <a:off x="2381541" y="5750153"/>
            <a:ext cx="487786"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猫</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cxnSp>
        <p:nvCxnSpPr>
          <p:cNvPr id="44" name="直接箭头连接符 43"/>
          <p:cNvCxnSpPr/>
          <p:nvPr/>
        </p:nvCxnSpPr>
        <p:spPr>
          <a:xfrm flipH="1">
            <a:off x="5160585" y="4469710"/>
            <a:ext cx="942935" cy="789671"/>
          </a:xfrm>
          <a:prstGeom prst="straightConnector1">
            <a:avLst/>
          </a:prstGeom>
          <a:noFill/>
          <a:ln w="12700" cap="flat">
            <a:solidFill>
              <a:schemeClr val="accent2"/>
            </a:solidFill>
            <a:prstDash val="solid"/>
            <a:miter lim="800000"/>
            <a:tailEnd type="triangle"/>
          </a:ln>
        </p:spPr>
        <p:style>
          <a:lnRef idx="0">
            <a:scrgbClr r="0" g="0" b="0"/>
          </a:lnRef>
          <a:fillRef idx="0">
            <a:scrgbClr r="0" g="0" b="0"/>
          </a:fillRef>
          <a:effectRef idx="0">
            <a:scrgbClr r="0" g="0" b="0"/>
          </a:effectRef>
          <a:fontRef idx="none"/>
        </p:style>
      </p:cxnSp>
      <p:sp>
        <p:nvSpPr>
          <p:cNvPr id="45" name="文本框 44"/>
          <p:cNvSpPr txBox="1"/>
          <p:nvPr/>
        </p:nvSpPr>
        <p:spPr>
          <a:xfrm>
            <a:off x="5894187" y="4165578"/>
            <a:ext cx="539901" cy="246221"/>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1600" b="1" dirty="0">
                <a:solidFill>
                  <a:srgbClr val="FFC000"/>
                </a:solidFill>
                <a:latin typeface="微软雅黑" panose="020B0503020204020204" pitchFamily="34" charset="-122"/>
                <a:ea typeface="微软雅黑" panose="020B0503020204020204" pitchFamily="34" charset="-122"/>
              </a:rPr>
              <a:t>high</a:t>
            </a:r>
            <a:endParaRPr lang="zh-CN" altLang="en-US" sz="1600" b="1" dirty="0">
              <a:solidFill>
                <a:srgbClr val="FFC000"/>
              </a:solidFill>
              <a:latin typeface="微软雅黑" panose="020B0503020204020204" pitchFamily="34" charset="-122"/>
              <a:ea typeface="微软雅黑" panose="020B0503020204020204" pitchFamily="34" charset="-122"/>
            </a:endParaRPr>
          </a:p>
        </p:txBody>
      </p:sp>
      <p:graphicFrame>
        <p:nvGraphicFramePr>
          <p:cNvPr id="46" name="对象 45"/>
          <p:cNvGraphicFramePr>
            <a:graphicFrameLocks noChangeAspect="1"/>
          </p:cNvGraphicFramePr>
          <p:nvPr/>
        </p:nvGraphicFramePr>
        <p:xfrm>
          <a:off x="126806" y="3918199"/>
          <a:ext cx="2026070" cy="1053651"/>
        </p:xfrm>
        <a:graphic>
          <a:graphicData uri="http://schemas.openxmlformats.org/presentationml/2006/ole">
            <mc:AlternateContent xmlns:mc="http://schemas.openxmlformats.org/markup-compatibility/2006">
              <mc:Choice xmlns:v="urn:schemas-microsoft-com:vml" Requires="v">
                <p:oleObj spid="_x0000_s9243" name="Equation" r:id="rId2" imgW="1035685" imgH="539750" progId="Equation.DSMT4">
                  <p:embed/>
                </p:oleObj>
              </mc:Choice>
              <mc:Fallback>
                <p:oleObj name="Equation" r:id="rId2" imgW="1035685" imgH="539750" progId="Equation.DSMT4">
                  <p:embed/>
                  <p:pic>
                    <p:nvPicPr>
                      <p:cNvPr id="0" name="对象 12"/>
                      <p:cNvPicPr/>
                      <p:nvPr/>
                    </p:nvPicPr>
                    <p:blipFill>
                      <a:blip r:embed="rId3"/>
                      <a:stretch>
                        <a:fillRect/>
                      </a:stretch>
                    </p:blipFill>
                    <p:spPr>
                      <a:xfrm>
                        <a:off x="126806" y="3918199"/>
                        <a:ext cx="2026070" cy="1053651"/>
                      </a:xfrm>
                      <a:prstGeom prst="rect">
                        <a:avLst/>
                      </a:prstGeom>
                    </p:spPr>
                  </p:pic>
                </p:oleObj>
              </mc:Fallback>
            </mc:AlternateContent>
          </a:graphicData>
        </a:graphic>
      </p:graphicFrame>
      <p:sp>
        <p:nvSpPr>
          <p:cNvPr id="47" name="文本框 46"/>
          <p:cNvSpPr txBox="1"/>
          <p:nvPr/>
        </p:nvSpPr>
        <p:spPr>
          <a:xfrm>
            <a:off x="7514138" y="4224123"/>
            <a:ext cx="1708150" cy="193899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dirty="0">
                <a:solidFill>
                  <a:schemeClr val="accent1"/>
                </a:solidFill>
                <a:latin typeface="微软雅黑" panose="020B0503020204020204" pitchFamily="34" charset="-122"/>
                <a:ea typeface="微软雅黑" panose="020B0503020204020204" pitchFamily="34" charset="-122"/>
              </a:rPr>
              <a:t>Attention 2</a:t>
            </a:r>
            <a:endParaRPr lang="en-US" altLang="zh-CN" dirty="0">
              <a:solidFill>
                <a:schemeClr val="accent1"/>
              </a:solidFill>
              <a:latin typeface="微软雅黑" panose="020B0503020204020204" pitchFamily="34" charset="-122"/>
              <a:ea typeface="微软雅黑" panose="020B0503020204020204" pitchFamily="34" charset="-122"/>
            </a:endParaRPr>
          </a:p>
          <a:p>
            <a:r>
              <a:rPr lang="en-US" altLang="zh-CN" dirty="0">
                <a:solidFill>
                  <a:schemeClr val="accent1"/>
                </a:solidFill>
                <a:latin typeface="微软雅黑" panose="020B0503020204020204" pitchFamily="34" charset="-122"/>
                <a:ea typeface="微软雅黑" panose="020B0503020204020204" pitchFamily="34" charset="-122"/>
              </a:rPr>
              <a:t>Attention 3</a:t>
            </a:r>
            <a:endParaRPr lang="en-US" altLang="zh-CN" dirty="0">
              <a:solidFill>
                <a:schemeClr val="accent1"/>
              </a:solidFill>
              <a:latin typeface="微软雅黑" panose="020B0503020204020204" pitchFamily="34" charset="-122"/>
              <a:ea typeface="微软雅黑" panose="020B0503020204020204" pitchFamily="34" charset="-122"/>
            </a:endParaRPr>
          </a:p>
          <a:p>
            <a:r>
              <a:rPr lang="en-US" altLang="zh-CN" dirty="0">
                <a:solidFill>
                  <a:schemeClr val="accent1"/>
                </a:solidFill>
                <a:latin typeface="微软雅黑" panose="020B0503020204020204" pitchFamily="34" charset="-122"/>
                <a:ea typeface="微软雅黑" panose="020B0503020204020204" pitchFamily="34" charset="-122"/>
              </a:rPr>
              <a:t>Attention 4</a:t>
            </a:r>
            <a:endParaRPr lang="en-US" altLang="zh-CN" dirty="0">
              <a:solidFill>
                <a:schemeClr val="accent1"/>
              </a:solidFill>
              <a:latin typeface="微软雅黑" panose="020B0503020204020204" pitchFamily="34" charset="-122"/>
              <a:ea typeface="微软雅黑" panose="020B0503020204020204" pitchFamily="34" charset="-122"/>
            </a:endParaRPr>
          </a:p>
          <a:p>
            <a:r>
              <a:rPr lang="en-US" altLang="zh-CN" dirty="0">
                <a:solidFill>
                  <a:schemeClr val="accent1"/>
                </a:solidFill>
                <a:latin typeface="微软雅黑" panose="020B0503020204020204" pitchFamily="34" charset="-122"/>
                <a:ea typeface="微软雅黑" panose="020B0503020204020204" pitchFamily="34" charset="-122"/>
              </a:rPr>
              <a:t>…….</a:t>
            </a:r>
            <a:endParaRPr lang="en-US" altLang="zh-CN" dirty="0">
              <a:solidFill>
                <a:schemeClr val="accent1"/>
              </a:solidFill>
              <a:latin typeface="微软雅黑" panose="020B0503020204020204" pitchFamily="34" charset="-122"/>
              <a:ea typeface="微软雅黑" panose="020B0503020204020204" pitchFamily="34" charset="-122"/>
            </a:endParaRPr>
          </a:p>
          <a:p>
            <a:r>
              <a:rPr lang="en-US" altLang="zh-CN" dirty="0">
                <a:solidFill>
                  <a:schemeClr val="accent1"/>
                </a:solidFill>
                <a:latin typeface="微软雅黑" panose="020B0503020204020204" pitchFamily="34" charset="-122"/>
                <a:ea typeface="微软雅黑" panose="020B0503020204020204" pitchFamily="34" charset="-122"/>
              </a:rPr>
              <a:t>Attention N</a:t>
            </a:r>
            <a:endParaRPr lang="en-US" altLang="zh-CN" dirty="0">
              <a:solidFill>
                <a:schemeClr val="accent1"/>
              </a:solidFill>
              <a:latin typeface="微软雅黑" panose="020B0503020204020204" pitchFamily="34" charset="-122"/>
              <a:ea typeface="微软雅黑" panose="020B0503020204020204" pitchFamily="34" charset="-122"/>
            </a:endParaRPr>
          </a:p>
          <a:p>
            <a:endParaRPr lang="en-US" altLang="zh-CN"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8" name="文本框 47"/>
          <p:cNvSpPr txBox="1"/>
          <p:nvPr/>
        </p:nvSpPr>
        <p:spPr>
          <a:xfrm>
            <a:off x="3673916" y="6506775"/>
            <a:ext cx="1708150"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dirty="0">
                <a:solidFill>
                  <a:schemeClr val="accent1"/>
                </a:solidFill>
                <a:latin typeface="微软雅黑" panose="020B0503020204020204" pitchFamily="34" charset="-122"/>
                <a:ea typeface="微软雅黑" panose="020B0503020204020204" pitchFamily="34" charset="-122"/>
              </a:rPr>
              <a:t>Attention 1</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49" name="矩形 48"/>
          <p:cNvSpPr/>
          <p:nvPr/>
        </p:nvSpPr>
        <p:spPr>
          <a:xfrm>
            <a:off x="9969500" y="5259381"/>
            <a:ext cx="757767" cy="337086"/>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en-US" altLang="zh-CN" b="1" dirty="0">
                <a:solidFill>
                  <a:srgbClr val="C00000"/>
                </a:solidFill>
              </a:rPr>
              <a:t>No.4.2  </a:t>
            </a:r>
            <a:r>
              <a:rPr lang="en-US" altLang="zh-CN" sz="2400" b="1" dirty="0">
                <a:solidFill>
                  <a:srgbClr val="C00000"/>
                </a:solidFill>
              </a:rPr>
              <a:t>Add &amp; Norm </a:t>
            </a:r>
            <a:r>
              <a:rPr lang="zh-CN" altLang="en-US" sz="2400" b="1" dirty="0">
                <a:solidFill>
                  <a:srgbClr val="C00000"/>
                </a:solidFill>
              </a:rPr>
              <a:t>残差连接和归一化</a:t>
            </a:r>
            <a:endParaRPr lang="en-US" altLang="zh-CN" sz="2400" b="1" dirty="0">
              <a:solidFill>
                <a:srgbClr val="C00000"/>
              </a:solidFill>
            </a:endParaRPr>
          </a:p>
          <a:p>
            <a:pPr marL="0" indent="0">
              <a:buNone/>
            </a:pPr>
            <a:r>
              <a:rPr lang="zh-CN" altLang="en-US" b="1" dirty="0"/>
              <a:t>残差连接：</a:t>
            </a:r>
            <a:r>
              <a:rPr lang="en-US" altLang="zh-CN" dirty="0"/>
              <a:t> </a:t>
            </a:r>
            <a:r>
              <a:rPr lang="zh-CN" altLang="en-US" dirty="0"/>
              <a:t>输出</a:t>
            </a:r>
            <a:r>
              <a:rPr lang="en-US" altLang="zh-CN" dirty="0"/>
              <a:t> = </a:t>
            </a:r>
            <a:r>
              <a:rPr lang="zh-CN" altLang="en-US" dirty="0"/>
              <a:t>原输入</a:t>
            </a:r>
            <a:r>
              <a:rPr lang="en-US" altLang="zh-CN" dirty="0"/>
              <a:t> + </a:t>
            </a:r>
            <a:r>
              <a:rPr lang="zh-CN" altLang="en-US" dirty="0"/>
              <a:t>子层输出</a:t>
            </a:r>
            <a:endParaRPr lang="en-US" altLang="zh-CN" dirty="0"/>
          </a:p>
          <a:p>
            <a:pPr marL="0" indent="0">
              <a:buNone/>
            </a:pPr>
            <a:r>
              <a:rPr lang="en-US" altLang="zh-CN" sz="2400" b="1" dirty="0"/>
              <a:t>	</a:t>
            </a:r>
            <a:r>
              <a:rPr lang="en-US" altLang="zh-CN" b="1" dirty="0"/>
              <a:t>        </a:t>
            </a:r>
            <a:r>
              <a:rPr lang="zh-CN" altLang="en-US" dirty="0"/>
              <a:t>作用主要在于梯度很快就会衰减为 </a:t>
            </a:r>
            <a:r>
              <a:rPr lang="en-US" altLang="zh-CN" dirty="0"/>
              <a:t>0</a:t>
            </a:r>
            <a:endParaRPr lang="en-US" altLang="zh-CN" dirty="0"/>
          </a:p>
          <a:p>
            <a:pPr marL="0" indent="0">
              <a:buNone/>
            </a:pPr>
            <a:endParaRPr lang="en-US" altLang="zh-CN" sz="2400" b="1" dirty="0"/>
          </a:p>
          <a:p>
            <a:pPr marL="0" indent="0">
              <a:buNone/>
            </a:pPr>
            <a:r>
              <a:rPr lang="zh-CN" altLang="en-US" b="1" dirty="0"/>
              <a:t>归一化操作</a:t>
            </a:r>
            <a:r>
              <a:rPr lang="zh-CN" altLang="en-US" dirty="0"/>
              <a:t>：主要作用是让数据分布更加稳定</a:t>
            </a:r>
            <a:endParaRPr lang="en-US" altLang="zh-CN" dirty="0"/>
          </a:p>
          <a:p>
            <a:pPr marL="0" indent="0">
              <a:buNone/>
            </a:pPr>
            <a:r>
              <a:rPr lang="en-US" altLang="zh-CN" dirty="0"/>
              <a:t>                    </a:t>
            </a:r>
            <a:r>
              <a:rPr lang="zh-CN" altLang="en-US" dirty="0"/>
              <a:t>防止数据的值很容易变得极其庞大</a:t>
            </a:r>
            <a:endParaRPr lang="en-US" altLang="zh-CN" dirty="0"/>
          </a:p>
          <a:p>
            <a:pPr marL="0" indent="0">
              <a:buNone/>
            </a:pPr>
            <a:endParaRPr lang="zh-CN" altLang="en-US" dirty="0"/>
          </a:p>
        </p:txBody>
      </p:sp>
      <p:sp>
        <p:nvSpPr>
          <p:cNvPr id="6" name="文本框 5"/>
          <p:cNvSpPr txBox="1"/>
          <p:nvPr/>
        </p:nvSpPr>
        <p:spPr>
          <a:xfrm>
            <a:off x="6404179" y="2253734"/>
            <a:ext cx="6099174" cy="46166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400" dirty="0">
                <a:solidFill>
                  <a:schemeClr val="accent1"/>
                </a:solidFill>
                <a:latin typeface="微软雅黑" panose="020B0503020204020204" pitchFamily="34" charset="-122"/>
                <a:ea typeface="微软雅黑" panose="020B0503020204020204" pitchFamily="34" charset="-122"/>
              </a:rPr>
              <a:t>原来的信息 + Attention提取的新信息</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graphicFrame>
        <p:nvGraphicFramePr>
          <p:cNvPr id="13" name="对象 12"/>
          <p:cNvGraphicFramePr>
            <a:graphicFrameLocks noChangeAspect="1"/>
          </p:cNvGraphicFramePr>
          <p:nvPr/>
        </p:nvGraphicFramePr>
        <p:xfrm>
          <a:off x="2415569" y="4380706"/>
          <a:ext cx="1695450" cy="933450"/>
        </p:xfrm>
        <a:graphic>
          <a:graphicData uri="http://schemas.openxmlformats.org/presentationml/2006/ole">
            <mc:AlternateContent xmlns:mc="http://schemas.openxmlformats.org/markup-compatibility/2006">
              <mc:Choice xmlns:v="urn:schemas-microsoft-com:vml" Requires="v">
                <p:oleObj spid="_x0000_s10264" name="Equation" r:id="rId1" imgW="1303655" imgH="720090" progId="Equation.DSMT4">
                  <p:embed/>
                </p:oleObj>
              </mc:Choice>
              <mc:Fallback>
                <p:oleObj name="Equation" r:id="rId1" imgW="1303655" imgH="720090" progId="Equation.DSMT4">
                  <p:embed/>
                  <p:pic>
                    <p:nvPicPr>
                      <p:cNvPr id="0" name="图片 10250"/>
                      <p:cNvPicPr/>
                      <p:nvPr/>
                    </p:nvPicPr>
                    <p:blipFill>
                      <a:blip r:embed="rId2"/>
                      <a:stretch>
                        <a:fillRect/>
                      </a:stretch>
                    </p:blipFill>
                    <p:spPr>
                      <a:xfrm>
                        <a:off x="2415569" y="4380706"/>
                        <a:ext cx="1695450" cy="933450"/>
                      </a:xfrm>
                      <a:prstGeom prst="rect">
                        <a:avLst/>
                      </a:prstGeom>
                    </p:spPr>
                  </p:pic>
                </p:oleObj>
              </mc:Fallback>
            </mc:AlternateContent>
          </a:graphicData>
        </a:graphic>
      </p:graphicFrame>
      <p:cxnSp>
        <p:nvCxnSpPr>
          <p:cNvPr id="15" name="直接箭头连接符 14"/>
          <p:cNvCxnSpPr/>
          <p:nvPr/>
        </p:nvCxnSpPr>
        <p:spPr>
          <a:xfrm>
            <a:off x="1466850" y="4292600"/>
            <a:ext cx="647700" cy="51435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pic>
        <p:nvPicPr>
          <p:cNvPr id="16" name="图片 15"/>
          <p:cNvPicPr>
            <a:picLocks noChangeAspect="1"/>
          </p:cNvPicPr>
          <p:nvPr/>
        </p:nvPicPr>
        <p:blipFill>
          <a:blip r:embed="rId3"/>
          <a:stretch>
            <a:fillRect/>
          </a:stretch>
        </p:blipFill>
        <p:spPr>
          <a:xfrm>
            <a:off x="9367622" y="2940050"/>
            <a:ext cx="2824377" cy="3917950"/>
          </a:xfrm>
          <a:prstGeom prst="rect">
            <a:avLst/>
          </a:prstGeom>
        </p:spPr>
      </p:pic>
      <p:sp>
        <p:nvSpPr>
          <p:cNvPr id="17" name="矩形 16"/>
          <p:cNvSpPr/>
          <p:nvPr/>
        </p:nvSpPr>
        <p:spPr>
          <a:xfrm>
            <a:off x="10004425" y="5073650"/>
            <a:ext cx="671513" cy="219604"/>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6"/>
            <a:ext cx="11140214" cy="4716463"/>
          </a:xfrm>
        </p:spPr>
        <p:txBody>
          <a:bodyPr>
            <a:normAutofit/>
          </a:bodyPr>
          <a:lstStyle/>
          <a:p>
            <a:pPr marL="0" indent="0">
              <a:buNone/>
            </a:pPr>
            <a:r>
              <a:rPr lang="en-US" altLang="zh-CN" b="1" dirty="0">
                <a:solidFill>
                  <a:srgbClr val="C00000"/>
                </a:solidFill>
              </a:rPr>
              <a:t>No.4.3  Feed Forward </a:t>
            </a:r>
            <a:r>
              <a:rPr lang="zh-CN" altLang="en-US" b="1" dirty="0">
                <a:solidFill>
                  <a:srgbClr val="C00000"/>
                </a:solidFill>
              </a:rPr>
              <a:t>前馈神经网络</a:t>
            </a:r>
            <a:endParaRPr lang="en-US" altLang="zh-CN" b="1" dirty="0">
              <a:solidFill>
                <a:srgbClr val="C00000"/>
              </a:solidFill>
            </a:endParaRPr>
          </a:p>
          <a:p>
            <a:pPr marL="0" indent="0">
              <a:buNone/>
            </a:pPr>
            <a:r>
              <a:rPr lang="zh-CN" altLang="en-US" dirty="0"/>
              <a:t>它一般包含两个线性层和一个激活函数，例如 </a:t>
            </a:r>
            <a:r>
              <a:rPr lang="en-US" altLang="zh-CN" dirty="0" err="1"/>
              <a:t>ReLU</a:t>
            </a:r>
            <a:endParaRPr lang="en-US" altLang="zh-CN" dirty="0"/>
          </a:p>
          <a:p>
            <a:pPr marL="0" indent="0">
              <a:buNone/>
            </a:pPr>
            <a:endParaRPr lang="en-US" altLang="zh-CN" dirty="0"/>
          </a:p>
          <a:p>
            <a:pPr marL="0" indent="0">
              <a:buNone/>
            </a:pPr>
            <a:endParaRPr lang="en-US" altLang="zh-CN" dirty="0"/>
          </a:p>
          <a:p>
            <a:pPr marL="0" indent="0">
              <a:buNone/>
            </a:pPr>
            <a:r>
              <a:rPr lang="zh-CN" altLang="en-US" dirty="0"/>
              <a:t>每个词独立进行非线性变换，加工成更丰富的语义表示</a:t>
            </a:r>
            <a:endParaRPr lang="en-US" altLang="zh-CN" dirty="0"/>
          </a:p>
          <a:p>
            <a:pPr>
              <a:buFont typeface="Wingdings" panose="05000000000000000000" pitchFamily="2" charset="2"/>
              <a:buChar char="Ø"/>
            </a:pPr>
            <a:r>
              <a:rPr lang="en-US" altLang="zh-CN" dirty="0"/>
              <a:t>Attention</a:t>
            </a:r>
            <a:r>
              <a:rPr lang="zh-CN" altLang="en-US" dirty="0"/>
              <a:t>：不同词之间通信</a:t>
            </a:r>
            <a:endParaRPr lang="en-US" altLang="zh-CN" dirty="0"/>
          </a:p>
          <a:p>
            <a:pPr>
              <a:buFont typeface="Wingdings" panose="05000000000000000000" pitchFamily="2" charset="2"/>
              <a:buChar char="Ø"/>
            </a:pPr>
            <a:r>
              <a:rPr lang="en-US" altLang="zh-CN" dirty="0"/>
              <a:t>Feed Forward</a:t>
            </a:r>
            <a:r>
              <a:rPr lang="zh-CN" altLang="en-US" dirty="0"/>
              <a:t>：每个词独立进行非线性</a:t>
            </a:r>
            <a:endParaRPr lang="en-US" altLang="zh-CN" dirty="0"/>
          </a:p>
          <a:p>
            <a:pPr marL="0" indent="0">
              <a:buNone/>
            </a:pPr>
            <a:r>
              <a:rPr lang="en-US" altLang="zh-CN" b="1" dirty="0"/>
              <a:t>&lt;</a:t>
            </a:r>
            <a:r>
              <a:rPr lang="zh-CN" altLang="en-US" b="1" dirty="0"/>
              <a:t>总结</a:t>
            </a:r>
            <a:r>
              <a:rPr lang="en-US" altLang="zh-CN" b="1" dirty="0"/>
              <a:t>&gt;</a:t>
            </a:r>
            <a:endParaRPr lang="en-US" altLang="zh-CN" b="1" dirty="0"/>
          </a:p>
          <a:p>
            <a:pPr marL="0" marR="0" lvl="0" indent="0" algn="l" defTabSz="914400" rtl="0" eaLnBrk="0" fontAlgn="base" latinLnBrk="0" hangingPunct="0">
              <a:lnSpc>
                <a:spcPct val="100000"/>
              </a:lnSpc>
              <a:spcBef>
                <a:spcPct val="0"/>
              </a:spcBef>
              <a:spcAft>
                <a:spcPct val="0"/>
              </a:spcAft>
              <a:buClrTx/>
              <a:buSzTx/>
              <a:buFontTx/>
              <a:buNone/>
            </a:pPr>
            <a:r>
              <a:rPr lang="zh-CN" altLang="zh-CN" b="1" dirty="0"/>
              <a:t>Encoder 的输出不是简单的词向量而是结合上下文之后的词向量</a:t>
            </a:r>
            <a:r>
              <a:rPr lang="zh-CN" altLang="en-US" b="1" dirty="0"/>
              <a:t>，</a:t>
            </a:r>
            <a:r>
              <a:rPr lang="zh-CN" altLang="zh-CN" b="1" dirty="0"/>
              <a:t>这些输出会被传递给 Decoder，作为 Decoder 理解输入句子的依据</a:t>
            </a:r>
            <a:endParaRPr lang="zh-CN" altLang="zh-CN" b="1"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9367623" y="1543050"/>
            <a:ext cx="2824377" cy="3917950"/>
          </a:xfrm>
          <a:prstGeom prst="rect">
            <a:avLst/>
          </a:prstGeom>
        </p:spPr>
      </p:pic>
      <p:sp>
        <p:nvSpPr>
          <p:cNvPr id="6" name="矩形 5"/>
          <p:cNvSpPr/>
          <p:nvPr/>
        </p:nvSpPr>
        <p:spPr>
          <a:xfrm>
            <a:off x="10012363" y="3252787"/>
            <a:ext cx="708025" cy="352426"/>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aphicFrame>
        <p:nvGraphicFramePr>
          <p:cNvPr id="7" name="对象 6"/>
          <p:cNvGraphicFramePr>
            <a:graphicFrameLocks noChangeAspect="1"/>
          </p:cNvGraphicFramePr>
          <p:nvPr/>
        </p:nvGraphicFramePr>
        <p:xfrm>
          <a:off x="3787896" y="2868285"/>
          <a:ext cx="3678653" cy="506721"/>
        </p:xfrm>
        <a:graphic>
          <a:graphicData uri="http://schemas.openxmlformats.org/presentationml/2006/ole">
            <mc:AlternateContent xmlns:mc="http://schemas.openxmlformats.org/markup-compatibility/2006">
              <mc:Choice xmlns:v="urn:schemas-microsoft-com:vml" Requires="v">
                <p:oleObj spid="_x0000_s11291" name="Equation" r:id="rId2" imgW="1760855" imgH="233680" progId="Equation.DSMT4">
                  <p:embed/>
                </p:oleObj>
              </mc:Choice>
              <mc:Fallback>
                <p:oleObj name="Equation" r:id="rId2" imgW="1760855" imgH="233680" progId="Equation.DSMT4">
                  <p:embed/>
                  <p:pic>
                    <p:nvPicPr>
                      <p:cNvPr id="0" name="图片 11277"/>
                      <p:cNvPicPr/>
                      <p:nvPr/>
                    </p:nvPicPr>
                    <p:blipFill>
                      <a:blip r:embed="rId3"/>
                      <a:stretch>
                        <a:fillRect/>
                      </a:stretch>
                    </p:blipFill>
                    <p:spPr>
                      <a:xfrm>
                        <a:off x="3787896" y="2868285"/>
                        <a:ext cx="3678653" cy="506721"/>
                      </a:xfrm>
                      <a:prstGeom prst="rect">
                        <a:avLst/>
                      </a:prstGeom>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7" end="7"/>
                                            </p:txEl>
                                          </p:spTgt>
                                        </p:tgtEl>
                                        <p:attrNameLst>
                                          <p:attrName>style.visibility</p:attrName>
                                        </p:attrNameLst>
                                      </p:cBhvr>
                                      <p:to>
                                        <p:strVal val="visible"/>
                                      </p:to>
                                    </p:set>
                                    <p:anim calcmode="lin" valueType="num">
                                      <p:cBhvr additive="base">
                                        <p:cTn id="7"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7" end="7"/>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
                                            <p:txEl>
                                              <p:pRg st="8" end="8"/>
                                            </p:txEl>
                                          </p:spTgt>
                                        </p:tgtEl>
                                        <p:attrNameLst>
                                          <p:attrName>style.visibility</p:attrName>
                                        </p:attrNameLst>
                                      </p:cBhvr>
                                      <p:to>
                                        <p:strVal val="visible"/>
                                      </p:to>
                                    </p:set>
                                    <p:anim calcmode="lin" valueType="num">
                                      <p:cBhvr additive="base">
                                        <p:cTn id="11"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6"/>
            <a:ext cx="11140214" cy="4535805"/>
          </a:xfrm>
        </p:spPr>
        <p:txBody>
          <a:bodyPr>
            <a:normAutofit/>
          </a:bodyPr>
          <a:lstStyle/>
          <a:p>
            <a:pPr marL="0" indent="0">
              <a:buNone/>
            </a:pPr>
            <a:r>
              <a:rPr lang="en-US" altLang="zh-CN" b="1" dirty="0">
                <a:solidFill>
                  <a:srgbClr val="C00000"/>
                </a:solidFill>
              </a:rPr>
              <a:t>No.5 Decoder</a:t>
            </a:r>
            <a:r>
              <a:rPr lang="zh-CN" altLang="en-US" b="1" dirty="0">
                <a:solidFill>
                  <a:srgbClr val="C00000"/>
                </a:solidFill>
              </a:rPr>
              <a:t>解码器部分</a:t>
            </a:r>
            <a:r>
              <a:rPr lang="en-US" altLang="zh-CN" b="1" dirty="0">
                <a:solidFill>
                  <a:srgbClr val="C00000"/>
                </a:solidFill>
              </a:rPr>
              <a:t> </a:t>
            </a:r>
            <a:endParaRPr lang="en-US" altLang="zh-CN" b="1" dirty="0">
              <a:solidFill>
                <a:srgbClr val="C00000"/>
              </a:solidFill>
            </a:endParaRPr>
          </a:p>
          <a:p>
            <a:pPr marL="0" indent="0">
              <a:buNone/>
            </a:pPr>
            <a:r>
              <a:rPr lang="zh-CN" altLang="en-US" dirty="0"/>
              <a:t>根据</a:t>
            </a:r>
            <a:r>
              <a:rPr lang="en-US" altLang="zh-CN" dirty="0"/>
              <a:t>Encoder</a:t>
            </a:r>
            <a:r>
              <a:rPr lang="zh-CN" altLang="en-US" dirty="0"/>
              <a:t>中的信息，以及已经生成的输出内容，预测下一个词</a:t>
            </a:r>
            <a:endParaRPr lang="en-US" altLang="zh-CN" dirty="0"/>
          </a:p>
          <a:p>
            <a:pPr marL="0" indent="0">
              <a:buNone/>
            </a:pPr>
            <a:r>
              <a:rPr lang="zh-CN" altLang="en-US" dirty="0"/>
              <a:t>核心的策略：</a:t>
            </a:r>
            <a:r>
              <a:rPr lang="zh-CN" altLang="en-US" b="1" dirty="0"/>
              <a:t>错位输入</a:t>
            </a:r>
            <a:r>
              <a:rPr lang="zh-CN" altLang="en-US" dirty="0"/>
              <a:t>、</a:t>
            </a:r>
            <a:r>
              <a:rPr lang="zh-CN" altLang="en-US" b="1" dirty="0"/>
              <a:t>教师强制、掩码机制</a:t>
            </a:r>
            <a:endParaRPr lang="en-US" altLang="zh-CN" b="1" dirty="0"/>
          </a:p>
          <a:p>
            <a:pPr marL="0" indent="0">
              <a:buNone/>
            </a:pPr>
            <a:r>
              <a:rPr lang="en-US" altLang="zh-CN" b="1" dirty="0">
                <a:solidFill>
                  <a:srgbClr val="C00000"/>
                </a:solidFill>
              </a:rPr>
              <a:t>NO.5.1</a:t>
            </a:r>
            <a:r>
              <a:rPr lang="zh-CN" altLang="en-US" b="1" dirty="0">
                <a:solidFill>
                  <a:srgbClr val="C00000"/>
                </a:solidFill>
              </a:rPr>
              <a:t> 错位输入 </a:t>
            </a:r>
            <a:r>
              <a:rPr lang="en-US" altLang="zh-CN" b="1" dirty="0">
                <a:solidFill>
                  <a:srgbClr val="C00000"/>
                </a:solidFill>
              </a:rPr>
              <a:t>Output Embedding</a:t>
            </a:r>
            <a:endParaRPr lang="en-US" altLang="zh-CN" b="1" dirty="0">
              <a:solidFill>
                <a:srgbClr val="C00000"/>
              </a:solidFill>
            </a:endParaRPr>
          </a:p>
          <a:p>
            <a:pPr marL="0" indent="0">
              <a:buNone/>
            </a:pPr>
            <a:r>
              <a:rPr lang="zh-CN" altLang="en-US" dirty="0"/>
              <a:t>在给 </a:t>
            </a:r>
            <a:r>
              <a:rPr lang="en-US" altLang="zh-CN" dirty="0"/>
              <a:t>Decoder </a:t>
            </a:r>
            <a:r>
              <a:rPr lang="zh-CN" altLang="en-US" dirty="0"/>
              <a:t>喂数据时，系统并没有把完整的答案直接对齐喂给它，而是做了一个</a:t>
            </a:r>
            <a:r>
              <a:rPr lang="zh-CN" altLang="en-US" b="1" dirty="0"/>
              <a:t>向右错位</a:t>
            </a:r>
            <a:r>
              <a:rPr lang="zh-CN" altLang="en-US" dirty="0"/>
              <a:t>的操作</a:t>
            </a:r>
            <a:endParaRPr lang="en-US" altLang="zh-CN" dirty="0"/>
          </a:p>
          <a:p>
            <a:pPr marL="0" indent="0">
              <a:buNone/>
            </a:pPr>
            <a:endParaRPr lang="en-US" altLang="zh-CN" dirty="0"/>
          </a:p>
          <a:p>
            <a:pPr marL="0" marR="0" lvl="0" indent="0" algn="l" defTabSz="914400" rtl="0" eaLnBrk="0" fontAlgn="base" latinLnBrk="0" hangingPunct="0">
              <a:lnSpc>
                <a:spcPct val="100000"/>
              </a:lnSpc>
              <a:spcBef>
                <a:spcPct val="0"/>
              </a:spcBef>
              <a:spcAft>
                <a:spcPct val="0"/>
              </a:spcAft>
              <a:buClrTx/>
              <a:buSzTx/>
              <a:buFontTx/>
              <a:buChar char="•"/>
            </a:pPr>
            <a:r>
              <a:rPr lang="zh-CN" altLang="zh-CN" dirty="0"/>
              <a:t>Decoder 看到的输入：&lt;SOS&gt; </a:t>
            </a:r>
            <a:r>
              <a:rPr lang="en-US" altLang="zh-CN" dirty="0"/>
              <a:t>I like cats</a:t>
            </a:r>
            <a:endParaRPr lang="en-US" altLang="zh-CN" dirty="0"/>
          </a:p>
          <a:p>
            <a:pPr marL="0" marR="0" lvl="0" indent="0" algn="l" defTabSz="914400" rtl="0" eaLnBrk="0" fontAlgn="base" latinLnBrk="0" hangingPunct="0">
              <a:lnSpc>
                <a:spcPct val="100000"/>
              </a:lnSpc>
              <a:spcBef>
                <a:spcPct val="0"/>
              </a:spcBef>
              <a:spcAft>
                <a:spcPct val="0"/>
              </a:spcAft>
              <a:buClrTx/>
              <a:buSzTx/>
              <a:buFontTx/>
              <a:buChar char="•"/>
            </a:pPr>
            <a:r>
              <a:rPr lang="zh-CN" altLang="zh-CN" dirty="0"/>
              <a:t>Decoder 需要输出：</a:t>
            </a:r>
            <a:r>
              <a:rPr lang="en-US" altLang="zh-CN" dirty="0"/>
              <a:t>I</a:t>
            </a:r>
            <a:r>
              <a:rPr lang="zh-CN" altLang="en-US" dirty="0"/>
              <a:t> </a:t>
            </a:r>
            <a:r>
              <a:rPr lang="en-US" altLang="zh-CN" dirty="0"/>
              <a:t>like</a:t>
            </a:r>
            <a:r>
              <a:rPr lang="zh-CN" altLang="en-US" dirty="0"/>
              <a:t> </a:t>
            </a:r>
            <a:r>
              <a:rPr lang="en-US" altLang="zh-CN" dirty="0"/>
              <a:t>cats&lt;EOS&gt;</a:t>
            </a:r>
            <a:endParaRPr lang="en-US" altLang="zh-CN" dirty="0"/>
          </a:p>
          <a:p>
            <a:pPr marL="0" marR="0" lvl="0" indent="0" algn="l" defTabSz="914400" rtl="0" eaLnBrk="0" fontAlgn="base" latinLnBrk="0" hangingPunct="0">
              <a:lnSpc>
                <a:spcPct val="100000"/>
              </a:lnSpc>
              <a:spcBef>
                <a:spcPct val="0"/>
              </a:spcBef>
              <a:spcAft>
                <a:spcPct val="0"/>
              </a:spcAft>
              <a:buClrTx/>
              <a:buSzTx/>
              <a:buNone/>
            </a:pPr>
            <a:endParaRPr lang="en-US" altLang="zh-CN" b="1" dirty="0"/>
          </a:p>
          <a:p>
            <a:pPr marL="0" marR="0" lvl="0" indent="0" algn="l" defTabSz="914400" rtl="0" eaLnBrk="0" fontAlgn="base" latinLnBrk="0" hangingPunct="0">
              <a:lnSpc>
                <a:spcPct val="100000"/>
              </a:lnSpc>
              <a:spcBef>
                <a:spcPct val="0"/>
              </a:spcBef>
              <a:spcAft>
                <a:spcPct val="0"/>
              </a:spcAft>
              <a:buClrTx/>
              <a:buSzTx/>
              <a:buNone/>
            </a:pPr>
            <a:r>
              <a:rPr lang="zh-CN" altLang="en-US" dirty="0"/>
              <a:t>它预测的任务，是基于绝对正确的历史，去推测未知的下一步</a:t>
            </a:r>
            <a:endParaRPr lang="en-US" altLang="zh-CN" b="1" dirty="0"/>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6"/>
            <a:ext cx="11140214" cy="4805048"/>
          </a:xfrm>
        </p:spPr>
        <p:txBody>
          <a:bodyPr>
            <a:normAutofit/>
          </a:bodyPr>
          <a:lstStyle/>
          <a:p>
            <a:pPr marL="0" indent="0">
              <a:buNone/>
            </a:pPr>
            <a:r>
              <a:rPr lang="zh-CN" altLang="en-US" b="1" dirty="0"/>
              <a:t>教师强制</a:t>
            </a:r>
            <a:r>
              <a:rPr lang="zh-CN" altLang="en-US" dirty="0"/>
              <a:t>策略：即使预测错误，也要强制修改正确然后作为输入</a:t>
            </a:r>
            <a:endParaRPr lang="en-US" altLang="zh-CN" dirty="0"/>
          </a:p>
          <a:p>
            <a:pPr marL="0" indent="0">
              <a:buNone/>
            </a:pPr>
            <a:r>
              <a:rPr lang="en-US" altLang="zh-CN" dirty="0" err="1"/>
              <a:t>Eg</a:t>
            </a:r>
            <a:r>
              <a:rPr lang="zh-CN" altLang="en-US" dirty="0"/>
              <a:t>：比如此时输入</a:t>
            </a:r>
            <a:r>
              <a:rPr lang="en-US" altLang="zh-CN" dirty="0"/>
              <a:t>&lt;SOS&gt; I </a:t>
            </a:r>
            <a:r>
              <a:rPr lang="zh-CN" altLang="en-US" dirty="0"/>
              <a:t>预测为 </a:t>
            </a:r>
            <a:r>
              <a:rPr lang="en-US" altLang="zh-CN" dirty="0"/>
              <a:t>run </a:t>
            </a:r>
            <a:r>
              <a:rPr lang="zh-CN" altLang="en-US" dirty="0"/>
              <a:t>了，此时预测错误，根据预测的错误计算损失，但是它不会作为下一次的输入</a:t>
            </a:r>
            <a:endParaRPr lang="en-US" altLang="zh-CN" dirty="0"/>
          </a:p>
          <a:p>
            <a:pPr marL="0" indent="0">
              <a:buNone/>
            </a:pPr>
            <a:r>
              <a:rPr lang="zh-CN" altLang="en-US" dirty="0"/>
              <a:t>也就是说下一次的输入为</a:t>
            </a:r>
            <a:r>
              <a:rPr lang="en-US" altLang="zh-CN" dirty="0">
                <a:solidFill>
                  <a:srgbClr val="FF0000"/>
                </a:solidFill>
              </a:rPr>
              <a:t>&lt;SOS&gt; I like</a:t>
            </a:r>
            <a:r>
              <a:rPr lang="zh-CN" altLang="en-US" dirty="0"/>
              <a:t>而不是</a:t>
            </a:r>
            <a:r>
              <a:rPr lang="en-US" altLang="zh-CN" dirty="0">
                <a:solidFill>
                  <a:srgbClr val="FF0000"/>
                </a:solidFill>
              </a:rPr>
              <a:t>&lt;SOS&gt; I run </a:t>
            </a:r>
            <a:endParaRPr lang="en-US" altLang="zh-CN" dirty="0">
              <a:solidFill>
                <a:srgbClr val="FF0000"/>
              </a:solidFill>
            </a:endParaRPr>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en-US" altLang="zh-CN" b="1" dirty="0"/>
          </a:p>
        </p:txBody>
      </p:sp>
      <p:graphicFrame>
        <p:nvGraphicFramePr>
          <p:cNvPr id="5" name="表格 4"/>
          <p:cNvGraphicFramePr>
            <a:graphicFrameLocks noGrp="1"/>
          </p:cNvGraphicFramePr>
          <p:nvPr/>
        </p:nvGraphicFramePr>
        <p:xfrm>
          <a:off x="2199975" y="3958284"/>
          <a:ext cx="6261100" cy="2286000"/>
        </p:xfrm>
        <a:graphic>
          <a:graphicData uri="http://schemas.openxmlformats.org/drawingml/2006/table">
            <a:tbl>
              <a:tblPr/>
              <a:tblGrid>
                <a:gridCol w="3213100"/>
                <a:gridCol w="3048000"/>
              </a:tblGrid>
              <a:tr h="0">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rgbClr val="FF0000"/>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Decoder </a:t>
                      </a:r>
                      <a:r>
                        <a:rPr lang="zh-CN" altLang="en-US" sz="2400" b="1" i="0" u="none" strike="noStrike" cap="none" spc="0" baseline="0" dirty="0">
                          <a:solidFill>
                            <a:srgbClr val="FF0000"/>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输入</a:t>
                      </a:r>
                      <a:endParaRPr lang="zh-CN" altLang="en-US" sz="2400" b="1" i="0" u="none" strike="noStrike" cap="none" spc="0" baseline="0" dirty="0">
                        <a:solidFill>
                          <a:srgbClr val="FF0000"/>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400" b="1" i="0" u="none" strike="noStrike" cap="none" spc="0" baseline="0" dirty="0">
                          <a:solidFill>
                            <a:srgbClr val="FF0000"/>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要预测的目标</a:t>
                      </a:r>
                      <a:endParaRPr lang="zh-CN" altLang="en-US" sz="2400" b="1" i="0" u="none" strike="noStrike" cap="none" spc="0" baseline="0" dirty="0">
                        <a:solidFill>
                          <a:srgbClr val="FF0000"/>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&lt;</a:t>
                      </a:r>
                      <a:r>
                        <a:rPr lang="en-US" altLang="zh-CN"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S</a:t>
                      </a: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OS&gt;</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I</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&lt;</a:t>
                      </a:r>
                      <a:r>
                        <a:rPr lang="en-US" altLang="zh-CN"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S</a:t>
                      </a: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OS&gt; I</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like  </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&lt;</a:t>
                      </a:r>
                      <a:r>
                        <a:rPr lang="en-US" altLang="zh-CN"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S</a:t>
                      </a: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OS&gt; I like</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cats</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&lt;</a:t>
                      </a:r>
                      <a:r>
                        <a:rPr lang="en-US" altLang="zh-CN"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S</a:t>
                      </a: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OS&gt; I like cats</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c>
                  <a:txBody>
                    <a:bodyPr/>
                    <a:lstStyle/>
                    <a:p>
                      <a:pPr marL="0" marR="0" indent="0" algn="ctr" defTabSz="914400" rtl="0" eaLnBrk="1" latinLnBrk="0" hangingPunct="1">
                        <a:lnSpc>
                          <a:spcPct val="100000"/>
                        </a:lnSpc>
                        <a:spcBef>
                          <a:spcPts val="0"/>
                        </a:spcBef>
                        <a:spcAft>
                          <a:spcPts val="0"/>
                        </a:spcAft>
                        <a:buClrTx/>
                        <a:buSzTx/>
                        <a:buFontTx/>
                        <a:buNone/>
                      </a:pPr>
                      <a:r>
                        <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&lt;EOS&gt;</a:t>
                      </a:r>
                      <a:endParaRPr lang="en-US" sz="2400" b="1" i="0" u="none" strike="noStrike" cap="none" spc="0" baseline="0" dirty="0">
                        <a:solidFill>
                          <a:schemeClr val="tx1"/>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a:noFill/>
                    </a:lnL>
                    <a:lnR>
                      <a:noFill/>
                    </a:lnR>
                    <a:lnT>
                      <a:noFill/>
                    </a:lnT>
                    <a:lnB>
                      <a:noFill/>
                    </a:lnB>
                  </a:tcPr>
                </a:tc>
              </a:tr>
            </a:tbl>
          </a:graphicData>
        </a:graphic>
      </p:graphicFrame>
      <p:pic>
        <p:nvPicPr>
          <p:cNvPr id="7" name="图片 6"/>
          <p:cNvPicPr>
            <a:picLocks noChangeAspect="1"/>
          </p:cNvPicPr>
          <p:nvPr/>
        </p:nvPicPr>
        <p:blipFill>
          <a:blip r:embed="rId1"/>
          <a:stretch>
            <a:fillRect/>
          </a:stretch>
        </p:blipFill>
        <p:spPr>
          <a:xfrm>
            <a:off x="9258766" y="2831454"/>
            <a:ext cx="2824377" cy="3917950"/>
          </a:xfrm>
          <a:prstGeom prst="rect">
            <a:avLst/>
          </a:prstGeom>
        </p:spPr>
      </p:pic>
      <p:sp>
        <p:nvSpPr>
          <p:cNvPr id="8" name="矩形 7"/>
          <p:cNvSpPr/>
          <p:nvPr/>
        </p:nvSpPr>
        <p:spPr>
          <a:xfrm>
            <a:off x="10939828" y="5739129"/>
            <a:ext cx="1252172" cy="576264"/>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8200" y="1690688"/>
            <a:ext cx="11140214" cy="4351338"/>
          </a:xfrm>
        </p:spPr>
        <p:txBody>
          <a:bodyPr/>
          <a:lstStyle/>
          <a:p>
            <a:pPr marL="0" indent="0">
              <a:buNone/>
            </a:pPr>
            <a:r>
              <a:rPr lang="en-US" altLang="zh-CN" b="1" dirty="0">
                <a:solidFill>
                  <a:srgbClr val="C00000"/>
                </a:solidFill>
              </a:rPr>
              <a:t>No.5.2 Masked Multi-Head Attention </a:t>
            </a:r>
            <a:r>
              <a:rPr lang="zh-CN" altLang="en-US" b="1" dirty="0">
                <a:solidFill>
                  <a:srgbClr val="C00000"/>
                </a:solidFill>
              </a:rPr>
              <a:t>掩码机制</a:t>
            </a:r>
            <a:endParaRPr lang="en-US" altLang="zh-CN" b="1" dirty="0">
              <a:solidFill>
                <a:srgbClr val="C00000"/>
              </a:solidFill>
            </a:endParaRPr>
          </a:p>
          <a:p>
            <a:pPr marL="0" marR="0" lvl="0" indent="0" algn="l" defTabSz="914400" rtl="0" eaLnBrk="0" fontAlgn="base" latinLnBrk="0" hangingPunct="0">
              <a:lnSpc>
                <a:spcPct val="100000"/>
              </a:lnSpc>
              <a:spcBef>
                <a:spcPct val="0"/>
              </a:spcBef>
              <a:spcAft>
                <a:spcPct val="0"/>
              </a:spcAft>
              <a:buClrTx/>
              <a:buSzTx/>
              <a:buFontTx/>
              <a:buChar char="•"/>
            </a:pPr>
            <a:r>
              <a:rPr lang="zh-CN" altLang="en-US" dirty="0"/>
              <a:t>初始输入：</a:t>
            </a:r>
            <a:r>
              <a:rPr lang="zh-CN" altLang="zh-CN" dirty="0"/>
              <a:t>模型只能看到 &lt;SOS&gt;，强行去预测 </a:t>
            </a:r>
            <a:r>
              <a:rPr lang="en-US" altLang="zh-CN" dirty="0"/>
              <a:t>I</a:t>
            </a:r>
            <a:r>
              <a:rPr lang="zh-CN" altLang="zh-CN" dirty="0"/>
              <a:t>。</a:t>
            </a:r>
            <a:endParaRPr lang="zh-CN" altLang="zh-CN" dirty="0"/>
          </a:p>
          <a:p>
            <a:pPr marL="0" marR="0" lvl="0" indent="0" algn="l" defTabSz="914400" rtl="0" eaLnBrk="0" fontAlgn="base" latinLnBrk="0" hangingPunct="0">
              <a:lnSpc>
                <a:spcPct val="100000"/>
              </a:lnSpc>
              <a:spcBef>
                <a:spcPct val="0"/>
              </a:spcBef>
              <a:spcAft>
                <a:spcPct val="0"/>
              </a:spcAft>
              <a:buClrTx/>
              <a:buSzTx/>
              <a:buFontTx/>
              <a:buChar char="•"/>
            </a:pPr>
            <a:r>
              <a:rPr lang="zh-CN" altLang="en-US" dirty="0"/>
              <a:t>下一次输入：</a:t>
            </a:r>
            <a:r>
              <a:rPr lang="zh-CN" altLang="zh-CN" dirty="0"/>
              <a:t>模型只能看到 &lt;SOS&gt; 和 </a:t>
            </a:r>
            <a:r>
              <a:rPr lang="en-US" altLang="zh-CN" dirty="0"/>
              <a:t>I</a:t>
            </a:r>
            <a:r>
              <a:rPr lang="zh-CN" altLang="zh-CN" dirty="0"/>
              <a:t>，后面的词全部被遮蔽，强行预测</a:t>
            </a:r>
            <a:endParaRPr lang="zh-CN" altLang="zh-CN" dirty="0"/>
          </a:p>
          <a:p>
            <a:pPr marL="0" marR="0" lvl="0" indent="0" algn="l" defTabSz="914400" rtl="0" eaLnBrk="0" fontAlgn="base" latinLnBrk="0" hangingPunct="0">
              <a:lnSpc>
                <a:spcPct val="100000"/>
              </a:lnSpc>
              <a:spcBef>
                <a:spcPct val="0"/>
              </a:spcBef>
              <a:spcAft>
                <a:spcPct val="0"/>
              </a:spcAft>
              <a:buClrTx/>
              <a:buSzTx/>
              <a:buFontTx/>
              <a:buChar char="•"/>
            </a:pPr>
            <a:r>
              <a:rPr lang="zh-CN" altLang="zh-CN" dirty="0"/>
              <a:t>当计算位置 3 时：模型只能看到 &lt;SOS&gt;、</a:t>
            </a:r>
            <a:r>
              <a:rPr lang="en-US" altLang="zh-CN" dirty="0"/>
              <a:t>I</a:t>
            </a:r>
            <a:r>
              <a:rPr lang="zh-CN" altLang="zh-CN" dirty="0"/>
              <a:t>、</a:t>
            </a:r>
            <a:r>
              <a:rPr lang="en-US" altLang="zh-CN" dirty="0"/>
              <a:t>like</a:t>
            </a:r>
            <a:r>
              <a:rPr lang="zh-CN" altLang="zh-CN" dirty="0"/>
              <a:t>，预测</a:t>
            </a:r>
            <a:r>
              <a:rPr lang="en-US" altLang="zh-CN" dirty="0"/>
              <a:t> cats</a:t>
            </a:r>
            <a:endParaRPr lang="zh-CN" altLang="zh-CN" dirty="0"/>
          </a:p>
          <a:p>
            <a:endParaRPr lang="zh-CN" altLang="en-US" dirty="0"/>
          </a:p>
        </p:txBody>
      </p:sp>
      <p:pic>
        <p:nvPicPr>
          <p:cNvPr id="5" name="图片 4"/>
          <p:cNvPicPr>
            <a:picLocks noChangeAspect="1"/>
          </p:cNvPicPr>
          <p:nvPr/>
        </p:nvPicPr>
        <p:blipFill>
          <a:blip r:embed="rId1"/>
          <a:stretch>
            <a:fillRect/>
          </a:stretch>
        </p:blipFill>
        <p:spPr>
          <a:xfrm>
            <a:off x="9367623" y="2831454"/>
            <a:ext cx="2824377" cy="3917950"/>
          </a:xfrm>
          <a:prstGeom prst="rect">
            <a:avLst/>
          </a:prstGeom>
        </p:spPr>
      </p:pic>
      <p:sp>
        <p:nvSpPr>
          <p:cNvPr id="6" name="矩形 5"/>
          <p:cNvSpPr/>
          <p:nvPr/>
        </p:nvSpPr>
        <p:spPr>
          <a:xfrm>
            <a:off x="10727714" y="5044863"/>
            <a:ext cx="1252172" cy="576264"/>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7" name="AutoShape 2" descr="飞书文档 - 图片"/>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endParaRPr lang="zh-CN" altLang="en-US"/>
          </a:p>
        </p:txBody>
      </p:sp>
      <p:pic>
        <p:nvPicPr>
          <p:cNvPr id="8" name="图片 7"/>
          <p:cNvPicPr>
            <a:picLocks noChangeAspect="1"/>
          </p:cNvPicPr>
          <p:nvPr/>
        </p:nvPicPr>
        <p:blipFill>
          <a:blip r:embed="rId2"/>
          <a:stretch>
            <a:fillRect/>
          </a:stretch>
        </p:blipFill>
        <p:spPr>
          <a:xfrm>
            <a:off x="836728" y="3232211"/>
            <a:ext cx="4602845" cy="3396933"/>
          </a:xfrm>
          <a:prstGeom prst="rect">
            <a:avLst/>
          </a:prstGeom>
        </p:spPr>
      </p:pic>
      <p:pic>
        <p:nvPicPr>
          <p:cNvPr id="9" name="图片 8"/>
          <p:cNvPicPr>
            <a:picLocks noChangeAspect="1"/>
          </p:cNvPicPr>
          <p:nvPr/>
        </p:nvPicPr>
        <p:blipFill>
          <a:blip r:embed="rId3"/>
          <a:stretch>
            <a:fillRect/>
          </a:stretch>
        </p:blipFill>
        <p:spPr>
          <a:xfrm>
            <a:off x="6975869" y="3199935"/>
            <a:ext cx="1039867" cy="3473598"/>
          </a:xfrm>
          <a:prstGeom prst="rect">
            <a:avLst/>
          </a:prstGeom>
        </p:spPr>
      </p:pic>
      <p:cxnSp>
        <p:nvCxnSpPr>
          <p:cNvPr id="11" name="直接箭头连接符 10"/>
          <p:cNvCxnSpPr>
            <a:stCxn id="8" idx="3"/>
            <a:endCxn id="9" idx="1"/>
          </p:cNvCxnSpPr>
          <p:nvPr/>
        </p:nvCxnSpPr>
        <p:spPr>
          <a:xfrm>
            <a:off x="5439573" y="4930678"/>
            <a:ext cx="1536296" cy="6056"/>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Tree>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en-US" altLang="zh-CN" b="1" dirty="0">
                <a:solidFill>
                  <a:srgbClr val="C00000"/>
                </a:solidFill>
              </a:rPr>
              <a:t>No5.3 Decoder </a:t>
            </a:r>
            <a:r>
              <a:rPr lang="zh-CN" altLang="en-US" b="1" dirty="0">
                <a:solidFill>
                  <a:srgbClr val="C00000"/>
                </a:solidFill>
              </a:rPr>
              <a:t>中的第二个 </a:t>
            </a:r>
            <a:r>
              <a:rPr lang="en-US" altLang="zh-CN" b="1" dirty="0">
                <a:solidFill>
                  <a:srgbClr val="C00000"/>
                </a:solidFill>
              </a:rPr>
              <a:t>Multi-Head Attention</a:t>
            </a:r>
            <a:r>
              <a:rPr lang="zh-CN" altLang="en-US" b="1" dirty="0">
                <a:solidFill>
                  <a:srgbClr val="C00000"/>
                </a:solidFill>
              </a:rPr>
              <a:t>：去查询 </a:t>
            </a:r>
            <a:r>
              <a:rPr lang="en-US" altLang="zh-CN" b="1" dirty="0">
                <a:solidFill>
                  <a:srgbClr val="C00000"/>
                </a:solidFill>
              </a:rPr>
              <a:t>Encoder</a:t>
            </a:r>
            <a:endParaRPr lang="en-US" altLang="zh-CN" b="1" dirty="0">
              <a:solidFill>
                <a:srgbClr val="C00000"/>
              </a:solidFill>
            </a:endParaRPr>
          </a:p>
          <a:p>
            <a:pPr marL="0" indent="0">
              <a:buNone/>
            </a:pPr>
            <a:r>
              <a:rPr lang="en-US" altLang="zh-CN" dirty="0"/>
              <a:t>Decoder </a:t>
            </a:r>
            <a:r>
              <a:rPr lang="zh-CN" altLang="en-US" dirty="0"/>
              <a:t>根据当前要生成的内容，去输入句子中寻找相关信息</a:t>
            </a:r>
            <a:endParaRPr lang="en-US" altLang="zh-CN" dirty="0"/>
          </a:p>
          <a:p>
            <a:pPr marL="0" indent="0">
              <a:buNone/>
            </a:pPr>
            <a:r>
              <a:rPr lang="en-US" altLang="zh-CN" dirty="0">
                <a:solidFill>
                  <a:srgbClr val="FF0000"/>
                </a:solidFill>
              </a:rPr>
              <a:t>Q=Decoder</a:t>
            </a:r>
            <a:r>
              <a:rPr lang="zh-CN" altLang="en-US" dirty="0">
                <a:solidFill>
                  <a:srgbClr val="FF0000"/>
                </a:solidFill>
              </a:rPr>
              <a:t>表示</a:t>
            </a:r>
            <a:r>
              <a:rPr lang="en-US" altLang="zh-CN" dirty="0">
                <a:solidFill>
                  <a:srgbClr val="FF0000"/>
                </a:solidFill>
              </a:rPr>
              <a:t>    K</a:t>
            </a:r>
            <a:r>
              <a:rPr lang="zh-CN" altLang="en-US" dirty="0">
                <a:solidFill>
                  <a:srgbClr val="FF0000"/>
                </a:solidFill>
              </a:rPr>
              <a:t>，</a:t>
            </a:r>
            <a:r>
              <a:rPr lang="en-US" altLang="zh-CN" dirty="0">
                <a:solidFill>
                  <a:srgbClr val="FF0000"/>
                </a:solidFill>
              </a:rPr>
              <a:t>V=Encoder</a:t>
            </a:r>
            <a:r>
              <a:rPr lang="zh-CN" altLang="en-US" dirty="0">
                <a:solidFill>
                  <a:srgbClr val="FF0000"/>
                </a:solidFill>
              </a:rPr>
              <a:t>输出</a:t>
            </a:r>
            <a:endParaRPr lang="en-US" altLang="zh-CN" dirty="0">
              <a:solidFill>
                <a:srgbClr val="FF0000"/>
              </a:solidFill>
            </a:endParaRPr>
          </a:p>
          <a:p>
            <a:pPr marL="0" indent="0">
              <a:buNone/>
            </a:pPr>
            <a:endParaRPr lang="en-US" altLang="zh-CN" dirty="0">
              <a:solidFill>
                <a:srgbClr val="FF0000"/>
              </a:solidFill>
            </a:endParaRPr>
          </a:p>
          <a:p>
            <a:pPr marL="0" indent="0">
              <a:buNone/>
            </a:pPr>
            <a:r>
              <a:rPr lang="zh-CN" altLang="en-US" dirty="0"/>
              <a:t>理解：</a:t>
            </a:r>
            <a:r>
              <a:rPr lang="en-US" altLang="zh-CN" dirty="0"/>
              <a:t>Decoder </a:t>
            </a:r>
            <a:r>
              <a:rPr lang="zh-CN" altLang="en-US" dirty="0"/>
              <a:t>提出问题，</a:t>
            </a:r>
            <a:r>
              <a:rPr lang="en-US" altLang="zh-CN" dirty="0"/>
              <a:t>Encoder </a:t>
            </a:r>
            <a:r>
              <a:rPr lang="zh-CN" altLang="en-US" dirty="0"/>
              <a:t>提供资料</a:t>
            </a:r>
            <a:endParaRPr lang="en-US" altLang="zh-CN" dirty="0"/>
          </a:p>
          <a:p>
            <a:pPr marL="0" indent="0">
              <a:buNone/>
            </a:pPr>
            <a:r>
              <a:rPr lang="en-US" altLang="zh-CN" sz="2000" dirty="0"/>
              <a:t>Decoder</a:t>
            </a:r>
            <a:r>
              <a:rPr lang="zh-CN" altLang="en-US" sz="2000" dirty="0"/>
              <a:t>：要生成一个表示动物的词，输入句子中哪个部分最相关</a:t>
            </a:r>
            <a:endParaRPr lang="zh-CN" altLang="en-US" sz="2000" dirty="0"/>
          </a:p>
          <a:p>
            <a:pPr marL="0" indent="0">
              <a:buNone/>
            </a:pPr>
            <a:r>
              <a:rPr lang="en-US" altLang="zh-CN" sz="2000" dirty="0"/>
              <a:t>Encoder</a:t>
            </a:r>
            <a:r>
              <a:rPr lang="zh-CN" altLang="en-US" sz="2000" dirty="0"/>
              <a:t>：这里的“猫”最相关</a:t>
            </a:r>
            <a:endParaRPr lang="zh-CN" altLang="en-US" sz="2000" dirty="0"/>
          </a:p>
        </p:txBody>
      </p:sp>
      <p:cxnSp>
        <p:nvCxnSpPr>
          <p:cNvPr id="6" name="直接箭头连接符 5"/>
          <p:cNvCxnSpPr/>
          <p:nvPr/>
        </p:nvCxnSpPr>
        <p:spPr>
          <a:xfrm flipV="1">
            <a:off x="3854450" y="5105400"/>
            <a:ext cx="431800" cy="50800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7" name="文本框 6"/>
          <p:cNvSpPr txBox="1"/>
          <p:nvPr/>
        </p:nvSpPr>
        <p:spPr>
          <a:xfrm>
            <a:off x="3333750" y="5652699"/>
            <a:ext cx="1314450"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b="1" dirty="0">
                <a:solidFill>
                  <a:schemeClr val="accent1"/>
                </a:solidFill>
                <a:latin typeface="微软雅黑" panose="020B0503020204020204" pitchFamily="34" charset="-122"/>
                <a:ea typeface="微软雅黑" panose="020B0503020204020204" pitchFamily="34" charset="-122"/>
              </a:rPr>
              <a:t>对齐过程</a:t>
            </a:r>
            <a:endParaRPr lang="zh-CN" altLang="en-US" sz="2400" b="1" dirty="0">
              <a:solidFill>
                <a:schemeClr val="accent1"/>
              </a:solidFill>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1"/>
          <a:stretch>
            <a:fillRect/>
          </a:stretch>
        </p:blipFill>
        <p:spPr>
          <a:xfrm>
            <a:off x="9367623" y="2831454"/>
            <a:ext cx="2824377" cy="3917950"/>
          </a:xfrm>
          <a:prstGeom prst="rect">
            <a:avLst/>
          </a:prstGeom>
        </p:spPr>
      </p:pic>
      <p:sp>
        <p:nvSpPr>
          <p:cNvPr id="9" name="矩形 8"/>
          <p:cNvSpPr/>
          <p:nvPr/>
        </p:nvSpPr>
        <p:spPr>
          <a:xfrm>
            <a:off x="10727714" y="4333663"/>
            <a:ext cx="1252172" cy="576264"/>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pic>
        <p:nvPicPr>
          <p:cNvPr id="10" name="图片 9"/>
          <p:cNvPicPr>
            <a:picLocks noChangeAspect="1"/>
          </p:cNvPicPr>
          <p:nvPr/>
        </p:nvPicPr>
        <p:blipFill>
          <a:blip r:embed="rId2"/>
          <a:stretch>
            <a:fillRect/>
          </a:stretch>
        </p:blipFill>
        <p:spPr>
          <a:xfrm>
            <a:off x="4923577" y="4764736"/>
            <a:ext cx="3909273" cy="1386090"/>
          </a:xfrm>
          <a:prstGeom prst="rect">
            <a:avLst/>
          </a:prstGeom>
        </p:spPr>
      </p:pic>
    </p:spTree>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架构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en-US" altLang="zh-CN" b="1" dirty="0">
                <a:solidFill>
                  <a:srgbClr val="C00000"/>
                </a:solidFill>
              </a:rPr>
              <a:t>No.6 </a:t>
            </a:r>
            <a:r>
              <a:rPr lang="zh-CN" altLang="en-US" b="1" dirty="0">
                <a:solidFill>
                  <a:srgbClr val="C00000"/>
                </a:solidFill>
              </a:rPr>
              <a:t>线性变换</a:t>
            </a:r>
            <a:endParaRPr lang="en-US" altLang="zh-CN" b="1" dirty="0">
              <a:solidFill>
                <a:srgbClr val="C00000"/>
              </a:solidFill>
            </a:endParaRPr>
          </a:p>
          <a:p>
            <a:pPr marL="0" indent="0">
              <a:buNone/>
            </a:pPr>
            <a:r>
              <a:rPr lang="en-US" altLang="zh-CN" dirty="0"/>
              <a:t>Decoder </a:t>
            </a:r>
            <a:r>
              <a:rPr lang="zh-CN" altLang="en-US" dirty="0"/>
              <a:t>最后输出的仍然是一个隐藏向量</a:t>
            </a:r>
            <a:endParaRPr lang="en-US" altLang="zh-CN" dirty="0"/>
          </a:p>
          <a:p>
            <a:pPr marL="0" indent="0">
              <a:buNone/>
            </a:pPr>
            <a:endParaRPr lang="en-US" altLang="zh-CN" dirty="0"/>
          </a:p>
          <a:p>
            <a:pPr marL="0" indent="0">
              <a:buNone/>
            </a:pPr>
            <a:endParaRPr lang="en-US" altLang="zh-CN" dirty="0"/>
          </a:p>
          <a:p>
            <a:pPr marL="0" indent="0">
              <a:buNone/>
            </a:pPr>
            <a:r>
              <a:rPr lang="en-US" altLang="zh-CN" dirty="0"/>
              <a:t>Linear </a:t>
            </a:r>
            <a:r>
              <a:rPr lang="zh-CN" altLang="en-US" dirty="0"/>
              <a:t>层会把它映射到</a:t>
            </a:r>
            <a:r>
              <a:rPr lang="en-US" altLang="zh-CN" dirty="0"/>
              <a:t>Logits</a:t>
            </a:r>
            <a:r>
              <a:rPr lang="zh-CN" altLang="en-US" dirty="0"/>
              <a:t>分数层面</a:t>
            </a:r>
            <a:endParaRPr lang="en-US" altLang="zh-CN" dirty="0"/>
          </a:p>
          <a:p>
            <a:pPr marL="0" indent="0">
              <a:buNone/>
            </a:pPr>
            <a:endParaRPr lang="en-US" altLang="zh-CN" dirty="0"/>
          </a:p>
          <a:p>
            <a:pPr marL="0" indent="0">
              <a:buNone/>
            </a:pPr>
            <a:endParaRPr lang="en-US" altLang="zh-CN" dirty="0"/>
          </a:p>
          <a:p>
            <a:pPr marL="0" indent="0">
              <a:buNone/>
            </a:pPr>
            <a:r>
              <a:rPr lang="zh-CN" altLang="en-US" dirty="0"/>
              <a:t>通过</a:t>
            </a:r>
            <a:r>
              <a:rPr lang="en-US" altLang="zh-CN" dirty="0" err="1"/>
              <a:t>Softmax</a:t>
            </a:r>
            <a:r>
              <a:rPr lang="zh-CN" altLang="en-US" dirty="0"/>
              <a:t>转换为概率，生成概率最高的词</a:t>
            </a:r>
            <a:endParaRPr lang="en-US" altLang="zh-CN" dirty="0"/>
          </a:p>
          <a:p>
            <a:pPr marL="0" indent="0">
              <a:buNone/>
            </a:pPr>
            <a:endParaRPr lang="zh-CN" altLang="en-US" dirty="0"/>
          </a:p>
        </p:txBody>
      </p:sp>
      <p:cxnSp>
        <p:nvCxnSpPr>
          <p:cNvPr id="6" name="直接箭头连接符 5"/>
          <p:cNvCxnSpPr/>
          <p:nvPr/>
        </p:nvCxnSpPr>
        <p:spPr>
          <a:xfrm>
            <a:off x="2781300" y="2844800"/>
            <a:ext cx="0" cy="72390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8" name="直接箭头连接符 7"/>
          <p:cNvCxnSpPr/>
          <p:nvPr/>
        </p:nvCxnSpPr>
        <p:spPr>
          <a:xfrm>
            <a:off x="2781300" y="4165600"/>
            <a:ext cx="0" cy="81280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pic>
        <p:nvPicPr>
          <p:cNvPr id="9" name="图片 8"/>
          <p:cNvPicPr>
            <a:picLocks noChangeAspect="1"/>
          </p:cNvPicPr>
          <p:nvPr/>
        </p:nvPicPr>
        <p:blipFill>
          <a:blip r:embed="rId1"/>
          <a:stretch>
            <a:fillRect/>
          </a:stretch>
        </p:blipFill>
        <p:spPr>
          <a:xfrm>
            <a:off x="9367623" y="2831454"/>
            <a:ext cx="2824377" cy="3917950"/>
          </a:xfrm>
          <a:prstGeom prst="rect">
            <a:avLst/>
          </a:prstGeom>
        </p:spPr>
      </p:pic>
      <p:sp>
        <p:nvSpPr>
          <p:cNvPr id="10" name="矩形 9"/>
          <p:cNvSpPr/>
          <p:nvPr/>
        </p:nvSpPr>
        <p:spPr>
          <a:xfrm>
            <a:off x="10630348" y="3140868"/>
            <a:ext cx="1252172" cy="576264"/>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5" name="文本框 4"/>
          <p:cNvSpPr txBox="1"/>
          <p:nvPr/>
        </p:nvSpPr>
        <p:spPr>
          <a:xfrm>
            <a:off x="81945" y="6425039"/>
            <a:ext cx="10160000"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rPr>
              <a:t>https://acn3t8qa5wm4.feishu.cn/wiki/NUZEwrOsQiRo9YkW3emcIY7PnIc?from=from_copylink</a:t>
            </a: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7" name="矩形 6"/>
          <p:cNvSpPr/>
          <p:nvPr/>
        </p:nvSpPr>
        <p:spPr>
          <a:xfrm>
            <a:off x="6503031" y="5445270"/>
            <a:ext cx="2646878" cy="584775"/>
          </a:xfrm>
          <a:prstGeom prst="rect">
            <a:avLst/>
          </a:prstGeom>
          <a:noFill/>
        </p:spPr>
        <p:txBody>
          <a:bodyPr wrap="none" lIns="91440" tIns="45720" rIns="91440" bIns="45720">
            <a:spAutoFit/>
          </a:bodyPr>
          <a:lstStyle/>
          <a:p>
            <a:pPr algn="ctr"/>
            <a:r>
              <a:rPr lang="zh-CN" altLang="en-US" sz="3200" b="1"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整体详细过程</a:t>
            </a:r>
            <a:endParaRPr lang="zh-CN" altLang="en-US" sz="32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cxnSp>
        <p:nvCxnSpPr>
          <p:cNvPr id="12" name="直接箭头连接符 11"/>
          <p:cNvCxnSpPr>
            <a:stCxn id="7" idx="2"/>
          </p:cNvCxnSpPr>
          <p:nvPr/>
        </p:nvCxnSpPr>
        <p:spPr>
          <a:xfrm flipH="1">
            <a:off x="5308600" y="6030045"/>
            <a:ext cx="2517870" cy="286088"/>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Tree>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0" y="1998"/>
            <a:ext cx="3893811" cy="2957513"/>
          </a:xfrm>
          <a:prstGeom prst="rect">
            <a:avLst/>
          </a:prstGeom>
        </p:spPr>
      </p:pic>
      <p:pic>
        <p:nvPicPr>
          <p:cNvPr id="6" name="图片 5"/>
          <p:cNvPicPr>
            <a:picLocks noChangeAspect="1"/>
          </p:cNvPicPr>
          <p:nvPr/>
        </p:nvPicPr>
        <p:blipFill>
          <a:blip r:embed="rId2"/>
          <a:stretch>
            <a:fillRect/>
          </a:stretch>
        </p:blipFill>
        <p:spPr>
          <a:xfrm>
            <a:off x="4550724" y="135367"/>
            <a:ext cx="5651344" cy="2847992"/>
          </a:xfrm>
          <a:prstGeom prst="rect">
            <a:avLst/>
          </a:prstGeom>
        </p:spPr>
      </p:pic>
      <p:pic>
        <p:nvPicPr>
          <p:cNvPr id="7" name="图片 6"/>
          <p:cNvPicPr>
            <a:picLocks noChangeAspect="1"/>
          </p:cNvPicPr>
          <p:nvPr/>
        </p:nvPicPr>
        <p:blipFill>
          <a:blip r:embed="rId3"/>
          <a:stretch>
            <a:fillRect/>
          </a:stretch>
        </p:blipFill>
        <p:spPr>
          <a:xfrm>
            <a:off x="4607644" y="3045185"/>
            <a:ext cx="5537503" cy="1658914"/>
          </a:xfrm>
          <a:prstGeom prst="rect">
            <a:avLst/>
          </a:prstGeom>
        </p:spPr>
      </p:pic>
      <p:pic>
        <p:nvPicPr>
          <p:cNvPr id="8" name="图片 7"/>
          <p:cNvPicPr>
            <a:picLocks noChangeAspect="1"/>
          </p:cNvPicPr>
          <p:nvPr/>
        </p:nvPicPr>
        <p:blipFill>
          <a:blip r:embed="rId4"/>
          <a:stretch>
            <a:fillRect/>
          </a:stretch>
        </p:blipFill>
        <p:spPr>
          <a:xfrm>
            <a:off x="4607644" y="4704099"/>
            <a:ext cx="6851330" cy="1922051"/>
          </a:xfrm>
          <a:prstGeom prst="rect">
            <a:avLst/>
          </a:prstGeom>
        </p:spPr>
      </p:pic>
      <p:sp>
        <p:nvSpPr>
          <p:cNvPr id="13" name="标题 1"/>
          <p:cNvSpPr>
            <a:spLocks noGrp="1"/>
          </p:cNvSpPr>
          <p:nvPr>
            <p:ph type="title"/>
          </p:nvPr>
        </p:nvSpPr>
        <p:spPr>
          <a:xfrm>
            <a:off x="12591" y="4826000"/>
            <a:ext cx="10515600" cy="1325563"/>
          </a:xfrm>
        </p:spPr>
        <p:txBody>
          <a:bodyPr>
            <a:normAutofit/>
          </a:bodyPr>
          <a:lstStyle/>
          <a:p>
            <a:r>
              <a:rPr lang="en-US" altLang="zh-CN" sz="3600" dirty="0"/>
              <a:t>Transformer</a:t>
            </a:r>
            <a:r>
              <a:rPr lang="zh-CN" altLang="en-US" sz="3600" dirty="0"/>
              <a:t>训练模式</a:t>
            </a:r>
            <a:endParaRPr lang="zh-CN" altLang="en-US" sz="3600" dirty="0"/>
          </a:p>
        </p:txBody>
      </p:sp>
    </p:spTree>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6795907" y="3073462"/>
            <a:ext cx="4724446" cy="3039668"/>
          </a:xfrm>
          <a:prstGeom prst="rect">
            <a:avLst/>
          </a:prstGeom>
        </p:spPr>
      </p:pic>
      <p:pic>
        <p:nvPicPr>
          <p:cNvPr id="6" name="图片 5"/>
          <p:cNvPicPr>
            <a:picLocks noChangeAspect="1"/>
          </p:cNvPicPr>
          <p:nvPr/>
        </p:nvPicPr>
        <p:blipFill>
          <a:blip r:embed="rId2"/>
          <a:stretch>
            <a:fillRect/>
          </a:stretch>
        </p:blipFill>
        <p:spPr>
          <a:xfrm>
            <a:off x="2817677" y="3142719"/>
            <a:ext cx="3978230" cy="2901155"/>
          </a:xfrm>
          <a:prstGeom prst="rect">
            <a:avLst/>
          </a:prstGeom>
        </p:spPr>
      </p:pic>
      <p:pic>
        <p:nvPicPr>
          <p:cNvPr id="8" name="图片 7"/>
          <p:cNvPicPr>
            <a:picLocks noChangeAspect="1"/>
          </p:cNvPicPr>
          <p:nvPr/>
        </p:nvPicPr>
        <p:blipFill>
          <a:blip r:embed="rId3"/>
          <a:stretch>
            <a:fillRect/>
          </a:stretch>
        </p:blipFill>
        <p:spPr>
          <a:xfrm>
            <a:off x="246741" y="303359"/>
            <a:ext cx="4960426" cy="2543346"/>
          </a:xfrm>
          <a:prstGeom prst="rect">
            <a:avLst/>
          </a:prstGeom>
        </p:spPr>
      </p:pic>
      <p:sp>
        <p:nvSpPr>
          <p:cNvPr id="10" name="标题 1"/>
          <p:cNvSpPr txBox="1"/>
          <p:nvPr/>
        </p:nvSpPr>
        <p:spPr>
          <a:xfrm>
            <a:off x="89067" y="2672228"/>
            <a:ext cx="10515600" cy="1325563"/>
          </a:xfrm>
          <a:prstGeom prst="rect">
            <a:avLst/>
          </a:prstGeom>
          <a:ln w="12700">
            <a:miter lim="400000"/>
          </a:ln>
        </p:spPr>
        <p:txBody>
          <a:bodyPr lIns="45719" rIns="45719" anchor="ctr">
            <a:normAutofit/>
          </a:bodyPr>
          <a:lstStyle>
            <a:lvl1pPr marL="0" marR="0" indent="0" algn="l" defTabSz="914400" rtl="0" eaLnBrk="1" latinLnBrk="0" hangingPunct="1">
              <a:lnSpc>
                <a:spcPct val="90000"/>
              </a:lnSpc>
              <a:spcBef>
                <a:spcPts val="0"/>
              </a:spcBef>
              <a:spcAft>
                <a:spcPts val="0"/>
              </a:spcAft>
              <a:buClrTx/>
              <a:buSzTx/>
              <a:buFontTx/>
              <a:buNone/>
              <a:defRPr sz="4000" b="0" i="0" u="none" strike="noStrike" cap="none" spc="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Light" panose="02010600030101010101" charset="-122"/>
              </a:defRPr>
            </a:lvl1pPr>
            <a:lvl2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2pPr>
            <a:lvl3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3pPr>
            <a:lvl4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4pPr>
            <a:lvl5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5pPr>
            <a:lvl6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6pPr>
            <a:lvl7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7pPr>
            <a:lvl8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8pPr>
            <a:lvl9pPr marL="0" marR="0" indent="0" algn="l" defTabSz="914400" rtl="0" eaLnBrk="1" latinLnBrk="0" hangingPunct="1">
              <a:lnSpc>
                <a:spcPct val="90000"/>
              </a:lnSpc>
              <a:spcBef>
                <a:spcPts val="0"/>
              </a:spcBef>
              <a:spcAft>
                <a:spcPts val="0"/>
              </a:spcAft>
              <a:buClrTx/>
              <a:buSzTx/>
              <a:buFontTx/>
              <a:buNone/>
              <a:defRPr sz="4400" b="0" i="0" u="none" strike="noStrike" cap="none" spc="0" baseline="0">
                <a:solidFill>
                  <a:srgbClr val="000000"/>
                </a:solidFill>
                <a:uFillTx/>
                <a:latin typeface="等线 Light" panose="02010600030101010101" charset="-122"/>
                <a:ea typeface="等线 Light" panose="02010600030101010101" charset="-122"/>
                <a:cs typeface="等线 Light" panose="02010600030101010101" charset="-122"/>
                <a:sym typeface="等线 Light" panose="02010600030101010101" charset="-122"/>
              </a:defRPr>
            </a:lvl9pPr>
          </a:lstStyle>
          <a:p>
            <a:r>
              <a:rPr lang="en-US" altLang="zh-CN" sz="3600" dirty="0"/>
              <a:t>Transformer</a:t>
            </a:r>
            <a:r>
              <a:rPr lang="zh-CN" altLang="en-US" sz="3600" dirty="0"/>
              <a:t>推理模式</a:t>
            </a:r>
            <a:endParaRPr lang="zh-CN" altLang="en-US" sz="3600" dirty="0"/>
          </a:p>
        </p:txBody>
      </p:sp>
      <p:pic>
        <p:nvPicPr>
          <p:cNvPr id="7" name="图片 6"/>
          <p:cNvPicPr>
            <a:picLocks noChangeAspect="1"/>
          </p:cNvPicPr>
          <p:nvPr/>
        </p:nvPicPr>
        <p:blipFill>
          <a:blip r:embed="rId4"/>
          <a:stretch>
            <a:fillRect/>
          </a:stretch>
        </p:blipFill>
        <p:spPr>
          <a:xfrm>
            <a:off x="5429262" y="112236"/>
            <a:ext cx="4518305" cy="2734469"/>
          </a:xfrm>
          <a:prstGeom prst="rect">
            <a:avLst/>
          </a:prstGeom>
        </p:spPr>
      </p:pic>
    </p:spTree>
  </p:cSld>
  <p:clrMapOvr>
    <a:masterClrMapping/>
  </p:clrMapOvr>
  <p:transition spd="me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Transformer</a:t>
            </a:r>
            <a:r>
              <a:rPr lang="zh-CN" altLang="en-US" dirty="0"/>
              <a:t>具体工作</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endParaRPr lang="zh-CN" altLang="en-US" dirty="0"/>
          </a:p>
        </p:txBody>
      </p:sp>
      <p:graphicFrame>
        <p:nvGraphicFramePr>
          <p:cNvPr id="5" name="表格 4"/>
          <p:cNvGraphicFramePr>
            <a:graphicFrameLocks noGrp="1"/>
          </p:cNvGraphicFramePr>
          <p:nvPr>
            <p:custDataLst>
              <p:tags r:id="rId1"/>
            </p:custDataLst>
          </p:nvPr>
        </p:nvGraphicFramePr>
        <p:xfrm>
          <a:off x="161932" y="1757200"/>
          <a:ext cx="11868136" cy="5016545"/>
        </p:xfrm>
        <a:graphic>
          <a:graphicData uri="http://schemas.openxmlformats.org/drawingml/2006/table">
            <a:tbl>
              <a:tblPr firstRow="1" firstCol="1">
                <a:tableStyleId>{CF821DB8-F4EB-4A41-A1BA-3FCAFE7338EE}</a:tableStyleId>
              </a:tblPr>
              <a:tblGrid>
                <a:gridCol w="2028598"/>
                <a:gridCol w="3407590"/>
                <a:gridCol w="6431948"/>
              </a:tblGrid>
              <a:tr h="424371">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任务类型</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具体任务</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Transformer</a:t>
                      </a:r>
                      <a:r>
                        <a:rPr lang="zh-CN" altLang="en-US" sz="2000" dirty="0">
                          <a:latin typeface="微软雅黑" panose="020B0503020204020204" pitchFamily="34" charset="-122"/>
                          <a:ea typeface="微软雅黑" panose="020B0503020204020204" pitchFamily="34" charset="-122"/>
                          <a:cs typeface="Arial" panose="020B0604020202020204" pitchFamily="34" charset="0"/>
                        </a:rPr>
                        <a:t>运行机理</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94711">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机器翻译</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中文到英文、英文到中文</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Encoder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理解源语言，</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Decoder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生成目标语言</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28744">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文本理解</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情感分类、主题分类</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把句子编码成整体语义表示，再判断类别</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4323">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文本匹配</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问答匹配、句子相似度</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比较文本之间的语义关系</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文本生成</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写文章、续写、摘要、对话</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Decoder</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根据已有内容来预测下一个</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token</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代码任务</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代码生成、解释</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代码也可以看成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Token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序列</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图像分类</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b="0" i="0" u="none" strike="noStrike" cap="none" spc="0" baseline="0" dirty="0" err="1">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ViT</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图像分类</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把图像切成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Patch</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，把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Patch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当成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Token</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图像分割</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b="0" i="0" u="none" strike="noStrike" cap="none" spc="0" baseline="0" dirty="0" err="1">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Segmenter</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等模型</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让不同图像区域交换信息，判断每个像素或区域类别</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目标检测</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DETR</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等模型</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建模图像与类别之间的关系</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多模态任务</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文本、图像、音频联合理解</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不同模态都可以转成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Token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后统一建模</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6" name="矩形 5"/>
          <p:cNvSpPr/>
          <p:nvPr/>
        </p:nvSpPr>
        <p:spPr>
          <a:xfrm>
            <a:off x="161932" y="4832739"/>
            <a:ext cx="11953812" cy="472339"/>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Vision Transformer</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buNone/>
            </a:pPr>
            <a:r>
              <a:rPr lang="en-US" altLang="zh-CN" dirty="0" err="1"/>
              <a:t>ViT</a:t>
            </a:r>
            <a:r>
              <a:rPr lang="en-US" altLang="zh-CN" dirty="0"/>
              <a:t> </a:t>
            </a:r>
            <a:r>
              <a:rPr lang="zh-CN" altLang="en-US" dirty="0"/>
              <a:t>的核心思想是：把图像切成 </a:t>
            </a:r>
            <a:r>
              <a:rPr lang="en-US" altLang="zh-CN" dirty="0"/>
              <a:t>Patch</a:t>
            </a:r>
            <a:r>
              <a:rPr lang="zh-CN" altLang="en-US" dirty="0"/>
              <a:t>，把 </a:t>
            </a:r>
            <a:r>
              <a:rPr lang="en-US" altLang="zh-CN" dirty="0"/>
              <a:t>Patch </a:t>
            </a:r>
            <a:r>
              <a:rPr lang="zh-CN" altLang="en-US" dirty="0"/>
              <a:t>当作词，再使用 </a:t>
            </a:r>
            <a:r>
              <a:rPr lang="en-US" altLang="zh-CN" dirty="0"/>
              <a:t>Transformer Encoder </a:t>
            </a:r>
            <a:r>
              <a:rPr lang="zh-CN" altLang="en-US" dirty="0"/>
              <a:t>学习不同图像区域之间的全局关系</a:t>
            </a:r>
            <a:endParaRPr lang="zh-CN" altLang="en-US" dirty="0"/>
          </a:p>
        </p:txBody>
      </p:sp>
      <p:pic>
        <p:nvPicPr>
          <p:cNvPr id="5" name="图片 4"/>
          <p:cNvPicPr>
            <a:picLocks noChangeAspect="1"/>
          </p:cNvPicPr>
          <p:nvPr/>
        </p:nvPicPr>
        <p:blipFill>
          <a:blip r:embed="rId1"/>
          <a:stretch>
            <a:fillRect/>
          </a:stretch>
        </p:blipFill>
        <p:spPr>
          <a:xfrm>
            <a:off x="1115588" y="2793695"/>
            <a:ext cx="7213400" cy="3699179"/>
          </a:xfrm>
          <a:prstGeom prst="rect">
            <a:avLst/>
          </a:prstGeom>
        </p:spPr>
      </p:pic>
      <p:sp>
        <p:nvSpPr>
          <p:cNvPr id="6" name="文本框 5"/>
          <p:cNvSpPr txBox="1"/>
          <p:nvPr/>
        </p:nvSpPr>
        <p:spPr>
          <a:xfrm>
            <a:off x="8693150" y="2793696"/>
            <a:ext cx="3281136" cy="664797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图片切成词</a:t>
            </a:r>
            <a:r>
              <a:rPr lang="en-US" altLang="zh-CN" sz="2400" dirty="0">
                <a:solidFill>
                  <a:schemeClr val="accent1"/>
                </a:solidFill>
                <a:latin typeface="微软雅黑" panose="020B0503020204020204" pitchFamily="34" charset="-122"/>
                <a:ea typeface="微软雅黑" panose="020B0503020204020204" pitchFamily="34" charset="-122"/>
              </a:rPr>
              <a:t>token</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进行位置编码</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sz="2400" dirty="0">
              <a:solidFill>
                <a:schemeClr val="accent1"/>
              </a:solidFill>
              <a:latin typeface="微软雅黑" panose="020B0503020204020204" pitchFamily="34" charset="-122"/>
              <a:ea typeface="微软雅黑" panose="020B0503020204020204" pitchFamily="34" charset="-122"/>
            </a:endParaRPr>
          </a:p>
          <a:p>
            <a:r>
              <a:rPr lang="zh-CN" altLang="en-US" sz="2400" dirty="0">
                <a:solidFill>
                  <a:schemeClr val="accent1"/>
                </a:solidFill>
                <a:latin typeface="微软雅黑" panose="020B0503020204020204" pitchFamily="34" charset="-122"/>
                <a:ea typeface="微软雅黑" panose="020B0503020204020204" pitchFamily="34" charset="-122"/>
              </a:rPr>
              <a:t>套用标准</a:t>
            </a:r>
            <a:r>
              <a:rPr lang="en-US" altLang="zh-CN" sz="2400" dirty="0">
                <a:solidFill>
                  <a:schemeClr val="accent1"/>
                </a:solidFill>
                <a:latin typeface="微软雅黑" panose="020B0503020204020204" pitchFamily="34" charset="-122"/>
                <a:ea typeface="微软雅黑" panose="020B0503020204020204" pitchFamily="34" charset="-122"/>
              </a:rPr>
              <a:t>Transformer</a:t>
            </a:r>
            <a:endParaRPr lang="en-US" altLang="zh-CN" sz="24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dirty="0"/>
          </a:p>
          <a:p>
            <a:pPr marL="0" marR="0" indent="0" algn="l" defTabSz="914400" rtl="0" fontAlgn="auto" latinLnBrk="0" hangingPunct="0">
              <a:lnSpc>
                <a:spcPct val="100000"/>
              </a:lnSpc>
              <a:spcBef>
                <a:spcPts val="0"/>
              </a:spcBef>
              <a:spcAft>
                <a:spcPts val="0"/>
              </a:spcAft>
              <a:buClrTx/>
              <a:buSzTx/>
              <a:buFontTx/>
              <a:buNone/>
            </a:pPr>
            <a:endPar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dirty="0"/>
          </a:p>
          <a:p>
            <a:pPr marL="0" marR="0" indent="0" algn="l" defTabSz="914400" rtl="0" fontAlgn="auto" latinLnBrk="0" hangingPunct="0">
              <a:lnSpc>
                <a:spcPct val="100000"/>
              </a:lnSpc>
              <a:spcBef>
                <a:spcPts val="0"/>
              </a:spcBef>
              <a:spcAft>
                <a:spcPts val="0"/>
              </a:spcAft>
              <a:buClrTx/>
              <a:buSzTx/>
              <a:buFontTx/>
              <a:buNone/>
            </a:pPr>
            <a:endPar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dirty="0"/>
          </a:p>
          <a:p>
            <a:pPr marL="0" marR="0" indent="0" algn="l" defTabSz="914400" rtl="0" fontAlgn="auto" latinLnBrk="0" hangingPunct="0">
              <a:lnSpc>
                <a:spcPct val="100000"/>
              </a:lnSpc>
              <a:spcBef>
                <a:spcPts val="0"/>
              </a:spcBef>
              <a:spcAft>
                <a:spcPts val="0"/>
              </a:spcAft>
              <a:buClrTx/>
              <a:buSzTx/>
              <a:buFontTx/>
              <a:buNone/>
            </a:pPr>
            <a:endPar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dirty="0"/>
          </a:p>
          <a:p>
            <a:pPr marL="0" marR="0" indent="0" algn="l" defTabSz="914400" rtl="0" fontAlgn="auto" latinLnBrk="0" hangingPunct="0">
              <a:lnSpc>
                <a:spcPct val="100000"/>
              </a:lnSpc>
              <a:spcBef>
                <a:spcPts val="0"/>
              </a:spcBef>
              <a:spcAft>
                <a:spcPts val="0"/>
              </a:spcAft>
              <a:buClrTx/>
              <a:buSzTx/>
              <a:buFontTx/>
              <a:buNone/>
            </a:pPr>
            <a:endPar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lang="en-US" altLang="zh-CN" dirty="0"/>
          </a:p>
          <a:p>
            <a:pPr marL="0" marR="0" indent="0" algn="l" defTabSz="914400" rtl="0" fontAlgn="auto" latinLnBrk="0" hangingPunct="0">
              <a:lnSpc>
                <a:spcPct val="100000"/>
              </a:lnSpc>
              <a:spcBef>
                <a:spcPts val="0"/>
              </a:spcBef>
              <a:spcAft>
                <a:spcPts val="0"/>
              </a:spcAft>
              <a:buClrTx/>
              <a:buSzTx/>
              <a:buFontTx/>
              <a:buNone/>
            </a:pPr>
            <a:endPar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en-US" altLang="zh-CN"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cxnSp>
        <p:nvCxnSpPr>
          <p:cNvPr id="8" name="直接箭头连接符 7"/>
          <p:cNvCxnSpPr/>
          <p:nvPr/>
        </p:nvCxnSpPr>
        <p:spPr>
          <a:xfrm>
            <a:off x="9880600" y="3162300"/>
            <a:ext cx="0" cy="93345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0" name="直接箭头连接符 9"/>
          <p:cNvCxnSpPr/>
          <p:nvPr/>
        </p:nvCxnSpPr>
        <p:spPr>
          <a:xfrm>
            <a:off x="9861550" y="4629150"/>
            <a:ext cx="0" cy="93345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Tree>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168275"/>
            <a:ext cx="10515600" cy="1325563"/>
          </a:xfrm>
        </p:spPr>
        <p:txBody>
          <a:bodyPr/>
          <a:lstStyle/>
          <a:p>
            <a:r>
              <a:rPr lang="en-US" altLang="zh-CN" dirty="0" err="1"/>
              <a:t>ViT</a:t>
            </a:r>
            <a:r>
              <a:rPr lang="en-US" altLang="zh-CN" dirty="0"/>
              <a:t> vs CNN</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774832" y="1984536"/>
            <a:ext cx="6491042" cy="2145688"/>
          </a:xfrm>
          <a:prstGeom prst="rect">
            <a:avLst/>
          </a:prstGeom>
        </p:spPr>
      </p:pic>
      <p:sp>
        <p:nvSpPr>
          <p:cNvPr id="6" name="Rectangle 1"/>
          <p:cNvSpPr>
            <a:spLocks noGrp="1" noChangeArrowheads="1"/>
          </p:cNvSpPr>
          <p:nvPr>
            <p:ph type="body" idx="1"/>
          </p:nvPr>
        </p:nvSpPr>
        <p:spPr bwMode="auto">
          <a:xfrm>
            <a:off x="0" y="665029"/>
            <a:ext cx="8558753" cy="11849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ts val="600"/>
              </a:spcAft>
              <a:buClrTx/>
              <a:buSzTx/>
              <a:buFontTx/>
              <a:buChar char="•"/>
            </a:pPr>
            <a:r>
              <a:rPr lang="en-US" altLang="zh-CN" dirty="0"/>
              <a:t> </a:t>
            </a:r>
            <a:r>
              <a:rPr lang="zh-CN" altLang="zh-CN" dirty="0"/>
              <a:t>CNN 更擅长从局部区域逐步提取特征</a:t>
            </a:r>
            <a:endParaRPr lang="zh-CN" altLang="zh-CN" dirty="0"/>
          </a:p>
          <a:p>
            <a:pPr marL="0" marR="0" lvl="0" indent="0" algn="l" defTabSz="914400" rtl="0" eaLnBrk="0" fontAlgn="base" latinLnBrk="0" hangingPunct="0">
              <a:lnSpc>
                <a:spcPct val="100000"/>
              </a:lnSpc>
              <a:spcBef>
                <a:spcPct val="0"/>
              </a:spcBef>
              <a:spcAft>
                <a:spcPts val="600"/>
              </a:spcAft>
              <a:buClrTx/>
              <a:buSzTx/>
              <a:buFontTx/>
              <a:buChar char="•"/>
            </a:pPr>
            <a:r>
              <a:rPr lang="en-US" altLang="zh-CN" dirty="0"/>
              <a:t> </a:t>
            </a:r>
            <a:r>
              <a:rPr lang="zh-CN" altLang="zh-CN" dirty="0"/>
              <a:t>ViT 可以通过 Attention 直接建立远距离 Patch 之间的联系 </a:t>
            </a:r>
            <a:endParaRPr lang="zh-CN" altLang="zh-CN" dirty="0"/>
          </a:p>
        </p:txBody>
      </p:sp>
      <p:graphicFrame>
        <p:nvGraphicFramePr>
          <p:cNvPr id="7" name="表格 6"/>
          <p:cNvGraphicFramePr>
            <a:graphicFrameLocks noGrp="1"/>
          </p:cNvGraphicFramePr>
          <p:nvPr>
            <p:custDataLst>
              <p:tags r:id="rId2"/>
            </p:custDataLst>
          </p:nvPr>
        </p:nvGraphicFramePr>
        <p:xfrm>
          <a:off x="960563" y="4169975"/>
          <a:ext cx="10119581" cy="2596215"/>
        </p:xfrm>
        <a:graphic>
          <a:graphicData uri="http://schemas.openxmlformats.org/drawingml/2006/table">
            <a:tbl>
              <a:tblPr firstRow="1" firstCol="1">
                <a:tableStyleId>{CF821DB8-F4EB-4A41-A1BA-3FCAFE7338EE}</a:tableStyleId>
              </a:tblPr>
              <a:tblGrid>
                <a:gridCol w="2023916"/>
                <a:gridCol w="3412272"/>
                <a:gridCol w="4683393"/>
              </a:tblGrid>
              <a:tr h="424371">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对比维度</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CNN</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err="1">
                          <a:latin typeface="微软雅黑" panose="020B0503020204020204" pitchFamily="34" charset="-122"/>
                          <a:ea typeface="微软雅黑" panose="020B0503020204020204" pitchFamily="34" charset="-122"/>
                          <a:cs typeface="Arial" panose="020B0604020202020204" pitchFamily="34" charset="0"/>
                        </a:rPr>
                        <a:t>ViT</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594711">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核心计算机制</a:t>
                      </a:r>
                      <a:endParaRPr lang="zh-CN"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利用滑动窗口局部卷积</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全局自注意力</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28744">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感受野</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由局部到全局</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开始时就是全局</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664323">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数据依赖度</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小样本下泛化能力强</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小数据集容易过拟合，要依赖海量数据</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484066">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特征提取倾向</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擅长提取精细的局部特征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擅长提取高维度的宏观语义特征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图像识别任务</a:t>
            </a:r>
            <a:endParaRPr lang="zh-CN" altLang="en-US"/>
          </a:p>
        </p:txBody>
      </p:sp>
      <p:sp>
        <p:nvSpPr>
          <p:cNvPr id="3" name="灯片编号占位符 2"/>
          <p:cNvSpPr>
            <a:spLocks noGrp="1"/>
          </p:cNvSpPr>
          <p:nvPr>
            <p:ph type="sldNum" sz="quarter" idx="2"/>
          </p:nvPr>
        </p:nvSpPr>
        <p:spPr>
          <a:xfrm>
            <a:off x="11183621" y="6401118"/>
            <a:ext cx="170180" cy="275590"/>
          </a:xfrm>
        </p:spPr>
        <p:txBody>
          <a:bodyPr/>
          <a:lstStyle/>
          <a:p>
            <a:fld id="{86CB4B4D-7CA3-9044-876B-883B54F8677D}" type="slidenum">
              <a:rPr/>
            </a:fld>
            <a:endParaRPr/>
          </a:p>
        </p:txBody>
      </p:sp>
      <p:grpSp>
        <p:nvGrpSpPr>
          <p:cNvPr id="10" name="组合 9"/>
          <p:cNvGrpSpPr/>
          <p:nvPr>
            <p:custDataLst>
              <p:tags r:id="rId1"/>
            </p:custDataLst>
          </p:nvPr>
        </p:nvGrpSpPr>
        <p:grpSpPr>
          <a:xfrm>
            <a:off x="275590" y="1654810"/>
            <a:ext cx="5525770" cy="2352040"/>
            <a:chOff x="1984" y="5088"/>
            <a:chExt cx="8702" cy="3704"/>
          </a:xfrm>
        </p:grpSpPr>
        <p:sp>
          <p:nvSpPr>
            <p:cNvPr id="7" name="矩形: 圆角 1049"/>
            <p:cNvSpPr/>
            <p:nvPr>
              <p:custDataLst>
                <p:tags r:id="rId2"/>
              </p:custDataLst>
            </p:nvPr>
          </p:nvSpPr>
          <p:spPr>
            <a:xfrm>
              <a:off x="1984" y="5088"/>
              <a:ext cx="8702" cy="3705"/>
            </a:xfrm>
            <a:prstGeom prst="roundRect">
              <a:avLst>
                <a:gd name="adj" fmla="val 3383"/>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8" name="文本框 7"/>
            <p:cNvSpPr txBox="1"/>
            <p:nvPr>
              <p:custDataLst>
                <p:tags r:id="rId3"/>
              </p:custDataLst>
            </p:nvPr>
          </p:nvSpPr>
          <p:spPr>
            <a:xfrm>
              <a:off x="2159" y="6505"/>
              <a:ext cx="8376" cy="20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给定一张图片或一段视频，判断里面包含什么类别的目标。这是最基础的视觉任务，主要为整张图像赋予一个全局或多个类别标签</a:t>
              </a:r>
              <a:endParaRPr kumimoji="0" lang="zh-CN" altLang="en-US" sz="20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9" name="文本框 8"/>
            <p:cNvSpPr txBox="1"/>
            <p:nvPr>
              <p:custDataLst>
                <p:tags r:id="rId4"/>
              </p:custDataLst>
            </p:nvPr>
          </p:nvSpPr>
          <p:spPr>
            <a:xfrm>
              <a:off x="2159" y="5422"/>
              <a:ext cx="5737" cy="6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分类 Classification</a:t>
              </a:r>
              <a:endParaRPr kumimoji="0" lang="zh-CN" altLang="en-US"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grpSp>
        <p:nvGrpSpPr>
          <p:cNvPr id="11" name="组合 10"/>
          <p:cNvGrpSpPr/>
          <p:nvPr>
            <p:custDataLst>
              <p:tags r:id="rId5"/>
            </p:custDataLst>
          </p:nvPr>
        </p:nvGrpSpPr>
        <p:grpSpPr>
          <a:xfrm>
            <a:off x="6418580" y="1654810"/>
            <a:ext cx="5525770" cy="2352675"/>
            <a:chOff x="1984" y="5088"/>
            <a:chExt cx="8702" cy="3705"/>
          </a:xfrm>
        </p:grpSpPr>
        <p:sp>
          <p:nvSpPr>
            <p:cNvPr id="12" name="矩形: 圆角 1049"/>
            <p:cNvSpPr/>
            <p:nvPr>
              <p:custDataLst>
                <p:tags r:id="rId6"/>
              </p:custDataLst>
            </p:nvPr>
          </p:nvSpPr>
          <p:spPr>
            <a:xfrm>
              <a:off x="1984" y="5088"/>
              <a:ext cx="8702" cy="3705"/>
            </a:xfrm>
            <a:prstGeom prst="roundRect">
              <a:avLst>
                <a:gd name="adj" fmla="val 3383"/>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3" name="文本框 12"/>
            <p:cNvSpPr txBox="1"/>
            <p:nvPr>
              <p:custDataLst>
                <p:tags r:id="rId7"/>
              </p:custDataLst>
            </p:nvPr>
          </p:nvSpPr>
          <p:spPr>
            <a:xfrm>
              <a:off x="2159" y="6505"/>
              <a:ext cx="8376" cy="20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在已知图像中存在特定目标的前提下，定位出这个目标的具体位置。通常使用一个矩形的边界框</a:t>
              </a:r>
              <a:r>
                <a:rPr kumimoji="0" lang="en-US" altLang="zh-CN"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 </a:t>
              </a:r>
              <a:r>
                <a:rPr kumimoji="0" lang="zh-CN" altLang="en-US"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Bounding Box</a:t>
              </a:r>
              <a:r>
                <a:rPr kumimoji="0" lang="en-US" altLang="zh-CN"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 </a:t>
              </a:r>
              <a:r>
                <a:rPr kumimoji="0" lang="zh-CN" altLang="en-US"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将目标框选出来</a:t>
              </a:r>
              <a:endParaRPr kumimoji="0" lang="zh-CN" altLang="en-US" sz="20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4" name="文本框 13"/>
            <p:cNvSpPr txBox="1"/>
            <p:nvPr>
              <p:custDataLst>
                <p:tags r:id="rId8"/>
              </p:custDataLst>
            </p:nvPr>
          </p:nvSpPr>
          <p:spPr>
            <a:xfrm>
              <a:off x="2159" y="5422"/>
              <a:ext cx="5737" cy="6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定位 </a:t>
              </a:r>
              <a:r>
                <a:rPr kumimoji="0" lang="en-US" altLang="zh-CN"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Location</a:t>
              </a:r>
              <a:endParaRPr kumimoji="0" lang="en-US" altLang="zh-CN"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grpSp>
        <p:nvGrpSpPr>
          <p:cNvPr id="15" name="组合 14"/>
          <p:cNvGrpSpPr/>
          <p:nvPr>
            <p:custDataLst>
              <p:tags r:id="rId9"/>
            </p:custDataLst>
          </p:nvPr>
        </p:nvGrpSpPr>
        <p:grpSpPr>
          <a:xfrm>
            <a:off x="213360" y="4324350"/>
            <a:ext cx="5588000" cy="2352675"/>
            <a:chOff x="1984" y="5088"/>
            <a:chExt cx="8702" cy="3705"/>
          </a:xfrm>
        </p:grpSpPr>
        <p:sp>
          <p:nvSpPr>
            <p:cNvPr id="16" name="矩形: 圆角 1049"/>
            <p:cNvSpPr/>
            <p:nvPr>
              <p:custDataLst>
                <p:tags r:id="rId10"/>
              </p:custDataLst>
            </p:nvPr>
          </p:nvSpPr>
          <p:spPr>
            <a:xfrm>
              <a:off x="1984" y="5088"/>
              <a:ext cx="8702" cy="3705"/>
            </a:xfrm>
            <a:prstGeom prst="roundRect">
              <a:avLst>
                <a:gd name="adj" fmla="val 3383"/>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17" name="文本框 16"/>
            <p:cNvSpPr txBox="1"/>
            <p:nvPr>
              <p:custDataLst>
                <p:tags r:id="rId11"/>
              </p:custDataLst>
            </p:nvPr>
          </p:nvSpPr>
          <p:spPr>
            <a:xfrm>
              <a:off x="2159" y="6505"/>
              <a:ext cx="8376" cy="20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结合了分类与定位。它不仅要在图像中找到所有感兴趣的目标，画出边界框，还要准确识别出每一个框内目标的类别</a:t>
              </a:r>
              <a:endParaRPr kumimoji="0" lang="zh-CN" altLang="en-US" sz="20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8" name="文本框 17"/>
            <p:cNvSpPr txBox="1"/>
            <p:nvPr>
              <p:custDataLst>
                <p:tags r:id="rId12"/>
              </p:custDataLst>
            </p:nvPr>
          </p:nvSpPr>
          <p:spPr>
            <a:xfrm>
              <a:off x="2159" y="5422"/>
              <a:ext cx="5737" cy="6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检测</a:t>
              </a:r>
              <a:r>
                <a:rPr kumimoji="0" lang="en-US" altLang="zh-CN"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 Detection</a:t>
              </a:r>
              <a:endParaRPr kumimoji="0" lang="en-US" altLang="zh-CN"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grpSp>
        <p:nvGrpSpPr>
          <p:cNvPr id="19" name="组合 18"/>
          <p:cNvGrpSpPr/>
          <p:nvPr>
            <p:custDataLst>
              <p:tags r:id="rId13"/>
            </p:custDataLst>
          </p:nvPr>
        </p:nvGrpSpPr>
        <p:grpSpPr>
          <a:xfrm>
            <a:off x="6418580" y="4321175"/>
            <a:ext cx="5525770" cy="2352675"/>
            <a:chOff x="1984" y="5088"/>
            <a:chExt cx="8702" cy="3705"/>
          </a:xfrm>
        </p:grpSpPr>
        <p:sp>
          <p:nvSpPr>
            <p:cNvPr id="20" name="矩形: 圆角 1049"/>
            <p:cNvSpPr/>
            <p:nvPr>
              <p:custDataLst>
                <p:tags r:id="rId14"/>
              </p:custDataLst>
            </p:nvPr>
          </p:nvSpPr>
          <p:spPr>
            <a:xfrm>
              <a:off x="1984" y="5088"/>
              <a:ext cx="8702" cy="3705"/>
            </a:xfrm>
            <a:prstGeom prst="roundRect">
              <a:avLst>
                <a:gd name="adj" fmla="val 3383"/>
              </a:avLst>
            </a:prstGeom>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p>
          </p:txBody>
        </p:sp>
        <p:sp>
          <p:nvSpPr>
            <p:cNvPr id="21" name="文本框 20"/>
            <p:cNvSpPr txBox="1"/>
            <p:nvPr>
              <p:custDataLst>
                <p:tags r:id="rId15"/>
              </p:custDataLst>
            </p:nvPr>
          </p:nvSpPr>
          <p:spPr>
            <a:xfrm>
              <a:off x="2159" y="6505"/>
              <a:ext cx="8376" cy="2024"/>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精确到像素级别，描绘出目标的精细轮廓。进一步细分为实例分割（区分同类物体的不同个体）和语义分割（对图像中所有像素进行类别划分）</a:t>
              </a:r>
              <a:endParaRPr kumimoji="0" lang="zh-CN" altLang="en-US" sz="2000" b="0"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20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22" name="文本框 21"/>
            <p:cNvSpPr txBox="1"/>
            <p:nvPr>
              <p:custDataLst>
                <p:tags r:id="rId16"/>
              </p:custDataLst>
            </p:nvPr>
          </p:nvSpPr>
          <p:spPr>
            <a:xfrm>
              <a:off x="2159" y="5422"/>
              <a:ext cx="5737" cy="678"/>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分割</a:t>
              </a:r>
              <a:r>
                <a:rPr kumimoji="0" lang="en-US" altLang="zh-CN"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 Segmentation</a:t>
              </a:r>
              <a:endParaRPr kumimoji="0" lang="en-US" altLang="zh-CN" sz="2800" b="1" i="0" u="none" strike="noStrike" cap="none" spc="0" normalizeH="0" baseline="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pSp>
    </p:spTree>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zh-CN" altLang="en-US"/>
              <a:t>图像识别任务</a:t>
            </a:r>
            <a:endParaRPr lang="zh-CN" altLang="en-US"/>
          </a:p>
        </p:txBody>
      </p:sp>
      <p:sp>
        <p:nvSpPr>
          <p:cNvPr id="3" name="灯片编号占位符 2"/>
          <p:cNvSpPr>
            <a:spLocks noGrp="1"/>
          </p:cNvSpPr>
          <p:nvPr>
            <p:ph type="sldNum" sz="quarter" idx="2"/>
          </p:nvPr>
        </p:nvSpPr>
        <p:spPr>
          <a:xfrm>
            <a:off x="11183621" y="6401118"/>
            <a:ext cx="170180" cy="275590"/>
          </a:xfrm>
        </p:spPr>
        <p:txBody>
          <a:bodyPr/>
          <a:lstStyle/>
          <a:p>
            <a:fld id="{86CB4B4D-7CA3-9044-876B-883B54F8677D}" type="slidenum">
              <a:rPr/>
            </a:fld>
            <a:endParaRPr/>
          </a:p>
        </p:txBody>
      </p:sp>
      <p:graphicFrame>
        <p:nvGraphicFramePr>
          <p:cNvPr id="6" name="表格 5"/>
          <p:cNvGraphicFramePr>
            <a:graphicFrameLocks noGrp="1"/>
          </p:cNvGraphicFramePr>
          <p:nvPr/>
        </p:nvGraphicFramePr>
        <p:xfrm>
          <a:off x="317500" y="3429000"/>
          <a:ext cx="11557000" cy="2651760"/>
        </p:xfrm>
        <a:graphic>
          <a:graphicData uri="http://schemas.openxmlformats.org/drawingml/2006/table">
            <a:tbl>
              <a:tblPr firstRow="1" firstCol="1">
                <a:tableStyleId>{CF821DB8-F4EB-4A41-A1BA-3FCAFE7338EE}</a:tableStyleId>
              </a:tblPr>
              <a:tblGrid>
                <a:gridCol w="3090545"/>
                <a:gridCol w="2759710"/>
                <a:gridCol w="3873500"/>
                <a:gridCol w="1833245"/>
              </a:tblGrid>
              <a:tr h="0">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任务类型</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解答的核心问题</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a:latin typeface="微软雅黑" panose="020B0503020204020204" pitchFamily="34" charset="-122"/>
                          <a:ea typeface="微软雅黑" panose="020B0503020204020204" pitchFamily="34" charset="-122"/>
                          <a:cs typeface="Arial" panose="020B0604020202020204" pitchFamily="34" charset="0"/>
                        </a:rPr>
                        <a:t>输出结果</a:t>
                      </a:r>
                      <a:endParaRPr lang="zh-CN" altLang="en-US" sz="24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a:latin typeface="微软雅黑" panose="020B0503020204020204" pitchFamily="34" charset="-122"/>
                          <a:ea typeface="微软雅黑" panose="020B0503020204020204" pitchFamily="34" charset="-122"/>
                          <a:cs typeface="Arial" panose="020B0604020202020204" pitchFamily="34" charset="0"/>
                        </a:rPr>
                        <a:t>复杂度级别</a:t>
                      </a:r>
                      <a:endParaRPr lang="zh-CN" altLang="en-US" sz="240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400" b="0" dirty="0">
                          <a:latin typeface="微软雅黑" panose="020B0503020204020204" pitchFamily="34" charset="-122"/>
                          <a:ea typeface="微软雅黑" panose="020B0503020204020204" pitchFamily="34" charset="-122"/>
                          <a:cs typeface="Arial" panose="020B0604020202020204" pitchFamily="34" charset="0"/>
                        </a:rPr>
                        <a:t>分类</a:t>
                      </a:r>
                      <a:r>
                        <a:rPr lang="en-US" altLang="zh-CN" sz="2400" b="0" dirty="0">
                          <a:latin typeface="微软雅黑" panose="020B0503020204020204" pitchFamily="34" charset="-122"/>
                          <a:ea typeface="微软雅黑" panose="020B0503020204020204" pitchFamily="34" charset="-122"/>
                          <a:cs typeface="Arial" panose="020B0604020202020204" pitchFamily="34" charset="0"/>
                        </a:rPr>
                        <a:t> </a:t>
                      </a:r>
                      <a:r>
                        <a:rPr lang="zh-CN" altLang="en-US" sz="2400" b="0" dirty="0">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Classification</a:t>
                      </a:r>
                      <a:endParaRPr lang="zh-CN" altLang="en-US" sz="24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是什么</a:t>
                      </a: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离别的离散标签</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基础</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400" b="0" dirty="0">
                          <a:latin typeface="微软雅黑" panose="020B0503020204020204" pitchFamily="34" charset="-122"/>
                          <a:ea typeface="微软雅黑" panose="020B0503020204020204" pitchFamily="34" charset="-122"/>
                          <a:cs typeface="Arial" panose="020B0604020202020204" pitchFamily="34" charset="0"/>
                        </a:rPr>
                        <a:t>定位</a:t>
                      </a:r>
                      <a:r>
                        <a:rPr lang="en-US" altLang="zh-CN" sz="2400" b="0" dirty="0">
                          <a:latin typeface="微软雅黑" panose="020B0503020204020204" pitchFamily="34" charset="-122"/>
                          <a:ea typeface="微软雅黑" panose="020B0503020204020204" pitchFamily="34" charset="-122"/>
                          <a:cs typeface="Arial" panose="020B0604020202020204" pitchFamily="34" charset="0"/>
                        </a:rPr>
                        <a:t> Location</a:t>
                      </a:r>
                      <a:endParaRPr lang="en-US" altLang="zh-CN" sz="24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在哪里</a:t>
                      </a: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单个边界框坐标</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(x,y,w,h)</a:t>
                      </a:r>
                      <a:endParaRPr lang="en-US" altLang="zh-CN"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中等</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400" b="0">
                          <a:latin typeface="微软雅黑" panose="020B0503020204020204" pitchFamily="34" charset="-122"/>
                          <a:ea typeface="微软雅黑" panose="020B0503020204020204" pitchFamily="34" charset="-122"/>
                          <a:cs typeface="Arial" panose="020B0604020202020204" pitchFamily="34" charset="0"/>
                        </a:rPr>
                        <a:t>检测</a:t>
                      </a:r>
                      <a:r>
                        <a:rPr lang="en-US" altLang="zh-CN" sz="2400" b="0">
                          <a:latin typeface="微软雅黑" panose="020B0503020204020204" pitchFamily="34" charset="-122"/>
                          <a:ea typeface="微软雅黑" panose="020B0503020204020204" pitchFamily="34" charset="-122"/>
                          <a:cs typeface="Arial" panose="020B0604020202020204" pitchFamily="34" charset="0"/>
                        </a:rPr>
                        <a:t> Detection</a:t>
                      </a:r>
                      <a:endParaRPr lang="en-US" altLang="zh-CN" sz="2400" b="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在哪里，是什么？</a:t>
                      </a: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多个边界框</a:t>
                      </a:r>
                      <a:r>
                        <a:rPr lang="en-US" altLang="zh-CN" sz="2400" dirty="0">
                          <a:latin typeface="微软雅黑" panose="020B0503020204020204" pitchFamily="34" charset="-122"/>
                          <a:ea typeface="微软雅黑" panose="020B0503020204020204" pitchFamily="34" charset="-122"/>
                          <a:cs typeface="Arial" panose="020B0604020202020204" pitchFamily="34" charset="0"/>
                        </a:rPr>
                        <a:t>+</a:t>
                      </a:r>
                      <a:r>
                        <a:rPr lang="zh-CN" altLang="en-US" sz="2400" dirty="0">
                          <a:latin typeface="微软雅黑" panose="020B0503020204020204" pitchFamily="34" charset="-122"/>
                          <a:ea typeface="微软雅黑" panose="020B0503020204020204" pitchFamily="34" charset="-122"/>
                          <a:cs typeface="Arial" panose="020B0604020202020204" pitchFamily="34" charset="0"/>
                        </a:rPr>
                        <a:t>对应类别标签</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较高</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400" b="0" dirty="0">
                          <a:latin typeface="微软雅黑" panose="020B0503020204020204" pitchFamily="34" charset="-122"/>
                          <a:ea typeface="微软雅黑" panose="020B0503020204020204" pitchFamily="34" charset="-122"/>
                          <a:cs typeface="Arial" panose="020B0604020202020204" pitchFamily="34" charset="0"/>
                        </a:rPr>
                        <a:t>分割</a:t>
                      </a:r>
                      <a:r>
                        <a:rPr lang="en-US" altLang="zh-CN" sz="2400" b="0" dirty="0">
                          <a:latin typeface="微软雅黑" panose="020B0503020204020204" pitchFamily="34" charset="-122"/>
                          <a:ea typeface="微软雅黑" panose="020B0503020204020204" pitchFamily="34" charset="-122"/>
                          <a:cs typeface="Arial" panose="020B0604020202020204" pitchFamily="34" charset="0"/>
                        </a:rPr>
                        <a:t> Segmentation</a:t>
                      </a:r>
                      <a:endParaRPr lang="en-US" altLang="zh-CN" sz="24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Times New Roman" panose="02020603050405020304" pitchFamily="18" charset="0"/>
                        </a:rPr>
                        <a:t>每个像素属于哪个目标</a:t>
                      </a:r>
                      <a:endParaRPr lang="zh-CN" altLang="en-US" sz="24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像素级掩码</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极高</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pic>
        <p:nvPicPr>
          <p:cNvPr id="8" name="图片 7"/>
          <p:cNvPicPr>
            <a:picLocks noChangeAspect="1"/>
          </p:cNvPicPr>
          <p:nvPr/>
        </p:nvPicPr>
        <p:blipFill>
          <a:blip r:embed="rId1"/>
          <a:stretch>
            <a:fillRect/>
          </a:stretch>
        </p:blipFill>
        <p:spPr>
          <a:xfrm>
            <a:off x="1784985" y="1219200"/>
            <a:ext cx="8248650" cy="2057400"/>
          </a:xfrm>
          <a:prstGeom prst="rect">
            <a:avLst/>
          </a:prstGeom>
        </p:spPr>
      </p:pic>
    </p:spTree>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图像检测</a:t>
            </a:r>
            <a:endParaRPr lang="zh-CN" altLang="en-US"/>
          </a:p>
        </p:txBody>
      </p:sp>
      <p:sp>
        <p:nvSpPr>
          <p:cNvPr id="3" name="文本占位符 2"/>
          <p:cNvSpPr>
            <a:spLocks noGrp="1"/>
          </p:cNvSpPr>
          <p:nvPr>
            <p:ph type="body" idx="1"/>
          </p:nvPr>
        </p:nvSpPr>
        <p:spPr>
          <a:xfrm>
            <a:off x="833755" y="1691640"/>
            <a:ext cx="11140440" cy="5166360"/>
          </a:xfrm>
        </p:spPr>
        <p:txBody>
          <a:bodyPr>
            <a:normAutofit lnSpcReduction="10000"/>
          </a:bodyPr>
          <a:lstStyle/>
          <a:p>
            <a:pPr marL="0" indent="0">
              <a:lnSpc>
                <a:spcPct val="150000"/>
              </a:lnSpc>
              <a:buNone/>
            </a:pPr>
            <a:r>
              <a:rPr lang="zh-CN" altLang="en-US" dirty="0"/>
              <a:t>图像检测</a:t>
            </a:r>
            <a:r>
              <a:rPr lang="en-US" altLang="zh-CN" dirty="0"/>
              <a:t> Object Detection </a:t>
            </a:r>
            <a:r>
              <a:rPr lang="zh-CN" altLang="en-US" dirty="0"/>
              <a:t>是计算机视觉的核心任务之一</a:t>
            </a:r>
            <a:endParaRPr lang="zh-CN" altLang="en-US" dirty="0"/>
          </a:p>
          <a:p>
            <a:pPr>
              <a:lnSpc>
                <a:spcPct val="150000"/>
              </a:lnSpc>
            </a:pPr>
            <a:r>
              <a:rPr lang="zh-CN" altLang="en-US" dirty="0"/>
              <a:t>它的目标不仅是识别图像中“有什么”</a:t>
            </a:r>
            <a:r>
              <a:rPr lang="en-US" altLang="zh-CN" dirty="0"/>
              <a:t>         </a:t>
            </a:r>
            <a:r>
              <a:rPr lang="zh-CN" altLang="en-US" dirty="0"/>
              <a:t>图像分类</a:t>
            </a:r>
            <a:endParaRPr lang="zh-CN" altLang="en-US" dirty="0"/>
          </a:p>
          <a:p>
            <a:pPr>
              <a:lnSpc>
                <a:spcPct val="150000"/>
              </a:lnSpc>
            </a:pPr>
            <a:r>
              <a:rPr lang="zh-CN" altLang="en-US" dirty="0"/>
              <a:t>还要精确指出它们“在哪里”</a:t>
            </a:r>
            <a:r>
              <a:rPr lang="en-US" altLang="zh-CN" dirty="0"/>
              <a:t>         </a:t>
            </a:r>
            <a:r>
              <a:rPr lang="zh-CN" altLang="en-US" dirty="0"/>
              <a:t>目标定位</a:t>
            </a:r>
            <a:endParaRPr lang="zh-CN" altLang="en-US" dirty="0"/>
          </a:p>
          <a:p>
            <a:pPr marL="0" indent="0">
              <a:buNone/>
            </a:pPr>
            <a:endParaRPr lang="zh-CN" altLang="en-US" dirty="0"/>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endParaRPr lang="zh-CN" altLang="en-US" b="1" dirty="0"/>
          </a:p>
          <a:p>
            <a:pPr marL="0" indent="0">
              <a:buNone/>
            </a:pPr>
            <a:r>
              <a:rPr lang="zh-CN" altLang="en-US" b="1" dirty="0"/>
              <a:t>简而言之：图像分类 + 边界框（</a:t>
            </a:r>
            <a:r>
              <a:rPr lang="en-US" altLang="zh-CN" b="1" dirty="0"/>
              <a:t>Bounding Box）</a:t>
            </a:r>
            <a:r>
              <a:rPr lang="zh-CN" altLang="en-US" b="1" dirty="0"/>
              <a:t>定位 = 图像检测</a:t>
            </a:r>
            <a:endParaRPr lang="zh-CN" altLang="en-US" b="1" dirty="0"/>
          </a:p>
        </p:txBody>
      </p:sp>
      <p:sp>
        <p:nvSpPr>
          <p:cNvPr id="4" name="灯片编号占位符 3"/>
          <p:cNvSpPr>
            <a:spLocks noGrp="1"/>
          </p:cNvSpPr>
          <p:nvPr>
            <p:ph type="sldNum" sz="quarter" idx="2"/>
          </p:nvPr>
        </p:nvSpPr>
        <p:spPr/>
        <p:txBody>
          <a:bodyPr/>
          <a:lstStyle/>
          <a:p>
            <a:fld id="{86CB4B4D-7CA3-9044-876B-883B54F8677D}" type="slidenum">
              <a:rPr/>
            </a:fld>
            <a:endParaRPr/>
          </a:p>
        </p:txBody>
      </p:sp>
      <p:cxnSp>
        <p:nvCxnSpPr>
          <p:cNvPr id="5" name="直接箭头连接符 4"/>
          <p:cNvCxnSpPr/>
          <p:nvPr/>
        </p:nvCxnSpPr>
        <p:spPr>
          <a:xfrm>
            <a:off x="6163945" y="2692400"/>
            <a:ext cx="903605" cy="317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6" name="直接箭头连接符 5"/>
          <p:cNvCxnSpPr/>
          <p:nvPr/>
        </p:nvCxnSpPr>
        <p:spPr>
          <a:xfrm>
            <a:off x="4921250" y="3328670"/>
            <a:ext cx="903605" cy="3175"/>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pic>
        <p:nvPicPr>
          <p:cNvPr id="7" name="图片 6"/>
          <p:cNvPicPr>
            <a:picLocks noChangeAspect="1"/>
          </p:cNvPicPr>
          <p:nvPr/>
        </p:nvPicPr>
        <p:blipFill>
          <a:blip r:embed="rId1"/>
          <a:stretch>
            <a:fillRect/>
          </a:stretch>
        </p:blipFill>
        <p:spPr>
          <a:xfrm>
            <a:off x="5945505" y="3539490"/>
            <a:ext cx="5066665" cy="2555240"/>
          </a:xfrm>
          <a:prstGeom prst="rect">
            <a:avLst/>
          </a:prstGeom>
        </p:spPr>
      </p:pic>
      <p:pic>
        <p:nvPicPr>
          <p:cNvPr id="9" name="图片 8"/>
          <p:cNvPicPr>
            <a:picLocks noChangeAspect="1"/>
          </p:cNvPicPr>
          <p:nvPr/>
        </p:nvPicPr>
        <p:blipFill>
          <a:blip r:embed="rId2"/>
          <a:stretch>
            <a:fillRect/>
          </a:stretch>
        </p:blipFill>
        <p:spPr>
          <a:xfrm>
            <a:off x="833755" y="3539490"/>
            <a:ext cx="4369435" cy="2555875"/>
          </a:xfrm>
          <a:prstGeom prst="rect">
            <a:avLst/>
          </a:prstGeom>
        </p:spPr>
      </p:pic>
    </p:spTree>
  </p:cSld>
  <p:clrMapOvr>
    <a:masterClrMapping/>
  </p:clrMapOvr>
  <p:transition spd="me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83122"/>
            <a:ext cx="10515600" cy="1325563"/>
          </a:xfrm>
        </p:spPr>
        <p:txBody>
          <a:bodyPr/>
          <a:lstStyle/>
          <a:p>
            <a:r>
              <a:rPr lang="zh-CN" altLang="en-US" dirty="0"/>
              <a:t>图像检测的核心流程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76758" y="1833537"/>
            <a:ext cx="11140214" cy="4351338"/>
          </a:xfrm>
        </p:spPr>
        <p:txBody>
          <a:bodyPr/>
          <a:lstStyle/>
          <a:p>
            <a:pPr>
              <a:lnSpc>
                <a:spcPct val="150000"/>
              </a:lnSpc>
            </a:pPr>
            <a:r>
              <a:rPr lang="zh-CN" altLang="en-US" dirty="0"/>
              <a:t>候选区域产生 </a:t>
            </a:r>
            <a:endParaRPr lang="en-US" altLang="zh-CN" dirty="0"/>
          </a:p>
          <a:p>
            <a:pPr>
              <a:lnSpc>
                <a:spcPct val="150000"/>
              </a:lnSpc>
            </a:pPr>
            <a:r>
              <a:rPr lang="zh-CN" altLang="en-US" dirty="0"/>
              <a:t>模型预测、数据表示</a:t>
            </a:r>
            <a:endParaRPr lang="en-US" altLang="zh-CN" dirty="0"/>
          </a:p>
          <a:p>
            <a:pPr>
              <a:lnSpc>
                <a:spcPct val="150000"/>
              </a:lnSpc>
            </a:pPr>
            <a:r>
              <a:rPr lang="zh-CN" altLang="en-US" dirty="0"/>
              <a:t>模型效果与评估</a:t>
            </a:r>
            <a:endParaRPr lang="en-US" altLang="zh-CN" dirty="0"/>
          </a:p>
          <a:p>
            <a:pPr>
              <a:lnSpc>
                <a:spcPct val="150000"/>
              </a:lnSpc>
            </a:pPr>
            <a:r>
              <a:rPr lang="zh-CN" altLang="en-US" dirty="0"/>
              <a:t>预测结果后处理</a:t>
            </a:r>
            <a:endParaRPr lang="zh-CN" altLang="en-US" dirty="0"/>
          </a:p>
        </p:txBody>
      </p:sp>
      <p:pic>
        <p:nvPicPr>
          <p:cNvPr id="5" name="图片 4"/>
          <p:cNvPicPr>
            <a:picLocks noChangeAspect="1"/>
          </p:cNvPicPr>
          <p:nvPr/>
        </p:nvPicPr>
        <p:blipFill rotWithShape="1">
          <a:blip r:embed="rId1"/>
          <a:srcRect l="789" t="776" r="-1"/>
          <a:stretch>
            <a:fillRect/>
          </a:stretch>
        </p:blipFill>
        <p:spPr>
          <a:xfrm>
            <a:off x="3231590" y="1718394"/>
            <a:ext cx="9006862" cy="4955139"/>
          </a:xfrm>
          <a:prstGeom prst="rect">
            <a:avLst/>
          </a:prstGeom>
        </p:spPr>
      </p:pic>
    </p:spTree>
  </p:cSld>
  <p:clrMapOvr>
    <a:masterClrMapping/>
  </p:clrMapOvr>
  <p:transition spd="me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43177"/>
            <a:ext cx="10515600" cy="1325563"/>
          </a:xfrm>
        </p:spPr>
        <p:txBody>
          <a:bodyPr/>
          <a:lstStyle/>
          <a:p>
            <a:r>
              <a:rPr lang="zh-CN" altLang="en-US" dirty="0"/>
              <a:t>候选区域产生 </a:t>
            </a:r>
            <a:r>
              <a:rPr lang="en-US" altLang="zh-CN" dirty="0"/>
              <a:t>Region Proposals</a:t>
            </a:r>
            <a:endParaRPr lang="en-US" altLang="zh-CN" dirty="0"/>
          </a:p>
        </p:txBody>
      </p:sp>
      <p:sp>
        <p:nvSpPr>
          <p:cNvPr id="3" name="文本占位符 2"/>
          <p:cNvSpPr>
            <a:spLocks noGrp="1"/>
          </p:cNvSpPr>
          <p:nvPr>
            <p:ph type="body" idx="1"/>
          </p:nvPr>
        </p:nvSpPr>
        <p:spPr>
          <a:xfrm>
            <a:off x="0" y="2025438"/>
            <a:ext cx="15541625" cy="6460490"/>
          </a:xfrm>
        </p:spPr>
        <p:txBody>
          <a:bodyPr>
            <a:normAutofit/>
          </a:bodyPr>
          <a:lstStyle/>
          <a:p>
            <a:pPr marL="0" indent="0">
              <a:lnSpc>
                <a:spcPct val="150000"/>
              </a:lnSpc>
              <a:buNone/>
            </a:pPr>
            <a:r>
              <a:rPr lang="zh-CN" altLang="en-US" dirty="0"/>
              <a:t>定义：在进行分类和回归前，首先需要在图像中寻找可能存在目标的“嫌疑区域”</a:t>
            </a:r>
            <a:endParaRPr lang="zh-CN" altLang="en-US" dirty="0"/>
          </a:p>
          <a:p>
            <a:pPr marL="0" indent="0">
              <a:lnSpc>
                <a:spcPct val="150000"/>
              </a:lnSpc>
              <a:buNone/>
            </a:pPr>
            <a:r>
              <a:rPr lang="zh-CN" altLang="en-US" dirty="0"/>
              <a:t>主要有两种传统提取思路：</a:t>
            </a:r>
            <a:endParaRPr lang="en-US" altLang="zh-CN" dirty="0"/>
          </a:p>
          <a:p>
            <a:pPr marL="0" indent="0">
              <a:lnSpc>
                <a:spcPct val="150000"/>
              </a:lnSpc>
              <a:buNone/>
            </a:pPr>
            <a:r>
              <a:rPr lang="zh-CN" altLang="en-US" b="1" dirty="0"/>
              <a:t>思路</a:t>
            </a:r>
            <a:r>
              <a:rPr lang="en-US" altLang="zh-CN" b="1" dirty="0"/>
              <a:t>1——</a:t>
            </a:r>
            <a:r>
              <a:rPr lang="zh-CN" altLang="en-US" b="1" dirty="0"/>
              <a:t>滑动窗口法 (</a:t>
            </a:r>
            <a:r>
              <a:rPr lang="en-US" altLang="zh-CN" b="1" dirty="0"/>
              <a:t>Sliding Window)</a:t>
            </a:r>
            <a:r>
              <a:rPr lang="en-US" altLang="zh-CN" dirty="0"/>
              <a:t>：</a:t>
            </a:r>
            <a:endParaRPr lang="en-US" altLang="zh-CN" dirty="0"/>
          </a:p>
          <a:p>
            <a:pPr>
              <a:lnSpc>
                <a:spcPct val="150000"/>
              </a:lnSpc>
            </a:pPr>
            <a:r>
              <a:rPr lang="zh-CN" altLang="en-US" dirty="0"/>
              <a:t>定义：使用不同大小的窗口在图像上进行全局的穷举滑动</a:t>
            </a:r>
            <a:endParaRPr lang="zh-CN" altLang="en-US" dirty="0"/>
          </a:p>
          <a:p>
            <a:pPr>
              <a:lnSpc>
                <a:spcPct val="150000"/>
              </a:lnSpc>
            </a:pPr>
            <a:r>
              <a:rPr lang="zh-CN" altLang="en-US" dirty="0"/>
              <a:t>特点：计算冗余极大，效率低下，无法满足实时性要求</a:t>
            </a:r>
            <a:endParaRPr lang="en-US" altLang="zh-CN" dirty="0"/>
          </a:p>
          <a:p>
            <a:pPr marL="0" indent="0">
              <a:lnSpc>
                <a:spcPct val="150000"/>
              </a:lnSpc>
              <a:buNone/>
            </a:pPr>
            <a:endParaRPr lang="zh-CN" altLang="en-US" sz="2000" dirty="0"/>
          </a:p>
        </p:txBody>
      </p:sp>
      <p:sp>
        <p:nvSpPr>
          <p:cNvPr id="4" name="灯片编号占位符 3"/>
          <p:cNvSpPr>
            <a:spLocks noGrp="1"/>
          </p:cNvSpPr>
          <p:nvPr>
            <p:ph type="sldNum" sz="quarter" idx="2"/>
          </p:nvPr>
        </p:nvSpPr>
        <p:spPr/>
        <p:txBody>
          <a:bodyPr/>
          <a:lstStyle/>
          <a:p>
            <a:fld id="{86CB4B4D-7CA3-9044-876B-883B54F8677D}" type="slidenum">
              <a:rPr/>
            </a:fld>
            <a:endParaRPr/>
          </a:p>
        </p:txBody>
      </p:sp>
      <p:pic>
        <p:nvPicPr>
          <p:cNvPr id="6" name="图片 5"/>
          <p:cNvPicPr>
            <a:picLocks noChangeAspect="1"/>
          </p:cNvPicPr>
          <p:nvPr/>
        </p:nvPicPr>
        <p:blipFill>
          <a:blip r:embed="rId1"/>
          <a:stretch>
            <a:fillRect/>
          </a:stretch>
        </p:blipFill>
        <p:spPr>
          <a:xfrm>
            <a:off x="8263044" y="2938833"/>
            <a:ext cx="3648075" cy="2552065"/>
          </a:xfrm>
          <a:prstGeom prst="rect">
            <a:avLst/>
          </a:prstGeom>
        </p:spPr>
      </p:pic>
    </p:spTree>
  </p:cSld>
  <p:clrMapOvr>
    <a:masterClrMapping/>
  </p:clrMapOvr>
  <p:transition spd="me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a:xfrm>
            <a:off x="0" y="2261976"/>
            <a:ext cx="12561570" cy="5182870"/>
          </a:xfrm>
        </p:spPr>
        <p:txBody>
          <a:bodyPr>
            <a:normAutofit/>
          </a:bodyPr>
          <a:lstStyle/>
          <a:p>
            <a:pPr marL="0" indent="0">
              <a:lnSpc>
                <a:spcPct val="150000"/>
              </a:lnSpc>
              <a:buNone/>
            </a:pPr>
            <a:r>
              <a:rPr lang="zh-CN" altLang="en-US" b="1" dirty="0">
                <a:sym typeface="+mn-ea"/>
              </a:rPr>
              <a:t>思路</a:t>
            </a:r>
            <a:r>
              <a:rPr lang="en-US" altLang="zh-CN" b="1" dirty="0">
                <a:sym typeface="+mn-ea"/>
              </a:rPr>
              <a:t>2——</a:t>
            </a:r>
            <a:r>
              <a:rPr lang="zh-CN" altLang="en-US" b="1" dirty="0">
                <a:sym typeface="+mn-ea"/>
              </a:rPr>
              <a:t>选择性搜索 (</a:t>
            </a:r>
            <a:r>
              <a:rPr lang="en-US" altLang="zh-CN" b="1" dirty="0">
                <a:sym typeface="+mn-ea"/>
              </a:rPr>
              <a:t>Selective Search, SS)</a:t>
            </a:r>
            <a:r>
              <a:rPr lang="en-US" altLang="zh-CN" dirty="0">
                <a:sym typeface="+mn-ea"/>
              </a:rPr>
              <a:t>：</a:t>
            </a:r>
            <a:endParaRPr lang="zh-CN" altLang="en-US" dirty="0">
              <a:sym typeface="+mn-ea"/>
            </a:endParaRPr>
          </a:p>
          <a:p>
            <a:pPr>
              <a:lnSpc>
                <a:spcPct val="150000"/>
              </a:lnSpc>
            </a:pPr>
            <a:r>
              <a:rPr lang="zh-CN" altLang="en-US" dirty="0">
                <a:sym typeface="+mn-ea"/>
              </a:rPr>
              <a:t>主要思想：图像中物体可能存在的区域应该是有某些相似性或者连续性区域的</a:t>
            </a:r>
            <a:endParaRPr lang="zh-CN" altLang="en-US" dirty="0">
              <a:sym typeface="+mn-ea"/>
            </a:endParaRPr>
          </a:p>
          <a:p>
            <a:pPr>
              <a:lnSpc>
                <a:spcPct val="150000"/>
              </a:lnSpc>
            </a:pPr>
            <a:r>
              <a:rPr lang="zh-CN" altLang="en-US" dirty="0">
                <a:sym typeface="+mn-ea"/>
              </a:rPr>
              <a:t>定义：基于图像像素的局部相似性（颜色等），先将图像分割成小区域，再迭代合并相似</a:t>
            </a:r>
            <a:r>
              <a:rPr lang="en-US" altLang="zh-CN" dirty="0">
                <a:sym typeface="+mn-ea"/>
              </a:rPr>
              <a:t> </a:t>
            </a:r>
            <a:r>
              <a:rPr lang="zh-CN" altLang="en-US" dirty="0">
                <a:sym typeface="+mn-ea"/>
              </a:rPr>
              <a:t>区域形成候选框</a:t>
            </a:r>
            <a:endParaRPr lang="zh-CN" altLang="en-US" dirty="0">
              <a:sym typeface="+mn-ea"/>
            </a:endParaRPr>
          </a:p>
          <a:p>
            <a:pPr>
              <a:lnSpc>
                <a:spcPct val="150000"/>
              </a:lnSpc>
            </a:pPr>
            <a:r>
              <a:rPr lang="zh-CN" altLang="en-US" dirty="0">
                <a:sym typeface="+mn-ea"/>
              </a:rPr>
              <a:t>具体做法：对输入图像进行分割算法产生许多小的子区域。其次，根据这些子区域之间相 似性(相似性标准主要有颜色、纹理、大小等等)进行区域合并，不断的进行区域迭代合并</a:t>
            </a:r>
            <a:endParaRPr lang="zh-CN" altLang="en-US" dirty="0">
              <a:sym typeface="+mn-ea"/>
            </a:endParaRPr>
          </a:p>
          <a:p>
            <a:pPr marL="0" indent="0">
              <a:buNone/>
            </a:pPr>
            <a:endParaRPr lang="zh-CN" altLang="en-US" dirty="0"/>
          </a:p>
        </p:txBody>
      </p:sp>
      <p:sp>
        <p:nvSpPr>
          <p:cNvPr id="3" name="灯片编号占位符 2"/>
          <p:cNvSpPr>
            <a:spLocks noGrp="1"/>
          </p:cNvSpPr>
          <p:nvPr>
            <p:ph type="sldNum" sz="quarter" idx="2"/>
          </p:nvPr>
        </p:nvSpPr>
        <p:spPr>
          <a:xfrm>
            <a:off x="11183621" y="6401118"/>
            <a:ext cx="170180" cy="275590"/>
          </a:xfrm>
        </p:spPr>
        <p:txBody>
          <a:bodyPr/>
          <a:lstStyle/>
          <a:p>
            <a:fld id="{86CB4B4D-7CA3-9044-876B-883B54F8677D}" type="slidenum">
              <a:rPr/>
            </a:fld>
            <a:endParaRPr/>
          </a:p>
        </p:txBody>
      </p:sp>
      <p:sp>
        <p:nvSpPr>
          <p:cNvPr id="8" name="标题 7"/>
          <p:cNvSpPr>
            <a:spLocks noGrp="1"/>
          </p:cNvSpPr>
          <p:nvPr>
            <p:ph type="title"/>
          </p:nvPr>
        </p:nvSpPr>
        <p:spPr>
          <a:xfrm>
            <a:off x="0" y="130175"/>
            <a:ext cx="10515600" cy="1325563"/>
          </a:xfrm>
        </p:spPr>
        <p:txBody>
          <a:bodyPr/>
          <a:lstStyle/>
          <a:p>
            <a:r>
              <a:rPr lang="zh-CN" altLang="en-US" dirty="0"/>
              <a:t>候选区域产生 </a:t>
            </a:r>
            <a:r>
              <a:rPr lang="en-US" altLang="zh-CN" dirty="0"/>
              <a:t>Region Proposals</a:t>
            </a:r>
            <a:endParaRPr lang="en-US" altLang="zh-CN" dirty="0"/>
          </a:p>
        </p:txBody>
      </p:sp>
      <p:pic>
        <p:nvPicPr>
          <p:cNvPr id="2052"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552267" y="181292"/>
            <a:ext cx="4547447" cy="28896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1"/>
          <a:stretch>
            <a:fillRect/>
          </a:stretch>
        </p:blipFill>
        <p:spPr>
          <a:xfrm>
            <a:off x="4093210" y="4356735"/>
            <a:ext cx="3028950" cy="1066800"/>
          </a:xfrm>
          <a:prstGeom prst="rect">
            <a:avLst/>
          </a:prstGeom>
        </p:spPr>
      </p:pic>
      <p:sp>
        <p:nvSpPr>
          <p:cNvPr id="5" name="文本占位符 4"/>
          <p:cNvSpPr>
            <a:spLocks noGrp="1"/>
          </p:cNvSpPr>
          <p:nvPr>
            <p:ph type="body" idx="1"/>
          </p:nvPr>
        </p:nvSpPr>
        <p:spPr>
          <a:xfrm>
            <a:off x="317500" y="293370"/>
            <a:ext cx="11140440" cy="6848475"/>
          </a:xfrm>
        </p:spPr>
        <p:txBody>
          <a:bodyPr>
            <a:normAutofit/>
          </a:bodyPr>
          <a:lstStyle/>
          <a:p>
            <a:pPr marL="0" indent="0">
              <a:buNone/>
            </a:pPr>
            <a:r>
              <a:rPr lang="zh-CN" altLang="en-US" sz="2800" b="1" dirty="0"/>
              <a:t>选择性搜索流程</a:t>
            </a:r>
            <a:endParaRPr lang="zh-CN" altLang="en-US" dirty="0"/>
          </a:p>
          <a:p>
            <a:pPr>
              <a:lnSpc>
                <a:spcPct val="110000"/>
              </a:lnSpc>
            </a:pPr>
            <a:r>
              <a:rPr lang="en-US" altLang="zh-CN" dirty="0"/>
              <a:t>step0：</a:t>
            </a:r>
            <a:r>
              <a:rPr lang="zh-CN" altLang="en-US" dirty="0"/>
              <a:t>生成区域集</a:t>
            </a:r>
            <a:r>
              <a:rPr lang="en-US" altLang="zh-CN" dirty="0"/>
              <a:t>R</a:t>
            </a:r>
            <a:endParaRPr lang="en-US" altLang="zh-CN" dirty="0"/>
          </a:p>
          <a:p>
            <a:pPr>
              <a:lnSpc>
                <a:spcPct val="110000"/>
              </a:lnSpc>
            </a:pPr>
            <a:r>
              <a:rPr lang="en-US" altLang="zh-CN" dirty="0"/>
              <a:t>step1：</a:t>
            </a:r>
            <a:r>
              <a:rPr lang="zh-CN" altLang="en-US" dirty="0"/>
              <a:t>计算区域集</a:t>
            </a:r>
            <a:r>
              <a:rPr lang="en-US" altLang="zh-CN" dirty="0"/>
              <a:t>R</a:t>
            </a:r>
            <a:r>
              <a:rPr lang="zh-CN" altLang="en-US" dirty="0"/>
              <a:t>里每个相邻区域的相似度</a:t>
            </a:r>
            <a:r>
              <a:rPr lang="en-US" altLang="zh-CN" dirty="0"/>
              <a:t>S={s1, s2,…}</a:t>
            </a:r>
            <a:endParaRPr lang="en-US" altLang="zh-CN" dirty="0"/>
          </a:p>
          <a:p>
            <a:pPr>
              <a:lnSpc>
                <a:spcPct val="110000"/>
              </a:lnSpc>
            </a:pPr>
            <a:r>
              <a:rPr lang="en-US" altLang="zh-CN" dirty="0"/>
              <a:t>step2：</a:t>
            </a:r>
            <a:r>
              <a:rPr lang="zh-CN" altLang="en-US" dirty="0"/>
              <a:t>找出相似度最高的两个区域，将其合并为新集，添加进</a:t>
            </a:r>
            <a:r>
              <a:rPr lang="en-US" altLang="zh-CN" dirty="0"/>
              <a:t>R</a:t>
            </a:r>
            <a:endParaRPr lang="en-US" altLang="zh-CN" dirty="0"/>
          </a:p>
          <a:p>
            <a:pPr>
              <a:lnSpc>
                <a:spcPct val="110000"/>
              </a:lnSpc>
            </a:pPr>
            <a:r>
              <a:rPr lang="en-US" altLang="zh-CN" dirty="0"/>
              <a:t>step3：</a:t>
            </a:r>
            <a:r>
              <a:rPr lang="zh-CN" altLang="en-US" dirty="0"/>
              <a:t>从</a:t>
            </a:r>
            <a:r>
              <a:rPr lang="en-US" altLang="zh-CN" dirty="0"/>
              <a:t>S</a:t>
            </a:r>
            <a:r>
              <a:rPr lang="zh-CN" altLang="en-US" dirty="0"/>
              <a:t>中移除所有与</a:t>
            </a:r>
            <a:r>
              <a:rPr lang="en-US" altLang="zh-CN" dirty="0"/>
              <a:t>step2</a:t>
            </a:r>
            <a:r>
              <a:rPr lang="zh-CN" altLang="en-US" dirty="0"/>
              <a:t>中有关的子集</a:t>
            </a:r>
            <a:endParaRPr lang="zh-CN" altLang="en-US" dirty="0"/>
          </a:p>
          <a:p>
            <a:pPr>
              <a:lnSpc>
                <a:spcPct val="110000"/>
              </a:lnSpc>
            </a:pPr>
            <a:r>
              <a:rPr lang="en-US" altLang="zh-CN" dirty="0"/>
              <a:t>step4：</a:t>
            </a:r>
            <a:r>
              <a:rPr lang="zh-CN" altLang="en-US" dirty="0"/>
              <a:t>计算新集与所有子集的相似度</a:t>
            </a:r>
            <a:endParaRPr lang="zh-CN" altLang="en-US" dirty="0"/>
          </a:p>
          <a:p>
            <a:pPr>
              <a:lnSpc>
                <a:spcPct val="110000"/>
              </a:lnSpc>
            </a:pPr>
            <a:r>
              <a:rPr lang="en-US" altLang="zh-CN" dirty="0"/>
              <a:t>step5：</a:t>
            </a:r>
            <a:r>
              <a:rPr lang="zh-CN" altLang="en-US" dirty="0"/>
              <a:t>跳至</a:t>
            </a:r>
            <a:r>
              <a:rPr lang="en-US" altLang="zh-CN" dirty="0"/>
              <a:t>step2，</a:t>
            </a:r>
            <a:r>
              <a:rPr lang="zh-CN" altLang="en-US" dirty="0"/>
              <a:t>直至</a:t>
            </a:r>
            <a:r>
              <a:rPr lang="en-US" altLang="zh-CN" dirty="0"/>
              <a:t>S</a:t>
            </a:r>
            <a:r>
              <a:rPr lang="zh-CN" altLang="en-US" dirty="0"/>
              <a:t>为空</a:t>
            </a:r>
            <a:endParaRPr lang="zh-CN" altLang="en-US" dirty="0"/>
          </a:p>
          <a:p>
            <a:pPr marL="0" indent="0">
              <a:buNone/>
            </a:pPr>
            <a:endParaRPr lang="en-US" altLang="zh-CN" dirty="0"/>
          </a:p>
        </p:txBody>
      </p:sp>
      <p:sp>
        <p:nvSpPr>
          <p:cNvPr id="3" name="灯片编号占位符 2"/>
          <p:cNvSpPr>
            <a:spLocks noGrp="1"/>
          </p:cNvSpPr>
          <p:nvPr>
            <p:ph type="sldNum" sz="quarter" idx="2"/>
          </p:nvPr>
        </p:nvSpPr>
        <p:spPr>
          <a:xfrm>
            <a:off x="11103611" y="6401118"/>
            <a:ext cx="250190" cy="275590"/>
          </a:xfrm>
        </p:spPr>
        <p:txBody>
          <a:bodyPr/>
          <a:lstStyle/>
          <a:p>
            <a:fld id="{86CB4B4D-7CA3-9044-876B-883B54F8677D}" type="slidenum">
              <a:rPr/>
            </a:fld>
            <a:endParaRPr/>
          </a:p>
        </p:txBody>
      </p:sp>
      <p:pic>
        <p:nvPicPr>
          <p:cNvPr id="8" name="图片 7"/>
          <p:cNvPicPr>
            <a:picLocks noChangeAspect="1"/>
          </p:cNvPicPr>
          <p:nvPr/>
        </p:nvPicPr>
        <p:blipFill>
          <a:blip r:embed="rId2"/>
          <a:stretch>
            <a:fillRect/>
          </a:stretch>
        </p:blipFill>
        <p:spPr>
          <a:xfrm>
            <a:off x="693420" y="4003675"/>
            <a:ext cx="3048000" cy="2774950"/>
          </a:xfrm>
          <a:prstGeom prst="rect">
            <a:avLst/>
          </a:prstGeom>
        </p:spPr>
      </p:pic>
      <p:pic>
        <p:nvPicPr>
          <p:cNvPr id="10" name="图片 9"/>
          <p:cNvPicPr>
            <a:picLocks noChangeAspect="1"/>
          </p:cNvPicPr>
          <p:nvPr/>
        </p:nvPicPr>
        <p:blipFill>
          <a:blip r:embed="rId3"/>
          <a:srcRect t="-2404" r="1569"/>
          <a:stretch>
            <a:fillRect/>
          </a:stretch>
        </p:blipFill>
        <p:spPr>
          <a:xfrm>
            <a:off x="7413625" y="2593975"/>
            <a:ext cx="3336925" cy="694055"/>
          </a:xfrm>
          <a:prstGeom prst="rect">
            <a:avLst/>
          </a:prstGeom>
        </p:spPr>
      </p:pic>
      <p:pic>
        <p:nvPicPr>
          <p:cNvPr id="11" name="图片 10"/>
          <p:cNvPicPr>
            <a:picLocks noChangeAspect="1"/>
          </p:cNvPicPr>
          <p:nvPr/>
        </p:nvPicPr>
        <p:blipFill>
          <a:blip r:embed="rId4"/>
          <a:stretch>
            <a:fillRect/>
          </a:stretch>
        </p:blipFill>
        <p:spPr>
          <a:xfrm>
            <a:off x="7473950" y="3479800"/>
            <a:ext cx="3276600" cy="705485"/>
          </a:xfrm>
          <a:prstGeom prst="rect">
            <a:avLst/>
          </a:prstGeom>
        </p:spPr>
      </p:pic>
      <p:pic>
        <p:nvPicPr>
          <p:cNvPr id="12" name="图片 11"/>
          <p:cNvPicPr>
            <a:picLocks noChangeAspect="1"/>
          </p:cNvPicPr>
          <p:nvPr/>
        </p:nvPicPr>
        <p:blipFill>
          <a:blip r:embed="rId5"/>
          <a:stretch>
            <a:fillRect/>
          </a:stretch>
        </p:blipFill>
        <p:spPr>
          <a:xfrm>
            <a:off x="7473950" y="4477385"/>
            <a:ext cx="3276600" cy="668020"/>
          </a:xfrm>
          <a:prstGeom prst="rect">
            <a:avLst/>
          </a:prstGeom>
        </p:spPr>
      </p:pic>
      <p:pic>
        <p:nvPicPr>
          <p:cNvPr id="13" name="图片 12"/>
          <p:cNvPicPr>
            <a:picLocks noChangeAspect="1"/>
          </p:cNvPicPr>
          <p:nvPr/>
        </p:nvPicPr>
        <p:blipFill>
          <a:blip r:embed="rId6"/>
          <a:stretch>
            <a:fillRect/>
          </a:stretch>
        </p:blipFill>
        <p:spPr>
          <a:xfrm>
            <a:off x="7473950" y="5337175"/>
            <a:ext cx="3252470" cy="775970"/>
          </a:xfrm>
          <a:prstGeom prst="rect">
            <a:avLst/>
          </a:prstGeom>
        </p:spPr>
      </p:pic>
    </p:spTree>
  </p:cSld>
  <p:clrMapOvr>
    <a:masterClrMapping/>
  </p:clrMapOvr>
  <p:transition spd="me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滑动窗口法 </a:t>
            </a:r>
            <a:r>
              <a:rPr lang="en-US" altLang="zh-CN" dirty="0"/>
              <a:t>vs </a:t>
            </a:r>
            <a:r>
              <a:rPr lang="zh-CN" altLang="en-US" dirty="0"/>
              <a:t>选择性搜索</a:t>
            </a:r>
            <a:r>
              <a:rPr lang="en-US" altLang="zh-CN" dirty="0"/>
              <a:t> </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graphicFrame>
        <p:nvGraphicFramePr>
          <p:cNvPr id="5" name="表格 4"/>
          <p:cNvGraphicFramePr>
            <a:graphicFrameLocks noGrp="1"/>
          </p:cNvGraphicFramePr>
          <p:nvPr/>
        </p:nvGraphicFramePr>
        <p:xfrm>
          <a:off x="0" y="1944370"/>
          <a:ext cx="12192000" cy="4206240"/>
        </p:xfrm>
        <a:graphic>
          <a:graphicData uri="http://schemas.openxmlformats.org/drawingml/2006/table">
            <a:tbl>
              <a:tblPr firstRow="1" firstCol="1">
                <a:tableStyleId>{CF821DB8-F4EB-4A41-A1BA-3FCAFE7338EE}</a:tableStyleId>
              </a:tblPr>
              <a:tblGrid>
                <a:gridCol w="3115732"/>
                <a:gridCol w="4512734"/>
                <a:gridCol w="4563534"/>
              </a:tblGrid>
              <a:tr h="0">
                <a:tc>
                  <a:txBody>
                    <a:bodyPr/>
                    <a:lstStyle/>
                    <a:p>
                      <a:pPr algn="l">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对比维度</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滑动窗口法</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l">
                        <a:buNone/>
                      </a:pPr>
                      <a:r>
                        <a:rPr lang="zh-CN" altLang="en-US" sz="2400" dirty="0">
                          <a:latin typeface="微软雅黑" panose="020B0503020204020204" pitchFamily="34" charset="-122"/>
                          <a:ea typeface="微软雅黑" panose="020B0503020204020204" pitchFamily="34" charset="-122"/>
                          <a:cs typeface="Arial" panose="020B0604020202020204" pitchFamily="34" charset="0"/>
                        </a:rPr>
                        <a:t>选择性搜索</a:t>
                      </a:r>
                      <a:endParaRPr lang="zh-CN" altLang="en-US" sz="24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l">
                        <a:buNone/>
                      </a:pPr>
                      <a:r>
                        <a:rPr lang="zh-CN" altLang="en-US" sz="2400" b="0" dirty="0">
                          <a:latin typeface="微软雅黑" panose="020B0503020204020204" pitchFamily="34" charset="-122"/>
                          <a:ea typeface="微软雅黑" panose="020B0503020204020204" pitchFamily="34" charset="-122"/>
                          <a:cs typeface="Arial" panose="020B0604020202020204" pitchFamily="34" charset="0"/>
                        </a:rPr>
                        <a:t>核心思想</a:t>
                      </a:r>
                      <a:endParaRPr lang="zh-CN" altLang="en-US" sz="24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穷举法：暴力遍历图像的所有可能位置</a:t>
                      </a:r>
                      <a:endParaRPr 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区域合并：基于图像局部特征的相似性进行合并</a:t>
                      </a:r>
                      <a:endPar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l">
                        <a:buNone/>
                      </a:pPr>
                      <a:r>
                        <a:rPr lang="zh-CN" altLang="en-US" sz="2400" b="0" dirty="0">
                          <a:latin typeface="微软雅黑" panose="020B0503020204020204" pitchFamily="34" charset="-122"/>
                          <a:ea typeface="微软雅黑" panose="020B0503020204020204" pitchFamily="34" charset="-122"/>
                          <a:cs typeface="Arial" panose="020B0604020202020204" pitchFamily="34" charset="0"/>
                        </a:rPr>
                        <a:t>计算效率</a:t>
                      </a:r>
                      <a:endParaRPr lang="zh-CN" altLang="en-US" sz="24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极低</a:t>
                      </a:r>
                      <a:endParaRPr 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较高</a:t>
                      </a:r>
                      <a:endPar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对大小</a:t>
                      </a:r>
                      <a:r>
                        <a:rPr lang="en-US" altLang="zh-CN"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a:t>
                      </a:r>
                      <a:r>
                        <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比例的适应性</a:t>
                      </a:r>
                      <a:endPar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较差</a:t>
                      </a:r>
                      <a:endParaRPr 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极好</a:t>
                      </a:r>
                      <a:endPar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检测概率</a:t>
                      </a:r>
                      <a:endPar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理论上能覆盖所有位置，但极其依赖预设的窗口模板是否合理</a:t>
                      </a:r>
                      <a:endParaRPr 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更高：合并区域时使用了多样的相似性指标，提高了命中真实物体的概率</a:t>
                      </a:r>
                      <a:endPar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综合评价</a:t>
                      </a:r>
                      <a:endParaRPr lang="zh-CN" altLang="en-US" sz="24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不推荐用于对实时性要求较高的模型</a:t>
                      </a:r>
                      <a:endParaRPr 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l" defTabSz="914400" rtl="0" eaLnBrk="1" latinLnBrk="0" hangingPunct="1">
                        <a:lnSpc>
                          <a:spcPct val="100000"/>
                        </a:lnSpc>
                        <a:spcBef>
                          <a:spcPts val="0"/>
                        </a:spcBef>
                        <a:spcAft>
                          <a:spcPts val="0"/>
                        </a:spcAft>
                        <a:buClrTx/>
                        <a:buSzTx/>
                        <a:buFontTx/>
                        <a:buNone/>
                      </a:pPr>
                      <a:r>
                        <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聪明且高效的提议算法</a:t>
                      </a:r>
                      <a:endParaRPr lang="zh-CN" altLang="en-US" sz="24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模型预测、数据表示</a:t>
            </a:r>
            <a:endParaRPr lang="zh-CN" altLang="en-US" dirty="0"/>
          </a:p>
        </p:txBody>
      </p:sp>
      <p:sp>
        <p:nvSpPr>
          <p:cNvPr id="4" name="灯片编号占位符 3"/>
          <p:cNvSpPr>
            <a:spLocks noGrp="1"/>
          </p:cNvSpPr>
          <p:nvPr>
            <p:ph type="sldNum" sz="quarter" idx="2"/>
          </p:nvPr>
        </p:nvSpPr>
        <p:spPr/>
        <p:txBody>
          <a:bodyPr/>
          <a:lstStyle/>
          <a:p>
            <a:fld id="{86CB4B4D-7CA3-9044-876B-883B54F8677D}" type="slidenum">
              <a:rPr/>
            </a:fld>
            <a:endParaRPr/>
          </a:p>
        </p:txBody>
      </p:sp>
      <p:graphicFrame>
        <p:nvGraphicFramePr>
          <p:cNvPr id="5" name="对象 4"/>
          <p:cNvGraphicFramePr/>
          <p:nvPr/>
        </p:nvGraphicFramePr>
        <p:xfrm>
          <a:off x="1111250" y="2457125"/>
          <a:ext cx="5168900" cy="544223"/>
        </p:xfrm>
        <a:graphic>
          <a:graphicData uri="http://schemas.openxmlformats.org/presentationml/2006/ole">
            <mc:AlternateContent xmlns:mc="http://schemas.openxmlformats.org/markup-compatibility/2006">
              <mc:Choice xmlns:v="urn:schemas-microsoft-com:vml" Requires="v">
                <p:oleObj spid="_x0000_s1049" name="" r:id="rId1" imgW="4255135" imgH="730885" progId="Equation.DSMT4">
                  <p:embed/>
                </p:oleObj>
              </mc:Choice>
              <mc:Fallback>
                <p:oleObj name="" r:id="rId1" imgW="4255135" imgH="730885" progId="Equation.DSMT4">
                  <p:embed/>
                  <p:pic>
                    <p:nvPicPr>
                      <p:cNvPr id="0" name="图片 5"/>
                      <p:cNvPicPr/>
                      <p:nvPr/>
                    </p:nvPicPr>
                    <p:blipFill>
                      <a:blip r:embed="rId2"/>
                      <a:stretch>
                        <a:fillRect/>
                      </a:stretch>
                    </p:blipFill>
                    <p:spPr>
                      <a:xfrm>
                        <a:off x="1111250" y="2457125"/>
                        <a:ext cx="5168900" cy="544223"/>
                      </a:xfrm>
                      <a:prstGeom prst="rect">
                        <a:avLst/>
                      </a:prstGeom>
                    </p:spPr>
                  </p:pic>
                </p:oleObj>
              </mc:Fallback>
            </mc:AlternateContent>
          </a:graphicData>
        </a:graphic>
      </p:graphicFrame>
      <p:pic>
        <p:nvPicPr>
          <p:cNvPr id="1029" name="Picture 5" descr="汽车场景图"/>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495222" y="2940189"/>
            <a:ext cx="4909929" cy="3273286"/>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7027333" y="3835400"/>
            <a:ext cx="3801533" cy="1905000"/>
          </a:xfrm>
          <a:prstGeom prst="rect">
            <a:avLst/>
          </a:prstGeom>
          <a:noFill/>
          <a:ln w="28575" cap="flat">
            <a:solidFill>
              <a:srgbClr val="C0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9" name="左大括号 8"/>
          <p:cNvSpPr/>
          <p:nvPr/>
        </p:nvSpPr>
        <p:spPr>
          <a:xfrm rot="16200000">
            <a:off x="5081123" y="2430261"/>
            <a:ext cx="488950" cy="1360598"/>
          </a:xfrm>
          <a:prstGeom prst="leftBrace">
            <a:avLst/>
          </a:prstGeom>
          <a:no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2" name="左大括号 11"/>
          <p:cNvSpPr/>
          <p:nvPr/>
        </p:nvSpPr>
        <p:spPr>
          <a:xfrm rot="16200000">
            <a:off x="1954294" y="2975794"/>
            <a:ext cx="378730" cy="269534"/>
          </a:xfrm>
          <a:prstGeom prst="leftBrace">
            <a:avLst>
              <a:gd name="adj1" fmla="val 8333"/>
              <a:gd name="adj2" fmla="val 52356"/>
            </a:avLst>
          </a:prstGeom>
          <a:no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3" name="左大括号 12"/>
          <p:cNvSpPr/>
          <p:nvPr/>
        </p:nvSpPr>
        <p:spPr>
          <a:xfrm rot="5400000">
            <a:off x="3202714" y="1379289"/>
            <a:ext cx="488950" cy="1728923"/>
          </a:xfrm>
          <a:prstGeom prst="leftBrace">
            <a:avLst>
              <a:gd name="adj1" fmla="val 8333"/>
              <a:gd name="adj2" fmla="val 48899"/>
            </a:avLst>
          </a:prstGeom>
          <a:no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10" name="文本框 9"/>
          <p:cNvSpPr txBox="1"/>
          <p:nvPr/>
        </p:nvSpPr>
        <p:spPr>
          <a:xfrm>
            <a:off x="1111250" y="3347442"/>
            <a:ext cx="2336800"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dirty="0">
                <a:solidFill>
                  <a:schemeClr val="accent1"/>
                </a:solidFill>
                <a:latin typeface="微软雅黑" panose="020B0503020204020204" pitchFamily="34" charset="-122"/>
                <a:ea typeface="微软雅黑" panose="020B0503020204020204" pitchFamily="34" charset="-122"/>
              </a:rPr>
              <a:t>预测结果的置信概率</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2224829" y="1645978"/>
            <a:ext cx="2587211"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dirty="0">
                <a:solidFill>
                  <a:schemeClr val="accent1"/>
                </a:solidFill>
                <a:latin typeface="微软雅黑" panose="020B0503020204020204" pitchFamily="34" charset="-122"/>
                <a:ea typeface="微软雅黑" panose="020B0503020204020204" pitchFamily="34" charset="-122"/>
              </a:rPr>
              <a:t>边界框的中心坐标及宽高</a:t>
            </a:r>
            <a:endParaRPr lang="zh-CN" altLang="en-US" dirty="0">
              <a:solidFill>
                <a:schemeClr val="accent1"/>
              </a:solidFill>
              <a:latin typeface="微软雅黑" panose="020B0503020204020204" pitchFamily="34" charset="-122"/>
              <a:ea typeface="微软雅黑" panose="020B0503020204020204" pitchFamily="34" charset="-122"/>
            </a:endParaRPr>
          </a:p>
        </p:txBody>
      </p:sp>
      <p:sp>
        <p:nvSpPr>
          <p:cNvPr id="16" name="文本框 15"/>
          <p:cNvSpPr txBox="1"/>
          <p:nvPr/>
        </p:nvSpPr>
        <p:spPr>
          <a:xfrm>
            <a:off x="4158422" y="3347442"/>
            <a:ext cx="2336800" cy="27699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dirty="0">
                <a:solidFill>
                  <a:schemeClr val="accent1"/>
                </a:solidFill>
                <a:latin typeface="微软雅黑" panose="020B0503020204020204" pitchFamily="34" charset="-122"/>
                <a:ea typeface="微软雅黑" panose="020B0503020204020204" pitchFamily="34" charset="-122"/>
              </a:rPr>
              <a:t>各个类别的预测概率</a:t>
            </a:r>
            <a:endParaRPr lang="zh-CN" altLang="en-US"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76225"/>
            <a:ext cx="10515600" cy="1325563"/>
          </a:xfrm>
        </p:spPr>
        <p:txBody>
          <a:bodyPr/>
          <a:lstStyle/>
          <a:p>
            <a:r>
              <a:rPr lang="zh-CN" altLang="en-US" dirty="0"/>
              <a:t>效果评估</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773237"/>
            <a:ext cx="12465050" cy="4351338"/>
          </a:xfrm>
        </p:spPr>
        <p:txBody>
          <a:bodyPr/>
          <a:lstStyle/>
          <a:p>
            <a:pPr marL="0" indent="0">
              <a:buNone/>
            </a:pPr>
            <a:r>
              <a:rPr lang="zh-CN" altLang="en-US" dirty="0"/>
              <a:t>核心指标：</a:t>
            </a:r>
            <a:r>
              <a:rPr lang="en-US" altLang="zh-CN" b="1" dirty="0" err="1"/>
              <a:t>IoU</a:t>
            </a:r>
            <a:r>
              <a:rPr lang="zh-CN" altLang="en-US" b="1" dirty="0"/>
              <a:t>（</a:t>
            </a:r>
            <a:r>
              <a:rPr lang="en-US" altLang="zh-CN" b="1" dirty="0"/>
              <a:t>Intersection over Union</a:t>
            </a:r>
            <a:r>
              <a:rPr lang="zh-CN" altLang="en-US" b="1" dirty="0"/>
              <a:t>，交并比）来判断模型的好坏</a:t>
            </a:r>
            <a:endParaRPr lang="en-US" altLang="zh-CN" b="1" dirty="0"/>
          </a:p>
          <a:p>
            <a:pPr marL="0" indent="0">
              <a:buNone/>
            </a:pPr>
            <a:r>
              <a:rPr lang="en-US" altLang="zh-CN" dirty="0" err="1"/>
              <a:t>IoU</a:t>
            </a:r>
            <a:r>
              <a:rPr lang="zh-CN" altLang="en-US" dirty="0"/>
              <a:t>：是指预测边框、实际边框交集和并集的比率</a:t>
            </a:r>
            <a:endParaRPr lang="en-US" altLang="zh-CN" dirty="0"/>
          </a:p>
          <a:p>
            <a:pPr marL="0" indent="0">
              <a:buNone/>
            </a:pPr>
            <a:endParaRPr lang="en-US" altLang="zh-CN" dirty="0"/>
          </a:p>
          <a:p>
            <a:pPr fontAlgn="base"/>
            <a:r>
              <a:rPr lang="zh-CN" altLang="zh-CN" b="1" dirty="0"/>
              <a:t>TP (True Positive, 真正例)</a:t>
            </a:r>
            <a:endParaRPr lang="en-US" altLang="zh-CN" b="1" dirty="0"/>
          </a:p>
          <a:p>
            <a:pPr marL="0" indent="0" fontAlgn="base">
              <a:buNone/>
            </a:pPr>
            <a:r>
              <a:rPr lang="zh-CN" altLang="zh-CN" dirty="0"/>
              <a:t>模型预测有目标，且预测对了（预测框与真实框的 IoU</a:t>
            </a:r>
            <a:r>
              <a:rPr lang="en-US" altLang="zh-CN" dirty="0"/>
              <a:t>&gt;</a:t>
            </a:r>
            <a:r>
              <a:rPr lang="zh-CN" altLang="zh-CN" dirty="0"/>
              <a:t>0.5，且类别正确）</a:t>
            </a:r>
            <a:endParaRPr lang="zh-CN" altLang="zh-CN" dirty="0"/>
          </a:p>
          <a:p>
            <a:pPr fontAlgn="base"/>
            <a:r>
              <a:rPr lang="zh-CN" altLang="zh-CN" b="1" dirty="0"/>
              <a:t>FP (False Positive, 假正例)</a:t>
            </a:r>
            <a:endParaRPr lang="en-US" altLang="zh-CN" b="1" dirty="0"/>
          </a:p>
          <a:p>
            <a:pPr marL="0" indent="0" fontAlgn="base">
              <a:buNone/>
            </a:pPr>
            <a:r>
              <a:rPr lang="zh-CN" altLang="zh-CN" dirty="0"/>
              <a:t>模型预测有目标，但预测错了（通常是 IoU &lt; 0.5，或者是把背景误认成了目标）</a:t>
            </a:r>
            <a:r>
              <a:rPr lang="zh-CN" altLang="en-US" dirty="0"/>
              <a:t>即</a:t>
            </a:r>
            <a:r>
              <a:rPr lang="zh-CN" altLang="zh-CN" b="1" dirty="0"/>
              <a:t>误检</a:t>
            </a:r>
            <a:endParaRPr lang="zh-CN" altLang="zh-CN" b="1" dirty="0"/>
          </a:p>
          <a:p>
            <a:pPr fontAlgn="base"/>
            <a:r>
              <a:rPr lang="zh-CN" altLang="zh-CN" b="1" dirty="0"/>
              <a:t>FN (False Negative, 假负例)</a:t>
            </a:r>
            <a:endParaRPr lang="en-US" altLang="zh-CN" b="1" dirty="0"/>
          </a:p>
          <a:p>
            <a:pPr marL="0" indent="0" fontAlgn="base">
              <a:buNone/>
            </a:pPr>
            <a:r>
              <a:rPr lang="zh-CN" altLang="zh-CN" dirty="0"/>
              <a:t>图片里本来有目标，但模型没有检测出来，或者给出的置信度太低被过滤掉了</a:t>
            </a:r>
            <a:r>
              <a:rPr lang="en-US" altLang="zh-CN" dirty="0"/>
              <a:t> </a:t>
            </a:r>
            <a:r>
              <a:rPr lang="zh-CN" altLang="en-US" dirty="0"/>
              <a:t>即</a:t>
            </a:r>
            <a:r>
              <a:rPr lang="zh-CN" altLang="zh-CN" b="1" dirty="0"/>
              <a:t>漏检</a:t>
            </a:r>
            <a:endParaRPr lang="zh-CN" altLang="zh-CN" b="1" dirty="0"/>
          </a:p>
          <a:p>
            <a:pPr marL="0" indent="0">
              <a:buNone/>
            </a:pPr>
            <a:endParaRPr lang="en-US" altLang="zh-CN" dirty="0"/>
          </a:p>
          <a:p>
            <a:pPr marL="0" indent="0">
              <a:buNone/>
            </a:pPr>
            <a:endParaRPr lang="zh-CN" altLang="en-US" dirty="0"/>
          </a:p>
        </p:txBody>
      </p:sp>
      <p:graphicFrame>
        <p:nvGraphicFramePr>
          <p:cNvPr id="6" name="对象 5"/>
          <p:cNvGraphicFramePr>
            <a:graphicFrameLocks noChangeAspect="1"/>
          </p:cNvGraphicFramePr>
          <p:nvPr/>
        </p:nvGraphicFramePr>
        <p:xfrm>
          <a:off x="6921499" y="2465388"/>
          <a:ext cx="4245999" cy="893762"/>
        </p:xfrm>
        <a:graphic>
          <a:graphicData uri="http://schemas.openxmlformats.org/presentationml/2006/ole">
            <mc:AlternateContent xmlns:mc="http://schemas.openxmlformats.org/markup-compatibility/2006">
              <mc:Choice xmlns:v="urn:schemas-microsoft-com:vml" Requires="v">
                <p:oleObj spid="_x0000_s3088" name="Equation" r:id="rId1" imgW="2066925" imgH="437515" progId="Equation.DSMT4">
                  <p:embed/>
                </p:oleObj>
              </mc:Choice>
              <mc:Fallback>
                <p:oleObj name="Equation" r:id="rId1" imgW="2066925" imgH="437515" progId="Equation.DSMT4">
                  <p:embed/>
                  <p:pic>
                    <p:nvPicPr>
                      <p:cNvPr id="0" name="图片 3084"/>
                      <p:cNvPicPr/>
                      <p:nvPr/>
                    </p:nvPicPr>
                    <p:blipFill>
                      <a:blip r:embed="rId2"/>
                      <a:stretch>
                        <a:fillRect/>
                      </a:stretch>
                    </p:blipFill>
                    <p:spPr>
                      <a:xfrm>
                        <a:off x="6921499" y="2465388"/>
                        <a:ext cx="4245999" cy="893762"/>
                      </a:xfrm>
                      <a:prstGeom prst="rect">
                        <a:avLst/>
                      </a:prstGeom>
                    </p:spPr>
                  </p:pic>
                </p:oleObj>
              </mc:Fallback>
            </mc:AlternateContent>
          </a:graphicData>
        </a:graphic>
      </p:graphicFrame>
    </p:spTree>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效果评估</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r>
              <a:rPr lang="zh-CN" altLang="en-US" dirty="0"/>
              <a:t>精确率 </a:t>
            </a:r>
            <a:r>
              <a:rPr lang="en-US" altLang="zh-CN" dirty="0"/>
              <a:t>Precision</a:t>
            </a:r>
            <a:endParaRPr lang="en-US" altLang="zh-CN" dirty="0"/>
          </a:p>
          <a:p>
            <a:pPr marL="0" indent="0">
              <a:buNone/>
            </a:pPr>
            <a:r>
              <a:rPr lang="zh-CN" altLang="en-US" dirty="0"/>
              <a:t>定义：模型所有预测为正样本的结果中，有多少是真正确的（对不对）</a:t>
            </a:r>
            <a:endParaRPr lang="en-US" altLang="zh-CN" dirty="0"/>
          </a:p>
          <a:p>
            <a:pPr marL="0" indent="0">
              <a:buNone/>
            </a:pPr>
            <a:endParaRPr lang="en-US" altLang="zh-CN" dirty="0"/>
          </a:p>
          <a:p>
            <a:pPr marL="0" indent="0">
              <a:buNone/>
            </a:pPr>
            <a:endParaRPr lang="en-US" altLang="zh-CN" dirty="0"/>
          </a:p>
          <a:p>
            <a:r>
              <a:rPr lang="zh-CN" altLang="en-US" dirty="0"/>
              <a:t>召回率 </a:t>
            </a:r>
            <a:r>
              <a:rPr lang="en-US" altLang="zh-CN" dirty="0"/>
              <a:t>Recall</a:t>
            </a:r>
            <a:endParaRPr lang="en-US" altLang="zh-CN" dirty="0"/>
          </a:p>
          <a:p>
            <a:pPr marL="0" indent="0">
              <a:buNone/>
            </a:pPr>
            <a:r>
              <a:rPr lang="zh-CN" altLang="en-US" dirty="0"/>
              <a:t>定义：数据集中所有真实的样本，模型成功找出了多少（全不全）</a:t>
            </a:r>
            <a:endParaRPr lang="zh-CN" altLang="en-US" dirty="0"/>
          </a:p>
        </p:txBody>
      </p:sp>
      <p:graphicFrame>
        <p:nvGraphicFramePr>
          <p:cNvPr id="5" name="对象 4"/>
          <p:cNvGraphicFramePr>
            <a:graphicFrameLocks noChangeAspect="1"/>
          </p:cNvGraphicFramePr>
          <p:nvPr/>
        </p:nvGraphicFramePr>
        <p:xfrm>
          <a:off x="3598863" y="2789238"/>
          <a:ext cx="3526727" cy="1052512"/>
        </p:xfrm>
        <a:graphic>
          <a:graphicData uri="http://schemas.openxmlformats.org/presentationml/2006/ole">
            <mc:AlternateContent xmlns:mc="http://schemas.openxmlformats.org/markup-compatibility/2006">
              <mc:Choice xmlns:v="urn:schemas-microsoft-com:vml" Requires="v">
                <p:oleObj spid="_x0000_s4124" name="Equation" r:id="rId1" imgW="1327785" imgH="398780" progId="Equation.DSMT4">
                  <p:embed/>
                </p:oleObj>
              </mc:Choice>
              <mc:Fallback>
                <p:oleObj name="Equation" r:id="rId1" imgW="1327785" imgH="398780" progId="Equation.DSMT4">
                  <p:embed/>
                  <p:pic>
                    <p:nvPicPr>
                      <p:cNvPr id="0" name="图片 4119"/>
                      <p:cNvPicPr/>
                      <p:nvPr/>
                    </p:nvPicPr>
                    <p:blipFill>
                      <a:blip r:embed="rId2"/>
                      <a:stretch>
                        <a:fillRect/>
                      </a:stretch>
                    </p:blipFill>
                    <p:spPr>
                      <a:xfrm>
                        <a:off x="3598863" y="2789238"/>
                        <a:ext cx="3526727" cy="1052512"/>
                      </a:xfrm>
                      <a:prstGeom prst="rect">
                        <a:avLst/>
                      </a:prstGeom>
                    </p:spPr>
                  </p:pic>
                </p:oleObj>
              </mc:Fallback>
            </mc:AlternateContent>
          </a:graphicData>
        </a:graphic>
      </p:graphicFrame>
      <p:graphicFrame>
        <p:nvGraphicFramePr>
          <p:cNvPr id="6" name="对象 5"/>
          <p:cNvGraphicFramePr>
            <a:graphicFrameLocks noChangeAspect="1"/>
          </p:cNvGraphicFramePr>
          <p:nvPr/>
        </p:nvGraphicFramePr>
        <p:xfrm>
          <a:off x="3598863" y="4762501"/>
          <a:ext cx="3495935" cy="1192212"/>
        </p:xfrm>
        <a:graphic>
          <a:graphicData uri="http://schemas.openxmlformats.org/presentationml/2006/ole">
            <mc:AlternateContent xmlns:mc="http://schemas.openxmlformats.org/markup-compatibility/2006">
              <mc:Choice xmlns:v="urn:schemas-microsoft-com:vml" Requires="v">
                <p:oleObj spid="_x0000_s4125" name="Equation" r:id="rId3" imgW="1162685" imgH="398780" progId="Equation.DSMT4">
                  <p:embed/>
                </p:oleObj>
              </mc:Choice>
              <mc:Fallback>
                <p:oleObj name="Equation" r:id="rId3" imgW="1162685" imgH="398780" progId="Equation.DSMT4">
                  <p:embed/>
                  <p:pic>
                    <p:nvPicPr>
                      <p:cNvPr id="0" name="图片 4120"/>
                      <p:cNvPicPr/>
                      <p:nvPr/>
                    </p:nvPicPr>
                    <p:blipFill>
                      <a:blip r:embed="rId4"/>
                      <a:stretch>
                        <a:fillRect/>
                      </a:stretch>
                    </p:blipFill>
                    <p:spPr>
                      <a:xfrm>
                        <a:off x="3598863" y="4762501"/>
                        <a:ext cx="3495935" cy="1192212"/>
                      </a:xfrm>
                      <a:prstGeom prst="rect">
                        <a:avLst/>
                      </a:prstGeom>
                    </p:spPr>
                  </p:pic>
                </p:oleObj>
              </mc:Fallback>
            </mc:AlternateContent>
          </a:graphicData>
        </a:graphic>
      </p:graphicFrame>
    </p:spTree>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758" y="311904"/>
            <a:ext cx="10515600" cy="1325563"/>
          </a:xfrm>
        </p:spPr>
        <p:txBody>
          <a:bodyPr/>
          <a:lstStyle/>
          <a:p>
            <a:r>
              <a:rPr lang="zh-CN" altLang="en-US" dirty="0"/>
              <a:t>效果评估</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76758" y="1811337"/>
            <a:ext cx="11140214" cy="4351338"/>
          </a:xfrm>
        </p:spPr>
        <p:txBody>
          <a:bodyPr>
            <a:normAutofit/>
          </a:bodyPr>
          <a:lstStyle/>
          <a:p>
            <a:pPr marL="0" indent="0">
              <a:buNone/>
            </a:pPr>
            <a:r>
              <a:rPr lang="zh-CN" altLang="en-US" sz="2000" dirty="0"/>
              <a:t>逐渐调整模型的置信度阈值（从 </a:t>
            </a:r>
            <a:r>
              <a:rPr lang="en-US" altLang="zh-CN" sz="2000" dirty="0"/>
              <a:t>1.0 </a:t>
            </a:r>
            <a:r>
              <a:rPr lang="zh-CN" altLang="en-US" sz="2000" dirty="0"/>
              <a:t>慢慢降到 </a:t>
            </a:r>
            <a:r>
              <a:rPr lang="en-US" altLang="zh-CN" sz="2000" dirty="0"/>
              <a:t>0.0</a:t>
            </a:r>
            <a:r>
              <a:rPr lang="zh-CN" altLang="en-US" sz="2000" dirty="0"/>
              <a:t>）会得到多组不同的 </a:t>
            </a:r>
            <a:r>
              <a:rPr lang="en-US" altLang="zh-CN" sz="2000" dirty="0"/>
              <a:t>Precision </a:t>
            </a:r>
            <a:r>
              <a:rPr lang="zh-CN" altLang="en-US" sz="2000" dirty="0"/>
              <a:t>和 </a:t>
            </a:r>
            <a:r>
              <a:rPr lang="en-US" altLang="zh-CN" sz="2000" dirty="0"/>
              <a:t>Recall </a:t>
            </a:r>
            <a:r>
              <a:rPr lang="zh-CN" altLang="en-US" sz="2000" dirty="0"/>
              <a:t>值</a:t>
            </a:r>
            <a:endParaRPr lang="en-US" altLang="zh-CN" sz="2000" dirty="0"/>
          </a:p>
          <a:p>
            <a:pPr marL="0" indent="0">
              <a:buNone/>
            </a:pPr>
            <a:r>
              <a:rPr lang="zh-CN" altLang="en-US" sz="2000" dirty="0"/>
              <a:t>将这些点画在坐标系中，就形成了 </a:t>
            </a:r>
            <a:r>
              <a:rPr lang="en-US" altLang="zh-CN" sz="2000" b="1" dirty="0"/>
              <a:t>P-R </a:t>
            </a:r>
            <a:r>
              <a:rPr lang="zh-CN" altLang="en-US" sz="2000" b="1" dirty="0"/>
              <a:t>曲线</a:t>
            </a:r>
            <a:endParaRPr lang="zh-CN" altLang="en-US" sz="2000" dirty="0"/>
          </a:p>
        </p:txBody>
      </p:sp>
      <p:pic>
        <p:nvPicPr>
          <p:cNvPr id="5" name="图片 4"/>
          <p:cNvPicPr>
            <a:picLocks noChangeAspect="1"/>
          </p:cNvPicPr>
          <p:nvPr/>
        </p:nvPicPr>
        <p:blipFill>
          <a:blip r:embed="rId1"/>
          <a:stretch>
            <a:fillRect/>
          </a:stretch>
        </p:blipFill>
        <p:spPr>
          <a:xfrm>
            <a:off x="0" y="2712403"/>
            <a:ext cx="2489528" cy="2500947"/>
          </a:xfrm>
          <a:prstGeom prst="rect">
            <a:avLst/>
          </a:prstGeom>
        </p:spPr>
      </p:pic>
      <p:sp>
        <p:nvSpPr>
          <p:cNvPr id="6" name="文本框 5"/>
          <p:cNvSpPr txBox="1"/>
          <p:nvPr/>
        </p:nvSpPr>
        <p:spPr>
          <a:xfrm>
            <a:off x="2686050" y="2658030"/>
            <a:ext cx="10204450" cy="600164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50000"/>
              </a:lnSpc>
              <a:spcBef>
                <a:spcPts val="0"/>
              </a:spcBef>
              <a:spcAft>
                <a:spcPts val="0"/>
              </a:spcAft>
              <a:buClrTx/>
              <a:buSzTx/>
              <a:buFontTx/>
              <a:buNone/>
            </a:pPr>
            <a:r>
              <a:rPr lang="en-US" altLang="zh-CN" sz="2000" b="1" dirty="0">
                <a:solidFill>
                  <a:schemeClr val="accent1"/>
                </a:solidFill>
                <a:latin typeface="微软雅黑" panose="020B0503020204020204" pitchFamily="34" charset="-122"/>
                <a:ea typeface="微软雅黑" panose="020B0503020204020204" pitchFamily="34" charset="-122"/>
              </a:rPr>
              <a:t>AP (Average Precision, </a:t>
            </a:r>
            <a:r>
              <a:rPr lang="zh-CN" altLang="en-US" sz="2000" b="1" dirty="0">
                <a:solidFill>
                  <a:schemeClr val="accent1"/>
                </a:solidFill>
                <a:latin typeface="微软雅黑" panose="020B0503020204020204" pitchFamily="34" charset="-122"/>
                <a:ea typeface="微软雅黑" panose="020B0503020204020204" pitchFamily="34" charset="-122"/>
              </a:rPr>
              <a:t>平均精度</a:t>
            </a:r>
            <a:r>
              <a:rPr lang="en-US" altLang="zh-CN" sz="2000" b="1" dirty="0">
                <a:solidFill>
                  <a:schemeClr val="accent1"/>
                </a:solidFill>
                <a:latin typeface="微软雅黑" panose="020B0503020204020204" pitchFamily="34" charset="-122"/>
                <a:ea typeface="微软雅黑" panose="020B0503020204020204" pitchFamily="34" charset="-122"/>
              </a:rPr>
              <a:t>)</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marL="342900" marR="0" indent="-342900" algn="l" defTabSz="914400" rtl="0" fontAlgn="auto" latinLnBrk="0" hangingPunct="0">
              <a:lnSpc>
                <a:spcPct val="150000"/>
              </a:lnSpc>
              <a:spcBef>
                <a:spcPts val="0"/>
              </a:spcBef>
              <a:spcAft>
                <a:spcPts val="0"/>
              </a:spcAft>
              <a:buClrTx/>
              <a:buSzTx/>
              <a:buFont typeface="Wingdings" panose="05000000000000000000" pitchFamily="2" charset="2"/>
              <a:buChar char="ü"/>
            </a:pPr>
            <a:r>
              <a:rPr lang="zh-CN" altLang="en-US" sz="2000" dirty="0">
                <a:solidFill>
                  <a:schemeClr val="accent1"/>
                </a:solidFill>
                <a:latin typeface="微软雅黑" panose="020B0503020204020204" pitchFamily="34" charset="-122"/>
                <a:ea typeface="微软雅黑" panose="020B0503020204020204" pitchFamily="34" charset="-122"/>
              </a:rPr>
              <a:t>计算：求这条 </a:t>
            </a:r>
            <a:r>
              <a:rPr lang="en-US" altLang="zh-CN" sz="2000" dirty="0">
                <a:solidFill>
                  <a:schemeClr val="accent1"/>
                </a:solidFill>
                <a:latin typeface="微软雅黑" panose="020B0503020204020204" pitchFamily="34" charset="-122"/>
                <a:ea typeface="微软雅黑" panose="020B0503020204020204" pitchFamily="34" charset="-122"/>
              </a:rPr>
              <a:t>P-R </a:t>
            </a:r>
            <a:r>
              <a:rPr lang="zh-CN" altLang="en-US" sz="2000" dirty="0">
                <a:solidFill>
                  <a:schemeClr val="accent1"/>
                </a:solidFill>
                <a:latin typeface="微软雅黑" panose="020B0503020204020204" pitchFamily="34" charset="-122"/>
                <a:ea typeface="微软雅黑" panose="020B0503020204020204" pitchFamily="34" charset="-122"/>
              </a:rPr>
              <a:t>曲线下方的面积</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342900" marR="0" indent="-342900" algn="l" defTabSz="914400" rtl="0" fontAlgn="auto" latinLnBrk="0" hangingPunct="0">
              <a:lnSpc>
                <a:spcPct val="150000"/>
              </a:lnSpc>
              <a:spcBef>
                <a:spcPts val="0"/>
              </a:spcBef>
              <a:spcAft>
                <a:spcPts val="0"/>
              </a:spcAft>
              <a:buClrTx/>
              <a:buSzTx/>
              <a:buFont typeface="Wingdings" panose="05000000000000000000" pitchFamily="2" charset="2"/>
              <a:buChar char="ü"/>
            </a:pPr>
            <a:r>
              <a:rPr lang="zh-CN" altLang="en-US" sz="2000" dirty="0">
                <a:solidFill>
                  <a:schemeClr val="accent1"/>
                </a:solidFill>
                <a:latin typeface="微软雅黑" panose="020B0503020204020204" pitchFamily="34" charset="-122"/>
                <a:ea typeface="微软雅黑" panose="020B0503020204020204" pitchFamily="34" charset="-122"/>
              </a:rPr>
              <a:t>意义：面积越大，说明模型在不同的阈值下都能保持较高的准确率和召回率</a:t>
            </a:r>
            <a:endParaRPr lang="en-US" altLang="zh-CN" sz="2000" dirty="0">
              <a:solidFill>
                <a:schemeClr val="accent1"/>
              </a:solidFill>
              <a:latin typeface="微软雅黑" panose="020B0503020204020204" pitchFamily="34" charset="-122"/>
              <a:ea typeface="微软雅黑" panose="020B0503020204020204" pitchFamily="34" charset="-122"/>
            </a:endParaRPr>
          </a:p>
          <a:p>
            <a:pPr>
              <a:lnSpc>
                <a:spcPct val="150000"/>
              </a:lnSpc>
            </a:pPr>
            <a:r>
              <a:rPr lang="en-US" altLang="zh-CN" sz="2000" b="1" dirty="0" err="1">
                <a:solidFill>
                  <a:schemeClr val="accent1"/>
                </a:solidFill>
                <a:latin typeface="微软雅黑" panose="020B0503020204020204" pitchFamily="34" charset="-122"/>
                <a:ea typeface="微软雅黑" panose="020B0503020204020204" pitchFamily="34" charset="-122"/>
              </a:rPr>
              <a:t>mAP</a:t>
            </a:r>
            <a:r>
              <a:rPr lang="en-US" altLang="zh-CN" sz="2000" b="1" dirty="0">
                <a:solidFill>
                  <a:schemeClr val="accent1"/>
                </a:solidFill>
                <a:latin typeface="微软雅黑" panose="020B0503020204020204" pitchFamily="34" charset="-122"/>
                <a:ea typeface="微软雅黑" panose="020B0503020204020204" pitchFamily="34" charset="-122"/>
              </a:rPr>
              <a:t> (Mean Average Precision, </a:t>
            </a:r>
            <a:r>
              <a:rPr lang="zh-CN" altLang="en-US" sz="2000" b="1" dirty="0">
                <a:solidFill>
                  <a:schemeClr val="accent1"/>
                </a:solidFill>
                <a:latin typeface="微软雅黑" panose="020B0503020204020204" pitchFamily="34" charset="-122"/>
                <a:ea typeface="微软雅黑" panose="020B0503020204020204" pitchFamily="34" charset="-122"/>
              </a:rPr>
              <a:t>均值平均精度</a:t>
            </a:r>
            <a:r>
              <a:rPr lang="en-US" altLang="zh-CN" sz="2000" b="1" dirty="0">
                <a:solidFill>
                  <a:schemeClr val="accent1"/>
                </a:solidFill>
                <a:latin typeface="微软雅黑" panose="020B0503020204020204" pitchFamily="34" charset="-122"/>
                <a:ea typeface="微软雅黑" panose="020B0503020204020204" pitchFamily="34" charset="-122"/>
              </a:rPr>
              <a:t>)</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a:lnSpc>
                <a:spcPct val="150000"/>
              </a:lnSpc>
            </a:pPr>
            <a:r>
              <a:rPr lang="zh-CN" altLang="en-US" sz="2000" dirty="0">
                <a:solidFill>
                  <a:schemeClr val="accent1"/>
                </a:solidFill>
                <a:latin typeface="微软雅黑" panose="020B0503020204020204" pitchFamily="34" charset="-122"/>
                <a:ea typeface="微软雅黑" panose="020B0503020204020204" pitchFamily="34" charset="-122"/>
              </a:rPr>
              <a:t>计算：我们需要将所有类别的 </a:t>
            </a:r>
            <a:r>
              <a:rPr lang="en-US" altLang="zh-CN" sz="2000" dirty="0">
                <a:solidFill>
                  <a:schemeClr val="accent1"/>
                </a:solidFill>
                <a:latin typeface="微软雅黑" panose="020B0503020204020204" pitchFamily="34" charset="-122"/>
                <a:ea typeface="微软雅黑" panose="020B0503020204020204" pitchFamily="34" charset="-122"/>
              </a:rPr>
              <a:t>AP </a:t>
            </a:r>
            <a:r>
              <a:rPr lang="zh-CN" altLang="en-US" sz="2000" dirty="0">
                <a:solidFill>
                  <a:schemeClr val="accent1"/>
                </a:solidFill>
                <a:latin typeface="微软雅黑" panose="020B0503020204020204" pitchFamily="34" charset="-122"/>
                <a:ea typeface="微软雅黑" panose="020B0503020204020204" pitchFamily="34" charset="-122"/>
              </a:rPr>
              <a:t>值加起来求平均</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pPr>
            <a:r>
              <a:rPr lang="zh-CN" altLang="zh-CN" sz="2000" b="1" dirty="0">
                <a:solidFill>
                  <a:schemeClr val="accent1"/>
                </a:solidFill>
                <a:latin typeface="微软雅黑" panose="020B0503020204020204" pitchFamily="34" charset="-122"/>
                <a:ea typeface="微软雅黑" panose="020B0503020204020204" pitchFamily="34" charset="-122"/>
              </a:rPr>
              <a:t>mAP@0.5</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pPr>
            <a:r>
              <a:rPr lang="zh-CN" altLang="zh-CN" sz="2000" dirty="0">
                <a:solidFill>
                  <a:schemeClr val="accent1"/>
                </a:solidFill>
                <a:latin typeface="微软雅黑" panose="020B0503020204020204" pitchFamily="34" charset="-122"/>
                <a:ea typeface="微软雅黑" panose="020B0503020204020204" pitchFamily="34" charset="-122"/>
              </a:rPr>
              <a:t>严格把 IoU 阈值设为 0.5 时计算出的 mAP</a:t>
            </a:r>
            <a:r>
              <a:rPr lang="zh-CN" altLang="en-US" sz="2000" dirty="0">
                <a:solidFill>
                  <a:schemeClr val="accent1"/>
                </a:solidFill>
                <a:latin typeface="微软雅黑" panose="020B0503020204020204" pitchFamily="34" charset="-122"/>
                <a:ea typeface="微软雅黑" panose="020B0503020204020204" pitchFamily="34" charset="-122"/>
              </a:rPr>
              <a:t>，</a:t>
            </a:r>
            <a:r>
              <a:rPr lang="zh-CN" altLang="zh-CN" sz="2000" dirty="0">
                <a:solidFill>
                  <a:schemeClr val="accent1"/>
                </a:solidFill>
                <a:latin typeface="微软雅黑" panose="020B0503020204020204" pitchFamily="34" charset="-122"/>
                <a:ea typeface="微软雅黑" panose="020B0503020204020204" pitchFamily="34" charset="-122"/>
              </a:rPr>
              <a:t>反映了模型常规的检测能力</a:t>
            </a:r>
            <a:endParaRPr lang="zh-CN" altLang="zh-CN" sz="2000" dirty="0">
              <a:solidFill>
                <a:schemeClr val="accent1"/>
              </a:solidFill>
              <a:latin typeface="微软雅黑" panose="020B0503020204020204" pitchFamily="34" charset="-122"/>
              <a:ea typeface="微软雅黑" panose="020B0503020204020204" pitchFamily="34" charset="-122"/>
            </a:endParaRPr>
          </a:p>
          <a:p>
            <a:pPr eaLnBrk="0" fontAlgn="base">
              <a:lnSpc>
                <a:spcPct val="150000"/>
              </a:lnSpc>
              <a:spcBef>
                <a:spcPct val="0"/>
              </a:spcBef>
              <a:spcAft>
                <a:spcPct val="0"/>
              </a:spcAft>
            </a:pPr>
            <a:r>
              <a:rPr lang="en-US" altLang="zh-CN" sz="2000" b="1" dirty="0">
                <a:solidFill>
                  <a:schemeClr val="accent1"/>
                </a:solidFill>
                <a:latin typeface="微软雅黑" panose="020B0503020204020204" pitchFamily="34" charset="-122"/>
                <a:ea typeface="微软雅黑" panose="020B0503020204020204" pitchFamily="34" charset="-122"/>
              </a:rPr>
              <a:t>mAP@0.5:0.95</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eaLnBrk="0" fontAlgn="base">
              <a:lnSpc>
                <a:spcPct val="150000"/>
              </a:lnSpc>
              <a:spcBef>
                <a:spcPct val="0"/>
              </a:spcBef>
              <a:spcAft>
                <a:spcPct val="0"/>
              </a:spcAft>
            </a:pPr>
            <a:r>
              <a:rPr lang="zh-CN" altLang="zh-CN" sz="2000" dirty="0">
                <a:solidFill>
                  <a:schemeClr val="accent1"/>
                </a:solidFill>
                <a:latin typeface="微软雅黑" panose="020B0503020204020204" pitchFamily="34" charset="-122"/>
                <a:ea typeface="微软雅黑" panose="020B0503020204020204" pitchFamily="34" charset="-122"/>
              </a:rPr>
              <a:t>在 IoU 阈值从 0.5 逐步递增到 0.95（步长 0.05）时，分别计算 10 个 mAP 并求平均</a:t>
            </a:r>
            <a:endParaRPr lang="zh-CN" altLang="zh-CN" sz="2000" dirty="0">
              <a:solidFill>
                <a:schemeClr val="accent1"/>
              </a:solidFill>
              <a:latin typeface="微软雅黑" panose="020B0503020204020204" pitchFamily="34" charset="-122"/>
              <a:ea typeface="微软雅黑" panose="020B0503020204020204" pitchFamily="34" charset="-122"/>
            </a:endParaRPr>
          </a:p>
          <a:p>
            <a:pPr>
              <a:lnSpc>
                <a:spcPct val="150000"/>
              </a:lnSpc>
            </a:pP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50000"/>
              </a:lnSpc>
              <a:spcBef>
                <a:spcPts val="0"/>
              </a:spcBef>
              <a:spcAft>
                <a:spcPts val="0"/>
              </a:spcAft>
              <a:buClrTx/>
              <a:buSzTx/>
              <a:buFontTx/>
              <a:buNone/>
            </a:pP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50000"/>
              </a:lnSpc>
              <a:spcBef>
                <a:spcPts val="0"/>
              </a:spcBef>
              <a:spcAft>
                <a:spcPts val="0"/>
              </a:spcAft>
              <a:buClrTx/>
              <a:buSzTx/>
              <a:buFontTx/>
              <a:buNone/>
            </a:pP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50000"/>
              </a:lnSpc>
              <a:spcBef>
                <a:spcPts val="0"/>
              </a:spcBef>
              <a:spcAft>
                <a:spcPts val="0"/>
              </a:spcAft>
              <a:buClrTx/>
              <a:buSzTx/>
              <a:buFontTx/>
              <a:buNone/>
            </a:pPr>
            <a:endParaRPr lang="zh-CN" altLang="en-US" sz="2000" dirty="0">
              <a:solidFill>
                <a:schemeClr val="accent1"/>
              </a:solidFill>
              <a:latin typeface="微软雅黑" panose="020B0503020204020204" pitchFamily="34" charset="-122"/>
              <a:ea typeface="微软雅黑" panose="020B0503020204020204" pitchFamily="34" charset="-122"/>
            </a:endParaRPr>
          </a:p>
        </p:txBody>
      </p:sp>
      <p:graphicFrame>
        <p:nvGraphicFramePr>
          <p:cNvPr id="7" name="对象 6"/>
          <p:cNvGraphicFramePr>
            <a:graphicFrameLocks noChangeAspect="1"/>
          </p:cNvGraphicFramePr>
          <p:nvPr/>
        </p:nvGraphicFramePr>
        <p:xfrm>
          <a:off x="2817813" y="517208"/>
          <a:ext cx="3526727" cy="1052512"/>
        </p:xfrm>
        <a:graphic>
          <a:graphicData uri="http://schemas.openxmlformats.org/presentationml/2006/ole">
            <mc:AlternateContent xmlns:mc="http://schemas.openxmlformats.org/markup-compatibility/2006">
              <mc:Choice xmlns:v="urn:schemas-microsoft-com:vml" Requires="v">
                <p:oleObj spid="_x0000_s5123" name="Equation" r:id="rId2" imgW="1327785" imgH="398780" progId="Equation.DSMT4">
                  <p:embed/>
                </p:oleObj>
              </mc:Choice>
              <mc:Fallback>
                <p:oleObj name="Equation" r:id="rId2" imgW="1327785" imgH="398780" progId="Equation.DSMT4">
                  <p:embed/>
                  <p:pic>
                    <p:nvPicPr>
                      <p:cNvPr id="0" name="图片 4119"/>
                      <p:cNvPicPr/>
                      <p:nvPr/>
                    </p:nvPicPr>
                    <p:blipFill>
                      <a:blip r:embed="rId3"/>
                      <a:stretch>
                        <a:fillRect/>
                      </a:stretch>
                    </p:blipFill>
                    <p:spPr>
                      <a:xfrm>
                        <a:off x="2817813" y="517208"/>
                        <a:ext cx="3526727" cy="1052512"/>
                      </a:xfrm>
                      <a:prstGeom prst="rect">
                        <a:avLst/>
                      </a:prstGeom>
                    </p:spPr>
                  </p:pic>
                </p:oleObj>
              </mc:Fallback>
            </mc:AlternateContent>
          </a:graphicData>
        </a:graphic>
      </p:graphicFrame>
      <p:graphicFrame>
        <p:nvGraphicFramePr>
          <p:cNvPr id="8" name="对象 7"/>
          <p:cNvGraphicFramePr>
            <a:graphicFrameLocks noChangeAspect="1"/>
          </p:cNvGraphicFramePr>
          <p:nvPr/>
        </p:nvGraphicFramePr>
        <p:xfrm>
          <a:off x="6526213" y="445771"/>
          <a:ext cx="3495935" cy="1192212"/>
        </p:xfrm>
        <a:graphic>
          <a:graphicData uri="http://schemas.openxmlformats.org/presentationml/2006/ole">
            <mc:AlternateContent xmlns:mc="http://schemas.openxmlformats.org/markup-compatibility/2006">
              <mc:Choice xmlns:v="urn:schemas-microsoft-com:vml" Requires="v">
                <p:oleObj spid="_x0000_s5124" name="Equation" r:id="rId4" imgW="1162685" imgH="398780" progId="Equation.DSMT4">
                  <p:embed/>
                </p:oleObj>
              </mc:Choice>
              <mc:Fallback>
                <p:oleObj name="Equation" r:id="rId4" imgW="1162685" imgH="398780" progId="Equation.DSMT4">
                  <p:embed/>
                  <p:pic>
                    <p:nvPicPr>
                      <p:cNvPr id="0" name="图片 4120"/>
                      <p:cNvPicPr/>
                      <p:nvPr/>
                    </p:nvPicPr>
                    <p:blipFill>
                      <a:blip r:embed="rId5"/>
                      <a:stretch>
                        <a:fillRect/>
                      </a:stretch>
                    </p:blipFill>
                    <p:spPr>
                      <a:xfrm>
                        <a:off x="6526213" y="445771"/>
                        <a:ext cx="3495935" cy="1192212"/>
                      </a:xfrm>
                      <a:prstGeom prst="rect">
                        <a:avLst/>
                      </a:prstGeom>
                    </p:spPr>
                  </p:pic>
                </p:oleObj>
              </mc:Fallback>
            </mc:AlternateContent>
          </a:graphicData>
        </a:graphic>
      </p:graphicFrame>
    </p:spTree>
  </p:cSld>
  <p:clrMapOvr>
    <a:masterClrMapping/>
  </p:clrMapOvr>
  <p:transition spd="me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预测结果后处理</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8200" y="1708309"/>
            <a:ext cx="11140214" cy="4351338"/>
          </a:xfrm>
        </p:spPr>
        <p:txBody>
          <a:bodyPr/>
          <a:lstStyle/>
          <a:p>
            <a:pPr marL="0" indent="0">
              <a:buNone/>
            </a:pPr>
            <a:r>
              <a:rPr lang="zh-CN" altLang="en-US" b="1" dirty="0"/>
              <a:t>非极大值抑制 </a:t>
            </a:r>
            <a:r>
              <a:rPr lang="en-US" altLang="zh-CN" b="1" dirty="0"/>
              <a:t>(Non-Maximum Suppression, NMS)</a:t>
            </a:r>
            <a:r>
              <a:rPr lang="zh-CN" altLang="en-US" dirty="0"/>
              <a:t>：</a:t>
            </a:r>
            <a:endParaRPr lang="en-US" altLang="zh-CN" dirty="0"/>
          </a:p>
          <a:p>
            <a:pPr marL="0" indent="0">
              <a:buNone/>
            </a:pPr>
            <a:r>
              <a:rPr lang="zh-CN" altLang="en-US" dirty="0"/>
              <a:t>预测结果中，可能多个预测结果间存在重叠部分，需要保留交并比最大的、去掉非最大的预测结果</a:t>
            </a:r>
            <a:endParaRPr lang="zh-CN" altLang="en-US" dirty="0"/>
          </a:p>
        </p:txBody>
      </p:sp>
      <p:pic>
        <p:nvPicPr>
          <p:cNvPr id="5" name="Picture 5" descr="汽车场景图"/>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2835855" y="2942236"/>
            <a:ext cx="5596945" cy="3731297"/>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p:cNvSpPr/>
          <p:nvPr/>
        </p:nvSpPr>
        <p:spPr>
          <a:xfrm>
            <a:off x="3947160" y="4140200"/>
            <a:ext cx="3550920" cy="1864836"/>
          </a:xfrm>
          <a:prstGeom prst="rect">
            <a:avLst/>
          </a:prstGeom>
          <a:noFill/>
          <a:ln w="28575" cap="flat">
            <a:solidFill>
              <a:srgbClr val="FF0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7" name="矩形 6"/>
          <p:cNvSpPr/>
          <p:nvPr/>
        </p:nvSpPr>
        <p:spPr>
          <a:xfrm>
            <a:off x="4244340" y="3703638"/>
            <a:ext cx="3703320" cy="2113280"/>
          </a:xfrm>
          <a:prstGeom prst="rect">
            <a:avLst/>
          </a:prstGeom>
          <a:noFill/>
          <a:ln w="28575" cap="flat">
            <a:solidFill>
              <a:srgbClr val="FFC00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8" name="矩形 7"/>
          <p:cNvSpPr/>
          <p:nvPr/>
        </p:nvSpPr>
        <p:spPr>
          <a:xfrm>
            <a:off x="4596184" y="3355023"/>
            <a:ext cx="3703320" cy="2113280"/>
          </a:xfrm>
          <a:prstGeom prst="rect">
            <a:avLst/>
          </a:prstGeom>
          <a:noFill/>
          <a:ln w="28575" cap="flat">
            <a:solidFill>
              <a:srgbClr val="00B05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9" name="矩形 8"/>
          <p:cNvSpPr/>
          <p:nvPr/>
        </p:nvSpPr>
        <p:spPr>
          <a:xfrm>
            <a:off x="5099105" y="3083560"/>
            <a:ext cx="3703320" cy="2113280"/>
          </a:xfrm>
          <a:prstGeom prst="rect">
            <a:avLst/>
          </a:prstGeom>
          <a:noFill/>
          <a:ln w="28575" cap="flat">
            <a:solidFill>
              <a:srgbClr val="00B0F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0" name="文本框 9"/>
          <p:cNvSpPr txBox="1"/>
          <p:nvPr/>
        </p:nvSpPr>
        <p:spPr>
          <a:xfrm>
            <a:off x="9356145" y="6140978"/>
            <a:ext cx="71059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en-US" altLang="zh-CN" sz="2400" dirty="0">
                <a:solidFill>
                  <a:schemeClr val="accent1"/>
                </a:solidFill>
                <a:latin typeface="微软雅黑" panose="020B0503020204020204" pitchFamily="34" charset="-122"/>
                <a:ea typeface="微软雅黑" panose="020B0503020204020204" pitchFamily="34" charset="-122"/>
              </a:rPr>
              <a:t>0.97</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1" name="文本框 10"/>
          <p:cNvSpPr txBox="1"/>
          <p:nvPr/>
        </p:nvSpPr>
        <p:spPr>
          <a:xfrm>
            <a:off x="9356145" y="5539919"/>
            <a:ext cx="71059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en-US" altLang="zh-CN" sz="2400" dirty="0">
                <a:solidFill>
                  <a:schemeClr val="accent1"/>
                </a:solidFill>
                <a:latin typeface="微软雅黑" panose="020B0503020204020204" pitchFamily="34" charset="-122"/>
                <a:ea typeface="微软雅黑" panose="020B0503020204020204" pitchFamily="34" charset="-122"/>
              </a:rPr>
              <a:t>0.8</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2" name="文本框 11"/>
          <p:cNvSpPr txBox="1"/>
          <p:nvPr/>
        </p:nvSpPr>
        <p:spPr>
          <a:xfrm>
            <a:off x="9310200" y="4908160"/>
            <a:ext cx="71059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en-US" altLang="zh-CN" sz="2400" dirty="0">
                <a:solidFill>
                  <a:schemeClr val="accent1"/>
                </a:solidFill>
                <a:latin typeface="微软雅黑" panose="020B0503020204020204" pitchFamily="34" charset="-122"/>
                <a:ea typeface="微软雅黑" panose="020B0503020204020204" pitchFamily="34" charset="-122"/>
              </a:rPr>
              <a:t>0.73</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9324528" y="4351417"/>
            <a:ext cx="71059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en-US" altLang="zh-CN" sz="2400" dirty="0">
                <a:solidFill>
                  <a:schemeClr val="accent1"/>
                </a:solidFill>
                <a:latin typeface="微软雅黑" panose="020B0503020204020204" pitchFamily="34" charset="-122"/>
                <a:ea typeface="微软雅黑" panose="020B0503020204020204" pitchFamily="34" charset="-122"/>
              </a:rPr>
              <a:t>0.6</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cxnSp>
        <p:nvCxnSpPr>
          <p:cNvPr id="15" name="直接箭头连接符 14"/>
          <p:cNvCxnSpPr>
            <a:stCxn id="9" idx="3"/>
          </p:cNvCxnSpPr>
          <p:nvPr/>
        </p:nvCxnSpPr>
        <p:spPr>
          <a:xfrm>
            <a:off x="8802425" y="4140200"/>
            <a:ext cx="424125" cy="193596"/>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7" name="直接箭头连接符 16"/>
          <p:cNvCxnSpPr>
            <a:stCxn id="8" idx="3"/>
          </p:cNvCxnSpPr>
          <p:nvPr/>
        </p:nvCxnSpPr>
        <p:spPr>
          <a:xfrm>
            <a:off x="8299504" y="4411663"/>
            <a:ext cx="907996" cy="660955"/>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9" name="直接箭头连接符 18"/>
          <p:cNvCxnSpPr>
            <a:stCxn id="7" idx="3"/>
          </p:cNvCxnSpPr>
          <p:nvPr/>
        </p:nvCxnSpPr>
        <p:spPr>
          <a:xfrm>
            <a:off x="7947660" y="4760278"/>
            <a:ext cx="1229244" cy="979488"/>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21" name="直接箭头连接符 20"/>
          <p:cNvCxnSpPr>
            <a:stCxn id="6" idx="3"/>
          </p:cNvCxnSpPr>
          <p:nvPr/>
        </p:nvCxnSpPr>
        <p:spPr>
          <a:xfrm>
            <a:off x="7498080" y="5072618"/>
            <a:ext cx="1760329" cy="1232536"/>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pic>
        <p:nvPicPr>
          <p:cNvPr id="23" name="图形 22" descr="复选标记 纯色填充"/>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45424" y="5949857"/>
            <a:ext cx="710594" cy="710594"/>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 calcmode="lin" valueType="num">
                                      <p:cBhvr additive="base">
                                        <p:cTn id="7" dur="500" fill="hold"/>
                                        <p:tgtEl>
                                          <p:spTgt spid="23"/>
                                        </p:tgtEl>
                                        <p:attrNameLst>
                                          <p:attrName>ppt_x</p:attrName>
                                        </p:attrNameLst>
                                      </p:cBhvr>
                                      <p:tavLst>
                                        <p:tav tm="0">
                                          <p:val>
                                            <p:strVal val="#ppt_x"/>
                                          </p:val>
                                        </p:tav>
                                        <p:tav tm="100000">
                                          <p:val>
                                            <p:strVal val="#ppt_x"/>
                                          </p:val>
                                        </p:tav>
                                      </p:tavLst>
                                    </p:anim>
                                    <p:anim calcmode="lin" valueType="num">
                                      <p:cBhvr additive="base">
                                        <p:cTn id="8"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idx="1"/>
          </p:nvPr>
        </p:nvSpPr>
        <p:spPr>
          <a:xfrm>
            <a:off x="0" y="1690370"/>
            <a:ext cx="12192000" cy="2219960"/>
          </a:xfrm>
        </p:spPr>
        <p:txBody>
          <a:bodyPr>
            <a:normAutofit fontScale="90000"/>
          </a:bodyPr>
          <a:lstStyle/>
          <a:p>
            <a:pPr>
              <a:lnSpc>
                <a:spcPct val="130000"/>
              </a:lnSpc>
              <a:buFont typeface="Wingdings" panose="05000000000000000000" charset="0"/>
              <a:buChar char="ü"/>
            </a:pPr>
            <a:r>
              <a:rPr kumimoji="1" lang="en-US" altLang="zh-CN" b="1" dirty="0"/>
              <a:t> </a:t>
            </a:r>
            <a:r>
              <a:rPr kumimoji="1" lang="zh-CN" altLang="en-US" b="1" dirty="0"/>
              <a:t>双阶段目标检测</a:t>
            </a:r>
            <a:r>
              <a:rPr kumimoji="1" lang="en-US" altLang="zh-CN" b="1" dirty="0"/>
              <a:t> Two</a:t>
            </a:r>
            <a:r>
              <a:rPr lang="zh-CN" altLang="en-US" b="1" dirty="0">
                <a:cs typeface="Arial" panose="020B0604020202020204" pitchFamily="34" charset="0"/>
                <a:sym typeface="+mn-ea"/>
              </a:rPr>
              <a:t>-Stage</a:t>
            </a:r>
            <a:r>
              <a:rPr kumimoji="1" lang="zh-CN" altLang="en-US" dirty="0"/>
              <a:t>：首先生成可能包含物体的</a:t>
            </a:r>
            <a:r>
              <a:rPr kumimoji="1" lang="en-US" altLang="zh-CN" dirty="0"/>
              <a:t>Region Proposals</a:t>
            </a:r>
            <a:r>
              <a:rPr kumimoji="1" lang="zh-CN" altLang="en-US" dirty="0"/>
              <a:t>（候选区域）</a:t>
            </a:r>
            <a:r>
              <a:rPr kumimoji="1" lang="en-US" altLang="zh-CN" dirty="0"/>
              <a:t>，</a:t>
            </a:r>
            <a:r>
              <a:rPr kumimoji="1" lang="zh-CN" altLang="en-US" dirty="0"/>
              <a:t>再对这些区域进行分类和边界框的精确微调</a:t>
            </a:r>
            <a:endParaRPr kumimoji="1" lang="zh-CN" altLang="en-US" dirty="0"/>
          </a:p>
          <a:p>
            <a:pPr marL="114300" indent="-342900" algn="l">
              <a:lnSpc>
                <a:spcPct val="130000"/>
              </a:lnSpc>
              <a:buSzTx/>
              <a:buFont typeface="Wingdings" panose="05000000000000000000" charset="0"/>
              <a:buChar char="ü"/>
            </a:pPr>
            <a:r>
              <a:rPr kumimoji="1" lang="zh-CN" altLang="en-US" b="1" dirty="0"/>
              <a:t>单阶段目标检测</a:t>
            </a:r>
            <a:r>
              <a:rPr kumimoji="1" lang="en-US" altLang="zh-CN" b="1" dirty="0"/>
              <a:t> One</a:t>
            </a:r>
            <a:r>
              <a:rPr lang="zh-CN" altLang="en-US" b="1" dirty="0">
                <a:cs typeface="Arial" panose="020B0604020202020204" pitchFamily="34" charset="0"/>
                <a:sym typeface="+mn-ea"/>
              </a:rPr>
              <a:t>-Stage</a:t>
            </a:r>
            <a:r>
              <a:rPr kumimoji="1" lang="zh-CN" altLang="en-US" dirty="0"/>
              <a:t>：单阶段算法摒弃了单独的候选区域生成步骤，直接将目标检测转化为一个整体的回归问题，网络只需一次前向传播即可同时输出物体的类别和位置</a:t>
            </a:r>
            <a:endParaRPr kumimoji="1" lang="zh-CN" altLang="en-US" dirty="0"/>
          </a:p>
          <a:p>
            <a:pPr marL="0" indent="0">
              <a:buNone/>
            </a:pPr>
            <a:endParaRPr kumimoji="1" lang="zh-CN" altLang="en-US" dirty="0"/>
          </a:p>
        </p:txBody>
      </p:sp>
      <p:sp>
        <p:nvSpPr>
          <p:cNvPr id="4" name="灯片编号占位符 3"/>
          <p:cNvSpPr>
            <a:spLocks noGrp="1"/>
          </p:cNvSpPr>
          <p:nvPr>
            <p:ph type="sldNum" sz="quarter" idx="2"/>
          </p:nvPr>
        </p:nvSpPr>
        <p:spPr/>
        <p:txBody>
          <a:bodyPr/>
          <a:lstStyle/>
          <a:p>
            <a:fld id="{86CB4B4D-7CA3-9044-876B-883B54F8677D}" type="slidenum">
              <a:rPr lang="en-US" altLang="zh-CN" smtClean="0"/>
            </a:fld>
            <a:endParaRPr lang="zh-CN" altLang="en-US"/>
          </a:p>
        </p:txBody>
      </p:sp>
      <p:graphicFrame>
        <p:nvGraphicFramePr>
          <p:cNvPr id="6" name="表格 5"/>
          <p:cNvGraphicFramePr>
            <a:graphicFrameLocks noGrp="1"/>
          </p:cNvGraphicFramePr>
          <p:nvPr/>
        </p:nvGraphicFramePr>
        <p:xfrm>
          <a:off x="351790" y="3900170"/>
          <a:ext cx="11487785" cy="2773680"/>
        </p:xfrm>
        <a:graphic>
          <a:graphicData uri="http://schemas.openxmlformats.org/drawingml/2006/table">
            <a:tbl>
              <a:tblPr firstRow="1" firstCol="1">
                <a:tableStyleId>{CF821DB8-F4EB-4A41-A1BA-3FCAFE7338EE}</a:tableStyleId>
              </a:tblPr>
              <a:tblGrid>
                <a:gridCol w="2437765"/>
                <a:gridCol w="4404995"/>
                <a:gridCol w="4645025"/>
              </a:tblGrid>
              <a:tr h="0">
                <a:tc>
                  <a:txBody>
                    <a:bodyPr/>
                    <a:lstStyle/>
                    <a:p>
                      <a:pPr marL="0" algn="ctr">
                        <a:spcBef>
                          <a:spcPts val="0"/>
                        </a:spcBef>
                        <a:spcAft>
                          <a:spcPts val="0"/>
                        </a:spcAft>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特性 / 维度</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spcBef>
                          <a:spcPts val="0"/>
                        </a:spcBef>
                        <a:spcAft>
                          <a:spcPts val="0"/>
                        </a:spcAft>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单阶段目标检测算法 (One-Stage)</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spcBef>
                          <a:spcPts val="0"/>
                        </a:spcBef>
                        <a:spcAft>
                          <a:spcPts val="0"/>
                        </a:spcAft>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双阶段目标检测算法 (Two-Stage)</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代表算法</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Times New Roman" panose="02020603050405020304" pitchFamily="18" charset="0"/>
                        </a:rPr>
                        <a:t>YOLO, DETR</a:t>
                      </a:r>
                      <a:endParaRPr lang="en-US" altLang="zh-CN"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dirty="0">
                          <a:latin typeface="微软雅黑" panose="020B0503020204020204" pitchFamily="34" charset="-122"/>
                          <a:ea typeface="微软雅黑" panose="020B0503020204020204" pitchFamily="34" charset="-122"/>
                          <a:cs typeface="Arial" panose="020B0604020202020204" pitchFamily="34" charset="0"/>
                        </a:rPr>
                        <a:t>R-CNN, Fast R-CNN, Faster R-CNN</a:t>
                      </a:r>
                      <a:endParaRPr lang="en-US" alt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algn="ctr">
                        <a:spcBef>
                          <a:spcPts val="0"/>
                        </a:spcBef>
                        <a:spcAft>
                          <a:spcPts val="0"/>
                        </a:spcAft>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准确性与鲁棒性</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较低</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sz="2000" dirty="0">
                          <a:latin typeface="微软雅黑" panose="020B0503020204020204" pitchFamily="34" charset="-122"/>
                          <a:ea typeface="微软雅黑" panose="020B0503020204020204" pitchFamily="34" charset="-122"/>
                          <a:cs typeface="Arial" panose="020B0604020202020204" pitchFamily="34" charset="0"/>
                        </a:rPr>
                        <a:t>较高</a:t>
                      </a:r>
                      <a:endParaRPr lang="zh-CN"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algn="ctr">
                        <a:spcBef>
                          <a:spcPts val="0"/>
                        </a:spcBef>
                        <a:spcAft>
                          <a:spcPts val="0"/>
                        </a:spcAft>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处理速度</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快</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慢</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尺度与旋转适应性</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相对较弱</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更强</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计算资源消耗</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较少</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较高</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rPr>
                        <a:t>典型应用场景</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Times New Roman" panose="02020603050405020304" pitchFamily="18" charset="0"/>
                        </a:rPr>
                        <a:t>侧重实时性的场景</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dirty="0">
                          <a:latin typeface="微软雅黑" panose="020B0503020204020204" pitchFamily="34" charset="-122"/>
                          <a:ea typeface="微软雅黑" panose="020B0503020204020204" pitchFamily="34" charset="-122"/>
                          <a:cs typeface="Arial" panose="020B0604020202020204" pitchFamily="34" charset="0"/>
                        </a:rPr>
                        <a:t>侧重高精度的场景</a:t>
                      </a:r>
                      <a:endParaRPr lang="zh-CN" altLang="en-US" sz="200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
        <p:nvSpPr>
          <p:cNvPr id="9" name="标题 8"/>
          <p:cNvSpPr>
            <a:spLocks noGrp="1"/>
          </p:cNvSpPr>
          <p:nvPr>
            <p:ph type="title"/>
          </p:nvPr>
        </p:nvSpPr>
        <p:spPr/>
        <p:txBody>
          <a:bodyPr/>
          <a:lstStyle/>
          <a:p>
            <a:r>
              <a:rPr lang="zh-CN" altLang="en-US" dirty="0"/>
              <a:t>图像检测方法</a:t>
            </a:r>
            <a:endParaRPr lang="zh-CN" altLang="en-US" dirty="0"/>
          </a:p>
        </p:txBody>
      </p:sp>
    </p:spTree>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R-CNN</a:t>
            </a:r>
            <a:endParaRPr lang="zh-CN" altLang="en-US" dirty="0"/>
          </a:p>
        </p:txBody>
      </p:sp>
      <p:sp>
        <p:nvSpPr>
          <p:cNvPr id="5" name="文本占位符 4"/>
          <p:cNvSpPr>
            <a:spLocks noGrp="1"/>
          </p:cNvSpPr>
          <p:nvPr>
            <p:ph type="body" idx="1"/>
          </p:nvPr>
        </p:nvSpPr>
        <p:spPr>
          <a:xfrm>
            <a:off x="838200" y="1419118"/>
            <a:ext cx="11140214" cy="5515082"/>
          </a:xfrm>
        </p:spPr>
        <p:txBody>
          <a:bodyPr>
            <a:normAutofit fontScale="92500" lnSpcReduction="20000"/>
          </a:bodyPr>
          <a:lstStyle/>
          <a:p>
            <a:pPr marL="0" indent="0">
              <a:lnSpc>
                <a:spcPct val="160000"/>
              </a:lnSpc>
              <a:buNone/>
            </a:pPr>
            <a:r>
              <a:rPr lang="en-US" altLang="zh-CN" sz="1900" dirty="0"/>
              <a:t>R-CNN</a:t>
            </a:r>
            <a:r>
              <a:rPr lang="zh-CN" altLang="en-US" sz="1900" dirty="0"/>
              <a:t>（</a:t>
            </a:r>
            <a:r>
              <a:rPr lang="en-US" altLang="zh-CN" sz="1900" dirty="0"/>
              <a:t>Regions with CNN features</a:t>
            </a:r>
            <a:r>
              <a:rPr lang="zh-CN" altLang="en-US" sz="1900" dirty="0"/>
              <a:t>）是目标检测领域的一座里程碑，它真正将深度学习（特别是卷积神经网络 </a:t>
            </a:r>
            <a:r>
              <a:rPr lang="en-US" altLang="zh-CN" sz="1900" dirty="0"/>
              <a:t>CNN</a:t>
            </a:r>
            <a:r>
              <a:rPr lang="zh-CN" altLang="en-US" sz="1900" dirty="0"/>
              <a:t>）引入了目标检测任务中</a:t>
            </a:r>
            <a:endParaRPr lang="en-US" altLang="zh-CN" sz="1900" dirty="0"/>
          </a:p>
          <a:p>
            <a:pPr marL="0" indent="0">
              <a:lnSpc>
                <a:spcPct val="160000"/>
              </a:lnSpc>
              <a:buNone/>
            </a:pPr>
            <a:r>
              <a:rPr lang="en-US" altLang="zh-CN" sz="2200" b="1" dirty="0"/>
              <a:t>&lt;R-CNN </a:t>
            </a:r>
            <a:r>
              <a:rPr lang="zh-CN" altLang="en-US" sz="2200" b="1" dirty="0"/>
              <a:t>图像检测具体过程</a:t>
            </a:r>
            <a:r>
              <a:rPr lang="en-US" altLang="zh-CN" sz="2200" b="1" dirty="0"/>
              <a:t>&gt;</a:t>
            </a:r>
            <a:endParaRPr lang="en-US" altLang="zh-CN" sz="2200" b="1" dirty="0"/>
          </a:p>
          <a:p>
            <a:r>
              <a:rPr lang="zh-CN" altLang="en-US" sz="1900" b="1" dirty="0"/>
              <a:t>生成候选区域</a:t>
            </a:r>
            <a:endParaRPr lang="en-US" altLang="zh-CN" sz="1900" b="1" dirty="0"/>
          </a:p>
          <a:p>
            <a:r>
              <a:rPr lang="zh-CN" altLang="en-US" sz="1900" b="1" dirty="0"/>
              <a:t>特征提取</a:t>
            </a:r>
            <a:r>
              <a:rPr lang="zh-CN" altLang="en-US" sz="1900" dirty="0"/>
              <a:t>（</a:t>
            </a:r>
            <a:r>
              <a:rPr lang="en-US" altLang="zh-CN" sz="1900" dirty="0"/>
              <a:t>CNN</a:t>
            </a:r>
            <a:r>
              <a:rPr lang="zh-CN" altLang="en-US" sz="1900" dirty="0"/>
              <a:t>发挥作用）</a:t>
            </a:r>
            <a:endParaRPr lang="en-US" altLang="zh-CN" sz="1900" dirty="0"/>
          </a:p>
          <a:p>
            <a:pPr lvl="1"/>
            <a:r>
              <a:rPr lang="zh-CN" altLang="en-US" sz="1900" dirty="0"/>
              <a:t>把所有候选区域强行缩放成统一大小</a:t>
            </a:r>
            <a:endParaRPr lang="en-US" altLang="zh-CN" sz="1900" dirty="0"/>
          </a:p>
          <a:p>
            <a:pPr lvl="1"/>
            <a:r>
              <a:rPr lang="zh-CN" altLang="en-US" sz="1900" dirty="0"/>
              <a:t>将候选区域依次送入到</a:t>
            </a:r>
            <a:r>
              <a:rPr lang="en-US" altLang="zh-CN" sz="1900" dirty="0"/>
              <a:t>CNN</a:t>
            </a:r>
            <a:endParaRPr lang="en-US" altLang="zh-CN" sz="1900" dirty="0"/>
          </a:p>
          <a:p>
            <a:pPr lvl="1"/>
            <a:r>
              <a:rPr lang="zh-CN" altLang="en-US" sz="1900" dirty="0"/>
              <a:t>网络截取全连接层前的部分，不输出概率，得到特征向量</a:t>
            </a:r>
            <a:endParaRPr lang="en-US" altLang="zh-CN" sz="1900" dirty="0"/>
          </a:p>
          <a:p>
            <a:r>
              <a:rPr lang="zh-CN" altLang="en-US" sz="1900" b="1" dirty="0"/>
              <a:t>支持向量机</a:t>
            </a:r>
            <a:r>
              <a:rPr lang="en-US" altLang="zh-CN" sz="1900" b="1" dirty="0"/>
              <a:t>SVM</a:t>
            </a:r>
            <a:r>
              <a:rPr lang="zh-CN" altLang="en-US" sz="1900" b="1" dirty="0"/>
              <a:t>分类</a:t>
            </a:r>
            <a:endParaRPr lang="en-US" altLang="zh-CN" sz="1900" b="1" dirty="0"/>
          </a:p>
          <a:p>
            <a:pPr lvl="1"/>
            <a:r>
              <a:rPr lang="zh-CN" altLang="en-US" sz="1900" dirty="0"/>
              <a:t>针对每一个类别，单独训练了一个线性支持向量机（</a:t>
            </a:r>
            <a:r>
              <a:rPr lang="en-US" altLang="zh-CN" sz="1900" dirty="0"/>
              <a:t>SVM</a:t>
            </a:r>
            <a:r>
              <a:rPr lang="zh-CN" altLang="en-US" sz="1900" dirty="0"/>
              <a:t>）</a:t>
            </a:r>
            <a:endParaRPr lang="en-US" altLang="zh-CN" sz="1900" dirty="0"/>
          </a:p>
          <a:p>
            <a:pPr lvl="1"/>
            <a:r>
              <a:rPr lang="zh-CN" altLang="en-US" sz="1900" dirty="0"/>
              <a:t>判断该候选框属于什么</a:t>
            </a:r>
            <a:endParaRPr lang="en-US" altLang="zh-CN" sz="1900" dirty="0"/>
          </a:p>
          <a:p>
            <a:pPr lvl="1"/>
            <a:r>
              <a:rPr lang="zh-CN" altLang="en-US" sz="1900" dirty="0"/>
              <a:t>针对某一个类别，用</a:t>
            </a:r>
            <a:r>
              <a:rPr lang="en-US" altLang="zh-CN" sz="1900" dirty="0"/>
              <a:t>NMS</a:t>
            </a:r>
            <a:r>
              <a:rPr lang="zh-CN" altLang="en-US" sz="1900" dirty="0"/>
              <a:t>去除冗余的重叠框</a:t>
            </a:r>
            <a:endParaRPr lang="en-US" altLang="zh-CN" sz="1900" dirty="0"/>
          </a:p>
          <a:p>
            <a:r>
              <a:rPr lang="zh-CN" altLang="en-US" sz="1900" b="1" dirty="0"/>
              <a:t>边界框回归</a:t>
            </a:r>
            <a:endParaRPr lang="en-US" altLang="zh-CN" sz="1900" b="1" dirty="0"/>
          </a:p>
          <a:p>
            <a:pPr lvl="1"/>
            <a:r>
              <a:rPr lang="en-US" altLang="zh-CN" sz="1900" dirty="0"/>
              <a:t>R-CNN </a:t>
            </a:r>
            <a:r>
              <a:rPr lang="zh-CN" altLang="en-US" sz="1900" dirty="0"/>
              <a:t>训练了一个专门的线性回归模型</a:t>
            </a:r>
            <a:endParaRPr lang="en-US" altLang="zh-CN" sz="1900" dirty="0"/>
          </a:p>
          <a:p>
            <a:pPr lvl="1"/>
            <a:r>
              <a:rPr lang="zh-CN" altLang="en-US" sz="1900" dirty="0"/>
              <a:t>对候选框位置进行微调</a:t>
            </a:r>
            <a:endParaRPr lang="en-US" altLang="zh-CN" sz="1900" dirty="0"/>
          </a:p>
          <a:p>
            <a:pPr lvl="1"/>
            <a:endParaRPr lang="en-US" altLang="zh-CN" sz="2000" dirty="0"/>
          </a:p>
        </p:txBody>
      </p:sp>
      <p:sp>
        <p:nvSpPr>
          <p:cNvPr id="3" name="灯片编号占位符 2"/>
          <p:cNvSpPr>
            <a:spLocks noGrp="1"/>
          </p:cNvSpPr>
          <p:nvPr>
            <p:ph type="sldNum" sz="quarter" idx="2"/>
          </p:nvPr>
        </p:nvSpPr>
        <p:spPr>
          <a:xfrm>
            <a:off x="11103611" y="6401118"/>
            <a:ext cx="250190" cy="275590"/>
          </a:xfrm>
        </p:spPr>
        <p:txBody>
          <a:bodyPr/>
          <a:lstStyle/>
          <a:p>
            <a:fld id="{86CB4B4D-7CA3-9044-876B-883B54F8677D}" type="slidenum">
              <a:rPr/>
            </a:fld>
            <a:endParaRPr/>
          </a:p>
        </p:txBody>
      </p:sp>
      <p:pic>
        <p:nvPicPr>
          <p:cNvPr id="6" name="图片 5"/>
          <p:cNvPicPr>
            <a:picLocks noChangeAspect="1"/>
          </p:cNvPicPr>
          <p:nvPr/>
        </p:nvPicPr>
        <p:blipFill>
          <a:blip r:embed="rId1"/>
          <a:stretch>
            <a:fillRect/>
          </a:stretch>
        </p:blipFill>
        <p:spPr>
          <a:xfrm>
            <a:off x="8264248" y="2571219"/>
            <a:ext cx="3599866" cy="3641726"/>
          </a:xfrm>
          <a:prstGeom prst="rect">
            <a:avLst/>
          </a:prstGeom>
        </p:spPr>
      </p:pic>
    </p:spTree>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1605" y="98425"/>
            <a:ext cx="10515600" cy="1325563"/>
          </a:xfrm>
        </p:spPr>
        <p:txBody>
          <a:bodyPr/>
          <a:lstStyle/>
          <a:p>
            <a:r>
              <a:rPr lang="zh-CN" altLang="en-US" dirty="0">
                <a:solidFill>
                  <a:srgbClr val="FF0000"/>
                </a:solidFill>
              </a:rPr>
              <a:t>知识点回忆</a:t>
            </a:r>
            <a:r>
              <a:rPr lang="zh-CN" altLang="en-US" dirty="0"/>
              <a:t>：线性</a:t>
            </a:r>
            <a:r>
              <a:rPr lang="en-US" altLang="zh-CN" dirty="0"/>
              <a:t>SVM</a:t>
            </a:r>
            <a:r>
              <a:rPr lang="zh-CN" altLang="en-US" dirty="0"/>
              <a:t>模型</a:t>
            </a:r>
            <a:endParaRPr lang="zh-CN" altLang="en-US" dirty="0"/>
          </a:p>
        </p:txBody>
      </p:sp>
      <p:sp>
        <p:nvSpPr>
          <p:cNvPr id="3" name="文本占位符 2"/>
          <p:cNvSpPr>
            <a:spLocks noGrp="1"/>
          </p:cNvSpPr>
          <p:nvPr>
            <p:ph type="body" idx="1"/>
          </p:nvPr>
        </p:nvSpPr>
        <p:spPr>
          <a:xfrm>
            <a:off x="141922" y="1616392"/>
            <a:ext cx="11140214" cy="4351338"/>
          </a:xfrm>
        </p:spPr>
        <p:txBody>
          <a:bodyPr/>
          <a:lstStyle/>
          <a:p>
            <a:pPr marL="0" indent="0">
              <a:buNone/>
            </a:pPr>
            <a:r>
              <a:rPr lang="zh-CN" altLang="en-US"/>
              <a:t>寻找一个超平面</a:t>
            </a:r>
            <a:r>
              <a:rPr lang="en-US" altLang="zh-CN"/>
              <a:t>                       </a:t>
            </a:r>
            <a:r>
              <a:rPr lang="zh-CN" altLang="en-US"/>
              <a:t>使得距离这个平面最近的样本点（这些点被称为支持向量）到平面的距离最大化</a:t>
            </a:r>
            <a:endParaRPr lang="zh-CN" altLang="en-US"/>
          </a:p>
          <a:p>
            <a:pPr marL="0" indent="0">
              <a:buNone/>
            </a:pPr>
            <a:endParaRPr lang="zh-CN" altLang="en-US"/>
          </a:p>
          <a:p>
            <a:pPr marL="0" indent="0">
              <a:buNone/>
            </a:pPr>
            <a:endParaRPr lang="zh-CN" altLang="en-US"/>
          </a:p>
          <a:p>
            <a:pPr marL="0" indent="0">
              <a:buNone/>
            </a:pPr>
            <a:r>
              <a:rPr lang="zh-CN" altLang="en-US"/>
              <a:t>将真实标签与得到</a:t>
            </a:r>
            <a:r>
              <a:rPr lang="en-US" altLang="zh-CN"/>
              <a:t>              </a:t>
            </a:r>
            <a:r>
              <a:rPr lang="zh-CN" altLang="en-US"/>
              <a:t>一个关键指标</a:t>
            </a:r>
            <a:endParaRPr lang="zh-CN" altLang="en-US"/>
          </a:p>
        </p:txBody>
      </p:sp>
      <p:sp>
        <p:nvSpPr>
          <p:cNvPr id="4" name="灯片编号占位符 3"/>
          <p:cNvSpPr>
            <a:spLocks noGrp="1"/>
          </p:cNvSpPr>
          <p:nvPr>
            <p:ph type="sldNum" sz="quarter" idx="2"/>
          </p:nvPr>
        </p:nvSpPr>
        <p:spPr/>
        <p:txBody>
          <a:bodyPr/>
          <a:lstStyle/>
          <a:p>
            <a:fld id="{86CB4B4D-7CA3-9044-876B-883B54F8677D}" type="slidenum">
              <a:rPr/>
            </a:fld>
            <a:endParaRPr/>
          </a:p>
        </p:txBody>
      </p:sp>
      <p:graphicFrame>
        <p:nvGraphicFramePr>
          <p:cNvPr id="5" name="对象 4"/>
          <p:cNvGraphicFramePr/>
          <p:nvPr/>
        </p:nvGraphicFramePr>
        <p:xfrm>
          <a:off x="2566670" y="1616075"/>
          <a:ext cx="1570355" cy="381635"/>
        </p:xfrm>
        <a:graphic>
          <a:graphicData uri="http://schemas.openxmlformats.org/presentationml/2006/ole">
            <mc:AlternateContent xmlns:mc="http://schemas.openxmlformats.org/markup-compatibility/2006">
              <mc:Choice xmlns:v="urn:schemas-microsoft-com:vml" Requires="v">
                <p:oleObj spid="_x0000_s6268" name="" r:id="rId1" imgW="1881505" imgH="454660" progId="Equation.DSMT4">
                  <p:embed/>
                </p:oleObj>
              </mc:Choice>
              <mc:Fallback>
                <p:oleObj name="" r:id="rId1" imgW="1881505" imgH="454660" progId="Equation.DSMT4">
                  <p:embed/>
                  <p:pic>
                    <p:nvPicPr>
                      <p:cNvPr id="0" name="对象 4"/>
                      <p:cNvPicPr/>
                      <p:nvPr/>
                    </p:nvPicPr>
                    <p:blipFill>
                      <a:blip r:embed="rId2"/>
                      <a:stretch>
                        <a:fillRect/>
                      </a:stretch>
                    </p:blipFill>
                    <p:spPr>
                      <a:xfrm>
                        <a:off x="2566670" y="1616075"/>
                        <a:ext cx="1570355" cy="381635"/>
                      </a:xfrm>
                      <a:prstGeom prst="rect">
                        <a:avLst/>
                      </a:prstGeom>
                    </p:spPr>
                  </p:pic>
                </p:oleObj>
              </mc:Fallback>
            </mc:AlternateContent>
          </a:graphicData>
        </a:graphic>
      </p:graphicFrame>
      <p:pic>
        <p:nvPicPr>
          <p:cNvPr id="7" name="图片 6"/>
          <p:cNvPicPr>
            <a:picLocks noChangeAspect="1"/>
          </p:cNvPicPr>
          <p:nvPr/>
        </p:nvPicPr>
        <p:blipFill>
          <a:blip r:embed="rId3"/>
          <a:stretch>
            <a:fillRect/>
          </a:stretch>
        </p:blipFill>
        <p:spPr>
          <a:xfrm>
            <a:off x="5368925" y="114300"/>
            <a:ext cx="3067050" cy="1489075"/>
          </a:xfrm>
          <a:prstGeom prst="rect">
            <a:avLst/>
          </a:prstGeom>
        </p:spPr>
      </p:pic>
      <p:graphicFrame>
        <p:nvGraphicFramePr>
          <p:cNvPr id="8" name="对象 7"/>
          <p:cNvGraphicFramePr/>
          <p:nvPr/>
        </p:nvGraphicFramePr>
        <p:xfrm>
          <a:off x="1999615" y="2571115"/>
          <a:ext cx="3611880" cy="563880"/>
        </p:xfrm>
        <a:graphic>
          <a:graphicData uri="http://schemas.openxmlformats.org/presentationml/2006/ole">
            <mc:AlternateContent xmlns:mc="http://schemas.openxmlformats.org/markup-compatibility/2006">
              <mc:Choice xmlns:v="urn:schemas-microsoft-com:vml" Requires="v">
                <p:oleObj spid="_x0000_s6269" name="" r:id="rId4" imgW="2860675" imgH="434975" progId="Equation.DSMT4">
                  <p:embed/>
                </p:oleObj>
              </mc:Choice>
              <mc:Fallback>
                <p:oleObj name="" r:id="rId4" imgW="2860675" imgH="434975" progId="Equation.DSMT4">
                  <p:embed/>
                  <p:pic>
                    <p:nvPicPr>
                      <p:cNvPr id="0" name="对象 7"/>
                      <p:cNvPicPr/>
                      <p:nvPr/>
                    </p:nvPicPr>
                    <p:blipFill>
                      <a:blip r:embed="rId5"/>
                      <a:stretch>
                        <a:fillRect/>
                      </a:stretch>
                    </p:blipFill>
                    <p:spPr>
                      <a:xfrm>
                        <a:off x="1999615" y="2571115"/>
                        <a:ext cx="3611880" cy="563880"/>
                      </a:xfrm>
                      <a:prstGeom prst="rect">
                        <a:avLst/>
                      </a:prstGeom>
                    </p:spPr>
                  </p:pic>
                </p:oleObj>
              </mc:Fallback>
            </mc:AlternateContent>
          </a:graphicData>
        </a:graphic>
      </p:graphicFrame>
      <p:graphicFrame>
        <p:nvGraphicFramePr>
          <p:cNvPr id="10" name="对象 9"/>
          <p:cNvGraphicFramePr/>
          <p:nvPr/>
        </p:nvGraphicFramePr>
        <p:xfrm>
          <a:off x="2662555" y="3303905"/>
          <a:ext cx="1181735" cy="368935"/>
        </p:xfrm>
        <a:graphic>
          <a:graphicData uri="http://schemas.openxmlformats.org/presentationml/2006/ole">
            <mc:AlternateContent xmlns:mc="http://schemas.openxmlformats.org/markup-compatibility/2006">
              <mc:Choice xmlns:v="urn:schemas-microsoft-com:vml" Requires="v">
                <p:oleObj spid="_x0000_s6270" name="" r:id="rId6" imgW="1377315" imgH="506730" progId="Equation.DSMT4">
                  <p:embed/>
                </p:oleObj>
              </mc:Choice>
              <mc:Fallback>
                <p:oleObj name="" r:id="rId6" imgW="1377315" imgH="506730" progId="Equation.DSMT4">
                  <p:embed/>
                  <p:pic>
                    <p:nvPicPr>
                      <p:cNvPr id="0" name="对象 9"/>
                      <p:cNvPicPr/>
                      <p:nvPr/>
                    </p:nvPicPr>
                    <p:blipFill>
                      <a:blip r:embed="rId7"/>
                      <a:stretch>
                        <a:fillRect/>
                      </a:stretch>
                    </p:blipFill>
                    <p:spPr>
                      <a:xfrm>
                        <a:off x="2662555" y="3303905"/>
                        <a:ext cx="1181735" cy="368935"/>
                      </a:xfrm>
                      <a:prstGeom prst="rect">
                        <a:avLst/>
                      </a:prstGeom>
                    </p:spPr>
                  </p:pic>
                </p:oleObj>
              </mc:Fallback>
            </mc:AlternateContent>
          </a:graphicData>
        </a:graphic>
      </p:graphicFrame>
      <p:graphicFrame>
        <p:nvGraphicFramePr>
          <p:cNvPr id="12" name="对象 11"/>
          <p:cNvGraphicFramePr/>
          <p:nvPr/>
        </p:nvGraphicFramePr>
        <p:xfrm>
          <a:off x="5695950" y="3221990"/>
          <a:ext cx="1316990" cy="532130"/>
        </p:xfrm>
        <a:graphic>
          <a:graphicData uri="http://schemas.openxmlformats.org/presentationml/2006/ole">
            <mc:AlternateContent xmlns:mc="http://schemas.openxmlformats.org/markup-compatibility/2006">
              <mc:Choice xmlns:v="urn:schemas-microsoft-com:vml" Requires="v">
                <p:oleObj spid="_x0000_s6271" name="" r:id="rId8" imgW="853440" imgH="466725" progId="Equation.DSMT4">
                  <p:embed/>
                </p:oleObj>
              </mc:Choice>
              <mc:Fallback>
                <p:oleObj name="" r:id="rId8" imgW="853440" imgH="466725" progId="Equation.DSMT4">
                  <p:embed/>
                  <p:pic>
                    <p:nvPicPr>
                      <p:cNvPr id="0" name="对象 11"/>
                      <p:cNvPicPr/>
                      <p:nvPr/>
                    </p:nvPicPr>
                    <p:blipFill>
                      <a:blip r:embed="rId9"/>
                      <a:stretch>
                        <a:fillRect/>
                      </a:stretch>
                    </p:blipFill>
                    <p:spPr>
                      <a:xfrm>
                        <a:off x="5695950" y="3221990"/>
                        <a:ext cx="1316990" cy="532130"/>
                      </a:xfrm>
                      <a:prstGeom prst="rect">
                        <a:avLst/>
                      </a:prstGeom>
                    </p:spPr>
                  </p:pic>
                </p:oleObj>
              </mc:Fallback>
            </mc:AlternateContent>
          </a:graphicData>
        </a:graphic>
      </p:graphicFrame>
      <p:graphicFrame>
        <p:nvGraphicFramePr>
          <p:cNvPr id="14" name="对象 13"/>
          <p:cNvGraphicFramePr/>
          <p:nvPr/>
        </p:nvGraphicFramePr>
        <p:xfrm>
          <a:off x="377190" y="3841750"/>
          <a:ext cx="1499235" cy="393065"/>
        </p:xfrm>
        <a:graphic>
          <a:graphicData uri="http://schemas.openxmlformats.org/presentationml/2006/ole">
            <mc:AlternateContent xmlns:mc="http://schemas.openxmlformats.org/markup-compatibility/2006">
              <mc:Choice xmlns:v="urn:schemas-microsoft-com:vml" Requires="v">
                <p:oleObj spid="_x0000_s6272" name="" r:id="rId10" imgW="1838325" imgH="476250" progId="Equation.DSMT4">
                  <p:embed/>
                </p:oleObj>
              </mc:Choice>
              <mc:Fallback>
                <p:oleObj name="" r:id="rId10" imgW="1838325" imgH="476250" progId="Equation.DSMT4">
                  <p:embed/>
                  <p:pic>
                    <p:nvPicPr>
                      <p:cNvPr id="0" name="对象 13"/>
                      <p:cNvPicPr/>
                      <p:nvPr/>
                    </p:nvPicPr>
                    <p:blipFill>
                      <a:blip r:embed="rId11"/>
                      <a:stretch>
                        <a:fillRect/>
                      </a:stretch>
                    </p:blipFill>
                    <p:spPr>
                      <a:xfrm>
                        <a:off x="377190" y="3841750"/>
                        <a:ext cx="1499235" cy="393065"/>
                      </a:xfrm>
                      <a:prstGeom prst="rect">
                        <a:avLst/>
                      </a:prstGeom>
                    </p:spPr>
                  </p:pic>
                </p:oleObj>
              </mc:Fallback>
            </mc:AlternateContent>
          </a:graphicData>
        </a:graphic>
      </p:graphicFrame>
      <p:graphicFrame>
        <p:nvGraphicFramePr>
          <p:cNvPr id="16" name="对象 15"/>
          <p:cNvGraphicFramePr/>
          <p:nvPr/>
        </p:nvGraphicFramePr>
        <p:xfrm>
          <a:off x="335915" y="4379595"/>
          <a:ext cx="1540510" cy="448945"/>
        </p:xfrm>
        <a:graphic>
          <a:graphicData uri="http://schemas.openxmlformats.org/presentationml/2006/ole">
            <mc:AlternateContent xmlns:mc="http://schemas.openxmlformats.org/markup-compatibility/2006">
              <mc:Choice xmlns:v="urn:schemas-microsoft-com:vml" Requires="v">
                <p:oleObj spid="_x0000_s6273" name="" r:id="rId12" imgW="1788795" imgH="461645" progId="Equation.DSMT4">
                  <p:embed/>
                </p:oleObj>
              </mc:Choice>
              <mc:Fallback>
                <p:oleObj name="" r:id="rId12" imgW="1788795" imgH="461645" progId="Equation.DSMT4">
                  <p:embed/>
                  <p:pic>
                    <p:nvPicPr>
                      <p:cNvPr id="0" name="对象 15"/>
                      <p:cNvPicPr/>
                      <p:nvPr/>
                    </p:nvPicPr>
                    <p:blipFill>
                      <a:blip r:embed="rId13"/>
                      <a:stretch>
                        <a:fillRect/>
                      </a:stretch>
                    </p:blipFill>
                    <p:spPr>
                      <a:xfrm>
                        <a:off x="335915" y="4379595"/>
                        <a:ext cx="1540510" cy="448945"/>
                      </a:xfrm>
                      <a:prstGeom prst="rect">
                        <a:avLst/>
                      </a:prstGeom>
                    </p:spPr>
                  </p:pic>
                </p:oleObj>
              </mc:Fallback>
            </mc:AlternateContent>
          </a:graphicData>
        </a:graphic>
      </p:graphicFrame>
      <p:cxnSp>
        <p:nvCxnSpPr>
          <p:cNvPr id="19" name="直接箭头连接符 18"/>
          <p:cNvCxnSpPr/>
          <p:nvPr/>
        </p:nvCxnSpPr>
        <p:spPr>
          <a:xfrm flipV="1">
            <a:off x="2046605" y="4020820"/>
            <a:ext cx="1523365" cy="2286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cxnSp>
        <p:nvCxnSpPr>
          <p:cNvPr id="20" name="直接箭头连接符 19"/>
          <p:cNvCxnSpPr/>
          <p:nvPr/>
        </p:nvCxnSpPr>
        <p:spPr>
          <a:xfrm flipV="1">
            <a:off x="2046605" y="4533265"/>
            <a:ext cx="1523365" cy="22860"/>
          </a:xfrm>
          <a:prstGeom prst="straightConnector1">
            <a:avLst/>
          </a:prstGeom>
          <a:noFill/>
          <a:ln w="12700" cap="flat">
            <a:solidFill>
              <a:schemeClr val="accent1"/>
            </a:solidFill>
            <a:prstDash val="solid"/>
            <a:miter lim="800000"/>
            <a:tailEnd type="arrow"/>
          </a:ln>
        </p:spPr>
        <p:style>
          <a:lnRef idx="0">
            <a:scrgbClr r="0" g="0" b="0"/>
          </a:lnRef>
          <a:fillRef idx="0">
            <a:scrgbClr r="0" g="0" b="0"/>
          </a:fillRef>
          <a:effectRef idx="0">
            <a:scrgbClr r="0" g="0" b="0"/>
          </a:effectRef>
          <a:fontRef idx="none"/>
        </p:style>
      </p:cxnSp>
      <p:sp>
        <p:nvSpPr>
          <p:cNvPr id="21" name="文本框 20"/>
          <p:cNvSpPr txBox="1"/>
          <p:nvPr/>
        </p:nvSpPr>
        <p:spPr>
          <a:xfrm>
            <a:off x="3740150" y="3841750"/>
            <a:ext cx="95567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正确</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
        <p:nvSpPr>
          <p:cNvPr id="22" name="文本框 21"/>
          <p:cNvSpPr txBox="1"/>
          <p:nvPr/>
        </p:nvSpPr>
        <p:spPr>
          <a:xfrm>
            <a:off x="3740150" y="4379595"/>
            <a:ext cx="955675" cy="36893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sp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错误</a:t>
            </a:r>
            <a:endParaRPr kumimoji="0" lang="zh-CN" altLang="en-US" sz="2400" b="0" i="0" u="none" strike="noStrike" cap="none" spc="0" normalizeH="0" baseline="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graphicFrame>
        <p:nvGraphicFramePr>
          <p:cNvPr id="23" name="对象 22"/>
          <p:cNvGraphicFramePr/>
          <p:nvPr/>
        </p:nvGraphicFramePr>
        <p:xfrm>
          <a:off x="4695825" y="4005580"/>
          <a:ext cx="3496945" cy="550545"/>
        </p:xfrm>
        <a:graphic>
          <a:graphicData uri="http://schemas.openxmlformats.org/presentationml/2006/ole">
            <mc:AlternateContent xmlns:mc="http://schemas.openxmlformats.org/markup-compatibility/2006">
              <mc:Choice xmlns:v="urn:schemas-microsoft-com:vml" Requires="v">
                <p:oleObj spid="_x0000_s6274" name="" r:id="rId14" imgW="3585845" imgH="561340" progId="Equation.DSMT4">
                  <p:embed/>
                </p:oleObj>
              </mc:Choice>
              <mc:Fallback>
                <p:oleObj name="" r:id="rId14" imgW="3585845" imgH="561340" progId="Equation.DSMT4">
                  <p:embed/>
                  <p:pic>
                    <p:nvPicPr>
                      <p:cNvPr id="0" name="对象 22"/>
                      <p:cNvPicPr/>
                      <p:nvPr/>
                    </p:nvPicPr>
                    <p:blipFill>
                      <a:blip r:embed="rId15"/>
                      <a:stretch>
                        <a:fillRect/>
                      </a:stretch>
                    </p:blipFill>
                    <p:spPr>
                      <a:xfrm>
                        <a:off x="4695825" y="4005580"/>
                        <a:ext cx="3496945" cy="550545"/>
                      </a:xfrm>
                      <a:prstGeom prst="rect">
                        <a:avLst/>
                      </a:prstGeom>
                    </p:spPr>
                  </p:pic>
                </p:oleObj>
              </mc:Fallback>
            </mc:AlternateContent>
          </a:graphicData>
        </a:graphic>
      </p:graphicFrame>
      <p:graphicFrame>
        <p:nvGraphicFramePr>
          <p:cNvPr id="25" name="对象 24"/>
          <p:cNvGraphicFramePr/>
          <p:nvPr/>
        </p:nvGraphicFramePr>
        <p:xfrm>
          <a:off x="1821180" y="4837430"/>
          <a:ext cx="6563360" cy="1478915"/>
        </p:xfrm>
        <a:graphic>
          <a:graphicData uri="http://schemas.openxmlformats.org/presentationml/2006/ole">
            <mc:AlternateContent xmlns:mc="http://schemas.openxmlformats.org/markup-compatibility/2006">
              <mc:Choice xmlns:v="urn:schemas-microsoft-com:vml" Requires="v">
                <p:oleObj spid="_x0000_s6275" name="" r:id="rId16" imgW="4594225" imgH="1024890" progId="Equation.DSMT4">
                  <p:embed/>
                </p:oleObj>
              </mc:Choice>
              <mc:Fallback>
                <p:oleObj name="" r:id="rId16" imgW="4594225" imgH="1024890" progId="Equation.DSMT4">
                  <p:embed/>
                  <p:pic>
                    <p:nvPicPr>
                      <p:cNvPr id="0" name="对象 24"/>
                      <p:cNvPicPr/>
                      <p:nvPr/>
                    </p:nvPicPr>
                    <p:blipFill>
                      <a:blip r:embed="rId17"/>
                      <a:stretch>
                        <a:fillRect/>
                      </a:stretch>
                    </p:blipFill>
                    <p:spPr>
                      <a:xfrm>
                        <a:off x="1821180" y="4837430"/>
                        <a:ext cx="6563360" cy="1478915"/>
                      </a:xfrm>
                      <a:prstGeom prst="rect">
                        <a:avLst/>
                      </a:prstGeom>
                    </p:spPr>
                  </p:pic>
                </p:oleObj>
              </mc:Fallback>
            </mc:AlternateContent>
          </a:graphicData>
        </a:graphic>
      </p:graphicFrame>
      <p:pic>
        <p:nvPicPr>
          <p:cNvPr id="27" name="图片 26"/>
          <p:cNvPicPr>
            <a:picLocks noChangeAspect="1"/>
          </p:cNvPicPr>
          <p:nvPr/>
        </p:nvPicPr>
        <p:blipFill>
          <a:blip r:embed="rId18"/>
          <a:stretch>
            <a:fillRect/>
          </a:stretch>
        </p:blipFill>
        <p:spPr>
          <a:xfrm>
            <a:off x="8561070" y="2463800"/>
            <a:ext cx="3298190" cy="2364740"/>
          </a:xfrm>
          <a:prstGeom prst="rect">
            <a:avLst/>
          </a:prstGeom>
        </p:spPr>
      </p:pic>
    </p:spTree>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R-CNN</a:t>
            </a:r>
            <a:r>
              <a:rPr lang="zh-CN" altLang="en-US" dirty="0"/>
              <a:t>详细训练流程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5" name="Rectangle 1"/>
          <p:cNvSpPr>
            <a:spLocks noGrp="1" noChangeArrowheads="1"/>
          </p:cNvSpPr>
          <p:nvPr>
            <p:ph type="body" idx="1"/>
          </p:nvPr>
        </p:nvSpPr>
        <p:spPr bwMode="auto">
          <a:xfrm>
            <a:off x="622300" y="1767160"/>
            <a:ext cx="11700639" cy="4198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fontAlgn="base">
              <a:lnSpc>
                <a:spcPct val="150000"/>
              </a:lnSpc>
            </a:pPr>
            <a:r>
              <a:rPr lang="zh-CN" altLang="zh-CN" sz="1800" b="1" dirty="0"/>
              <a:t>阶段一：CNN 预训练 Pre-training </a:t>
            </a:r>
            <a:endParaRPr lang="en-US" altLang="zh-CN" sz="1800" b="1" dirty="0"/>
          </a:p>
          <a:p>
            <a:pPr marL="0" marR="0" lvl="0" indent="0" algn="l" defTabSz="914400" rtl="0" eaLnBrk="0" fontAlgn="base" latinLnBrk="0" hangingPunct="0">
              <a:lnSpc>
                <a:spcPct val="150000"/>
              </a:lnSpc>
              <a:spcBef>
                <a:spcPct val="0"/>
              </a:spcBef>
              <a:spcAft>
                <a:spcPct val="0"/>
              </a:spcAft>
              <a:buClrTx/>
              <a:buSzTx/>
              <a:buNone/>
            </a:pPr>
            <a:r>
              <a:rPr lang="zh-CN" altLang="zh-CN" sz="1800" dirty="0"/>
              <a:t>先用 ImageNet 这种千万级别的分类数据集，把 CNN 训练一遍，让它掌握基础的“看图识物”能力</a:t>
            </a:r>
            <a:endParaRPr lang="zh-CN" altLang="zh-CN" sz="1800" dirty="0"/>
          </a:p>
          <a:p>
            <a:pPr fontAlgn="base">
              <a:lnSpc>
                <a:spcPct val="150000"/>
              </a:lnSpc>
              <a:spcBef>
                <a:spcPts val="0"/>
              </a:spcBef>
            </a:pPr>
            <a:r>
              <a:rPr lang="zh-CN" altLang="zh-CN" sz="1800" b="1" dirty="0"/>
              <a:t>阶段二：CNN 微调 </a:t>
            </a:r>
            <a:r>
              <a:rPr lang="en-US" altLang="zh-CN" sz="1800" b="1" dirty="0"/>
              <a:t> </a:t>
            </a:r>
            <a:r>
              <a:rPr lang="zh-CN" altLang="zh-CN" sz="1800" b="1" dirty="0"/>
              <a:t>Fine-tuning</a:t>
            </a:r>
            <a:endParaRPr lang="en-US" altLang="zh-CN" sz="1800" b="1" dirty="0"/>
          </a:p>
          <a:p>
            <a:pPr marL="0" marR="0" lvl="0" indent="0" algn="l" defTabSz="914400" rtl="0" eaLnBrk="0" fontAlgn="base" latinLnBrk="0" hangingPunct="0">
              <a:lnSpc>
                <a:spcPct val="150000"/>
              </a:lnSpc>
              <a:spcBef>
                <a:spcPct val="0"/>
              </a:spcBef>
              <a:spcAft>
                <a:spcPct val="0"/>
              </a:spcAft>
              <a:buClrTx/>
              <a:buSzTx/>
              <a:buNone/>
            </a:pPr>
            <a:r>
              <a:rPr lang="zh-CN" altLang="zh-CN" sz="1800" dirty="0"/>
              <a:t>针对你自己的目标检测任务，把第一步的 CNN 稍微修改一下，用你自己的数据再训练几轮，让它适应当前的任务</a:t>
            </a:r>
            <a:endParaRPr kumimoji="0" lang="zh-CN" altLang="zh-CN"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pPr>
            <a:r>
              <a:rPr lang="en-US" altLang="zh-CN" sz="1800" b="1" dirty="0"/>
              <a:t>  </a:t>
            </a:r>
            <a:r>
              <a:rPr lang="zh-CN" altLang="zh-CN" sz="1800" b="1" dirty="0"/>
              <a:t>阶段三：提取特征并“落盘” Feature Extraction </a:t>
            </a:r>
            <a:endParaRPr lang="en-US" altLang="zh-CN" sz="1800" b="1" dirty="0"/>
          </a:p>
          <a:p>
            <a:pPr marL="0" marR="0" lvl="0" indent="0" algn="l" defTabSz="914400" rtl="0" eaLnBrk="0" fontAlgn="base" latinLnBrk="0" hangingPunct="0">
              <a:lnSpc>
                <a:spcPct val="150000"/>
              </a:lnSpc>
              <a:spcBef>
                <a:spcPct val="0"/>
              </a:spcBef>
              <a:spcAft>
                <a:spcPct val="0"/>
              </a:spcAft>
              <a:buClrTx/>
              <a:buSzTx/>
              <a:buNone/>
            </a:pPr>
            <a:r>
              <a:rPr lang="zh-CN" altLang="zh-CN" sz="1800" dirty="0"/>
              <a:t>此时彻底锁死 CNN 的所有参数</a:t>
            </a:r>
            <a:r>
              <a:rPr lang="zh-CN" altLang="en-US" sz="1800" dirty="0"/>
              <a:t>，</a:t>
            </a:r>
            <a:r>
              <a:rPr lang="zh-CN" altLang="zh-CN" sz="1800" dirty="0"/>
              <a:t>把训练集里的几百万个候选区域全部过一遍 CNN</a:t>
            </a:r>
            <a:endParaRPr lang="zh-CN" altLang="zh-CN" sz="1800" dirty="0"/>
          </a:p>
          <a:p>
            <a:pPr marL="0" marR="0" lvl="0" indent="0" algn="l" defTabSz="914400" rtl="0" eaLnBrk="0" fontAlgn="base" latinLnBrk="0" hangingPunct="0">
              <a:lnSpc>
                <a:spcPct val="150000"/>
              </a:lnSpc>
              <a:spcBef>
                <a:spcPct val="0"/>
              </a:spcBef>
              <a:spcAft>
                <a:spcPct val="0"/>
              </a:spcAft>
              <a:buClrTx/>
              <a:buSzTx/>
              <a:buFontTx/>
              <a:buChar char="•"/>
            </a:pPr>
            <a:r>
              <a:rPr lang="en-US" altLang="zh-CN" sz="1800" b="1" dirty="0"/>
              <a:t>  </a:t>
            </a:r>
            <a:r>
              <a:rPr lang="zh-CN" altLang="zh-CN" sz="1800" b="1" dirty="0"/>
              <a:t>阶段四：训练</a:t>
            </a:r>
            <a:r>
              <a:rPr lang="zh-CN" altLang="en-US" sz="1800" b="1" dirty="0"/>
              <a:t>线性支持向量机 </a:t>
            </a:r>
            <a:r>
              <a:rPr lang="zh-CN" altLang="zh-CN" sz="1800" b="1" dirty="0"/>
              <a:t>SVM Training </a:t>
            </a:r>
            <a:endParaRPr lang="en-US" altLang="zh-CN" sz="1800" b="1" dirty="0"/>
          </a:p>
          <a:p>
            <a:pPr marL="0" marR="0" lvl="0" indent="0" algn="l" defTabSz="914400" rtl="0" eaLnBrk="0" fontAlgn="base" latinLnBrk="0" hangingPunct="0">
              <a:lnSpc>
                <a:spcPct val="150000"/>
              </a:lnSpc>
              <a:spcBef>
                <a:spcPct val="0"/>
              </a:spcBef>
              <a:spcAft>
                <a:spcPct val="0"/>
              </a:spcAft>
              <a:buClrTx/>
              <a:buSzTx/>
              <a:buNone/>
            </a:pPr>
            <a:r>
              <a:rPr lang="zh-CN" altLang="zh-CN" sz="1800" dirty="0"/>
              <a:t>它从硬盘里读取那些 CNN 吐出来的特征向量，针对每一个类别，单独训练出一个分类器</a:t>
            </a:r>
            <a:endParaRPr lang="zh-CN" altLang="zh-CN" sz="1800" dirty="0"/>
          </a:p>
          <a:p>
            <a:pPr marL="0" marR="0" lvl="0" indent="0" algn="l" defTabSz="914400" rtl="0" eaLnBrk="0" fontAlgn="base" latinLnBrk="0" hangingPunct="0">
              <a:lnSpc>
                <a:spcPct val="150000"/>
              </a:lnSpc>
              <a:spcBef>
                <a:spcPct val="0"/>
              </a:spcBef>
              <a:spcAft>
                <a:spcPct val="0"/>
              </a:spcAft>
              <a:buClrTx/>
              <a:buSzTx/>
              <a:buFontTx/>
              <a:buChar char="•"/>
            </a:pPr>
            <a:r>
              <a:rPr lang="en-US" altLang="zh-CN" sz="1800" b="1" dirty="0"/>
              <a:t>  </a:t>
            </a:r>
            <a:r>
              <a:rPr lang="zh-CN" altLang="zh-CN" sz="1800" b="1" dirty="0"/>
              <a:t>阶段五：训练边界框回归器 BBox Regressor Training</a:t>
            </a:r>
            <a:endParaRPr lang="en-US" altLang="zh-CN" sz="1800" b="1" dirty="0"/>
          </a:p>
          <a:p>
            <a:pPr marL="0" marR="0" lvl="0" indent="0" algn="l" defTabSz="914400" rtl="0" eaLnBrk="0" fontAlgn="base" latinLnBrk="0" hangingPunct="0">
              <a:lnSpc>
                <a:spcPct val="150000"/>
              </a:lnSpc>
              <a:spcBef>
                <a:spcPct val="0"/>
              </a:spcBef>
              <a:spcAft>
                <a:spcPct val="0"/>
              </a:spcAft>
              <a:buClrTx/>
              <a:buSzTx/>
              <a:buNone/>
            </a:pPr>
            <a:r>
              <a:rPr lang="zh-CN" altLang="zh-CN" sz="1800" dirty="0"/>
              <a:t>最后，同样是从硬盘读取特征向量，训练一个回归模型，用来微调预测框的位置</a:t>
            </a:r>
            <a:endParaRPr lang="zh-CN" altLang="zh-CN" sz="1800" dirty="0"/>
          </a:p>
        </p:txBody>
      </p:sp>
    </p:spTree>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64459"/>
            <a:ext cx="10515600" cy="1325563"/>
          </a:xfrm>
        </p:spPr>
        <p:txBody>
          <a:bodyPr/>
          <a:lstStyle/>
          <a:p>
            <a:r>
              <a:rPr lang="en-US" altLang="zh-CN" dirty="0"/>
              <a:t>R-CNN</a:t>
            </a:r>
            <a:r>
              <a:rPr lang="zh-CN" altLang="en-US" dirty="0"/>
              <a:t>详细训练流程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2559050" y="2375021"/>
            <a:ext cx="8128000" cy="4420823"/>
          </a:xfrm>
          <a:prstGeom prst="rect">
            <a:avLst/>
          </a:prstGeom>
        </p:spPr>
      </p:pic>
      <p:sp>
        <p:nvSpPr>
          <p:cNvPr id="7" name="Rectangle 1"/>
          <p:cNvSpPr>
            <a:spLocks noChangeArrowheads="1"/>
          </p:cNvSpPr>
          <p:nvPr/>
        </p:nvSpPr>
        <p:spPr bwMode="auto">
          <a:xfrm>
            <a:off x="605739" y="1401877"/>
            <a:ext cx="11354390" cy="9612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50000"/>
              </a:lnSpc>
              <a:spcBef>
                <a:spcPct val="0"/>
              </a:spcBef>
              <a:spcAft>
                <a:spcPct val="0"/>
              </a:spcAft>
              <a:buClrTx/>
              <a:buSzTx/>
              <a:buFontTx/>
              <a:buChar char="•"/>
            </a:pPr>
            <a:r>
              <a:rPr lang="en-US" altLang="zh-CN" sz="2000" dirty="0">
                <a:solidFill>
                  <a:schemeClr val="accent1"/>
                </a:solidFill>
                <a:latin typeface="微软雅黑" panose="020B0503020204020204" pitchFamily="34" charset="-122"/>
                <a:ea typeface="微软雅黑" panose="020B0503020204020204" pitchFamily="34" charset="-122"/>
              </a:rPr>
              <a:t> </a:t>
            </a:r>
            <a:r>
              <a:rPr lang="zh-CN" altLang="en-US" sz="2000" b="1" dirty="0">
                <a:solidFill>
                  <a:schemeClr val="accent1"/>
                </a:solidFill>
                <a:latin typeface="微软雅黑" panose="020B0503020204020204" pitchFamily="34" charset="-122"/>
                <a:ea typeface="微软雅黑" panose="020B0503020204020204" pitchFamily="34" charset="-122"/>
              </a:rPr>
              <a:t>速度慢</a:t>
            </a:r>
            <a:r>
              <a:rPr lang="zh-CN" altLang="zh-CN" sz="2000" dirty="0">
                <a:solidFill>
                  <a:schemeClr val="accent1"/>
                </a:solidFill>
                <a:latin typeface="微软雅黑" panose="020B0503020204020204" pitchFamily="34" charset="-122"/>
                <a:ea typeface="微软雅黑" panose="020B0503020204020204" pitchFamily="34" charset="-122"/>
              </a:rPr>
              <a:t>：因为那 2000 个候选框都要独立地送入 CNN 计算一次特征，计算存在大量的重复和冗余</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lvl="0" indent="0" algn="l" defTabSz="914400" rtl="0" eaLnBrk="0" fontAlgn="base" latinLnBrk="0" hangingPunct="0">
              <a:lnSpc>
                <a:spcPct val="150000"/>
              </a:lnSpc>
              <a:spcBef>
                <a:spcPct val="0"/>
              </a:spcBef>
              <a:spcAft>
                <a:spcPct val="0"/>
              </a:spcAft>
              <a:buClrTx/>
              <a:buSzTx/>
              <a:buFontTx/>
              <a:buChar char="•"/>
            </a:pPr>
            <a:r>
              <a:rPr lang="en-US" altLang="zh-CN" sz="2000" dirty="0">
                <a:solidFill>
                  <a:schemeClr val="accent1"/>
                </a:solidFill>
                <a:latin typeface="微软雅黑" panose="020B0503020204020204" pitchFamily="34" charset="-122"/>
                <a:ea typeface="微软雅黑" panose="020B0503020204020204" pitchFamily="34" charset="-122"/>
              </a:rPr>
              <a:t> </a:t>
            </a:r>
            <a:r>
              <a:rPr lang="zh-CN" altLang="zh-CN" sz="2000" b="1" dirty="0">
                <a:solidFill>
                  <a:schemeClr val="accent1"/>
                </a:solidFill>
                <a:latin typeface="微软雅黑" panose="020B0503020204020204" pitchFamily="34" charset="-122"/>
                <a:ea typeface="微软雅黑" panose="020B0503020204020204" pitchFamily="34" charset="-122"/>
              </a:rPr>
              <a:t>训练繁琐</a:t>
            </a:r>
            <a:r>
              <a:rPr lang="zh-CN" altLang="zh-CN" sz="2000" dirty="0">
                <a:solidFill>
                  <a:schemeClr val="accent1"/>
                </a:solidFill>
                <a:latin typeface="微软雅黑" panose="020B0503020204020204" pitchFamily="34" charset="-122"/>
                <a:ea typeface="微软雅黑" panose="020B0503020204020204" pitchFamily="34" charset="-122"/>
              </a:rPr>
              <a:t>：它的训练是割裂的（CNN 、SVM 、回归器训练分为三个独立阶段）</a:t>
            </a:r>
            <a:endParaRPr lang="zh-CN" altLang="zh-CN" sz="2000" dirty="0">
              <a:solidFill>
                <a:schemeClr val="accent1"/>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638299" y="2800350"/>
            <a:ext cx="393701" cy="2585323"/>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800" dirty="0">
                <a:solidFill>
                  <a:schemeClr val="accent1"/>
                </a:solidFill>
                <a:latin typeface="微软雅黑" panose="020B0503020204020204" pitchFamily="34" charset="-122"/>
                <a:ea typeface="微软雅黑" panose="020B0503020204020204" pitchFamily="34" charset="-122"/>
              </a:rPr>
              <a:t>训</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800" dirty="0">
                <a:solidFill>
                  <a:schemeClr val="accent1"/>
                </a:solidFill>
                <a:latin typeface="微软雅黑" panose="020B0503020204020204" pitchFamily="34" charset="-122"/>
                <a:ea typeface="微软雅黑" panose="020B0503020204020204" pitchFamily="34" charset="-122"/>
              </a:rPr>
              <a:t>练</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800" dirty="0">
                <a:solidFill>
                  <a:schemeClr val="accent1"/>
                </a:solidFill>
                <a:latin typeface="微软雅黑" panose="020B0503020204020204" pitchFamily="34" charset="-122"/>
                <a:ea typeface="微软雅黑" panose="020B0503020204020204" pitchFamily="34" charset="-122"/>
              </a:rPr>
              <a:t>流</a:t>
            </a:r>
            <a:br>
              <a:rPr lang="en-US" altLang="zh-CN" sz="2800" dirty="0">
                <a:solidFill>
                  <a:schemeClr val="accent1"/>
                </a:solidFill>
                <a:latin typeface="微软雅黑" panose="020B0503020204020204" pitchFamily="34" charset="-122"/>
                <a:ea typeface="微软雅黑" panose="020B0503020204020204" pitchFamily="34" charset="-122"/>
              </a:rPr>
            </a:br>
            <a:r>
              <a:rPr lang="zh-CN" altLang="en-US" sz="2800" dirty="0">
                <a:solidFill>
                  <a:schemeClr val="accent1"/>
                </a:solidFill>
                <a:latin typeface="微软雅黑" panose="020B0503020204020204" pitchFamily="34" charset="-122"/>
                <a:ea typeface="微软雅黑" panose="020B0503020204020204" pitchFamily="34" charset="-122"/>
              </a:rPr>
              <a:t>程</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800" dirty="0">
                <a:solidFill>
                  <a:schemeClr val="accent1"/>
                </a:solidFill>
                <a:latin typeface="微软雅黑" panose="020B0503020204020204" pitchFamily="34" charset="-122"/>
                <a:ea typeface="微软雅黑" panose="020B0503020204020204" pitchFamily="34" charset="-122"/>
              </a:rPr>
              <a:t>图</a:t>
            </a:r>
            <a:endParaRPr lang="en-US" altLang="zh-CN" sz="28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800" dirty="0">
                <a:solidFill>
                  <a:schemeClr val="accent1"/>
                </a:solidFill>
                <a:latin typeface="微软雅黑" panose="020B0503020204020204" pitchFamily="34" charset="-122"/>
                <a:ea typeface="微软雅黑" panose="020B0503020204020204" pitchFamily="34" charset="-122"/>
              </a:rPr>
              <a:t>示</a:t>
            </a:r>
            <a:endParaRPr lang="zh-CN" altLang="en-US" sz="28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p:txBody>
          <a:bodyPr/>
          <a:lstStyle/>
          <a:p>
            <a:r>
              <a:rPr lang="en-US" altLang="zh-CN" dirty="0"/>
              <a:t>Fast R-CNN</a:t>
            </a:r>
            <a:endParaRPr lang="zh-CN" altLang="en-US" dirty="0"/>
          </a:p>
        </p:txBody>
      </p:sp>
      <p:sp>
        <p:nvSpPr>
          <p:cNvPr id="5" name="文本占位符 4"/>
          <p:cNvSpPr>
            <a:spLocks noGrp="1"/>
          </p:cNvSpPr>
          <p:nvPr>
            <p:ph type="body" idx="1"/>
          </p:nvPr>
        </p:nvSpPr>
        <p:spPr>
          <a:xfrm>
            <a:off x="834072" y="1868486"/>
            <a:ext cx="11140214" cy="4691063"/>
          </a:xfrm>
        </p:spPr>
        <p:txBody>
          <a:bodyPr>
            <a:normAutofit/>
          </a:bodyPr>
          <a:lstStyle/>
          <a:p>
            <a:pPr marL="0" indent="0">
              <a:lnSpc>
                <a:spcPct val="150000"/>
              </a:lnSpc>
              <a:buNone/>
            </a:pPr>
            <a:r>
              <a:rPr lang="en-US" altLang="zh-CN" sz="2000" dirty="0"/>
              <a:t>Fast R-CNN </a:t>
            </a:r>
            <a:r>
              <a:rPr lang="zh-CN" altLang="en-US" sz="2000" dirty="0"/>
              <a:t>是 </a:t>
            </a:r>
            <a:r>
              <a:rPr lang="en-US" altLang="zh-CN" sz="2000" dirty="0"/>
              <a:t>R-CNN </a:t>
            </a:r>
            <a:r>
              <a:rPr lang="zh-CN" altLang="en-US" sz="2000" dirty="0"/>
              <a:t>系列目标检测算法中的第二代方法，主要解决原始 </a:t>
            </a:r>
            <a:r>
              <a:rPr lang="en-US" altLang="zh-CN" sz="2000" dirty="0"/>
              <a:t>R-CNN </a:t>
            </a:r>
            <a:r>
              <a:rPr lang="zh-CN" altLang="en-US" sz="2000" dirty="0"/>
              <a:t>速度慢、训练流程复杂的问题</a:t>
            </a:r>
            <a:endParaRPr lang="en-US" altLang="zh-CN" sz="2000" dirty="0"/>
          </a:p>
          <a:p>
            <a:pPr marL="0" indent="0">
              <a:lnSpc>
                <a:spcPct val="150000"/>
              </a:lnSpc>
              <a:buNone/>
            </a:pPr>
            <a:r>
              <a:rPr lang="zh-CN" altLang="en-US" sz="2000" dirty="0"/>
              <a:t>它的核心思想是：不再对每个候选区域单独跑一次 </a:t>
            </a:r>
            <a:r>
              <a:rPr lang="en-US" altLang="zh-CN" sz="2000" dirty="0"/>
              <a:t>CNN</a:t>
            </a:r>
            <a:r>
              <a:rPr lang="zh-CN" altLang="en-US" sz="2000" dirty="0"/>
              <a:t>，而是整张图片只跑一次 </a:t>
            </a:r>
            <a:r>
              <a:rPr lang="en-US" altLang="zh-CN" sz="2000" dirty="0"/>
              <a:t>CNN</a:t>
            </a:r>
            <a:r>
              <a:rPr lang="zh-CN" altLang="en-US" sz="2000" dirty="0"/>
              <a:t>，然后在共享特征图上提取每个候选区域的特征</a:t>
            </a:r>
            <a:endParaRPr lang="en-US" altLang="zh-CN" sz="2000" dirty="0"/>
          </a:p>
          <a:p>
            <a:pPr>
              <a:lnSpc>
                <a:spcPct val="150000"/>
              </a:lnSpc>
            </a:pPr>
            <a:r>
              <a:rPr lang="zh-CN" altLang="en-US" sz="2000" b="1" dirty="0"/>
              <a:t>改进方法</a:t>
            </a:r>
            <a:r>
              <a:rPr lang="en-US" altLang="zh-CN" sz="2000" b="1" dirty="0"/>
              <a:t>1</a:t>
            </a:r>
            <a:r>
              <a:rPr lang="zh-CN" altLang="en-US" sz="2000" dirty="0"/>
              <a:t>：它不再把一个个候选框喂给 </a:t>
            </a:r>
            <a:r>
              <a:rPr lang="en-US" altLang="zh-CN" sz="2000" dirty="0"/>
              <a:t>CNN</a:t>
            </a:r>
            <a:r>
              <a:rPr lang="zh-CN" altLang="en-US" sz="2000" dirty="0"/>
              <a:t>，而是</a:t>
            </a:r>
            <a:r>
              <a:rPr lang="zh-CN" altLang="en-US" sz="2000" b="1" dirty="0"/>
              <a:t>直接把一整张原图送进 </a:t>
            </a:r>
            <a:r>
              <a:rPr lang="en-US" altLang="zh-CN" sz="2000" b="1" dirty="0"/>
              <a:t>CNN</a:t>
            </a:r>
            <a:endParaRPr lang="en-US" altLang="zh-CN" sz="2000" b="1" dirty="0"/>
          </a:p>
          <a:p>
            <a:pPr>
              <a:lnSpc>
                <a:spcPct val="150000"/>
              </a:lnSpc>
            </a:pPr>
            <a:r>
              <a:rPr lang="zh-CN" altLang="en-US" sz="2000" b="1" dirty="0"/>
              <a:t>改进方法</a:t>
            </a:r>
            <a:r>
              <a:rPr lang="en-US" altLang="zh-CN" sz="2000" b="1" dirty="0"/>
              <a:t>2</a:t>
            </a:r>
            <a:r>
              <a:rPr lang="zh-CN" altLang="en-US" sz="2000" dirty="0"/>
              <a:t>：只进行</a:t>
            </a:r>
            <a:r>
              <a:rPr lang="zh-CN" altLang="en-US" sz="2000" b="1" dirty="0"/>
              <a:t>一次</a:t>
            </a:r>
            <a:r>
              <a:rPr lang="zh-CN" altLang="en-US" sz="2000" dirty="0"/>
              <a:t>前向传播计算，得到一整张覆盖全图的特征图 </a:t>
            </a:r>
            <a:endParaRPr lang="en-US" altLang="zh-CN" sz="2000" dirty="0"/>
          </a:p>
          <a:p>
            <a:pPr>
              <a:lnSpc>
                <a:spcPct val="150000"/>
              </a:lnSpc>
            </a:pPr>
            <a:r>
              <a:rPr lang="zh-CN" altLang="en-US" sz="2000" b="1" dirty="0"/>
              <a:t>改进方法</a:t>
            </a:r>
            <a:r>
              <a:rPr lang="en-US" altLang="zh-CN" sz="2000" b="1" dirty="0"/>
              <a:t>3</a:t>
            </a:r>
            <a:r>
              <a:rPr lang="zh-CN" altLang="en-US" sz="2000" dirty="0"/>
              <a:t>：使用“选择性搜索”方法在原图上找候选框。它通过一种数学映射关系，把原图上候选框的位置，</a:t>
            </a:r>
            <a:r>
              <a:rPr lang="zh-CN" altLang="en-US" sz="2000" b="1" dirty="0"/>
              <a:t>直接投影到刚才算好的特征图上</a:t>
            </a:r>
            <a:endParaRPr lang="zh-CN" altLang="en-US" sz="2000" dirty="0"/>
          </a:p>
        </p:txBody>
      </p:sp>
      <p:sp>
        <p:nvSpPr>
          <p:cNvPr id="3" name="灯片编号占位符 2"/>
          <p:cNvSpPr>
            <a:spLocks noGrp="1"/>
          </p:cNvSpPr>
          <p:nvPr>
            <p:ph type="sldNum" sz="quarter" idx="2"/>
          </p:nvPr>
        </p:nvSpPr>
        <p:spPr>
          <a:xfrm>
            <a:off x="11183621" y="6401118"/>
            <a:ext cx="170180" cy="275590"/>
          </a:xfrm>
        </p:spPr>
        <p:txBody>
          <a:bodyPr/>
          <a:lstStyle/>
          <a:p>
            <a:fld id="{86CB4B4D-7CA3-9044-876B-883B54F8677D}" type="slidenum">
              <a:rPr/>
            </a:fld>
            <a:endParaRPr/>
          </a:p>
        </p:txBody>
      </p:sp>
    </p:spTree>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56430"/>
            <a:ext cx="10515600" cy="1325563"/>
          </a:xfrm>
        </p:spPr>
        <p:txBody>
          <a:bodyPr/>
          <a:lstStyle/>
          <a:p>
            <a:r>
              <a:rPr lang="en-US" altLang="zh-CN" dirty="0"/>
              <a:t>Fast R-CNN</a:t>
            </a:r>
            <a:r>
              <a:rPr lang="zh-CN" altLang="en-US" dirty="0"/>
              <a:t>训练流程</a:t>
            </a:r>
            <a:endParaRPr lang="zh-CN" altLang="en-US" dirty="0"/>
          </a:p>
        </p:txBody>
      </p:sp>
      <p:sp>
        <p:nvSpPr>
          <p:cNvPr id="3" name="文本占位符 2"/>
          <p:cNvSpPr>
            <a:spLocks noGrp="1"/>
          </p:cNvSpPr>
          <p:nvPr>
            <p:ph type="body" idx="1"/>
          </p:nvPr>
        </p:nvSpPr>
        <p:spPr>
          <a:xfrm>
            <a:off x="0" y="1107590"/>
            <a:ext cx="11140214" cy="5256213"/>
          </a:xfrm>
        </p:spPr>
        <p:txBody>
          <a:bodyPr>
            <a:normAutofit/>
          </a:bodyPr>
          <a:lstStyle/>
          <a:p>
            <a:r>
              <a:rPr lang="zh-CN" altLang="en-US" sz="2000" b="1" dirty="0"/>
              <a:t>全局特征提取 </a:t>
            </a:r>
            <a:r>
              <a:rPr lang="en-US" altLang="zh-CN" sz="2000" b="1" dirty="0"/>
              <a:t>Global Feature Extraction</a:t>
            </a:r>
            <a:endParaRPr lang="en-US" altLang="zh-CN" sz="2000" b="1" dirty="0"/>
          </a:p>
          <a:p>
            <a:pPr marL="0" indent="0">
              <a:buNone/>
            </a:pPr>
            <a:r>
              <a:rPr lang="zh-CN" altLang="en-US" sz="2000" dirty="0"/>
              <a:t>整个网络接收一整张完整的原始图片，被</a:t>
            </a:r>
            <a:r>
              <a:rPr lang="zh-CN" altLang="en-US" sz="2000" b="1" dirty="0"/>
              <a:t>整体</a:t>
            </a:r>
            <a:r>
              <a:rPr lang="zh-CN" altLang="en-US" sz="2000" dirty="0"/>
              <a:t>送入一个深层卷积神经网络，经过一次前向传播，输</a:t>
            </a:r>
            <a:endParaRPr lang="en-US" altLang="zh-CN" sz="2000" dirty="0"/>
          </a:p>
          <a:p>
            <a:pPr marL="0" indent="0">
              <a:buNone/>
            </a:pPr>
            <a:r>
              <a:rPr lang="zh-CN" altLang="en-US" sz="2000" dirty="0"/>
              <a:t>出了一整张灰色的“卷积特征图”</a:t>
            </a:r>
            <a:endParaRPr lang="en-US" altLang="zh-CN" sz="2000" dirty="0"/>
          </a:p>
          <a:p>
            <a:r>
              <a:rPr lang="zh-CN" altLang="en-US" sz="2000" b="1" dirty="0"/>
              <a:t>生成候选区域 </a:t>
            </a:r>
            <a:r>
              <a:rPr lang="en-US" altLang="zh-CN" sz="2000" b="1" dirty="0"/>
              <a:t>Generate Region Proposals</a:t>
            </a:r>
            <a:endParaRPr lang="en-US" altLang="zh-CN" sz="2000" b="1" dirty="0"/>
          </a:p>
          <a:p>
            <a:pPr marL="0" indent="0">
              <a:buNone/>
            </a:pPr>
            <a:r>
              <a:rPr lang="zh-CN" altLang="en-US" sz="2000" dirty="0"/>
              <a:t>仍然使用 </a:t>
            </a:r>
            <a:r>
              <a:rPr lang="en-US" altLang="zh-CN" sz="2000" dirty="0"/>
              <a:t>Selective Search </a:t>
            </a:r>
            <a:r>
              <a:rPr lang="zh-CN" altLang="en-US" sz="2000" dirty="0"/>
              <a:t>生成候选区域，即 </a:t>
            </a:r>
            <a:r>
              <a:rPr lang="en-US" altLang="zh-CN" sz="2000" dirty="0"/>
              <a:t>Region Proposals</a:t>
            </a:r>
            <a:endParaRPr lang="en-US" altLang="zh-CN" sz="2000" dirty="0"/>
          </a:p>
          <a:p>
            <a:r>
              <a:rPr lang="zh-CN" altLang="en-US" sz="2000" b="1" dirty="0"/>
              <a:t>候选区域映射 </a:t>
            </a:r>
            <a:r>
              <a:rPr lang="en-US" altLang="zh-CN" sz="2000" b="1" dirty="0" err="1"/>
              <a:t>RoI</a:t>
            </a:r>
            <a:r>
              <a:rPr lang="en-US" altLang="zh-CN" sz="2000" b="1" dirty="0"/>
              <a:t> projection</a:t>
            </a:r>
            <a:endParaRPr lang="en-US" altLang="zh-CN" sz="2000" b="1" dirty="0"/>
          </a:p>
          <a:p>
            <a:pPr marL="0" indent="0">
              <a:buNone/>
            </a:pPr>
            <a:r>
              <a:rPr lang="zh-CN" altLang="en-US" sz="2000" dirty="0"/>
              <a:t>候选框坐标是在原始图像上的，因此要把原图上的候选框映射到特征图上</a:t>
            </a:r>
            <a:endParaRPr lang="en-US" altLang="zh-CN" sz="2000" dirty="0"/>
          </a:p>
          <a:p>
            <a:pPr marL="0" indent="0">
              <a:buNone/>
            </a:pPr>
            <a:endParaRPr lang="en-US" altLang="zh-CN" sz="2000" dirty="0"/>
          </a:p>
          <a:p>
            <a:pPr marL="0" indent="0">
              <a:buNone/>
            </a:pPr>
            <a:r>
              <a:rPr lang="en-US" altLang="zh-CN" sz="2000" dirty="0"/>
              <a:t>Example</a:t>
            </a:r>
            <a:r>
              <a:rPr lang="zh-CN" altLang="en-US" sz="2000" dirty="0"/>
              <a:t>：原图大小是 </a:t>
            </a:r>
            <a:r>
              <a:rPr lang="en-US" altLang="zh-CN" sz="2000" dirty="0"/>
              <a:t>800 × 600</a:t>
            </a:r>
            <a:r>
              <a:rPr lang="zh-CN" altLang="en-US" sz="2000" dirty="0"/>
              <a:t>，</a:t>
            </a:r>
            <a:endParaRPr lang="en-US" altLang="zh-CN" sz="2000" dirty="0"/>
          </a:p>
          <a:p>
            <a:pPr marL="0" indent="0">
              <a:buNone/>
            </a:pPr>
            <a:r>
              <a:rPr lang="zh-CN" altLang="en-US" sz="2000" dirty="0"/>
              <a:t>经过 </a:t>
            </a:r>
            <a:r>
              <a:rPr lang="en-US" altLang="zh-CN" sz="2000" dirty="0"/>
              <a:t>CNN </a:t>
            </a:r>
            <a:r>
              <a:rPr lang="zh-CN" altLang="en-US" sz="2000" dirty="0"/>
              <a:t>后得到的特征图可能只有 </a:t>
            </a:r>
            <a:r>
              <a:rPr lang="en-US" altLang="zh-CN" sz="2000" dirty="0"/>
              <a:t>50 × 37</a:t>
            </a:r>
            <a:endParaRPr lang="en-US" altLang="zh-CN" sz="2000" dirty="0"/>
          </a:p>
          <a:p>
            <a:pPr marL="0" indent="0">
              <a:buNone/>
            </a:pPr>
            <a:r>
              <a:rPr lang="zh-CN" altLang="en-US" sz="2000" dirty="0"/>
              <a:t>特征图相对于原图大约缩小了 </a:t>
            </a:r>
            <a:r>
              <a:rPr lang="en-US" altLang="zh-CN" sz="2000" dirty="0"/>
              <a:t>16 </a:t>
            </a:r>
            <a:r>
              <a:rPr lang="zh-CN" altLang="en-US" sz="2000" dirty="0"/>
              <a:t>倍</a:t>
            </a:r>
            <a:endParaRPr lang="zh-CN" altLang="en-US" sz="2000" dirty="0"/>
          </a:p>
        </p:txBody>
      </p:sp>
      <p:sp>
        <p:nvSpPr>
          <p:cNvPr id="4" name="灯片编号占位符 3"/>
          <p:cNvSpPr>
            <a:spLocks noGrp="1"/>
          </p:cNvSpPr>
          <p:nvPr>
            <p:ph type="sldNum" sz="quarter" idx="2"/>
          </p:nvPr>
        </p:nvSpPr>
        <p:spPr/>
        <p:txBody>
          <a:bodyPr/>
          <a:lstStyle/>
          <a:p>
            <a:fld id="{86CB4B4D-7CA3-9044-876B-883B54F8677D}" type="slidenum">
              <a:rPr/>
            </a:fld>
            <a:endParaRPr/>
          </a:p>
        </p:txBody>
      </p:sp>
      <p:graphicFrame>
        <p:nvGraphicFramePr>
          <p:cNvPr id="6" name="对象 5"/>
          <p:cNvGraphicFramePr>
            <a:graphicFrameLocks noChangeAspect="1"/>
          </p:cNvGraphicFramePr>
          <p:nvPr/>
        </p:nvGraphicFramePr>
        <p:xfrm>
          <a:off x="5301874" y="3998040"/>
          <a:ext cx="2190750" cy="1641339"/>
        </p:xfrm>
        <a:graphic>
          <a:graphicData uri="http://schemas.openxmlformats.org/presentationml/2006/ole">
            <mc:AlternateContent xmlns:mc="http://schemas.openxmlformats.org/markup-compatibility/2006">
              <mc:Choice xmlns:v="urn:schemas-microsoft-com:vml" Requires="v">
                <p:oleObj spid="_x0000_s7226" name="Equation" r:id="rId1" imgW="1162685" imgH="870585" progId="Equation.DSMT4">
                  <p:embed/>
                </p:oleObj>
              </mc:Choice>
              <mc:Fallback>
                <p:oleObj name="Equation" r:id="rId1" imgW="1162685" imgH="870585" progId="Equation.DSMT4">
                  <p:embed/>
                  <p:pic>
                    <p:nvPicPr>
                      <p:cNvPr id="0" name="图片 7220"/>
                      <p:cNvPicPr/>
                      <p:nvPr/>
                    </p:nvPicPr>
                    <p:blipFill>
                      <a:blip r:embed="rId2"/>
                      <a:stretch>
                        <a:fillRect/>
                      </a:stretch>
                    </p:blipFill>
                    <p:spPr>
                      <a:xfrm>
                        <a:off x="5301874" y="3998040"/>
                        <a:ext cx="2190750" cy="1641339"/>
                      </a:xfrm>
                      <a:prstGeom prst="rect">
                        <a:avLst/>
                      </a:prstGeom>
                    </p:spPr>
                  </p:pic>
                </p:oleObj>
              </mc:Fallback>
            </mc:AlternateContent>
          </a:graphicData>
        </a:graphic>
      </p:graphicFrame>
      <p:grpSp>
        <p:nvGrpSpPr>
          <p:cNvPr id="13" name="组合 12"/>
          <p:cNvGrpSpPr/>
          <p:nvPr/>
        </p:nvGrpSpPr>
        <p:grpSpPr>
          <a:xfrm>
            <a:off x="7037838" y="1962771"/>
            <a:ext cx="4853068" cy="2449995"/>
            <a:chOff x="153496" y="4368142"/>
            <a:chExt cx="4853068" cy="2449995"/>
          </a:xfrm>
        </p:grpSpPr>
        <p:graphicFrame>
          <p:nvGraphicFramePr>
            <p:cNvPr id="5" name="对象 4"/>
            <p:cNvGraphicFramePr>
              <a:graphicFrameLocks noChangeAspect="1"/>
            </p:cNvGraphicFramePr>
            <p:nvPr/>
          </p:nvGraphicFramePr>
          <p:xfrm>
            <a:off x="153496" y="4368142"/>
            <a:ext cx="4853068" cy="405944"/>
          </p:xfrm>
          <a:graphic>
            <a:graphicData uri="http://schemas.openxmlformats.org/presentationml/2006/ole">
              <mc:AlternateContent xmlns:mc="http://schemas.openxmlformats.org/markup-compatibility/2006">
                <mc:Choice xmlns:v="urn:schemas-microsoft-com:vml" Requires="v">
                  <p:oleObj spid="_x0000_s7227" name="Equation" r:id="rId3" imgW="2436495" imgH="208915" progId="Equation.DSMT4">
                    <p:embed/>
                  </p:oleObj>
                </mc:Choice>
                <mc:Fallback>
                  <p:oleObj name="Equation" r:id="rId3" imgW="2436495" imgH="208915" progId="Equation.DSMT4">
                    <p:embed/>
                    <p:pic>
                      <p:nvPicPr>
                        <p:cNvPr id="0" name="图片 7221"/>
                        <p:cNvPicPr/>
                        <p:nvPr/>
                      </p:nvPicPr>
                      <p:blipFill>
                        <a:blip r:embed="rId4"/>
                        <a:stretch>
                          <a:fillRect/>
                        </a:stretch>
                      </p:blipFill>
                      <p:spPr>
                        <a:xfrm>
                          <a:off x="153496" y="4368142"/>
                          <a:ext cx="4853068" cy="405944"/>
                        </a:xfrm>
                        <a:prstGeom prst="rect">
                          <a:avLst/>
                        </a:prstGeom>
                      </p:spPr>
                    </p:pic>
                  </p:oleObj>
                </mc:Fallback>
              </mc:AlternateContent>
            </a:graphicData>
          </a:graphic>
        </p:graphicFrame>
        <p:pic>
          <p:nvPicPr>
            <p:cNvPr id="9" name="图片 8"/>
            <p:cNvPicPr>
              <a:picLocks noChangeAspect="1"/>
            </p:cNvPicPr>
            <p:nvPr/>
          </p:nvPicPr>
          <p:blipFill>
            <a:blip r:embed="rId5"/>
            <a:stretch>
              <a:fillRect/>
            </a:stretch>
          </p:blipFill>
          <p:spPr>
            <a:xfrm>
              <a:off x="1519416" y="4799401"/>
              <a:ext cx="1466851" cy="2018736"/>
            </a:xfrm>
            <a:prstGeom prst="rect">
              <a:avLst/>
            </a:prstGeom>
          </p:spPr>
        </p:pic>
      </p:grpSp>
      <p:grpSp>
        <p:nvGrpSpPr>
          <p:cNvPr id="12" name="组合 11"/>
          <p:cNvGrpSpPr/>
          <p:nvPr/>
        </p:nvGrpSpPr>
        <p:grpSpPr>
          <a:xfrm>
            <a:off x="7921847" y="4489286"/>
            <a:ext cx="2631386" cy="2384535"/>
            <a:chOff x="8981664" y="4236361"/>
            <a:chExt cx="2631386" cy="2384535"/>
          </a:xfrm>
        </p:grpSpPr>
        <p:graphicFrame>
          <p:nvGraphicFramePr>
            <p:cNvPr id="7" name="对象 6"/>
            <p:cNvGraphicFramePr>
              <a:graphicFrameLocks noChangeAspect="1"/>
            </p:cNvGraphicFramePr>
            <p:nvPr/>
          </p:nvGraphicFramePr>
          <p:xfrm>
            <a:off x="8981664" y="4236361"/>
            <a:ext cx="2631386" cy="405944"/>
          </p:xfrm>
          <a:graphic>
            <a:graphicData uri="http://schemas.openxmlformats.org/presentationml/2006/ole">
              <mc:AlternateContent xmlns:mc="http://schemas.openxmlformats.org/markup-compatibility/2006">
                <mc:Choice xmlns:v="urn:schemas-microsoft-com:vml" Requires="v">
                  <p:oleObj spid="_x0000_s7228" name="Equation" r:id="rId6" imgW="1327785" imgH="208915" progId="Equation.DSMT4">
                    <p:embed/>
                  </p:oleObj>
                </mc:Choice>
                <mc:Fallback>
                  <p:oleObj name="Equation" r:id="rId6" imgW="1327785" imgH="208915" progId="Equation.DSMT4">
                    <p:embed/>
                    <p:pic>
                      <p:nvPicPr>
                        <p:cNvPr id="0" name="图片 7222"/>
                        <p:cNvPicPr/>
                        <p:nvPr/>
                      </p:nvPicPr>
                      <p:blipFill>
                        <a:blip r:embed="rId7"/>
                        <a:stretch>
                          <a:fillRect/>
                        </a:stretch>
                      </p:blipFill>
                      <p:spPr>
                        <a:xfrm>
                          <a:off x="8981664" y="4236361"/>
                          <a:ext cx="2631386" cy="405944"/>
                        </a:xfrm>
                        <a:prstGeom prst="rect">
                          <a:avLst/>
                        </a:prstGeom>
                      </p:spPr>
                    </p:pic>
                  </p:oleObj>
                </mc:Fallback>
              </mc:AlternateContent>
            </a:graphicData>
          </a:graphic>
        </p:graphicFrame>
        <p:pic>
          <p:nvPicPr>
            <p:cNvPr id="10" name="图片 9"/>
            <p:cNvPicPr>
              <a:picLocks noChangeAspect="1"/>
            </p:cNvPicPr>
            <p:nvPr/>
          </p:nvPicPr>
          <p:blipFill>
            <a:blip r:embed="rId8"/>
            <a:stretch>
              <a:fillRect/>
            </a:stretch>
          </p:blipFill>
          <p:spPr>
            <a:xfrm>
              <a:off x="9272856" y="4669859"/>
              <a:ext cx="1867358" cy="1951037"/>
            </a:xfrm>
            <a:prstGeom prst="rect">
              <a:avLst/>
            </a:prstGeom>
          </p:spPr>
        </p:pic>
      </p:grpSp>
      <p:grpSp>
        <p:nvGrpSpPr>
          <p:cNvPr id="18" name="组合 17"/>
          <p:cNvGrpSpPr/>
          <p:nvPr/>
        </p:nvGrpSpPr>
        <p:grpSpPr>
          <a:xfrm>
            <a:off x="5065753" y="4009005"/>
            <a:ext cx="7045929" cy="2836019"/>
            <a:chOff x="5146071" y="3995350"/>
            <a:chExt cx="7045929" cy="2836019"/>
          </a:xfrm>
        </p:grpSpPr>
        <p:pic>
          <p:nvPicPr>
            <p:cNvPr id="14" name="图片 13"/>
            <p:cNvPicPr>
              <a:picLocks noChangeAspect="1"/>
            </p:cNvPicPr>
            <p:nvPr/>
          </p:nvPicPr>
          <p:blipFill>
            <a:blip r:embed="rId9"/>
            <a:stretch>
              <a:fillRect/>
            </a:stretch>
          </p:blipFill>
          <p:spPr>
            <a:xfrm>
              <a:off x="5146071" y="3995350"/>
              <a:ext cx="7045929" cy="2836019"/>
            </a:xfrm>
            <a:prstGeom prst="rect">
              <a:avLst/>
            </a:prstGeom>
          </p:spPr>
        </p:pic>
        <p:sp>
          <p:nvSpPr>
            <p:cNvPr id="15" name="矩形 14"/>
            <p:cNvSpPr/>
            <p:nvPr/>
          </p:nvSpPr>
          <p:spPr>
            <a:xfrm>
              <a:off x="7492624" y="4287385"/>
              <a:ext cx="1009479" cy="708509"/>
            </a:xfrm>
            <a:prstGeom prst="rect">
              <a:avLst/>
            </a:prstGeom>
            <a:noFill/>
            <a:ln w="57150" cap="flat">
              <a:solidFill>
                <a:srgbClr val="0070C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7" name="矩形 16"/>
            <p:cNvSpPr/>
            <p:nvPr/>
          </p:nvSpPr>
          <p:spPr>
            <a:xfrm>
              <a:off x="7492624" y="5396155"/>
              <a:ext cx="1055801" cy="708509"/>
            </a:xfrm>
            <a:prstGeom prst="rect">
              <a:avLst/>
            </a:prstGeom>
            <a:noFill/>
            <a:ln w="57150" cap="flat">
              <a:solidFill>
                <a:srgbClr val="0070C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18"/>
                                        </p:tgtEl>
                                        <p:attrNameLst>
                                          <p:attrName>ppt_x</p:attrName>
                                        </p:attrNameLst>
                                      </p:cBhvr>
                                      <p:tavLst>
                                        <p:tav tm="0">
                                          <p:val>
                                            <p:strVal val="ppt_x"/>
                                          </p:val>
                                        </p:tav>
                                        <p:tav tm="100000">
                                          <p:val>
                                            <p:strVal val="ppt_x"/>
                                          </p:val>
                                        </p:tav>
                                      </p:tavLst>
                                    </p:anim>
                                    <p:anim calcmode="lin" valueType="num">
                                      <p:cBhvr additive="base">
                                        <p:cTn id="7" dur="500"/>
                                        <p:tgtEl>
                                          <p:spTgt spid="18"/>
                                        </p:tgtEl>
                                        <p:attrNameLst>
                                          <p:attrName>ppt_y</p:attrName>
                                        </p:attrNameLst>
                                      </p:cBhvr>
                                      <p:tavLst>
                                        <p:tav tm="0">
                                          <p:val>
                                            <p:strVal val="ppt_y"/>
                                          </p:val>
                                        </p:tav>
                                        <p:tav tm="100000">
                                          <p:val>
                                            <p:strVal val="1+ppt_h/2"/>
                                          </p:val>
                                        </p:tav>
                                      </p:tavLst>
                                    </p:anim>
                                    <p:set>
                                      <p:cBhvr>
                                        <p:cTn id="8" dur="1" fill="hold">
                                          <p:stCondLst>
                                            <p:cond delay="499"/>
                                          </p:stCondLst>
                                        </p:cTn>
                                        <p:tgtEl>
                                          <p:spTgt spid="18"/>
                                        </p:tgtEl>
                                        <p:attrNameLst>
                                          <p:attrName>style.visibility</p:attrName>
                                        </p:attrNameLst>
                                      </p:cBhvr>
                                      <p:to>
                                        <p:strVal val="hidden"/>
                                      </p:to>
                                    </p:set>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anim calcmode="lin" valueType="num">
                                      <p:cBhvr additive="base">
                                        <p:cTn id="13" dur="500" fill="hold"/>
                                        <p:tgtEl>
                                          <p:spTgt spid="13"/>
                                        </p:tgtEl>
                                        <p:attrNameLst>
                                          <p:attrName>ppt_x</p:attrName>
                                        </p:attrNameLst>
                                      </p:cBhvr>
                                      <p:tavLst>
                                        <p:tav tm="0">
                                          <p:val>
                                            <p:strVal val="#ppt_x"/>
                                          </p:val>
                                        </p:tav>
                                        <p:tav tm="100000">
                                          <p:val>
                                            <p:strVal val="#ppt_x"/>
                                          </p:val>
                                        </p:tav>
                                      </p:tavLst>
                                    </p:anim>
                                    <p:anim calcmode="lin" valueType="num">
                                      <p:cBhvr additive="base">
                                        <p:cTn id="1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additive="base">
                                        <p:cTn id="25" dur="500" fill="hold"/>
                                        <p:tgtEl>
                                          <p:spTgt spid="12"/>
                                        </p:tgtEl>
                                        <p:attrNameLst>
                                          <p:attrName>ppt_x</p:attrName>
                                        </p:attrNameLst>
                                      </p:cBhvr>
                                      <p:tavLst>
                                        <p:tav tm="0">
                                          <p:val>
                                            <p:strVal val="#ppt_x"/>
                                          </p:val>
                                        </p:tav>
                                        <p:tav tm="100000">
                                          <p:val>
                                            <p:strVal val="#ppt_x"/>
                                          </p:val>
                                        </p:tav>
                                      </p:tavLst>
                                    </p:anim>
                                    <p:anim calcmode="lin" valueType="num">
                                      <p:cBhvr additive="base">
                                        <p:cTn id="26"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55076"/>
            <a:ext cx="10515600" cy="1325563"/>
          </a:xfrm>
        </p:spPr>
        <p:txBody>
          <a:bodyPr/>
          <a:lstStyle/>
          <a:p>
            <a:r>
              <a:rPr lang="en-US" altLang="zh-CN" dirty="0"/>
              <a:t>Fast R-CNN</a:t>
            </a:r>
            <a:r>
              <a:rPr lang="zh-CN" altLang="en-US" dirty="0"/>
              <a:t>训练流程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76758" y="1114630"/>
            <a:ext cx="11140214" cy="4351338"/>
          </a:xfrm>
        </p:spPr>
        <p:txBody>
          <a:bodyPr>
            <a:normAutofit/>
          </a:bodyPr>
          <a:lstStyle/>
          <a:p>
            <a:r>
              <a:rPr lang="zh-CN" altLang="en-US" sz="2000" b="1" dirty="0"/>
              <a:t>特征规格化 </a:t>
            </a:r>
            <a:r>
              <a:rPr lang="en-US" altLang="zh-CN" sz="2000" b="1" dirty="0" err="1"/>
              <a:t>RoI</a:t>
            </a:r>
            <a:r>
              <a:rPr lang="en-US" altLang="zh-CN" sz="2000" b="1" dirty="0"/>
              <a:t> Pooling</a:t>
            </a:r>
            <a:endParaRPr lang="en-US" altLang="zh-CN" sz="2000" b="1" dirty="0"/>
          </a:p>
          <a:p>
            <a:pPr marL="0" indent="0">
              <a:buNone/>
            </a:pPr>
            <a:r>
              <a:rPr lang="zh-CN" altLang="en-US" sz="2000" dirty="0"/>
              <a:t>该层会动态地将这些大小不一的特征块，强制划分为固定数量的网格，把不同大小的候选区域特征</a:t>
            </a:r>
            <a:endParaRPr lang="en-US" altLang="zh-CN" sz="2000" dirty="0"/>
          </a:p>
          <a:p>
            <a:pPr marL="0" indent="0">
              <a:spcAft>
                <a:spcPts val="600"/>
              </a:spcAft>
              <a:buNone/>
            </a:pPr>
            <a:r>
              <a:rPr lang="zh-CN" altLang="en-US" sz="2000" dirty="0"/>
              <a:t>统一变成固定大小，这是 </a:t>
            </a:r>
            <a:r>
              <a:rPr lang="en-US" altLang="zh-CN" sz="2000" dirty="0"/>
              <a:t>Fast R-CNN </a:t>
            </a:r>
            <a:r>
              <a:rPr lang="zh-CN" altLang="en-US" sz="2000" dirty="0"/>
              <a:t>的关键改进之一</a:t>
            </a:r>
            <a:endParaRPr lang="en-US" altLang="zh-CN" sz="2000" dirty="0"/>
          </a:p>
          <a:p>
            <a:r>
              <a:rPr lang="zh-CN" altLang="en-US" sz="2000" b="1" dirty="0"/>
              <a:t>全连接层特征转换 </a:t>
            </a:r>
            <a:r>
              <a:rPr lang="en-US" altLang="zh-CN" sz="2000" b="1" dirty="0"/>
              <a:t>Fully Connected Layers</a:t>
            </a:r>
            <a:endParaRPr lang="en-US" altLang="zh-CN" sz="2000" b="1" dirty="0"/>
          </a:p>
          <a:p>
            <a:pPr marL="0" indent="0">
              <a:spcAft>
                <a:spcPts val="600"/>
              </a:spcAft>
              <a:buNone/>
            </a:pPr>
            <a:r>
              <a:rPr lang="zh-CN" altLang="en-US" sz="2000" dirty="0"/>
              <a:t>将局部的卷积特征融合为极其高度抽象的“语义概念”，最终输出一个固定长度的高维特征向量</a:t>
            </a:r>
            <a:endParaRPr lang="en-US" altLang="zh-CN" sz="2000" dirty="0"/>
          </a:p>
          <a:p>
            <a:r>
              <a:rPr lang="zh-CN" altLang="en-US" sz="2000" b="1" dirty="0"/>
              <a:t>双路并行的终极预测 </a:t>
            </a:r>
            <a:r>
              <a:rPr lang="en-US" altLang="zh-CN" sz="2000" b="1" dirty="0"/>
              <a:t>Dual-Head Prediction</a:t>
            </a:r>
            <a:endParaRPr lang="en-US" altLang="zh-CN" sz="2000" b="1" dirty="0"/>
          </a:p>
          <a:p>
            <a:pPr marL="838200" lvl="1" indent="-342900">
              <a:buFont typeface="Wingdings" panose="05000000000000000000" pitchFamily="2" charset="2"/>
              <a:buChar char="ü"/>
            </a:pPr>
            <a:r>
              <a:rPr lang="zh-CN" altLang="en-US" sz="2000" dirty="0"/>
              <a:t>分类头 ：它计算该特征向量属于各个目标类别以及“背景”的概率分布</a:t>
            </a:r>
            <a:endParaRPr lang="en-US" altLang="zh-CN" sz="2000" dirty="0"/>
          </a:p>
          <a:p>
            <a:pPr marL="838200" lvl="1" indent="-342900">
              <a:buFont typeface="Wingdings" panose="05000000000000000000" pitchFamily="2" charset="2"/>
              <a:buChar char="ü"/>
            </a:pPr>
            <a:r>
              <a:rPr lang="zh-CN" altLang="en-US" sz="2000" dirty="0"/>
              <a:t>回归头 ：微调候选框位置，使其更贴近真实目标</a:t>
            </a:r>
            <a:endParaRPr lang="en-US" altLang="zh-CN" sz="2000" dirty="0"/>
          </a:p>
          <a:p>
            <a:pPr marL="0" indent="0">
              <a:buNone/>
            </a:pPr>
            <a:endParaRPr lang="zh-CN" altLang="en-US" sz="2000" dirty="0"/>
          </a:p>
        </p:txBody>
      </p:sp>
      <p:grpSp>
        <p:nvGrpSpPr>
          <p:cNvPr id="7" name="组合 6"/>
          <p:cNvGrpSpPr/>
          <p:nvPr/>
        </p:nvGrpSpPr>
        <p:grpSpPr>
          <a:xfrm>
            <a:off x="5605063" y="4376556"/>
            <a:ext cx="6586937" cy="2454813"/>
            <a:chOff x="5146071" y="3995350"/>
            <a:chExt cx="7045929" cy="2836019"/>
          </a:xfrm>
        </p:grpSpPr>
        <p:pic>
          <p:nvPicPr>
            <p:cNvPr id="8" name="图片 7"/>
            <p:cNvPicPr>
              <a:picLocks noChangeAspect="1"/>
            </p:cNvPicPr>
            <p:nvPr/>
          </p:nvPicPr>
          <p:blipFill>
            <a:blip r:embed="rId1"/>
            <a:stretch>
              <a:fillRect/>
            </a:stretch>
          </p:blipFill>
          <p:spPr>
            <a:xfrm>
              <a:off x="5146071" y="3995350"/>
              <a:ext cx="7045929" cy="2836019"/>
            </a:xfrm>
            <a:prstGeom prst="rect">
              <a:avLst/>
            </a:prstGeom>
          </p:spPr>
        </p:pic>
        <p:sp>
          <p:nvSpPr>
            <p:cNvPr id="9" name="矩形 8"/>
            <p:cNvSpPr/>
            <p:nvPr/>
          </p:nvSpPr>
          <p:spPr>
            <a:xfrm>
              <a:off x="9157664" y="4899682"/>
              <a:ext cx="1009479" cy="708509"/>
            </a:xfrm>
            <a:prstGeom prst="rect">
              <a:avLst/>
            </a:prstGeom>
            <a:noFill/>
            <a:ln w="57150" cap="flat">
              <a:solidFill>
                <a:srgbClr val="0070C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0" name="矩形 9"/>
            <p:cNvSpPr/>
            <p:nvPr/>
          </p:nvSpPr>
          <p:spPr>
            <a:xfrm>
              <a:off x="10268120" y="4458152"/>
              <a:ext cx="1923880" cy="441530"/>
            </a:xfrm>
            <a:prstGeom prst="rect">
              <a:avLst/>
            </a:prstGeom>
            <a:noFill/>
            <a:ln w="57150" cap="flat">
              <a:solidFill>
                <a:srgbClr val="0070C0"/>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pSp>
    </p:spTree>
  </p:cSld>
  <p:clrMapOvr>
    <a:masterClrMapping/>
  </p:clrMapOvr>
  <p:transition spd="me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1" y="26726"/>
            <a:ext cx="10515600" cy="1325563"/>
          </a:xfrm>
        </p:spPr>
        <p:txBody>
          <a:bodyPr/>
          <a:lstStyle/>
          <a:p>
            <a:r>
              <a:rPr lang="en-US" altLang="zh-CN" dirty="0"/>
              <a:t>Fast R-CNN</a:t>
            </a:r>
            <a:r>
              <a:rPr lang="zh-CN" altLang="en-US" dirty="0"/>
              <a:t>训练流程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8200" y="1617202"/>
            <a:ext cx="11140214" cy="4351338"/>
          </a:xfrm>
        </p:spPr>
        <p:txBody>
          <a:bodyPr/>
          <a:lstStyle/>
          <a:p>
            <a:pPr marL="0" indent="0">
              <a:buNone/>
            </a:pPr>
            <a:r>
              <a:rPr lang="zh-CN" altLang="en-US" dirty="0"/>
              <a:t>依然依赖于传统图像处理算法</a:t>
            </a:r>
            <a:r>
              <a:rPr lang="en-US" altLang="zh-CN" dirty="0"/>
              <a:t>——</a:t>
            </a:r>
            <a:r>
              <a:rPr lang="zh-CN" altLang="en-US" b="1" dirty="0"/>
              <a:t>选择性搜索 </a:t>
            </a:r>
            <a:r>
              <a:rPr lang="en-US" altLang="zh-CN" b="1" dirty="0"/>
              <a:t>Selective Search</a:t>
            </a:r>
            <a:endParaRPr lang="en-US" altLang="zh-CN" b="1" dirty="0"/>
          </a:p>
          <a:p>
            <a:pPr marL="0" indent="0">
              <a:buNone/>
            </a:pPr>
            <a:r>
              <a:rPr lang="zh-CN" altLang="en-US" dirty="0"/>
              <a:t>这个算法是在 </a:t>
            </a:r>
            <a:r>
              <a:rPr lang="en-US" altLang="zh-CN" dirty="0"/>
              <a:t>CPU </a:t>
            </a:r>
            <a:r>
              <a:rPr lang="zh-CN" altLang="en-US" dirty="0"/>
              <a:t>上跑的，速度很慢，成为了整个模型新的瓶颈</a:t>
            </a:r>
            <a:endParaRPr lang="zh-CN" altLang="en-US" dirty="0"/>
          </a:p>
        </p:txBody>
      </p:sp>
      <p:pic>
        <p:nvPicPr>
          <p:cNvPr id="5" name="图片 4"/>
          <p:cNvPicPr>
            <a:picLocks noChangeAspect="1"/>
          </p:cNvPicPr>
          <p:nvPr/>
        </p:nvPicPr>
        <p:blipFill>
          <a:blip r:embed="rId1"/>
          <a:stretch>
            <a:fillRect/>
          </a:stretch>
        </p:blipFill>
        <p:spPr>
          <a:xfrm>
            <a:off x="1814840" y="2451892"/>
            <a:ext cx="8048116" cy="4312386"/>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a:t>Faster R-CNN</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 y="1170470"/>
            <a:ext cx="13052885" cy="5738330"/>
          </a:xfrm>
        </p:spPr>
        <p:txBody>
          <a:bodyPr>
            <a:normAutofit/>
          </a:bodyPr>
          <a:lstStyle/>
          <a:p>
            <a:pPr marL="0" indent="0">
              <a:buNone/>
            </a:pPr>
            <a:r>
              <a:rPr lang="en-US" altLang="zh-CN" sz="2000" b="1" dirty="0"/>
              <a:t>Faster R-CNN</a:t>
            </a:r>
            <a:r>
              <a:rPr lang="en-US" altLang="zh-CN" sz="2000" dirty="0"/>
              <a:t> </a:t>
            </a:r>
            <a:r>
              <a:rPr lang="zh-CN" altLang="en-US" sz="2000" dirty="0"/>
              <a:t>是深度学习双阶段（</a:t>
            </a:r>
            <a:r>
              <a:rPr lang="en-US" altLang="zh-CN" sz="2000" dirty="0"/>
              <a:t>Two-Stage</a:t>
            </a:r>
            <a:r>
              <a:rPr lang="zh-CN" altLang="en-US" sz="2000" dirty="0"/>
              <a:t>）目标检测架构的终极形态</a:t>
            </a:r>
            <a:endParaRPr lang="en-US" altLang="zh-CN" sz="2000" dirty="0"/>
          </a:p>
          <a:p>
            <a:pPr marL="0" indent="0">
              <a:buNone/>
            </a:pPr>
            <a:r>
              <a:rPr lang="zh-CN" altLang="en-US" sz="2000" dirty="0"/>
              <a:t>它彻底把“寻找候选框”这个任务也交给了神经网络，实现了完全的 </a:t>
            </a:r>
            <a:r>
              <a:rPr lang="en-US" altLang="zh-CN" sz="2000" dirty="0"/>
              <a:t>GPU </a:t>
            </a:r>
            <a:r>
              <a:rPr lang="zh-CN" altLang="en-US" sz="2000" dirty="0"/>
              <a:t>计算和真正的端到端训练</a:t>
            </a:r>
            <a:endParaRPr lang="en-US" altLang="zh-CN" sz="2000" dirty="0"/>
          </a:p>
          <a:p>
            <a:pPr marL="0" indent="0">
              <a:buNone/>
            </a:pPr>
            <a:endParaRPr lang="en-US" altLang="zh-CN" sz="2000" dirty="0"/>
          </a:p>
          <a:p>
            <a:pPr marL="0" indent="0">
              <a:buNone/>
            </a:pPr>
            <a:r>
              <a:rPr lang="en-US" altLang="zh-CN" sz="2000" b="1" dirty="0"/>
              <a:t>RPN (Region Proposal Network) </a:t>
            </a:r>
            <a:r>
              <a:rPr lang="zh-CN" altLang="en-US" sz="2000" b="1" dirty="0"/>
              <a:t>区域提议网络</a:t>
            </a:r>
            <a:endParaRPr lang="en-US" altLang="zh-CN" sz="2000" b="1" dirty="0"/>
          </a:p>
          <a:p>
            <a:pPr>
              <a:buFont typeface="+mj-lt"/>
              <a:buAutoNum type="arabicPeriod"/>
            </a:pPr>
            <a:r>
              <a:rPr lang="zh-CN" altLang="en-US" sz="2000" dirty="0"/>
              <a:t>它直接挂载在提取好的特征图上</a:t>
            </a:r>
            <a:endParaRPr lang="zh-CN" altLang="en-US" sz="2000" dirty="0"/>
          </a:p>
          <a:p>
            <a:pPr>
              <a:buFont typeface="+mj-lt"/>
              <a:buAutoNum type="arabicPeriod"/>
            </a:pPr>
            <a:r>
              <a:rPr lang="zh-CN" altLang="en-US" sz="2000" dirty="0"/>
              <a:t>它在特征图上滑动，并使用一个轻量级的全连接层网络，</a:t>
            </a:r>
            <a:endParaRPr lang="en-US" altLang="zh-CN" sz="2000" dirty="0"/>
          </a:p>
          <a:p>
            <a:pPr marL="0" indent="0">
              <a:buNone/>
            </a:pPr>
            <a:r>
              <a:rPr lang="en-US" altLang="zh-CN" sz="2000" dirty="0"/>
              <a:t>   </a:t>
            </a:r>
            <a:r>
              <a:rPr lang="zh-CN" altLang="en-US" sz="2000" dirty="0"/>
              <a:t>快速判断每一个位置是否存在物体（前景？背景？）</a:t>
            </a:r>
            <a:endParaRPr lang="en-US" altLang="zh-CN" sz="2000" dirty="0"/>
          </a:p>
          <a:p>
            <a:pPr marL="0" indent="0">
              <a:buNone/>
            </a:pPr>
            <a:r>
              <a:rPr lang="en-US" altLang="zh-CN" sz="2000" dirty="0"/>
              <a:t>3.</a:t>
            </a:r>
            <a:r>
              <a:rPr lang="zh-CN" altLang="en-US" sz="2000" dirty="0"/>
              <a:t>它同时输出这些疑似物体的粗略边界框坐标</a:t>
            </a:r>
            <a:endParaRPr lang="en-US" altLang="zh-CN" sz="2000" dirty="0"/>
          </a:p>
          <a:p>
            <a:pPr marL="0" indent="0">
              <a:buNone/>
            </a:pPr>
            <a:endParaRPr lang="en-US" altLang="zh-CN" sz="2000" dirty="0"/>
          </a:p>
          <a:p>
            <a:pPr marL="0" indent="0">
              <a:buNone/>
            </a:pPr>
            <a:r>
              <a:rPr lang="en-US" altLang="zh-CN" sz="2000" b="1" dirty="0"/>
              <a:t>Anchor Boxes </a:t>
            </a:r>
            <a:r>
              <a:rPr lang="zh-CN" altLang="en-US" sz="2000" b="1" dirty="0"/>
              <a:t>先验框</a:t>
            </a:r>
            <a:r>
              <a:rPr lang="en-US" altLang="zh-CN" sz="2000" b="1" dirty="0"/>
              <a:t>/</a:t>
            </a:r>
            <a:r>
              <a:rPr lang="zh-CN" altLang="en-US" sz="2000" b="1" dirty="0"/>
              <a:t>锚框</a:t>
            </a:r>
            <a:endParaRPr lang="en-US" altLang="zh-CN" sz="2000" b="1" dirty="0"/>
          </a:p>
          <a:p>
            <a:r>
              <a:rPr lang="zh-CN" altLang="en-US" sz="2000" dirty="0"/>
              <a:t>它是一组预先设定好的、具有不同大小和长宽比的矩形框模板</a:t>
            </a:r>
            <a:endParaRPr lang="en-US" altLang="zh-CN" sz="2000" dirty="0"/>
          </a:p>
          <a:p>
            <a:r>
              <a:rPr lang="zh-CN" altLang="en-US" sz="2000" dirty="0"/>
              <a:t>在 </a:t>
            </a:r>
            <a:r>
              <a:rPr lang="en-US" altLang="zh-CN" sz="2000" dirty="0"/>
              <a:t>RPN </a:t>
            </a:r>
            <a:r>
              <a:rPr lang="zh-CN" altLang="en-US" sz="2000" dirty="0"/>
              <a:t>阶段，系统会在特征图的每一个像素点上，密集地铺设</a:t>
            </a:r>
            <a:r>
              <a:rPr lang="en-US" altLang="zh-CN" sz="2000" dirty="0"/>
              <a:t>k</a:t>
            </a:r>
            <a:r>
              <a:rPr lang="zh-CN" altLang="en-US" sz="2000" dirty="0"/>
              <a:t>个</a:t>
            </a:r>
            <a:r>
              <a:rPr lang="en-US" altLang="zh-CN" sz="2000" dirty="0"/>
              <a:t>Anchor </a:t>
            </a:r>
            <a:r>
              <a:rPr lang="zh-CN" altLang="en-US" sz="2000" dirty="0"/>
              <a:t>框</a:t>
            </a:r>
            <a:endParaRPr lang="en-US" altLang="zh-CN" sz="2000" dirty="0"/>
          </a:p>
          <a:p>
            <a:r>
              <a:rPr lang="zh-CN" altLang="en-US" sz="2000" dirty="0"/>
              <a:t>网络不再需要去凭空预测一个物体的绝对坐标，网络只需预测如何对这个模板</a:t>
            </a:r>
            <a:endParaRPr lang="en-US" altLang="zh-CN" sz="2000" dirty="0"/>
          </a:p>
          <a:p>
            <a:pPr marL="0" indent="0">
              <a:buNone/>
            </a:pPr>
            <a:r>
              <a:rPr lang="zh-CN" altLang="en-US" sz="2000" dirty="0"/>
              <a:t>进行轻微的平移和缩放就可以了，极大地降低了网络的学习难度</a:t>
            </a:r>
            <a:endParaRPr lang="zh-CN" altLang="en-US" sz="2000" dirty="0"/>
          </a:p>
        </p:txBody>
      </p:sp>
      <p:pic>
        <p:nvPicPr>
          <p:cNvPr id="6" name="图片 5"/>
          <p:cNvPicPr>
            <a:picLocks noChangeAspect="1"/>
          </p:cNvPicPr>
          <p:nvPr/>
        </p:nvPicPr>
        <p:blipFill>
          <a:blip r:embed="rId1"/>
          <a:stretch>
            <a:fillRect/>
          </a:stretch>
        </p:blipFill>
        <p:spPr>
          <a:xfrm>
            <a:off x="9290050" y="4407192"/>
            <a:ext cx="2063751" cy="1918608"/>
          </a:xfrm>
          <a:prstGeom prst="rect">
            <a:avLst/>
          </a:prstGeom>
        </p:spPr>
      </p:pic>
      <p:pic>
        <p:nvPicPr>
          <p:cNvPr id="7"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l="1" t="54759" r="54762" b="10449"/>
          <a:stretch>
            <a:fillRect/>
          </a:stretch>
        </p:blipFill>
        <p:spPr bwMode="auto">
          <a:xfrm>
            <a:off x="6854540" y="1952693"/>
            <a:ext cx="4499261" cy="230683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900" y="111125"/>
            <a:ext cx="10515600" cy="1325563"/>
          </a:xfrm>
        </p:spPr>
        <p:txBody>
          <a:bodyPr/>
          <a:lstStyle/>
          <a:p>
            <a:r>
              <a:rPr lang="en-US" altLang="zh-CN" dirty="0"/>
              <a:t>Faster R-CNN</a:t>
            </a:r>
            <a:r>
              <a:rPr lang="zh-CN" altLang="en-US" dirty="0"/>
              <a:t>训练流程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8900" y="1322386"/>
            <a:ext cx="12179300" cy="5329239"/>
          </a:xfrm>
        </p:spPr>
        <p:txBody>
          <a:bodyPr>
            <a:normAutofit/>
          </a:bodyPr>
          <a:lstStyle/>
          <a:p>
            <a:pPr marL="0" indent="0">
              <a:spcAft>
                <a:spcPts val="600"/>
              </a:spcAft>
              <a:buNone/>
            </a:pPr>
            <a:r>
              <a:rPr lang="en-US" altLang="zh-CN" sz="2000" b="1" dirty="0"/>
              <a:t>1</a:t>
            </a:r>
            <a:r>
              <a:rPr lang="zh-CN" altLang="en-US" sz="2000" b="1" dirty="0"/>
              <a:t>、特征提取 </a:t>
            </a:r>
            <a:r>
              <a:rPr lang="en-US" altLang="zh-CN" sz="2000" b="1" dirty="0"/>
              <a:t> Feature Extraction</a:t>
            </a:r>
            <a:endParaRPr lang="en-US" altLang="zh-CN" sz="2000" b="1" dirty="0"/>
          </a:p>
          <a:p>
            <a:pPr marL="0" indent="0">
              <a:spcAft>
                <a:spcPts val="600"/>
              </a:spcAft>
              <a:buNone/>
            </a:pPr>
            <a:r>
              <a:rPr lang="zh-CN" altLang="en-US" sz="2000" dirty="0"/>
              <a:t>一张完整的图片输入进深层 </a:t>
            </a:r>
            <a:r>
              <a:rPr lang="en-US" altLang="zh-CN" sz="2000" dirty="0"/>
              <a:t>CNN</a:t>
            </a:r>
            <a:r>
              <a:rPr lang="zh-CN" altLang="en-US" sz="2000" dirty="0"/>
              <a:t>，提取出整张图的高级特征图</a:t>
            </a:r>
            <a:endParaRPr lang="en-US" altLang="zh-CN" sz="2000" dirty="0"/>
          </a:p>
          <a:p>
            <a:pPr marL="0" indent="0">
              <a:spcAft>
                <a:spcPts val="600"/>
              </a:spcAft>
              <a:buNone/>
            </a:pPr>
            <a:r>
              <a:rPr lang="en-US" altLang="zh-CN" sz="2000" b="1" dirty="0"/>
              <a:t>2</a:t>
            </a:r>
            <a:r>
              <a:rPr lang="zh-CN" altLang="en-US" sz="2000" b="1" dirty="0"/>
              <a:t>、生成候选框 </a:t>
            </a:r>
            <a:r>
              <a:rPr lang="en-US" altLang="zh-CN" sz="2000" b="1" dirty="0"/>
              <a:t>RPN</a:t>
            </a:r>
            <a:endParaRPr lang="en-US" altLang="zh-CN" sz="2000" b="1" dirty="0"/>
          </a:p>
          <a:p>
            <a:pPr marL="0" indent="0">
              <a:spcAft>
                <a:spcPts val="600"/>
              </a:spcAft>
              <a:buNone/>
            </a:pPr>
            <a:r>
              <a:rPr lang="zh-CN" altLang="en-US" sz="2000" dirty="0"/>
              <a:t>特征图直接输入给 </a:t>
            </a:r>
            <a:r>
              <a:rPr lang="en-US" altLang="zh-CN" sz="2000" dirty="0"/>
              <a:t>RPN</a:t>
            </a:r>
            <a:r>
              <a:rPr lang="zh-CN" altLang="en-US" sz="2000" dirty="0"/>
              <a:t>，利用</a:t>
            </a:r>
            <a:r>
              <a:rPr lang="en-US" altLang="zh-CN" sz="2000" dirty="0"/>
              <a:t>Anchor</a:t>
            </a:r>
            <a:r>
              <a:rPr lang="zh-CN" altLang="en-US" sz="2000" dirty="0"/>
              <a:t>快速筛选出最有可能包含</a:t>
            </a:r>
            <a:endParaRPr lang="en-US" altLang="zh-CN" sz="2000" dirty="0"/>
          </a:p>
          <a:p>
            <a:pPr marL="0" indent="0">
              <a:spcAft>
                <a:spcPts val="600"/>
              </a:spcAft>
              <a:buNone/>
            </a:pPr>
            <a:r>
              <a:rPr lang="zh-CN" altLang="en-US" sz="2000" dirty="0"/>
              <a:t>物体的候选框，并过滤掉大量的纯背景区域</a:t>
            </a:r>
            <a:endParaRPr lang="en-US" altLang="zh-CN" sz="2000" dirty="0"/>
          </a:p>
          <a:p>
            <a:pPr marL="0" indent="0">
              <a:spcAft>
                <a:spcPts val="600"/>
              </a:spcAft>
              <a:buNone/>
            </a:pPr>
            <a:r>
              <a:rPr lang="en-US" altLang="zh-CN" sz="2000" b="1" dirty="0"/>
              <a:t>3</a:t>
            </a:r>
            <a:r>
              <a:rPr lang="zh-CN" altLang="en-US" sz="2000" b="1" dirty="0"/>
              <a:t>、特征规格化 </a:t>
            </a:r>
            <a:r>
              <a:rPr lang="en-US" altLang="zh-CN" sz="2000" b="1" dirty="0" err="1"/>
              <a:t>RoI</a:t>
            </a:r>
            <a:r>
              <a:rPr lang="en-US" altLang="zh-CN" sz="2000" b="1" dirty="0"/>
              <a:t> Pooling</a:t>
            </a:r>
            <a:endParaRPr lang="en-US" altLang="zh-CN" sz="2000" b="1" dirty="0"/>
          </a:p>
          <a:p>
            <a:pPr marL="0" indent="0">
              <a:spcAft>
                <a:spcPts val="600"/>
              </a:spcAft>
              <a:buNone/>
            </a:pPr>
            <a:r>
              <a:rPr lang="zh-CN" altLang="en-US" sz="2000" dirty="0"/>
              <a:t>系统将这些位置映射回刚才的第一步提取出的特征图上，抠出对</a:t>
            </a:r>
            <a:endParaRPr lang="en-US" altLang="zh-CN" sz="2000" dirty="0"/>
          </a:p>
          <a:p>
            <a:pPr marL="0" indent="0">
              <a:spcAft>
                <a:spcPts val="600"/>
              </a:spcAft>
              <a:buNone/>
            </a:pPr>
            <a:r>
              <a:rPr lang="zh-CN" altLang="en-US" sz="2000" dirty="0"/>
              <a:t>应的特征，并压缩成统一大小的向量</a:t>
            </a:r>
            <a:endParaRPr lang="en-US" altLang="zh-CN" sz="2000" dirty="0"/>
          </a:p>
          <a:p>
            <a:pPr marL="0" indent="0">
              <a:spcAft>
                <a:spcPts val="600"/>
              </a:spcAft>
              <a:buNone/>
            </a:pPr>
            <a:r>
              <a:rPr lang="en-US" altLang="zh-CN" sz="2000" b="1" dirty="0"/>
              <a:t>4</a:t>
            </a:r>
            <a:r>
              <a:rPr lang="zh-CN" altLang="en-US" sz="2000" b="1" dirty="0"/>
              <a:t>、最终分类与回归 </a:t>
            </a:r>
            <a:r>
              <a:rPr lang="en-US" altLang="zh-CN" sz="2000" b="1" dirty="0"/>
              <a:t> Classifier &amp; Regressor</a:t>
            </a:r>
            <a:endParaRPr lang="en-US" altLang="zh-CN" sz="2000" b="1" dirty="0"/>
          </a:p>
          <a:p>
            <a:pPr marL="0" indent="0">
              <a:spcAft>
                <a:spcPts val="600"/>
              </a:spcAft>
              <a:buNone/>
            </a:pPr>
            <a:r>
              <a:rPr lang="zh-CN" altLang="en-US" sz="2000" dirty="0"/>
              <a:t>这些统一维度的特征向量最后进入全连接层，进行最终的类别判</a:t>
            </a:r>
            <a:endParaRPr lang="en-US" altLang="zh-CN" sz="2000" dirty="0"/>
          </a:p>
          <a:p>
            <a:pPr marL="0" indent="0">
              <a:spcAft>
                <a:spcPts val="600"/>
              </a:spcAft>
              <a:buNone/>
            </a:pPr>
            <a:r>
              <a:rPr lang="zh-CN" altLang="en-US" sz="2000" dirty="0"/>
              <a:t>定和第二次边界框的极度精密微调</a:t>
            </a:r>
            <a:endParaRPr lang="zh-CN" altLang="en-US" sz="2000" dirty="0"/>
          </a:p>
        </p:txBody>
      </p:sp>
      <p:pic>
        <p:nvPicPr>
          <p:cNvPr id="6" name="图片 5"/>
          <p:cNvPicPr>
            <a:picLocks noChangeAspect="1"/>
          </p:cNvPicPr>
          <p:nvPr/>
        </p:nvPicPr>
        <p:blipFill>
          <a:blip r:embed="rId1"/>
          <a:stretch>
            <a:fillRect/>
          </a:stretch>
        </p:blipFill>
        <p:spPr>
          <a:xfrm>
            <a:off x="7469473" y="1873250"/>
            <a:ext cx="4722527" cy="3987800"/>
          </a:xfrm>
          <a:prstGeom prst="rect">
            <a:avLst/>
          </a:prstGeom>
        </p:spPr>
      </p:pic>
    </p:spTree>
  </p:cSld>
  <p:clrMapOvr>
    <a:masterClrMapping/>
  </p:clrMapOvr>
  <p:transition spd="me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4072" y="227923"/>
            <a:ext cx="8380024" cy="1034676"/>
          </a:xfrm>
        </p:spPr>
        <p:txBody>
          <a:bodyPr/>
          <a:lstStyle/>
          <a:p>
            <a:r>
              <a:rPr lang="en-US" altLang="zh-CN" dirty="0"/>
              <a:t>Faster R-CNN</a:t>
            </a:r>
            <a:r>
              <a:rPr lang="zh-CN" altLang="en-US" dirty="0"/>
              <a:t>训练流程</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13316" name="Picture 4" descr="图片预览"/>
          <p:cNvPicPr>
            <a:picLocks noChangeAspect="1" noChangeArrowheads="1"/>
          </p:cNvPicPr>
          <p:nvPr/>
        </p:nvPicPr>
        <p:blipFill rotWithShape="1">
          <a:blip r:embed="rId1">
            <a:extLst>
              <a:ext uri="{28A0092B-C50C-407E-A947-70E740481C1C}">
                <a14:useLocalDpi xmlns:a14="http://schemas.microsoft.com/office/drawing/2010/main" val="0"/>
              </a:ext>
            </a:extLst>
          </a:blip>
          <a:srcRect l="908" t="13068" r="666" b="44283"/>
          <a:stretch>
            <a:fillRect/>
          </a:stretch>
        </p:blipFill>
        <p:spPr bwMode="auto">
          <a:xfrm>
            <a:off x="121613" y="2071025"/>
            <a:ext cx="11948774" cy="345170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01372" y="358457"/>
            <a:ext cx="10515600" cy="1325563"/>
          </a:xfrm>
        </p:spPr>
        <p:txBody>
          <a:bodyPr/>
          <a:lstStyle/>
          <a:p>
            <a:r>
              <a:rPr lang="en-US" altLang="zh-CN" b="1" dirty="0"/>
              <a:t>R-CNN</a:t>
            </a:r>
            <a:r>
              <a:rPr lang="en-US" altLang="zh-CN" dirty="0"/>
              <a:t> vs </a:t>
            </a:r>
            <a:r>
              <a:rPr lang="en-US" altLang="zh-CN" b="1" dirty="0"/>
              <a:t>Fast R-CNN </a:t>
            </a:r>
            <a:r>
              <a:rPr lang="en-US" altLang="zh-CN" dirty="0"/>
              <a:t>vs </a:t>
            </a:r>
            <a:r>
              <a:rPr lang="en-US" altLang="zh-CN" b="1" dirty="0"/>
              <a:t>Faster R-CNN</a:t>
            </a:r>
            <a:endParaRPr lang="zh-CN" altLang="en-US" b="1"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graphicFrame>
        <p:nvGraphicFramePr>
          <p:cNvPr id="6" name="表格 5"/>
          <p:cNvGraphicFramePr>
            <a:graphicFrameLocks noGrp="1"/>
          </p:cNvGraphicFramePr>
          <p:nvPr/>
        </p:nvGraphicFramePr>
        <p:xfrm>
          <a:off x="0" y="2419112"/>
          <a:ext cx="12158133" cy="3596640"/>
        </p:xfrm>
        <a:graphic>
          <a:graphicData uri="http://schemas.openxmlformats.org/drawingml/2006/table">
            <a:tbl>
              <a:tblPr firstRow="1" firstCol="1">
                <a:tableStyleId>{CF821DB8-F4EB-4A41-A1BA-3FCAFE7338EE}</a:tableStyleId>
              </a:tblPr>
              <a:tblGrid>
                <a:gridCol w="1735874"/>
                <a:gridCol w="2770375"/>
                <a:gridCol w="4085301"/>
                <a:gridCol w="3566583"/>
              </a:tblGrid>
              <a:tr h="0">
                <a:tc>
                  <a:txBody>
                    <a:bodyPr/>
                    <a:lstStyle/>
                    <a:p>
                      <a:pPr marL="0" algn="ctr">
                        <a:spcBef>
                          <a:spcPts val="0"/>
                        </a:spcBef>
                        <a:spcAft>
                          <a:spcPts val="0"/>
                        </a:spcAft>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对比维度</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algn="ctr">
                        <a:spcBef>
                          <a:spcPts val="0"/>
                        </a:spcBef>
                        <a:spcAft>
                          <a:spcPts val="0"/>
                        </a:spcAft>
                      </a:pPr>
                      <a:r>
                        <a:rPr lang="en-US" altLang="zh-CN" sz="2000" dirty="0">
                          <a:latin typeface="微软雅黑" panose="020B0503020204020204" pitchFamily="34" charset="-122"/>
                          <a:ea typeface="微软雅黑" panose="020B0503020204020204" pitchFamily="34" charset="-122"/>
                        </a:rPr>
                        <a:t>R-CNN</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2000" b="1" i="0" u="none" strike="noStrike" cap="none" spc="0" baseline="0" dirty="0">
                          <a:solidFill>
                            <a:srgbClr val="FFFFFF"/>
                          </a:solidFill>
                          <a:uFillTx/>
                          <a:latin typeface="微软雅黑" panose="020B0503020204020204" pitchFamily="34" charset="-122"/>
                          <a:ea typeface="微软雅黑" panose="020B0503020204020204" pitchFamily="34" charset="-122"/>
                          <a:sym typeface="等线" panose="02010600030101010101" charset="-122"/>
                        </a:rPr>
                        <a:t>Fast R-CNN</a:t>
                      </a:r>
                      <a:endParaRPr lang="zh-CN" altLang="en-US" sz="20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en-US" altLang="zh-CN" sz="2000" b="1" i="0" u="none" strike="noStrike" cap="none" spc="0" baseline="0" dirty="0">
                          <a:solidFill>
                            <a:srgbClr val="FFFFFF"/>
                          </a:solidFill>
                          <a:uFillTx/>
                          <a:latin typeface="微软雅黑" panose="020B0503020204020204" pitchFamily="34" charset="-122"/>
                          <a:ea typeface="微软雅黑" panose="020B0503020204020204" pitchFamily="34" charset="-122"/>
                          <a:sym typeface="等线" panose="02010600030101010101" charset="-122"/>
                        </a:rPr>
                        <a:t>Faster R-CNN </a:t>
                      </a:r>
                      <a:endParaRPr lang="zh-CN" altLang="en-US" sz="2000" b="1"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候选区域生成</a:t>
                      </a:r>
                      <a:endPar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Selective Search </a:t>
                      </a:r>
                      <a:endPar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Selective Search </a:t>
                      </a:r>
                      <a:endPar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RPN</a:t>
                      </a:r>
                      <a:endPar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特征提取方式</a:t>
                      </a:r>
                      <a:endPar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独立提取</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整图共享</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整图共享</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algn="ctr">
                        <a:spcBef>
                          <a:spcPts val="0"/>
                        </a:spcBef>
                        <a:spcAft>
                          <a:spcPts val="0"/>
                        </a:spcAft>
                      </a:pPr>
                      <a:r>
                        <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分类器</a:t>
                      </a:r>
                      <a:endPar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独立的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SVM</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分类器</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网络尾部的 </a:t>
                      </a:r>
                      <a:r>
                        <a:rPr lang="en-US" altLang="zh-CN" sz="2000" b="0" i="0" u="none" strike="noStrike" cap="none" spc="0" baseline="0" dirty="0" err="1">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Softmax</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分类层</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endPar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网络尾部的 </a:t>
                      </a:r>
                      <a:r>
                        <a:rPr lang="en-US" altLang="zh-CN" sz="2000" b="0" i="0" u="none" strike="noStrike" cap="none" spc="0" baseline="0" dirty="0" err="1">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Softmax</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分类层</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p>
                      <a:pPr marL="0" marR="0" indent="0" algn="ctr" defTabSz="914400" rtl="0" eaLnBrk="1" latinLnBrk="0" hangingPunct="1">
                        <a:lnSpc>
                          <a:spcPct val="100000"/>
                        </a:lnSpc>
                        <a:spcBef>
                          <a:spcPts val="0"/>
                        </a:spcBef>
                        <a:spcAft>
                          <a:spcPts val="0"/>
                        </a:spcAft>
                        <a:buClrTx/>
                        <a:buSzTx/>
                        <a:buFontTx/>
                        <a:buNone/>
                      </a:pP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algn="ctr">
                        <a:buNone/>
                      </a:pPr>
                      <a:r>
                        <a:rPr lang="zh-CN" altLang="en-US" sz="2000" b="0" dirty="0">
                          <a:latin typeface="微软雅黑" panose="020B0503020204020204" pitchFamily="34" charset="-122"/>
                          <a:ea typeface="微软雅黑" panose="020B0503020204020204" pitchFamily="34" charset="-122"/>
                          <a:cs typeface="Arial" panose="020B0604020202020204" pitchFamily="34" charset="0"/>
                          <a:sym typeface="+mn-ea"/>
                        </a:rPr>
                        <a:t>边界框回归 </a:t>
                      </a:r>
                      <a:endParaRPr lang="zh-CN" altLang="en-US" sz="2000" b="0" dirty="0">
                        <a:latin typeface="微软雅黑" panose="020B0503020204020204" pitchFamily="34" charset="-122"/>
                        <a:ea typeface="微软雅黑" panose="020B0503020204020204" pitchFamily="34" charset="-122"/>
                        <a:cs typeface="Arial" panose="020B0604020202020204" pitchFamily="34" charset="0"/>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独立的线性回归模型</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与分类器并行的全连接层回归网络</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RPN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粗略回归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 </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全连接层精细回归 </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a:t>
                      </a: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两次回归</a:t>
                      </a:r>
                      <a:r>
                        <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a:t>
                      </a:r>
                      <a:endParaRPr lang="en-US" altLang="zh-CN"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p>
                      <a:pPr algn="ctr">
                        <a:buNone/>
                      </a:pP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r h="0">
                <a:tc>
                  <a:txBody>
                    <a:bodyPr/>
                    <a:lstStyle/>
                    <a:p>
                      <a:pPr marL="0" marR="0" indent="0" algn="ctr" defTabSz="914400" rtl="0" eaLnBrk="1" latinLnBrk="0" hangingPunct="1">
                        <a:lnSpc>
                          <a:spcPct val="100000"/>
                        </a:lnSpc>
                        <a:spcBef>
                          <a:spcPts val="0"/>
                        </a:spcBef>
                        <a:spcAft>
                          <a:spcPts val="0"/>
                        </a:spcAft>
                        <a:buClrTx/>
                        <a:buSzTx/>
                        <a:buFontTx/>
                        <a:buNone/>
                      </a:pPr>
                      <a:r>
                        <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rPr>
                        <a:t>训练方式</a:t>
                      </a:r>
                      <a:endParaRPr lang="zh-CN" altLang="en-US" sz="2000" b="0" i="0" u="none" strike="noStrike" cap="none" spc="0" baseline="0" dirty="0">
                        <a:solidFill>
                          <a:srgbClr val="FFFFFF"/>
                        </a:solidFill>
                        <a:uFillTx/>
                        <a:latin typeface="微软雅黑" panose="020B0503020204020204" pitchFamily="34" charset="-122"/>
                        <a:ea typeface="微软雅黑" panose="020B0503020204020204" pitchFamily="34" charset="-122"/>
                        <a:cs typeface="Arial" panose="020B0604020202020204" pitchFamily="34"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多阶段训练</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多任务联合训练 </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buNone/>
                      </a:pPr>
                      <a:r>
                        <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rPr>
                        <a:t>端到端</a:t>
                      </a:r>
                      <a:endParaRPr lang="zh-CN" altLang="en-US" sz="2000" b="0" i="0" u="none" strike="noStrike" cap="none" spc="0" baseline="0" dirty="0">
                        <a:solidFill>
                          <a:srgbClr val="000000"/>
                        </a:solidFill>
                        <a:uFillTx/>
                        <a:latin typeface="微软雅黑" panose="020B0503020204020204" pitchFamily="34" charset="-122"/>
                        <a:ea typeface="微软雅黑" panose="020B0503020204020204" pitchFamily="34" charset="-122"/>
                        <a:cs typeface="Times New Roman" panose="02020603050405020304" pitchFamily="18" charset="0"/>
                        <a:sym typeface="等线" panose="02010600030101010101" charset="-122"/>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p:transition spd="me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5469" y="71521"/>
            <a:ext cx="10515600" cy="1325563"/>
          </a:xfrm>
        </p:spPr>
        <p:txBody>
          <a:bodyPr/>
          <a:lstStyle/>
          <a:p>
            <a:r>
              <a:rPr lang="en-US" altLang="zh-CN" dirty="0"/>
              <a:t>YOLO</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53670" y="1397000"/>
            <a:ext cx="11140440" cy="5529580"/>
          </a:xfrm>
        </p:spPr>
        <p:txBody>
          <a:bodyPr>
            <a:normAutofit/>
          </a:bodyPr>
          <a:lstStyle/>
          <a:p>
            <a:r>
              <a:rPr lang="en-US" altLang="zh-CN" sz="2000" b="1" dirty="0"/>
              <a:t>YOLO</a:t>
            </a:r>
            <a:r>
              <a:rPr lang="zh-CN" altLang="en-US" sz="2000" b="1" dirty="0">
                <a:latin typeface="geistSans"/>
              </a:rPr>
              <a:t>的基本定义</a:t>
            </a:r>
            <a:endParaRPr lang="en-US" altLang="zh-CN" sz="2000" b="1" dirty="0">
              <a:latin typeface="geistSans"/>
            </a:endParaRPr>
          </a:p>
          <a:p>
            <a:pPr marL="0" indent="0" fontAlgn="auto">
              <a:lnSpc>
                <a:spcPct val="120000"/>
              </a:lnSpc>
              <a:buNone/>
            </a:pPr>
            <a:r>
              <a:rPr lang="zh-CN" altLang="en-US" sz="2000" dirty="0">
                <a:latin typeface="geistSans"/>
              </a:rPr>
              <a:t>全称是 </a:t>
            </a:r>
            <a:r>
              <a:rPr lang="en-US" altLang="zh-CN" sz="2000" dirty="0"/>
              <a:t>You Only Look Once</a:t>
            </a:r>
            <a:r>
              <a:rPr lang="zh-CN" altLang="en-US" sz="2000" dirty="0">
                <a:latin typeface="geistSans"/>
              </a:rPr>
              <a:t>，是目标</a:t>
            </a:r>
            <a:r>
              <a:rPr lang="zh-CN" altLang="en-US" sz="2000" b="0" i="0" dirty="0">
                <a:effectLst/>
                <a:latin typeface="geistSans"/>
              </a:rPr>
              <a:t>检测里非常经典的一类算法</a:t>
            </a:r>
            <a:r>
              <a:rPr lang="zh-CN" altLang="en-US" sz="2000" dirty="0">
                <a:latin typeface="geistSans"/>
              </a:rPr>
              <a:t>，</a:t>
            </a:r>
            <a:r>
              <a:rPr lang="zh-CN" altLang="en-US" sz="2000" b="0" i="0" dirty="0">
                <a:effectLst/>
                <a:latin typeface="geistSans"/>
              </a:rPr>
              <a:t>把目标检测当成一个端到端的回归问题，一次前向传播就同时预测出物体的位置和类别</a:t>
            </a:r>
            <a:r>
              <a:rPr lang="en-US" altLang="zh-CN" sz="2000" dirty="0">
                <a:latin typeface="geistSans"/>
              </a:rPr>
              <a:t>,</a:t>
            </a:r>
            <a:r>
              <a:rPr lang="zh-CN" altLang="en-US" sz="2000" dirty="0">
                <a:latin typeface="geistSans"/>
              </a:rPr>
              <a:t>即 </a:t>
            </a:r>
            <a:r>
              <a:rPr lang="en-US" altLang="zh-CN" sz="2000" dirty="0"/>
              <a:t>YOLO</a:t>
            </a:r>
            <a:r>
              <a:rPr lang="en-US" altLang="zh-CN" sz="2000" dirty="0">
                <a:latin typeface="geistSans"/>
              </a:rPr>
              <a:t> </a:t>
            </a:r>
            <a:r>
              <a:rPr lang="zh-CN" altLang="en-US" sz="2000" dirty="0">
                <a:latin typeface="geistSans"/>
              </a:rPr>
              <a:t>是直接看整张图，然后一次性输出所有检测框</a:t>
            </a:r>
            <a:endParaRPr lang="zh-CN" altLang="en-US" sz="2000" dirty="0">
              <a:latin typeface="geistSans"/>
            </a:endParaRPr>
          </a:p>
          <a:p>
            <a:pPr marL="0" indent="0" fontAlgn="auto">
              <a:lnSpc>
                <a:spcPct val="120000"/>
              </a:lnSpc>
              <a:buNone/>
            </a:pPr>
            <a:endParaRPr lang="en-US" altLang="zh-CN" sz="2000" dirty="0">
              <a:latin typeface="geistSans"/>
            </a:endParaRPr>
          </a:p>
          <a:p>
            <a:r>
              <a:rPr lang="en-US" altLang="zh-CN" sz="2000" b="1" dirty="0"/>
              <a:t>YOLO</a:t>
            </a:r>
            <a:r>
              <a:rPr lang="zh-CN" altLang="en-US" sz="2000" b="1" dirty="0"/>
              <a:t>基本思想</a:t>
            </a:r>
            <a:endParaRPr lang="en-US" altLang="zh-CN" sz="2000" dirty="0"/>
          </a:p>
          <a:p>
            <a:pPr marL="0" indent="0">
              <a:buNone/>
            </a:pPr>
            <a:r>
              <a:rPr lang="zh-CN" altLang="en-US" sz="2000" dirty="0"/>
              <a:t>它会把输入图像划分成一个网格，每个网格负责预测</a:t>
            </a:r>
            <a:r>
              <a:rPr lang="zh-CN" altLang="en-US" sz="2000" b="1" dirty="0"/>
              <a:t>边界框位置、置信度、类别概率</a:t>
            </a:r>
            <a:endParaRPr lang="zh-CN" altLang="en-US" sz="2000" b="1" dirty="0"/>
          </a:p>
          <a:p>
            <a:pPr marL="0" indent="0">
              <a:buNone/>
            </a:pPr>
            <a:endParaRPr lang="en-US" altLang="zh-CN" sz="2000" b="1" dirty="0"/>
          </a:p>
          <a:p>
            <a:r>
              <a:rPr lang="en-US" altLang="zh-CN" sz="2000" b="1" dirty="0"/>
              <a:t>YOLO</a:t>
            </a:r>
            <a:r>
              <a:rPr lang="zh-CN" altLang="en-US" sz="2000" b="1" dirty="0"/>
              <a:t>的预测输出</a:t>
            </a:r>
            <a:endParaRPr lang="en-US" altLang="zh-CN" sz="2000" dirty="0"/>
          </a:p>
          <a:p>
            <a:r>
              <a:rPr lang="en-US" altLang="zh-CN" sz="2000" dirty="0"/>
              <a:t>x, y</a:t>
            </a:r>
            <a:r>
              <a:rPr lang="zh-CN" altLang="en-US" sz="2000" dirty="0"/>
              <a:t>：框中心点坐标</a:t>
            </a:r>
            <a:endParaRPr lang="zh-CN" altLang="en-US" sz="2000" dirty="0"/>
          </a:p>
          <a:p>
            <a:r>
              <a:rPr lang="en-US" altLang="zh-CN" sz="2000" dirty="0"/>
              <a:t>w, h</a:t>
            </a:r>
            <a:r>
              <a:rPr lang="zh-CN" altLang="en-US" sz="2000" dirty="0"/>
              <a:t>：框的宽和高</a:t>
            </a:r>
            <a:endParaRPr lang="zh-CN" altLang="en-US" sz="2000" dirty="0"/>
          </a:p>
          <a:p>
            <a:r>
              <a:rPr lang="en-US" altLang="zh-CN" sz="2000" dirty="0" err="1"/>
              <a:t>objectness</a:t>
            </a:r>
            <a:r>
              <a:rPr lang="zh-CN" altLang="en-US" sz="2000" dirty="0"/>
              <a:t>：这个框里是否有物体的置信度</a:t>
            </a:r>
            <a:endParaRPr lang="zh-CN" altLang="en-US" sz="2000" dirty="0"/>
          </a:p>
          <a:p>
            <a:r>
              <a:rPr lang="en-US" altLang="zh-CN" sz="2000" dirty="0"/>
              <a:t>class probabilities</a:t>
            </a:r>
            <a:r>
              <a:rPr lang="zh-CN" altLang="en-US" sz="2000" dirty="0"/>
              <a:t>：属于每个类别的概率</a:t>
            </a:r>
            <a:endParaRPr lang="zh-CN" altLang="en-US" sz="2000" dirty="0"/>
          </a:p>
          <a:p>
            <a:pPr marL="0" indent="0">
              <a:buNone/>
            </a:pPr>
            <a:endParaRPr lang="en-US" altLang="zh-CN" sz="2000" b="1" dirty="0">
              <a:latin typeface="geistSans"/>
            </a:endParaRPr>
          </a:p>
        </p:txBody>
      </p:sp>
    </p:spTree>
  </p:cSld>
  <p:clrMapOvr>
    <a:masterClrMapping/>
  </p:clrMapOvr>
  <p:transition spd="me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YOLO</a:t>
            </a:r>
            <a:r>
              <a:rPr lang="zh-CN" altLang="en-US" dirty="0"/>
              <a:t>的网络结构</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normAutofit/>
          </a:bodyPr>
          <a:lstStyle/>
          <a:p>
            <a:r>
              <a:rPr lang="zh-CN" altLang="en-US" sz="2000" dirty="0"/>
              <a:t>骨干网络 </a:t>
            </a:r>
            <a:r>
              <a:rPr lang="en-US" altLang="zh-CN" sz="2000" dirty="0"/>
              <a:t>Backbone</a:t>
            </a:r>
            <a:r>
              <a:rPr lang="zh-CN" altLang="en-US" sz="2000" dirty="0"/>
              <a:t>：负责提取图像特征</a:t>
            </a:r>
            <a:endParaRPr lang="en-US" altLang="zh-CN" sz="2000" dirty="0"/>
          </a:p>
          <a:p>
            <a:r>
              <a:rPr lang="zh-CN" altLang="en-US" sz="2000" dirty="0"/>
              <a:t>颈部网络 </a:t>
            </a:r>
            <a:r>
              <a:rPr lang="en-US" altLang="zh-CN" sz="2000" dirty="0"/>
              <a:t>Neck</a:t>
            </a:r>
            <a:r>
              <a:rPr lang="zh-CN" altLang="en-US" sz="2000" dirty="0"/>
              <a:t>：负责融合不同尺度的特征</a:t>
            </a:r>
            <a:endParaRPr lang="en-US" altLang="zh-CN" sz="2000" dirty="0"/>
          </a:p>
          <a:p>
            <a:r>
              <a:rPr lang="zh-CN" altLang="en-US" sz="2000" dirty="0"/>
              <a:t>头部网络 </a:t>
            </a:r>
            <a:r>
              <a:rPr lang="en-US" altLang="zh-CN" sz="2000" dirty="0"/>
              <a:t>Head</a:t>
            </a:r>
            <a:r>
              <a:rPr lang="zh-CN" altLang="en-US" sz="2000" dirty="0"/>
              <a:t>：负责最终预测</a:t>
            </a:r>
            <a:endParaRPr lang="zh-CN" altLang="en-US" sz="2000" dirty="0"/>
          </a:p>
        </p:txBody>
      </p:sp>
      <p:pic>
        <p:nvPicPr>
          <p:cNvPr id="5" name="图片 4"/>
          <p:cNvPicPr>
            <a:picLocks noChangeAspect="1"/>
          </p:cNvPicPr>
          <p:nvPr/>
        </p:nvPicPr>
        <p:blipFill>
          <a:blip r:embed="rId1"/>
          <a:stretch>
            <a:fillRect/>
          </a:stretch>
        </p:blipFill>
        <p:spPr>
          <a:xfrm>
            <a:off x="704850" y="4102312"/>
            <a:ext cx="10610850" cy="2609850"/>
          </a:xfrm>
          <a:prstGeom prst="rect">
            <a:avLst/>
          </a:prstGeom>
        </p:spPr>
      </p:pic>
      <p:sp>
        <p:nvSpPr>
          <p:cNvPr id="6" name="文本框 5"/>
          <p:cNvSpPr txBox="1"/>
          <p:nvPr/>
        </p:nvSpPr>
        <p:spPr>
          <a:xfrm>
            <a:off x="6529862" y="747594"/>
            <a:ext cx="5164299" cy="276987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输入图像</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CNN / Backbone 提取特征</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检测头直接输出边界框、类别、置信度</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NMS 后处理</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  ↓</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最终检测结果</a:t>
            </a:r>
            <a:endParaRPr lang="zh-CN" altLang="en-US" sz="2000" dirty="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spd="me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2550" y="47624"/>
            <a:ext cx="10515600" cy="1325563"/>
          </a:xfrm>
        </p:spPr>
        <p:txBody>
          <a:bodyPr/>
          <a:lstStyle/>
          <a:p>
            <a:r>
              <a:rPr lang="en-US" altLang="zh-CN" dirty="0"/>
              <a:t>YOLO</a:t>
            </a:r>
            <a:r>
              <a:rPr lang="zh-CN" altLang="en-US" dirty="0"/>
              <a:t>的演进</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48272" y="1322387"/>
            <a:ext cx="11140214" cy="4351338"/>
          </a:xfrm>
        </p:spPr>
        <p:txBody>
          <a:bodyPr/>
          <a:lstStyle/>
          <a:p>
            <a:pPr marL="0" indent="0">
              <a:buNone/>
            </a:pPr>
            <a:r>
              <a:rPr lang="zh-CN" altLang="en-US" b="0" i="0" dirty="0">
                <a:effectLst/>
                <a:latin typeface="geistSans"/>
              </a:rPr>
              <a:t>每版本都保留相同的 </a:t>
            </a:r>
            <a:r>
              <a:rPr lang="en-US" altLang="zh-CN" dirty="0">
                <a:latin typeface="geistSans"/>
                <a:sym typeface="等线 Light" panose="02010600030101010101" charset="-122"/>
              </a:rPr>
              <a:t>backbone → neck → head </a:t>
            </a:r>
            <a:r>
              <a:rPr lang="zh-CN" altLang="en-US" b="0" i="0" dirty="0">
                <a:effectLst/>
                <a:latin typeface="geistSans"/>
              </a:rPr>
              <a:t>骨架并改变特定阶段</a:t>
            </a:r>
            <a:endParaRPr lang="zh-CN" altLang="en-US" dirty="0"/>
          </a:p>
        </p:txBody>
      </p:sp>
      <p:pic>
        <p:nvPicPr>
          <p:cNvPr id="11" name="图片 10"/>
          <p:cNvPicPr>
            <a:picLocks noChangeAspect="1"/>
          </p:cNvPicPr>
          <p:nvPr/>
        </p:nvPicPr>
        <p:blipFill>
          <a:blip r:embed="rId1"/>
          <a:stretch>
            <a:fillRect/>
          </a:stretch>
        </p:blipFill>
        <p:spPr>
          <a:xfrm>
            <a:off x="283211" y="2172652"/>
            <a:ext cx="11125200" cy="4067175"/>
          </a:xfrm>
          <a:prstGeom prst="rect">
            <a:avLst/>
          </a:prstGeom>
        </p:spPr>
      </p:pic>
    </p:spTree>
  </p:cSld>
  <p:clrMapOvr>
    <a:masterClrMapping/>
  </p:clrMapOvr>
  <p:transition spd="me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7322" y="316158"/>
            <a:ext cx="10515600" cy="1325563"/>
          </a:xfrm>
        </p:spPr>
        <p:txBody>
          <a:bodyPr/>
          <a:lstStyle/>
          <a:p>
            <a:r>
              <a:rPr lang="en-US" altLang="zh-CN" dirty="0"/>
              <a:t>YOLO3</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67322" y="1888461"/>
            <a:ext cx="11140214" cy="4351338"/>
          </a:xfrm>
        </p:spPr>
        <p:txBody>
          <a:bodyPr>
            <a:normAutofit/>
          </a:bodyPr>
          <a:lstStyle/>
          <a:p>
            <a:r>
              <a:rPr lang="zh-CN" altLang="en-US" sz="2000" dirty="0"/>
              <a:t>输入端：把图片缩放或裁剪成特定尺寸的大小</a:t>
            </a:r>
            <a:endParaRPr lang="en-US" altLang="zh-CN" sz="2000" dirty="0"/>
          </a:p>
          <a:p>
            <a:r>
              <a:rPr lang="zh-CN" altLang="en-US" sz="2000" dirty="0"/>
              <a:t>网络主干 </a:t>
            </a:r>
            <a:r>
              <a:rPr lang="en-US" altLang="zh-CN" sz="2000" dirty="0"/>
              <a:t>(Backbone)</a:t>
            </a:r>
            <a:r>
              <a:rPr lang="zh-CN" altLang="en-US" sz="2000" dirty="0"/>
              <a:t>：</a:t>
            </a:r>
            <a:r>
              <a:rPr lang="en-US" altLang="zh-CN" sz="2000" dirty="0"/>
              <a:t>Darknet-53</a:t>
            </a:r>
            <a:endParaRPr lang="en-US" altLang="zh-CN" sz="2000" dirty="0"/>
          </a:p>
          <a:p>
            <a:pPr marL="838200" lvl="1" indent="-342900">
              <a:buFont typeface="Wingdings" panose="05000000000000000000" pitchFamily="2" charset="2"/>
              <a:buChar char="ü"/>
            </a:pPr>
            <a:r>
              <a:rPr lang="zh-CN" altLang="en-US" sz="2000" dirty="0"/>
              <a:t>图像在这个阶段，要经历 </a:t>
            </a:r>
            <a:r>
              <a:rPr lang="en-US" altLang="zh-CN" sz="2000" dirty="0"/>
              <a:t>5 </a:t>
            </a:r>
            <a:r>
              <a:rPr lang="zh-CN" altLang="en-US" sz="2000" dirty="0"/>
              <a:t>次“步长为 </a:t>
            </a:r>
            <a:r>
              <a:rPr lang="en-US" altLang="zh-CN" sz="2000" dirty="0"/>
              <a:t>2 </a:t>
            </a:r>
            <a:r>
              <a:rPr lang="zh-CN" altLang="en-US" sz="2000" dirty="0"/>
              <a:t>的下采样”</a:t>
            </a:r>
            <a:endParaRPr lang="en-US" altLang="zh-CN" sz="2000" dirty="0"/>
          </a:p>
          <a:p>
            <a:pPr marL="838200" lvl="1" indent="-342900">
              <a:buFont typeface="Wingdings" panose="05000000000000000000" pitchFamily="2" charset="2"/>
              <a:buChar char="ü"/>
            </a:pPr>
            <a:r>
              <a:rPr lang="zh-CN" altLang="en-US" sz="2000" dirty="0"/>
              <a:t>然后经过</a:t>
            </a:r>
            <a:r>
              <a:rPr lang="en-US" altLang="zh-CN" sz="2000" dirty="0"/>
              <a:t>53</a:t>
            </a:r>
            <a:r>
              <a:rPr lang="zh-CN" altLang="en-US" sz="2000" dirty="0"/>
              <a:t>层卷积的网络，并利用残差结构</a:t>
            </a:r>
            <a:endParaRPr lang="en-US" altLang="zh-CN" sz="2000" dirty="0"/>
          </a:p>
          <a:p>
            <a:r>
              <a:rPr lang="zh-CN" altLang="en-US" sz="2000" dirty="0"/>
              <a:t>特征融合颈部 </a:t>
            </a:r>
            <a:r>
              <a:rPr lang="en-US" altLang="zh-CN" sz="2000" dirty="0"/>
              <a:t>(Neck)</a:t>
            </a:r>
            <a:r>
              <a:rPr lang="zh-CN" altLang="en-US" sz="2000" dirty="0"/>
              <a:t>：单向金字塔 </a:t>
            </a:r>
            <a:r>
              <a:rPr lang="en-US" altLang="zh-CN" sz="2000" dirty="0"/>
              <a:t>FPN</a:t>
            </a:r>
            <a:endParaRPr lang="en-US" altLang="zh-CN" sz="2000" dirty="0"/>
          </a:p>
          <a:p>
            <a:pPr lvl="1">
              <a:buFont typeface="Wingdings" panose="05000000000000000000" pitchFamily="2" charset="2"/>
              <a:buChar char="ü"/>
            </a:pPr>
            <a:r>
              <a:rPr lang="zh-CN" altLang="en-US" sz="2000" dirty="0"/>
              <a:t>把深层的、尺寸极小但语义极强的特征图强行放大（上采样）</a:t>
            </a:r>
            <a:endParaRPr lang="en-US" altLang="zh-CN" sz="2000" dirty="0"/>
          </a:p>
          <a:p>
            <a:pPr lvl="1">
              <a:buFont typeface="Wingdings" panose="05000000000000000000" pitchFamily="2" charset="2"/>
              <a:buChar char="ü"/>
            </a:pPr>
            <a:r>
              <a:rPr lang="zh-CN" altLang="en-US" sz="2000" dirty="0"/>
              <a:t>放大后的特征图直接和主干网络中间层提取出来的高分辨率特征图拼接在一起</a:t>
            </a:r>
            <a:endParaRPr lang="en-US" altLang="zh-CN" sz="2000" dirty="0"/>
          </a:p>
          <a:p>
            <a:r>
              <a:rPr lang="zh-CN" altLang="en-US" sz="2000" dirty="0"/>
              <a:t>预测头 </a:t>
            </a:r>
            <a:r>
              <a:rPr lang="en-US" altLang="zh-CN" sz="2000" dirty="0"/>
              <a:t>(Head)</a:t>
            </a:r>
            <a:endParaRPr lang="en-US" altLang="zh-CN" sz="2000" dirty="0"/>
          </a:p>
          <a:p>
            <a:pPr marL="495300" lvl="1" indent="0">
              <a:buNone/>
            </a:pPr>
            <a:r>
              <a:rPr lang="zh-CN" altLang="en-US" sz="2000" dirty="0"/>
              <a:t>不输出一种尺度网格，同时在 大、中、小三个完全不同的感受野尺度上输出预测结果</a:t>
            </a:r>
            <a:endParaRPr lang="en-US" altLang="zh-CN" sz="2000" dirty="0"/>
          </a:p>
          <a:p>
            <a:pPr marL="495300" lvl="1" indent="0">
              <a:buNone/>
            </a:pPr>
            <a:endParaRPr lang="en-US" altLang="zh-CN" sz="2000" dirty="0"/>
          </a:p>
        </p:txBody>
      </p:sp>
      <p:pic>
        <p:nvPicPr>
          <p:cNvPr id="5" name="图片 4"/>
          <p:cNvPicPr>
            <a:picLocks noChangeAspect="1"/>
          </p:cNvPicPr>
          <p:nvPr/>
        </p:nvPicPr>
        <p:blipFill>
          <a:blip r:embed="rId1"/>
          <a:stretch>
            <a:fillRect/>
          </a:stretch>
        </p:blipFill>
        <p:spPr>
          <a:xfrm>
            <a:off x="10184252" y="1723968"/>
            <a:ext cx="2065440" cy="4949565"/>
          </a:xfrm>
          <a:prstGeom prst="rect">
            <a:avLst/>
          </a:prstGeom>
        </p:spPr>
      </p:pic>
    </p:spTree>
  </p:cSld>
  <p:clrMapOvr>
    <a:masterClrMapping/>
  </p:clrMapOvr>
  <p:transition spd="me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052" y="317499"/>
            <a:ext cx="10515600" cy="1325563"/>
          </a:xfrm>
        </p:spPr>
        <p:txBody>
          <a:bodyPr/>
          <a:lstStyle/>
          <a:p>
            <a:r>
              <a:rPr lang="en-US" altLang="zh-CN" dirty="0"/>
              <a:t>YOLO5</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597286"/>
            <a:ext cx="10157254" cy="4807005"/>
          </a:xfrm>
        </p:spPr>
        <p:txBody>
          <a:bodyPr>
            <a:normAutofit/>
          </a:bodyPr>
          <a:lstStyle/>
          <a:p>
            <a:r>
              <a:rPr lang="zh-CN" altLang="en-US" sz="2000" dirty="0"/>
              <a:t>输入端</a:t>
            </a:r>
            <a:endParaRPr lang="en-US" altLang="zh-CN" sz="2000" dirty="0"/>
          </a:p>
          <a:p>
            <a:pPr marL="0" indent="0">
              <a:buNone/>
            </a:pPr>
            <a:r>
              <a:rPr lang="zh-CN" altLang="en-US" sz="2000" dirty="0"/>
              <a:t>运用了</a:t>
            </a:r>
            <a:r>
              <a:rPr lang="zh-CN" altLang="en-US" sz="2000" b="1" dirty="0"/>
              <a:t>数据增强</a:t>
            </a:r>
            <a:r>
              <a:rPr lang="zh-CN" altLang="en-US" sz="2000" dirty="0"/>
              <a:t>方法（</a:t>
            </a:r>
            <a:r>
              <a:rPr lang="en-US" altLang="zh-CN" sz="2000" dirty="0"/>
              <a:t>Mosaic </a:t>
            </a:r>
            <a:r>
              <a:rPr lang="zh-CN" altLang="en-US" sz="2000" dirty="0"/>
              <a:t>增强：将四张不同的图片随机裁剪、缩放并拼接成一张）</a:t>
            </a:r>
            <a:endParaRPr lang="en-US" altLang="zh-CN" sz="2000" dirty="0"/>
          </a:p>
          <a:p>
            <a:pPr marL="0" indent="0">
              <a:buNone/>
            </a:pPr>
            <a:r>
              <a:rPr lang="zh-CN" altLang="en-US" sz="2000" dirty="0"/>
              <a:t>迫使模型学习更复杂的背景和遮挡情况，提升模型的泛化能力</a:t>
            </a:r>
            <a:endParaRPr lang="en-US" altLang="zh-CN" sz="2000" dirty="0"/>
          </a:p>
          <a:p>
            <a:r>
              <a:rPr lang="zh-CN" altLang="en-US" sz="2000" dirty="0"/>
              <a:t>主干网络 </a:t>
            </a:r>
            <a:r>
              <a:rPr lang="en-US" altLang="zh-CN" sz="2000" dirty="0"/>
              <a:t>(Backbone)</a:t>
            </a:r>
            <a:r>
              <a:rPr lang="zh-CN" altLang="en-US" sz="2000" dirty="0"/>
              <a:t>：高效的特征提取</a:t>
            </a:r>
            <a:endParaRPr lang="en-US" altLang="zh-CN" sz="2000" dirty="0"/>
          </a:p>
          <a:p>
            <a:pPr marL="838200" lvl="1" indent="-342900">
              <a:buFont typeface="Wingdings" panose="05000000000000000000" pitchFamily="2" charset="2"/>
              <a:buChar char="Ø"/>
            </a:pPr>
            <a:r>
              <a:rPr lang="en-US" altLang="zh-CN" sz="2000" b="1" dirty="0"/>
              <a:t>CSP </a:t>
            </a:r>
            <a:r>
              <a:rPr lang="zh-CN" altLang="en-US" sz="2000" b="1" dirty="0"/>
              <a:t>结构</a:t>
            </a:r>
            <a:r>
              <a:rPr lang="zh-CN" altLang="en-US" sz="2000" dirty="0"/>
              <a:t>是 </a:t>
            </a:r>
            <a:r>
              <a:rPr lang="en-US" altLang="zh-CN" sz="2000" dirty="0"/>
              <a:t>YOLOv5 </a:t>
            </a:r>
            <a:r>
              <a:rPr lang="zh-CN" altLang="en-US" sz="2000" dirty="0"/>
              <a:t>主干网络的核心</a:t>
            </a:r>
            <a:endParaRPr lang="en-US" altLang="zh-CN" sz="2000" dirty="0"/>
          </a:p>
          <a:p>
            <a:pPr lvl="2">
              <a:buFont typeface="Wingdings" panose="05000000000000000000" pitchFamily="2" charset="2"/>
              <a:buChar char="ü"/>
            </a:pPr>
            <a:r>
              <a:rPr lang="zh-CN" altLang="en-US" sz="2000" dirty="0"/>
              <a:t>它的核心思想是把传入的特征图在通道维度上一分为二</a:t>
            </a:r>
            <a:endParaRPr lang="en-US" altLang="zh-CN" sz="2000" dirty="0"/>
          </a:p>
          <a:p>
            <a:pPr lvl="2">
              <a:buFont typeface="Wingdings" panose="05000000000000000000" pitchFamily="2" charset="2"/>
              <a:buChar char="ü"/>
            </a:pPr>
            <a:r>
              <a:rPr lang="zh-CN" altLang="en-US" sz="2000" dirty="0"/>
              <a:t>一部分经过卷积块进行深度的非线性计算，另一部分直接通过 </a:t>
            </a:r>
            <a:r>
              <a:rPr lang="en-US" altLang="zh-CN" sz="2000" dirty="0" err="1"/>
              <a:t>ShortCut</a:t>
            </a:r>
            <a:r>
              <a:rPr lang="en-US" altLang="zh-CN" sz="2000" dirty="0"/>
              <a:t> </a:t>
            </a:r>
            <a:r>
              <a:rPr lang="zh-CN" altLang="en-US" sz="2000" dirty="0"/>
              <a:t>绕过去，最后再把它们拼接起来</a:t>
            </a:r>
            <a:endParaRPr lang="en-US" altLang="zh-CN" sz="2000" dirty="0"/>
          </a:p>
          <a:p>
            <a:pPr lvl="2">
              <a:buFont typeface="Wingdings" panose="05000000000000000000" pitchFamily="2" charset="2"/>
              <a:buChar char="ü"/>
            </a:pPr>
            <a:r>
              <a:rPr lang="zh-CN" altLang="en-US" sz="2000" dirty="0"/>
              <a:t>这种设计极大减少了计算量，保证了反向传播时梯度的丰富性，避免了网络变深后的梯度消失问题</a:t>
            </a:r>
            <a:endParaRPr lang="en-US" altLang="zh-CN" sz="2000" dirty="0"/>
          </a:p>
          <a:p>
            <a:pPr lvl="1">
              <a:buFont typeface="Wingdings" panose="05000000000000000000" pitchFamily="2" charset="2"/>
              <a:buChar char="Ø"/>
            </a:pPr>
            <a:r>
              <a:rPr lang="en-US" altLang="zh-CN" sz="2000" b="1" dirty="0"/>
              <a:t>C3 blocks</a:t>
            </a:r>
            <a:endParaRPr lang="en-US" altLang="zh-CN" sz="2000" b="1" dirty="0"/>
          </a:p>
          <a:p>
            <a:pPr lvl="2">
              <a:buFont typeface="Wingdings" panose="05000000000000000000" pitchFamily="2" charset="2"/>
              <a:buChar char="ü"/>
            </a:pPr>
            <a:r>
              <a:rPr lang="zh-CN" altLang="en-US" sz="2000" dirty="0"/>
              <a:t>包含了 </a:t>
            </a:r>
            <a:r>
              <a:rPr lang="en-US" altLang="zh-CN" sz="2000" dirty="0"/>
              <a:t>3 </a:t>
            </a:r>
            <a:r>
              <a:rPr lang="zh-CN" altLang="en-US" sz="2000" dirty="0"/>
              <a:t>个标准卷积层和多个 </a:t>
            </a:r>
            <a:r>
              <a:rPr lang="en-US" altLang="zh-CN" sz="2000" dirty="0"/>
              <a:t>Bottleneck </a:t>
            </a:r>
            <a:r>
              <a:rPr lang="zh-CN" altLang="en-US" sz="2000" dirty="0"/>
              <a:t>瓶颈层</a:t>
            </a:r>
            <a:endParaRPr lang="zh-CN" altLang="en-US" sz="2000" dirty="0"/>
          </a:p>
        </p:txBody>
      </p:sp>
      <p:pic>
        <p:nvPicPr>
          <p:cNvPr id="5" name="图片 4"/>
          <p:cNvPicPr>
            <a:picLocks noChangeAspect="1"/>
          </p:cNvPicPr>
          <p:nvPr/>
        </p:nvPicPr>
        <p:blipFill>
          <a:blip r:embed="rId1"/>
          <a:stretch>
            <a:fillRect/>
          </a:stretch>
        </p:blipFill>
        <p:spPr>
          <a:xfrm>
            <a:off x="10356995" y="1508442"/>
            <a:ext cx="1446297" cy="4895850"/>
          </a:xfrm>
          <a:prstGeom prst="rect">
            <a:avLst/>
          </a:prstGeom>
        </p:spPr>
      </p:pic>
    </p:spTree>
  </p:cSld>
  <p:clrMapOvr>
    <a:masterClrMapping/>
  </p:clrMapOvr>
  <p:transition spd="me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052" y="317499"/>
            <a:ext cx="10515600" cy="1325563"/>
          </a:xfrm>
        </p:spPr>
        <p:txBody>
          <a:bodyPr/>
          <a:lstStyle/>
          <a:p>
            <a:r>
              <a:rPr lang="en-US" altLang="zh-CN" dirty="0"/>
              <a:t>YOLO5</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597286"/>
            <a:ext cx="10157254" cy="4807005"/>
          </a:xfrm>
        </p:spPr>
        <p:txBody>
          <a:bodyPr>
            <a:normAutofit/>
          </a:bodyPr>
          <a:lstStyle/>
          <a:p>
            <a:r>
              <a:rPr lang="zh-CN" altLang="en-US" sz="2000" dirty="0"/>
              <a:t>颈部网络 </a:t>
            </a:r>
            <a:r>
              <a:rPr lang="en-US" altLang="zh-CN" sz="2000" dirty="0"/>
              <a:t>(Neck)</a:t>
            </a:r>
            <a:endParaRPr lang="en-US" altLang="zh-CN" sz="2000" dirty="0"/>
          </a:p>
          <a:p>
            <a:pPr lvl="1">
              <a:buFont typeface="Wingdings" panose="05000000000000000000" pitchFamily="2" charset="2"/>
              <a:buChar char="Ø"/>
            </a:pPr>
            <a:r>
              <a:rPr lang="en-US" altLang="zh-CN" sz="2000" dirty="0"/>
              <a:t>SPPF</a:t>
            </a:r>
            <a:endParaRPr lang="en-US" altLang="zh-CN" sz="2000" dirty="0"/>
          </a:p>
          <a:p>
            <a:pPr lvl="2">
              <a:buFont typeface="Wingdings" panose="05000000000000000000" pitchFamily="2" charset="2"/>
              <a:buChar char="ü"/>
            </a:pPr>
            <a:r>
              <a:rPr lang="zh-CN" altLang="en-US" sz="2000" dirty="0"/>
              <a:t>接在主干网络的最后。它通过几个 </a:t>
            </a:r>
            <a:r>
              <a:rPr lang="en-US" altLang="zh-CN" sz="2000" dirty="0"/>
              <a:t>5*5</a:t>
            </a:r>
            <a:r>
              <a:rPr lang="zh-CN" altLang="en-US" sz="2000" dirty="0"/>
              <a:t>的最大池化层串联进行计算。这一步能让网络瞬间获得极大的感受野</a:t>
            </a:r>
            <a:endParaRPr lang="en-US" altLang="zh-CN" sz="2000" dirty="0"/>
          </a:p>
          <a:p>
            <a:pPr lvl="1">
              <a:buFont typeface="Wingdings" panose="05000000000000000000" pitchFamily="2" charset="2"/>
              <a:buChar char="Ø"/>
            </a:pPr>
            <a:r>
              <a:rPr lang="en-US" altLang="zh-CN" sz="2000" dirty="0"/>
              <a:t>  Neck FPN top-down</a:t>
            </a:r>
            <a:endParaRPr lang="en-US" altLang="zh-CN" sz="2000" dirty="0"/>
          </a:p>
          <a:p>
            <a:pPr marL="1348740" lvl="2" indent="-342900">
              <a:buFont typeface="Wingdings" panose="05000000000000000000" pitchFamily="2" charset="2"/>
              <a:buChar char="ü"/>
            </a:pPr>
            <a:r>
              <a:rPr lang="zh-CN" altLang="en-US" sz="2000" dirty="0"/>
              <a:t>通过上采样将深层富含“高级语义”的特征图放大，与浅层特征拼接</a:t>
            </a:r>
            <a:endParaRPr lang="en-US" altLang="zh-CN" sz="2000" dirty="0"/>
          </a:p>
          <a:p>
            <a:pPr marL="838200" lvl="1" indent="-342900">
              <a:buFont typeface="Wingdings" panose="05000000000000000000" pitchFamily="2" charset="2"/>
              <a:buChar char="Ø"/>
            </a:pPr>
            <a:r>
              <a:rPr lang="en-US" altLang="zh-CN" sz="2000" dirty="0"/>
              <a:t>Neck PAN bottom-up</a:t>
            </a:r>
            <a:endParaRPr lang="en-US" altLang="zh-CN" sz="2000" dirty="0"/>
          </a:p>
          <a:p>
            <a:pPr marL="1348740" lvl="2" indent="-342900">
              <a:buFont typeface="Wingdings" panose="05000000000000000000" pitchFamily="2" charset="2"/>
              <a:buChar char="ü"/>
            </a:pPr>
            <a:r>
              <a:rPr lang="zh-CN" altLang="en-US" sz="2000" dirty="0"/>
              <a:t>加入了向上的 </a:t>
            </a:r>
            <a:r>
              <a:rPr lang="en-US" altLang="zh-CN" sz="2000" dirty="0"/>
              <a:t>PAN (Path Aggregation Network)</a:t>
            </a:r>
            <a:r>
              <a:rPr lang="zh-CN" altLang="en-US" sz="2000" dirty="0"/>
              <a:t>。它把浅层极其精确的“边缘和绝对位置信息”，再次通过卷积一步步传导回深层并拼接</a:t>
            </a:r>
            <a:endParaRPr lang="en-US" altLang="zh-CN" sz="2000" dirty="0"/>
          </a:p>
          <a:p>
            <a:r>
              <a:rPr lang="zh-CN" altLang="en-US" sz="2000" dirty="0"/>
              <a:t>预测头以及后处理</a:t>
            </a:r>
            <a:endParaRPr lang="en-US" altLang="zh-CN" sz="2000" dirty="0"/>
          </a:p>
          <a:p>
            <a:pPr lvl="1">
              <a:buFont typeface="Wingdings" panose="05000000000000000000" pitchFamily="2" charset="2"/>
              <a:buChar char="Ø"/>
            </a:pPr>
            <a:r>
              <a:rPr lang="en-US" altLang="zh-CN" sz="2000" dirty="0"/>
              <a:t>YOLOv5 </a:t>
            </a:r>
            <a:r>
              <a:rPr lang="zh-CN" altLang="en-US" sz="2000" dirty="0"/>
              <a:t>依然采用了基于锚框（</a:t>
            </a:r>
            <a:r>
              <a:rPr lang="en-US" altLang="zh-CN" sz="2000" dirty="0"/>
              <a:t>Anchor</a:t>
            </a:r>
            <a:r>
              <a:rPr lang="zh-CN" altLang="en-US" sz="2000" dirty="0"/>
              <a:t>）的预测方式。网络在三个不同的尺度上输出预测张量</a:t>
            </a:r>
            <a:endParaRPr lang="en-US" altLang="zh-CN" sz="2000" dirty="0"/>
          </a:p>
        </p:txBody>
      </p:sp>
      <p:pic>
        <p:nvPicPr>
          <p:cNvPr id="5" name="图片 4"/>
          <p:cNvPicPr>
            <a:picLocks noChangeAspect="1"/>
          </p:cNvPicPr>
          <p:nvPr/>
        </p:nvPicPr>
        <p:blipFill>
          <a:blip r:embed="rId1"/>
          <a:stretch>
            <a:fillRect/>
          </a:stretch>
        </p:blipFill>
        <p:spPr>
          <a:xfrm>
            <a:off x="10443493" y="1597286"/>
            <a:ext cx="1446297" cy="4895850"/>
          </a:xfrm>
          <a:prstGeom prst="rect">
            <a:avLst/>
          </a:prstGeom>
        </p:spPr>
      </p:pic>
    </p:spTree>
  </p:cSld>
  <p:clrMapOvr>
    <a:masterClrMapping/>
  </p:clrMapOvr>
  <p:transition spd="me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3200" dirty="0"/>
              <a:t>YOLO11</a:t>
            </a:r>
            <a:r>
              <a:rPr lang="zh-CN" altLang="en-US" sz="3200" dirty="0"/>
              <a:t>手机检测实例、损失函数设计</a:t>
            </a:r>
            <a:endParaRPr lang="zh-CN" altLang="en-US" sz="3200"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lnSpc>
                <a:spcPct val="150000"/>
              </a:lnSpc>
              <a:buNone/>
            </a:pPr>
            <a:r>
              <a:rPr lang="zh-CN" altLang="en-US" sz="2000" dirty="0"/>
              <a:t>找到接打数据集共</a:t>
            </a:r>
            <a:r>
              <a:rPr lang="en-US" altLang="zh-CN" sz="2000" dirty="0"/>
              <a:t>1362</a:t>
            </a:r>
            <a:r>
              <a:rPr lang="zh-CN" altLang="en-US" sz="2000" dirty="0"/>
              <a:t>张，主要检测了人脸和电话两个指标，按照训练集</a:t>
            </a:r>
            <a:r>
              <a:rPr lang="en-US" altLang="zh-CN" sz="2000" dirty="0"/>
              <a:t>80%</a:t>
            </a:r>
            <a:r>
              <a:rPr lang="zh-CN" altLang="en-US" sz="2000" dirty="0"/>
              <a:t>、验证集</a:t>
            </a:r>
            <a:r>
              <a:rPr lang="en-US" altLang="zh-CN" sz="2000" dirty="0"/>
              <a:t>20%</a:t>
            </a:r>
            <a:r>
              <a:rPr lang="zh-CN" altLang="en-US" sz="2000" dirty="0"/>
              <a:t>来划分数据集，使用</a:t>
            </a:r>
            <a:r>
              <a:rPr lang="en-US" altLang="zh-CN" sz="2000" dirty="0"/>
              <a:t>YOLO11</a:t>
            </a:r>
            <a:r>
              <a:rPr lang="zh-CN" altLang="en-US" sz="2000" dirty="0"/>
              <a:t>技术进行检测</a:t>
            </a:r>
            <a:endParaRPr lang="zh-CN" altLang="en-US" sz="2000" dirty="0"/>
          </a:p>
        </p:txBody>
      </p:sp>
      <p:pic>
        <p:nvPicPr>
          <p:cNvPr id="6" name="图片 5"/>
          <p:cNvPicPr>
            <a:picLocks noChangeAspect="1"/>
          </p:cNvPicPr>
          <p:nvPr/>
        </p:nvPicPr>
        <p:blipFill>
          <a:blip r:embed="rId1" cstate="print">
            <a:extLst>
              <a:ext uri="{28A0092B-C50C-407E-A947-70E740481C1C}">
                <a14:useLocalDpi xmlns:a14="http://schemas.microsoft.com/office/drawing/2010/main" val="0"/>
              </a:ext>
            </a:extLst>
          </a:blip>
          <a:stretch>
            <a:fillRect/>
          </a:stretch>
        </p:blipFill>
        <p:spPr>
          <a:xfrm>
            <a:off x="0" y="3357717"/>
            <a:ext cx="6929128" cy="3464564"/>
          </a:xfrm>
          <a:prstGeom prst="rect">
            <a:avLst/>
          </a:prstGeom>
        </p:spPr>
      </p:pic>
      <p:pic>
        <p:nvPicPr>
          <p:cNvPr id="8" name="图片 7"/>
          <p:cNvPicPr>
            <a:picLocks noChangeAspect="1"/>
          </p:cNvPicPr>
          <p:nvPr/>
        </p:nvPicPr>
        <p:blipFill>
          <a:blip r:embed="rId2"/>
          <a:stretch>
            <a:fillRect/>
          </a:stretch>
        </p:blipFill>
        <p:spPr>
          <a:xfrm>
            <a:off x="5103531" y="2391456"/>
            <a:ext cx="4348175" cy="966261"/>
          </a:xfrm>
          <a:prstGeom prst="rect">
            <a:avLst/>
          </a:prstGeom>
        </p:spPr>
      </p:pic>
      <p:graphicFrame>
        <p:nvGraphicFramePr>
          <p:cNvPr id="7" name="对象 6"/>
          <p:cNvGraphicFramePr>
            <a:graphicFrameLocks noChangeAspect="1"/>
          </p:cNvGraphicFramePr>
          <p:nvPr/>
        </p:nvGraphicFramePr>
        <p:xfrm>
          <a:off x="7131050" y="3706489"/>
          <a:ext cx="4983523" cy="603238"/>
        </p:xfrm>
        <a:graphic>
          <a:graphicData uri="http://schemas.openxmlformats.org/presentationml/2006/ole">
            <mc:AlternateContent xmlns:mc="http://schemas.openxmlformats.org/markup-compatibility/2006">
              <mc:Choice xmlns:v="urn:schemas-microsoft-com:vml" Requires="v">
                <p:oleObj spid="_x0000_s11269" name="Equation" r:id="rId3" imgW="2004060" imgH="248285" progId="Equation.DSMT4">
                  <p:embed/>
                </p:oleObj>
              </mc:Choice>
              <mc:Fallback>
                <p:oleObj name="Equation" r:id="rId3" imgW="2004060" imgH="248285" progId="Equation.DSMT4">
                  <p:embed/>
                  <p:pic>
                    <p:nvPicPr>
                      <p:cNvPr id="0" name="对象 6"/>
                      <p:cNvPicPr/>
                      <p:nvPr/>
                    </p:nvPicPr>
                    <p:blipFill>
                      <a:blip r:embed="rId4"/>
                      <a:stretch>
                        <a:fillRect/>
                      </a:stretch>
                    </p:blipFill>
                    <p:spPr>
                      <a:xfrm>
                        <a:off x="7131050" y="3706489"/>
                        <a:ext cx="4983523" cy="603238"/>
                      </a:xfrm>
                      <a:prstGeom prst="rect">
                        <a:avLst/>
                      </a:prstGeom>
                    </p:spPr>
                  </p:pic>
                </p:oleObj>
              </mc:Fallback>
            </mc:AlternateContent>
          </a:graphicData>
        </a:graphic>
      </p:graphicFrame>
      <p:cxnSp>
        <p:nvCxnSpPr>
          <p:cNvPr id="9" name="直接箭头连接符 8"/>
          <p:cNvCxnSpPr/>
          <p:nvPr/>
        </p:nvCxnSpPr>
        <p:spPr>
          <a:xfrm flipH="1">
            <a:off x="8394700" y="4343026"/>
            <a:ext cx="545791" cy="870829"/>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0" name="直接箭头连接符 9"/>
          <p:cNvCxnSpPr/>
          <p:nvPr/>
        </p:nvCxnSpPr>
        <p:spPr>
          <a:xfrm flipH="1">
            <a:off x="10109200" y="4376223"/>
            <a:ext cx="265639" cy="1025091"/>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1" name="直接箭头连接符 10"/>
          <p:cNvCxnSpPr/>
          <p:nvPr/>
        </p:nvCxnSpPr>
        <p:spPr>
          <a:xfrm flipH="1">
            <a:off x="11601450" y="4361287"/>
            <a:ext cx="102778" cy="1030260"/>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12" name="文本框 11"/>
          <p:cNvSpPr txBox="1"/>
          <p:nvPr/>
        </p:nvSpPr>
        <p:spPr>
          <a:xfrm>
            <a:off x="6894644" y="5391547"/>
            <a:ext cx="1781655" cy="30777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rPr>
              <a:t>边界框回归损失</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3" name="文本框 12"/>
          <p:cNvSpPr txBox="1"/>
          <p:nvPr/>
        </p:nvSpPr>
        <p:spPr>
          <a:xfrm>
            <a:off x="8731983" y="5805686"/>
            <a:ext cx="1781655" cy="30777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rPr>
              <a:t>目标置信度损失</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10909081" y="5614601"/>
            <a:ext cx="1781655" cy="307777"/>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rPr>
              <a:t>类别损失</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DETR</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7"/>
            <a:ext cx="11357928" cy="4351338"/>
          </a:xfrm>
        </p:spPr>
        <p:txBody>
          <a:bodyPr>
            <a:normAutofit/>
          </a:bodyPr>
          <a:lstStyle/>
          <a:p>
            <a:pPr indent="-215900">
              <a:lnSpc>
                <a:spcPct val="120000"/>
              </a:lnSpc>
            </a:pPr>
            <a:r>
              <a:rPr lang="en-US" altLang="zh-CN" sz="2000" dirty="0"/>
              <a:t>DETR </a:t>
            </a:r>
            <a:r>
              <a:rPr lang="zh-CN" altLang="en-US" sz="2000" dirty="0"/>
              <a:t>全称为 </a:t>
            </a:r>
            <a:r>
              <a:rPr lang="en-US" altLang="zh-CN" sz="2000" dirty="0"/>
              <a:t>Detection Transformer</a:t>
            </a:r>
            <a:r>
              <a:rPr lang="zh-CN" altLang="en-US" sz="2000" dirty="0"/>
              <a:t>，是 </a:t>
            </a:r>
            <a:r>
              <a:rPr lang="en-US" altLang="zh-CN" sz="2000" dirty="0"/>
              <a:t>Facebook </a:t>
            </a:r>
            <a:r>
              <a:rPr lang="zh-CN" altLang="en-US" sz="2000" dirty="0"/>
              <a:t>在 </a:t>
            </a:r>
            <a:r>
              <a:rPr lang="en-US" altLang="zh-CN" sz="2000" dirty="0"/>
              <a:t>ECCV2020 </a:t>
            </a:r>
            <a:r>
              <a:rPr lang="zh-CN" altLang="en-US" sz="2000" dirty="0"/>
              <a:t>上提出的基于</a:t>
            </a:r>
            <a:r>
              <a:rPr lang="en-US" altLang="zh-CN" sz="2000" dirty="0"/>
              <a:t>Transformer</a:t>
            </a:r>
            <a:r>
              <a:rPr lang="zh-CN" altLang="en-US" sz="2000" dirty="0"/>
              <a:t>的端到端目标检测网络</a:t>
            </a:r>
            <a:endParaRPr lang="en-US" altLang="zh-CN" sz="2000" dirty="0"/>
          </a:p>
          <a:p>
            <a:pPr>
              <a:lnSpc>
                <a:spcPct val="120000"/>
              </a:lnSpc>
            </a:pPr>
            <a:r>
              <a:rPr lang="zh-CN" altLang="en-US" sz="2000" dirty="0"/>
              <a:t>特点：</a:t>
            </a:r>
            <a:r>
              <a:rPr lang="zh-CN" altLang="en-US" sz="2000" b="0" i="0" dirty="0">
                <a:effectLst/>
                <a:latin typeface="-apple-system"/>
              </a:rPr>
              <a:t>不需要预定义的先验</a:t>
            </a:r>
            <a:r>
              <a:rPr lang="en-US" altLang="zh-CN" sz="2000" b="0" i="0" dirty="0">
                <a:effectLst/>
              </a:rPr>
              <a:t>anchor</a:t>
            </a:r>
            <a:r>
              <a:rPr lang="zh-CN" altLang="en-US" sz="2000" b="0" i="0" dirty="0">
                <a:effectLst/>
                <a:latin typeface="-apple-system"/>
              </a:rPr>
              <a:t>，也不需</a:t>
            </a:r>
            <a:r>
              <a:rPr lang="zh-CN" altLang="en-US" sz="2000" dirty="0"/>
              <a:t>要</a:t>
            </a:r>
            <a:r>
              <a:rPr lang="en-US" altLang="zh-CN" sz="2000" dirty="0"/>
              <a:t>NMS</a:t>
            </a:r>
            <a:r>
              <a:rPr lang="zh-CN" altLang="en-US" sz="2000" b="0" i="0" dirty="0">
                <a:effectLst/>
                <a:latin typeface="-apple-system"/>
              </a:rPr>
              <a:t>的后处理策略，就可以实现端到端的目标检测</a:t>
            </a:r>
            <a:endParaRPr lang="en-US" altLang="zh-CN" sz="2000" b="0" i="0" dirty="0">
              <a:effectLst/>
              <a:latin typeface="-apple-system"/>
            </a:endParaRPr>
          </a:p>
          <a:p>
            <a:pPr>
              <a:lnSpc>
                <a:spcPct val="120000"/>
              </a:lnSpc>
            </a:pPr>
            <a:r>
              <a:rPr lang="en-US" altLang="zh-CN" sz="2000" dirty="0"/>
              <a:t>DETR</a:t>
            </a:r>
            <a:r>
              <a:rPr lang="zh-CN" altLang="en-US" sz="2000" b="0" i="0" dirty="0">
                <a:effectLst/>
                <a:latin typeface="-apple-system"/>
              </a:rPr>
              <a:t>的总体框架如下，先通过</a:t>
            </a:r>
            <a:r>
              <a:rPr lang="en-US" altLang="zh-CN" sz="2000" dirty="0"/>
              <a:t>CNN</a:t>
            </a:r>
            <a:r>
              <a:rPr lang="zh-CN" altLang="en-US" sz="2000" b="0" i="0" dirty="0">
                <a:effectLst/>
                <a:latin typeface="-apple-system"/>
              </a:rPr>
              <a:t>提取图像的特征；再送入到</a:t>
            </a:r>
            <a:r>
              <a:rPr lang="en-US" altLang="zh-CN" sz="2000" dirty="0"/>
              <a:t>transformer </a:t>
            </a:r>
            <a:r>
              <a:rPr lang="zh-CN" altLang="en-US" sz="2000" b="0" i="0" dirty="0">
                <a:effectLst/>
                <a:latin typeface="-apple-system"/>
              </a:rPr>
              <a:t>中，该编码器解码器的结构基本与</a:t>
            </a:r>
            <a:r>
              <a:rPr lang="en-US" altLang="zh-CN" sz="2000" dirty="0"/>
              <a:t>transformer</a:t>
            </a:r>
            <a:r>
              <a:rPr lang="zh-CN" altLang="en-US" sz="2000" b="0" i="0" dirty="0">
                <a:effectLst/>
                <a:latin typeface="-apple-system"/>
              </a:rPr>
              <a:t>相同，主要是在输入部分和输出部分的修改；最后得到类别和</a:t>
            </a:r>
            <a:r>
              <a:rPr lang="en-US" altLang="zh-CN" sz="2000" dirty="0" err="1"/>
              <a:t>bbox</a:t>
            </a:r>
            <a:r>
              <a:rPr lang="zh-CN" altLang="en-US" sz="2000" b="0" i="0" dirty="0">
                <a:effectLst/>
                <a:latin typeface="-apple-system"/>
              </a:rPr>
              <a:t>的预测，并通过二分匹配计算损失来优化网络。</a:t>
            </a:r>
            <a:endParaRPr lang="zh-CN" altLang="en-US" sz="2000" dirty="0"/>
          </a:p>
        </p:txBody>
      </p:sp>
      <p:pic>
        <p:nvPicPr>
          <p:cNvPr id="5" name="图片 4"/>
          <p:cNvPicPr>
            <a:picLocks noChangeAspect="1"/>
          </p:cNvPicPr>
          <p:nvPr/>
        </p:nvPicPr>
        <p:blipFill>
          <a:blip r:embed="rId1"/>
          <a:stretch>
            <a:fillRect/>
          </a:stretch>
        </p:blipFill>
        <p:spPr>
          <a:xfrm>
            <a:off x="-50989" y="4580806"/>
            <a:ext cx="12192000" cy="2092726"/>
          </a:xfrm>
          <a:prstGeom prst="rect">
            <a:avLst/>
          </a:prstGeom>
        </p:spPr>
      </p:pic>
    </p:spTree>
  </p:cSld>
  <p:clrMapOvr>
    <a:masterClrMapping/>
  </p:clrMapOvr>
  <p:transition spd="me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a:t>知识点回忆：</a:t>
            </a:r>
            <a:r>
              <a:rPr lang="en-US" altLang="zh-CN" dirty="0"/>
              <a:t>Transformer</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325563"/>
            <a:ext cx="11140214" cy="4351338"/>
          </a:xfrm>
        </p:spPr>
        <p:txBody>
          <a:bodyPr>
            <a:normAutofit lnSpcReduction="10000"/>
          </a:bodyPr>
          <a:lstStyle/>
          <a:p>
            <a:pPr marL="0" indent="0">
              <a:buNone/>
            </a:pPr>
            <a:r>
              <a:rPr lang="en-US" altLang="zh-CN" sz="2800" b="1" dirty="0"/>
              <a:t>Transformer </a:t>
            </a:r>
            <a:r>
              <a:rPr lang="zh-CN" altLang="en-US" sz="2800" b="1" dirty="0"/>
              <a:t>工作流程</a:t>
            </a:r>
            <a:endParaRPr lang="zh-CN" altLang="en-US" sz="2800" dirty="0"/>
          </a:p>
          <a:p>
            <a:pPr marL="0" indent="0">
              <a:lnSpc>
                <a:spcPct val="150000"/>
              </a:lnSpc>
              <a:buNone/>
            </a:pPr>
            <a:r>
              <a:rPr lang="zh-CN" altLang="en-US" sz="2000" b="1" dirty="0">
                <a:solidFill>
                  <a:srgbClr val="FF0000"/>
                </a:solidFill>
              </a:rPr>
              <a:t>输入嵌入</a:t>
            </a:r>
            <a:r>
              <a:rPr lang="zh-CN" altLang="en-US" sz="2000" dirty="0"/>
              <a:t>：将文本 </a:t>
            </a:r>
            <a:r>
              <a:rPr lang="en-US" altLang="zh-CN" sz="2000" dirty="0"/>
              <a:t>Token </a:t>
            </a:r>
            <a:r>
              <a:rPr lang="zh-CN" altLang="en-US" sz="2000" dirty="0"/>
              <a:t>或图像 </a:t>
            </a:r>
            <a:r>
              <a:rPr lang="en-US" altLang="zh-CN" sz="2000" dirty="0"/>
              <a:t>Patch </a:t>
            </a:r>
            <a:r>
              <a:rPr lang="zh-CN" altLang="en-US" sz="2000" dirty="0"/>
              <a:t>转换为向量 </a:t>
            </a:r>
            <a:endParaRPr lang="zh-CN" altLang="en-US" sz="2000" dirty="0"/>
          </a:p>
          <a:p>
            <a:pPr marL="0" indent="0">
              <a:lnSpc>
                <a:spcPct val="150000"/>
              </a:lnSpc>
              <a:buNone/>
            </a:pPr>
            <a:r>
              <a:rPr lang="zh-CN" altLang="en-US" sz="2000" b="1" dirty="0">
                <a:solidFill>
                  <a:srgbClr val="FF0000"/>
                </a:solidFill>
              </a:rPr>
              <a:t>位置编码</a:t>
            </a:r>
            <a:r>
              <a:rPr lang="zh-CN" altLang="en-US" sz="2000" dirty="0"/>
              <a:t>：加入位置信息，使模型了解输入顺序</a:t>
            </a:r>
            <a:endParaRPr lang="zh-CN" altLang="en-US" sz="2000" dirty="0"/>
          </a:p>
          <a:p>
            <a:pPr marL="0" indent="0">
              <a:lnSpc>
                <a:spcPct val="150000"/>
              </a:lnSpc>
              <a:buNone/>
            </a:pPr>
            <a:r>
              <a:rPr lang="en-US" altLang="zh-CN" sz="2000" b="1" dirty="0">
                <a:solidFill>
                  <a:srgbClr val="FF0000"/>
                </a:solidFill>
              </a:rPr>
              <a:t>Encoder </a:t>
            </a:r>
            <a:r>
              <a:rPr lang="zh-CN" altLang="en-US" sz="2000" b="1" dirty="0">
                <a:solidFill>
                  <a:srgbClr val="FF0000"/>
                </a:solidFill>
              </a:rPr>
              <a:t>编码</a:t>
            </a:r>
            <a:r>
              <a:rPr lang="zh-CN" altLang="en-US" sz="2000" dirty="0"/>
              <a:t>：通过多头自注意力和前馈神经网络提取上下文特征 </a:t>
            </a:r>
            <a:endParaRPr lang="zh-CN" altLang="en-US" sz="2000" dirty="0"/>
          </a:p>
          <a:p>
            <a:pPr marL="0" indent="0">
              <a:lnSpc>
                <a:spcPct val="150000"/>
              </a:lnSpc>
              <a:buNone/>
            </a:pPr>
            <a:r>
              <a:rPr lang="en-US" altLang="zh-CN" sz="2000" b="1" dirty="0">
                <a:solidFill>
                  <a:srgbClr val="FF0000"/>
                </a:solidFill>
              </a:rPr>
              <a:t>Decoder </a:t>
            </a:r>
            <a:r>
              <a:rPr lang="zh-CN" altLang="en-US" sz="2000" b="1" dirty="0">
                <a:solidFill>
                  <a:srgbClr val="FF0000"/>
                </a:solidFill>
              </a:rPr>
              <a:t>解码</a:t>
            </a:r>
            <a:r>
              <a:rPr lang="zh-CN" altLang="en-US" sz="2000" dirty="0"/>
              <a:t>：利用 </a:t>
            </a:r>
            <a:r>
              <a:rPr lang="en-US" altLang="zh-CN" sz="2000" dirty="0"/>
              <a:t>Masked </a:t>
            </a:r>
            <a:r>
              <a:rPr lang="zh-CN" altLang="en-US" sz="2000" dirty="0"/>
              <a:t>自注意力逐步生成结果，并通过交</a:t>
            </a:r>
            <a:endParaRPr lang="en-US" altLang="zh-CN" sz="2000" dirty="0"/>
          </a:p>
          <a:p>
            <a:pPr marL="0" indent="0">
              <a:lnSpc>
                <a:spcPct val="150000"/>
              </a:lnSpc>
              <a:buNone/>
            </a:pPr>
            <a:r>
              <a:rPr lang="en-US" altLang="zh-CN" sz="2000" dirty="0"/>
              <a:t>                             </a:t>
            </a:r>
            <a:r>
              <a:rPr lang="zh-CN" altLang="en-US" sz="2000" dirty="0"/>
              <a:t>叉注意力读取 </a:t>
            </a:r>
            <a:r>
              <a:rPr lang="en-US" altLang="zh-CN" sz="2000" dirty="0"/>
              <a:t>Encoder </a:t>
            </a:r>
            <a:r>
              <a:rPr lang="zh-CN" altLang="en-US" sz="2000" dirty="0"/>
              <a:t>信息 </a:t>
            </a:r>
            <a:endParaRPr lang="zh-CN" altLang="en-US" sz="2000" dirty="0"/>
          </a:p>
          <a:p>
            <a:pPr marL="0" indent="0">
              <a:lnSpc>
                <a:spcPct val="150000"/>
              </a:lnSpc>
              <a:buNone/>
            </a:pPr>
            <a:r>
              <a:rPr lang="zh-CN" altLang="en-US" sz="2000" b="1" dirty="0">
                <a:solidFill>
                  <a:srgbClr val="FF0000"/>
                </a:solidFill>
              </a:rPr>
              <a:t>输出预测</a:t>
            </a:r>
            <a:r>
              <a:rPr lang="zh-CN" altLang="en-US" sz="2000" dirty="0"/>
              <a:t>：经过线性层和 </a:t>
            </a:r>
            <a:r>
              <a:rPr lang="en-US" altLang="zh-CN" sz="2000" dirty="0" err="1"/>
              <a:t>Softmax</a:t>
            </a:r>
            <a:r>
              <a:rPr lang="zh-CN" altLang="en-US" sz="2000" dirty="0"/>
              <a:t>，得到每个位置的输出概率</a:t>
            </a:r>
            <a:endParaRPr lang="zh-CN" altLang="en-US" sz="2000" dirty="0"/>
          </a:p>
          <a:p>
            <a:pPr marL="0" indent="0">
              <a:lnSpc>
                <a:spcPct val="150000"/>
              </a:lnSpc>
              <a:buNone/>
            </a:pPr>
            <a:r>
              <a:rPr lang="zh-CN" altLang="en-US" sz="2000" b="1" dirty="0">
                <a:solidFill>
                  <a:srgbClr val="FF0000"/>
                </a:solidFill>
              </a:rPr>
              <a:t>循环生成</a:t>
            </a:r>
            <a:r>
              <a:rPr lang="zh-CN" altLang="en-US" sz="2000" dirty="0"/>
              <a:t>：选择概率最高的 </a:t>
            </a:r>
            <a:r>
              <a:rPr lang="en-US" altLang="zh-CN" sz="2000" dirty="0"/>
              <a:t>Token</a:t>
            </a:r>
            <a:r>
              <a:rPr lang="zh-CN" altLang="en-US" sz="2000" dirty="0"/>
              <a:t>，直到生成结束标记</a:t>
            </a:r>
            <a:endParaRPr lang="zh-CN" altLang="en-US" sz="2000"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7867775" y="1716184"/>
            <a:ext cx="3706639" cy="5141816"/>
          </a:xfrm>
          <a:prstGeom prst="rect">
            <a:avLst/>
          </a:prstGeom>
        </p:spPr>
      </p:pic>
    </p:spTree>
  </p:cSld>
  <p:clrMapOvr>
    <a:masterClrMapping/>
  </p:clrMapOvr>
  <p:transition spd="me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a:t>DETR</a:t>
            </a:r>
            <a:r>
              <a:rPr lang="zh-CN" altLang="en-US" dirty="0"/>
              <a:t>概述</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253331"/>
            <a:ext cx="11140214" cy="4351338"/>
          </a:xfrm>
        </p:spPr>
        <p:txBody>
          <a:bodyPr>
            <a:normAutofit/>
          </a:bodyPr>
          <a:lstStyle/>
          <a:p>
            <a:r>
              <a:rPr lang="zh-CN" altLang="en-US" sz="1800" dirty="0"/>
              <a:t>输入图像经过 </a:t>
            </a:r>
            <a:r>
              <a:rPr lang="en-US" altLang="zh-CN" sz="1800" dirty="0"/>
              <a:t>CNN </a:t>
            </a:r>
            <a:r>
              <a:rPr lang="zh-CN" altLang="en-US" sz="1800" dirty="0"/>
              <a:t>骨干网络提取出多尺度图像特征</a:t>
            </a:r>
            <a:endParaRPr lang="en-US" altLang="zh-CN" sz="1800" dirty="0"/>
          </a:p>
          <a:p>
            <a:r>
              <a:rPr lang="zh-CN" altLang="en-US" sz="1800" dirty="0"/>
              <a:t>将图像特征加上位置编码</a:t>
            </a:r>
            <a:r>
              <a:rPr lang="en-US" altLang="zh-CN" sz="1800" dirty="0"/>
              <a:t>,</a:t>
            </a:r>
            <a:r>
              <a:rPr lang="zh-CN" altLang="en-US" sz="1800" dirty="0"/>
              <a:t>然后送入 </a:t>
            </a:r>
            <a:r>
              <a:rPr lang="en-US" altLang="zh-CN" sz="1800" dirty="0"/>
              <a:t>Transformer </a:t>
            </a:r>
            <a:r>
              <a:rPr lang="zh-CN" altLang="en-US" sz="1800" dirty="0"/>
              <a:t>编码器</a:t>
            </a:r>
            <a:endParaRPr lang="en-US" altLang="zh-CN" sz="1800" dirty="0"/>
          </a:p>
          <a:p>
            <a:r>
              <a:rPr lang="zh-CN" altLang="en-US" sz="1800" dirty="0"/>
              <a:t>编码器利用自注意力机制，让每个像素点都能“看到”全图信息，输出增强的图像特征集</a:t>
            </a:r>
            <a:endParaRPr lang="en-US" altLang="zh-CN" sz="1800" dirty="0"/>
          </a:p>
          <a:p>
            <a:pPr>
              <a:lnSpc>
                <a:spcPct val="120000"/>
              </a:lnSpc>
            </a:pPr>
            <a:r>
              <a:rPr lang="zh-CN" altLang="en-US" sz="1800" dirty="0"/>
              <a:t>初始化一组固定数量的对象查询 </a:t>
            </a:r>
            <a:r>
              <a:rPr lang="en-US" altLang="zh-CN" sz="1800" dirty="0"/>
              <a:t>Object Queries</a:t>
            </a:r>
            <a:r>
              <a:rPr lang="zh-CN" altLang="en-US" sz="1800" dirty="0"/>
              <a:t>（它们相当于带有空间和尺度偏好的锚框），</a:t>
            </a:r>
            <a:r>
              <a:rPr lang="en-US" altLang="zh-CN" sz="1800" dirty="0"/>
              <a:t>Transformer </a:t>
            </a:r>
            <a:r>
              <a:rPr lang="zh-CN" altLang="en-US" sz="1800" dirty="0"/>
              <a:t>解码器中通过交叉注意力机制，与编码器输出的图像特征交互，逐步聚焦到不同的物体上</a:t>
            </a:r>
            <a:endParaRPr lang="en-US" altLang="zh-CN" sz="1800" dirty="0"/>
          </a:p>
          <a:p>
            <a:pPr>
              <a:lnSpc>
                <a:spcPct val="120000"/>
              </a:lnSpc>
            </a:pPr>
            <a:r>
              <a:rPr lang="zh-CN" altLang="en-US" sz="1800" dirty="0"/>
              <a:t>解码器输出的每个查询结果，都送入两个并行的前馈网络 </a:t>
            </a:r>
            <a:r>
              <a:rPr lang="en-US" altLang="zh-CN" sz="1800" dirty="0"/>
              <a:t>FFN</a:t>
            </a:r>
            <a:r>
              <a:rPr lang="zh-CN" altLang="en-US" sz="1800" dirty="0"/>
              <a:t>，一个 </a:t>
            </a:r>
            <a:r>
              <a:rPr lang="en-US" altLang="zh-CN" sz="1800" dirty="0"/>
              <a:t>FFN </a:t>
            </a:r>
            <a:r>
              <a:rPr lang="zh-CN" altLang="en-US" sz="1800" dirty="0"/>
              <a:t>预测物体类别，另一个预测边界框坐标</a:t>
            </a:r>
            <a:endParaRPr lang="en-US" altLang="zh-CN" sz="1800" dirty="0"/>
          </a:p>
          <a:p>
            <a:pPr>
              <a:lnSpc>
                <a:spcPct val="120000"/>
              </a:lnSpc>
            </a:pPr>
            <a:r>
              <a:rPr lang="zh-CN" altLang="en-US" sz="1800" dirty="0"/>
              <a:t>训练阶段：模型使用匈牙利算法将预测与真实的标注目标进行强制一对一绑定，计算出全局最低的匹配成本，并据此计算 </a:t>
            </a:r>
            <a:r>
              <a:rPr lang="en-US" altLang="zh-CN" sz="1800" dirty="0"/>
              <a:t>Loss</a:t>
            </a:r>
            <a:r>
              <a:rPr lang="zh-CN" altLang="en-US" sz="1800" dirty="0"/>
              <a:t>，最后通过反向传播更新网络中的所有参数</a:t>
            </a:r>
            <a:endParaRPr lang="zh-CN" altLang="en-US" sz="1800" dirty="0"/>
          </a:p>
        </p:txBody>
      </p:sp>
      <p:pic>
        <p:nvPicPr>
          <p:cNvPr id="5" name="图片 4"/>
          <p:cNvPicPr>
            <a:picLocks noChangeAspect="1"/>
          </p:cNvPicPr>
          <p:nvPr/>
        </p:nvPicPr>
        <p:blipFill>
          <a:blip r:embed="rId1"/>
          <a:stretch>
            <a:fillRect/>
          </a:stretch>
        </p:blipFill>
        <p:spPr>
          <a:xfrm>
            <a:off x="1779920" y="4664404"/>
            <a:ext cx="8159947" cy="2193596"/>
          </a:xfrm>
          <a:prstGeom prst="rect">
            <a:avLst/>
          </a:prstGeom>
        </p:spPr>
      </p:pic>
    </p:spTree>
  </p:cSld>
  <p:clrMapOvr>
    <a:masterClrMapping/>
  </p:clrMapOvr>
  <p:transition spd="me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a:t>DETR</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841156" y="323893"/>
            <a:ext cx="11140214" cy="4351338"/>
          </a:xfrm>
        </p:spPr>
        <p:txBody>
          <a:bodyPr>
            <a:normAutofit/>
          </a:bodyPr>
          <a:lstStyle/>
          <a:p>
            <a:r>
              <a:rPr lang="zh-CN" altLang="en-US" dirty="0"/>
              <a:t>二维空间位置编码方法</a:t>
            </a:r>
            <a:endParaRPr lang="en-US" altLang="zh-CN" dirty="0"/>
          </a:p>
          <a:p>
            <a:r>
              <a:rPr lang="zh-CN" altLang="en-US" dirty="0"/>
              <a:t>计算</a:t>
            </a:r>
            <a:r>
              <a:rPr lang="en-US" altLang="zh-CN" dirty="0"/>
              <a:t> attention </a:t>
            </a:r>
            <a:r>
              <a:rPr lang="zh-CN" altLang="en-US" dirty="0"/>
              <a:t>的时候没有使用</a:t>
            </a:r>
            <a:r>
              <a:rPr lang="en-US" altLang="zh-CN" dirty="0"/>
              <a:t> masked attention</a:t>
            </a:r>
            <a:endParaRPr lang="en-US" altLang="zh-CN" dirty="0"/>
          </a:p>
          <a:p>
            <a:r>
              <a:rPr lang="en-US" altLang="zh-CN" dirty="0"/>
              <a:t>object queries </a:t>
            </a:r>
            <a:r>
              <a:rPr lang="zh-CN" altLang="en-US" dirty="0"/>
              <a:t>的转换</a:t>
            </a:r>
            <a:endParaRPr lang="en-US" altLang="zh-CN" dirty="0"/>
          </a:p>
          <a:p>
            <a:r>
              <a:rPr lang="zh-CN" altLang="en-US" dirty="0"/>
              <a:t>将预测目标和真实目标之间通过匈牙利算法进行二分匹配</a:t>
            </a:r>
            <a:endParaRPr lang="en-US" altLang="zh-CN" dirty="0"/>
          </a:p>
          <a:p>
            <a:r>
              <a:rPr lang="zh-CN" altLang="en-US" dirty="0"/>
              <a:t>损失函数的设计</a:t>
            </a:r>
            <a:endParaRPr lang="zh-CN" altLang="en-US" dirty="0"/>
          </a:p>
        </p:txBody>
      </p:sp>
      <p:pic>
        <p:nvPicPr>
          <p:cNvPr id="5" name="图片 4"/>
          <p:cNvPicPr>
            <a:picLocks noChangeAspect="1"/>
          </p:cNvPicPr>
          <p:nvPr/>
        </p:nvPicPr>
        <p:blipFill>
          <a:blip r:embed="rId1"/>
          <a:stretch>
            <a:fillRect/>
          </a:stretch>
        </p:blipFill>
        <p:spPr>
          <a:xfrm>
            <a:off x="5685009" y="2278201"/>
            <a:ext cx="4286161" cy="4395332"/>
          </a:xfrm>
          <a:prstGeom prst="rect">
            <a:avLst/>
          </a:prstGeom>
        </p:spPr>
      </p:pic>
      <p:sp>
        <p:nvSpPr>
          <p:cNvPr id="8" name="文本框 7"/>
          <p:cNvSpPr txBox="1"/>
          <p:nvPr/>
        </p:nvSpPr>
        <p:spPr>
          <a:xfrm>
            <a:off x="3645244" y="3182550"/>
            <a:ext cx="3830594"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rgbClr val="FF0000"/>
                </a:solidFill>
                <a:latin typeface="微软雅黑" panose="020B0503020204020204" pitchFamily="34" charset="-122"/>
                <a:ea typeface="微软雅黑" panose="020B0503020204020204" pitchFamily="34" charset="-122"/>
              </a:rPr>
              <a:t>和原始</a:t>
            </a:r>
            <a:r>
              <a:rPr lang="en-US" altLang="zh-CN" sz="2400" dirty="0">
                <a:solidFill>
                  <a:srgbClr val="FF0000"/>
                </a:solidFill>
                <a:latin typeface="微软雅黑" panose="020B0503020204020204" pitchFamily="34" charset="-122"/>
                <a:ea typeface="微软雅黑" panose="020B0503020204020204" pitchFamily="34" charset="-122"/>
              </a:rPr>
              <a:t>Transformer</a:t>
            </a:r>
            <a:r>
              <a:rPr lang="zh-CN" altLang="en-US" sz="2400" dirty="0">
                <a:solidFill>
                  <a:srgbClr val="FF0000"/>
                </a:solidFill>
                <a:latin typeface="微软雅黑" panose="020B0503020204020204" pitchFamily="34" charset="-122"/>
                <a:ea typeface="微软雅黑" panose="020B0503020204020204" pitchFamily="34" charset="-122"/>
              </a:rPr>
              <a:t>的变化</a:t>
            </a:r>
            <a:endParaRPr lang="zh-CN" altLang="en-US" sz="2400" dirty="0">
              <a:solidFill>
                <a:srgbClr val="FF0000"/>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匈牙利算法</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7"/>
            <a:ext cx="11140214" cy="4805046"/>
          </a:xfrm>
        </p:spPr>
        <p:txBody>
          <a:bodyPr>
            <a:normAutofit/>
          </a:bodyPr>
          <a:lstStyle/>
          <a:p>
            <a:pPr marL="0" indent="0">
              <a:buNone/>
            </a:pPr>
            <a:r>
              <a:rPr lang="zh-CN" altLang="en-US" sz="2000" dirty="0"/>
              <a:t>匈牙利算法匹配的过程：</a:t>
            </a:r>
            <a:endParaRPr lang="en-US" altLang="zh-CN" sz="2000" dirty="0"/>
          </a:p>
          <a:p>
            <a:r>
              <a:rPr lang="zh-CN" altLang="en-US" sz="2000" dirty="0"/>
              <a:t>建立成本矩阵 </a:t>
            </a:r>
            <a:r>
              <a:rPr lang="en-US" altLang="zh-CN" sz="2000" dirty="0"/>
              <a:t>(Cost Matrix)</a:t>
            </a:r>
            <a:endParaRPr lang="en-US" altLang="zh-CN" sz="2000" dirty="0"/>
          </a:p>
          <a:p>
            <a:pPr marL="838200" lvl="1" indent="-342900"/>
            <a:r>
              <a:rPr lang="zh-CN" altLang="en-US" sz="2000" dirty="0"/>
              <a:t>分类成本： 预测的类别概率和真实类别有多接近</a:t>
            </a:r>
            <a:endParaRPr lang="en-US" altLang="zh-CN" sz="2000" dirty="0"/>
          </a:p>
          <a:p>
            <a:pPr marL="838200" lvl="1" indent="-342900"/>
            <a:r>
              <a:rPr lang="zh-CN" altLang="en-US" sz="2000" dirty="0"/>
              <a:t>位置成本： 预测框和真实框的 </a:t>
            </a:r>
            <a:r>
              <a:rPr lang="en-US" altLang="zh-CN" sz="2000" dirty="0"/>
              <a:t>L1 </a:t>
            </a:r>
            <a:r>
              <a:rPr lang="zh-CN" altLang="en-US" sz="2000" dirty="0"/>
              <a:t>距离，以及广义交并比 </a:t>
            </a:r>
            <a:r>
              <a:rPr lang="en-US" altLang="zh-CN" sz="2000" dirty="0" err="1"/>
              <a:t>GIoU</a:t>
            </a:r>
            <a:r>
              <a:rPr lang="zh-CN" altLang="en-US" sz="2000" dirty="0"/>
              <a:t>。如果框离得越远、形状越不准，成本（</a:t>
            </a:r>
            <a:r>
              <a:rPr lang="en-US" altLang="zh-CN" sz="2000" dirty="0"/>
              <a:t>Cost</a:t>
            </a:r>
            <a:r>
              <a:rPr lang="zh-CN" altLang="en-US" sz="2000" dirty="0"/>
              <a:t>）就越高</a:t>
            </a:r>
            <a:endParaRPr lang="en-US" altLang="zh-CN" sz="2000" dirty="0"/>
          </a:p>
          <a:p>
            <a:pPr marL="495300" lvl="1" indent="0">
              <a:buNone/>
            </a:pPr>
            <a:endParaRPr lang="en-US" altLang="zh-CN" sz="2000" dirty="0"/>
          </a:p>
          <a:p>
            <a:pPr marL="0" indent="0">
              <a:buNone/>
            </a:pPr>
            <a:endParaRPr lang="en-US" altLang="zh-CN" sz="2000" dirty="0"/>
          </a:p>
          <a:p>
            <a:pPr marL="0" indent="0">
              <a:buNone/>
            </a:pPr>
            <a:endParaRPr lang="en-US" altLang="zh-CN" sz="2000" dirty="0"/>
          </a:p>
          <a:p>
            <a:pPr marL="0" indent="0">
              <a:buNone/>
            </a:pPr>
            <a:endParaRPr lang="en-US" altLang="zh-CN" sz="2000" dirty="0"/>
          </a:p>
          <a:p>
            <a:pPr marL="0" indent="0">
              <a:buNone/>
            </a:pPr>
            <a:r>
              <a:rPr lang="zh-CN" altLang="en-US" sz="2000" dirty="0"/>
              <a:t>将每一个预测框和每一个真实框两两配对，并且总成本加起来全场最低（全局性）</a:t>
            </a:r>
            <a:endParaRPr lang="en-US" altLang="zh-CN" sz="2000" dirty="0"/>
          </a:p>
        </p:txBody>
      </p:sp>
      <p:graphicFrame>
        <p:nvGraphicFramePr>
          <p:cNvPr id="6" name="对象 5"/>
          <p:cNvGraphicFramePr>
            <a:graphicFrameLocks noChangeAspect="1"/>
          </p:cNvGraphicFramePr>
          <p:nvPr/>
        </p:nvGraphicFramePr>
        <p:xfrm>
          <a:off x="2362199" y="3620065"/>
          <a:ext cx="6953251" cy="551249"/>
        </p:xfrm>
        <a:graphic>
          <a:graphicData uri="http://schemas.openxmlformats.org/presentationml/2006/ole">
            <mc:AlternateContent xmlns:mc="http://schemas.openxmlformats.org/markup-compatibility/2006">
              <mc:Choice xmlns:v="urn:schemas-microsoft-com:vml" Requires="v">
                <p:oleObj spid="_x0000_s8237" name="Equation" r:id="rId1" imgW="3380105" imgH="272415" progId="Equation.DSMT4">
                  <p:embed/>
                </p:oleObj>
              </mc:Choice>
              <mc:Fallback>
                <p:oleObj name="Equation" r:id="rId1" imgW="3380105" imgH="272415" progId="Equation.DSMT4">
                  <p:embed/>
                  <p:pic>
                    <p:nvPicPr>
                      <p:cNvPr id="0" name="图片 8229"/>
                      <p:cNvPicPr/>
                      <p:nvPr/>
                    </p:nvPicPr>
                    <p:blipFill>
                      <a:blip r:embed="rId2"/>
                      <a:stretch>
                        <a:fillRect/>
                      </a:stretch>
                    </p:blipFill>
                    <p:spPr>
                      <a:xfrm>
                        <a:off x="2362199" y="3620065"/>
                        <a:ext cx="6953251" cy="551249"/>
                      </a:xfrm>
                      <a:prstGeom prst="rect">
                        <a:avLst/>
                      </a:prstGeom>
                    </p:spPr>
                  </p:pic>
                </p:oleObj>
              </mc:Fallback>
            </mc:AlternateContent>
          </a:graphicData>
        </a:graphic>
      </p:graphicFrame>
      <p:cxnSp>
        <p:nvCxnSpPr>
          <p:cNvPr id="8" name="直接箭头连接符 7"/>
          <p:cNvCxnSpPr/>
          <p:nvPr/>
        </p:nvCxnSpPr>
        <p:spPr>
          <a:xfrm flipH="1">
            <a:off x="4152900" y="4171314"/>
            <a:ext cx="215900" cy="375286"/>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10" name="文本框 9"/>
          <p:cNvSpPr txBox="1"/>
          <p:nvPr/>
        </p:nvSpPr>
        <p:spPr>
          <a:xfrm>
            <a:off x="3210606" y="4546600"/>
            <a:ext cx="1780494" cy="4001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000" dirty="0">
                <a:solidFill>
                  <a:schemeClr val="accent1"/>
                </a:solidFill>
                <a:latin typeface="微软雅黑" panose="020B0503020204020204" pitchFamily="34" charset="-122"/>
                <a:ea typeface="微软雅黑" panose="020B0503020204020204" pitchFamily="34" charset="-122"/>
              </a:rPr>
              <a:t>分类成本</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cxnSp>
        <p:nvCxnSpPr>
          <p:cNvPr id="11" name="直接箭头连接符 10"/>
          <p:cNvCxnSpPr/>
          <p:nvPr/>
        </p:nvCxnSpPr>
        <p:spPr>
          <a:xfrm flipH="1">
            <a:off x="5880100" y="4128293"/>
            <a:ext cx="215900" cy="375286"/>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cxnSp>
        <p:nvCxnSpPr>
          <p:cNvPr id="12" name="直接箭头连接符 11"/>
          <p:cNvCxnSpPr/>
          <p:nvPr/>
        </p:nvCxnSpPr>
        <p:spPr>
          <a:xfrm>
            <a:off x="8311243" y="4128293"/>
            <a:ext cx="394607" cy="383064"/>
          </a:xfrm>
          <a:prstGeom prst="straightConnector1">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14" name="文本框 13"/>
          <p:cNvSpPr txBox="1"/>
          <p:nvPr/>
        </p:nvSpPr>
        <p:spPr>
          <a:xfrm>
            <a:off x="8030557" y="4546600"/>
            <a:ext cx="6099174" cy="4001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zh-CN" altLang="en-US" sz="2000" dirty="0">
                <a:solidFill>
                  <a:schemeClr val="accent1"/>
                </a:solidFill>
                <a:latin typeface="微软雅黑" panose="020B0503020204020204" pitchFamily="34" charset="-122"/>
                <a:ea typeface="微软雅黑" panose="020B0503020204020204" pitchFamily="34" charset="-122"/>
              </a:rPr>
              <a:t>广义交并比</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205753" y="4515871"/>
            <a:ext cx="1780494" cy="40011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r>
              <a:rPr lang="en-US" altLang="zh-CN" sz="2000" dirty="0">
                <a:solidFill>
                  <a:schemeClr val="accent1"/>
                </a:solidFill>
                <a:latin typeface="微软雅黑" panose="020B0503020204020204" pitchFamily="34" charset="-122"/>
                <a:ea typeface="微软雅黑" panose="020B0503020204020204" pitchFamily="34" charset="-122"/>
              </a:rPr>
              <a:t>L1 </a:t>
            </a:r>
            <a:r>
              <a:rPr lang="zh-CN" altLang="en-US" sz="2000" dirty="0">
                <a:solidFill>
                  <a:schemeClr val="accent1"/>
                </a:solidFill>
                <a:latin typeface="微软雅黑" panose="020B0503020204020204" pitchFamily="34" charset="-122"/>
                <a:ea typeface="微软雅黑" panose="020B0503020204020204" pitchFamily="34" charset="-122"/>
              </a:rPr>
              <a:t>距离成本</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grpSp>
        <p:nvGrpSpPr>
          <p:cNvPr id="28" name="组合 27"/>
          <p:cNvGrpSpPr/>
          <p:nvPr/>
        </p:nvGrpSpPr>
        <p:grpSpPr>
          <a:xfrm>
            <a:off x="1548303" y="1760276"/>
            <a:ext cx="8143948" cy="1898638"/>
            <a:chOff x="2030869" y="1772153"/>
            <a:chExt cx="8143948" cy="1898638"/>
          </a:xfrm>
        </p:grpSpPr>
        <p:sp>
          <p:nvSpPr>
            <p:cNvPr id="16" name="矩形 15"/>
            <p:cNvSpPr/>
            <p:nvPr/>
          </p:nvSpPr>
          <p:spPr>
            <a:xfrm>
              <a:off x="2030869" y="1772153"/>
              <a:ext cx="8143948" cy="1686480"/>
            </a:xfrm>
            <a:prstGeom prst="rect">
              <a:avLst/>
            </a:prstGeom>
            <a:solidFill>
              <a:srgbClr val="FFFFFF"/>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graphicFrame>
          <p:nvGraphicFramePr>
            <p:cNvPr id="18" name="对象 17"/>
            <p:cNvGraphicFramePr>
              <a:graphicFrameLocks noChangeAspect="1"/>
            </p:cNvGraphicFramePr>
            <p:nvPr/>
          </p:nvGraphicFramePr>
          <p:xfrm>
            <a:off x="8013521" y="1860283"/>
            <a:ext cx="1931710" cy="604400"/>
          </p:xfrm>
          <a:graphic>
            <a:graphicData uri="http://schemas.openxmlformats.org/presentationml/2006/ole">
              <mc:AlternateContent xmlns:mc="http://schemas.openxmlformats.org/markup-compatibility/2006">
                <mc:Choice xmlns:v="urn:schemas-microsoft-com:vml" Requires="v">
                  <p:oleObj spid="_x0000_s8239" name="Equation" r:id="rId3" imgW="1391285" imgH="437515" progId="Equation.DSMT4">
                    <p:embed/>
                  </p:oleObj>
                </mc:Choice>
                <mc:Fallback>
                  <p:oleObj name="Equation" r:id="rId3" imgW="1391285" imgH="437515" progId="Equation.DSMT4">
                    <p:embed/>
                    <p:pic>
                      <p:nvPicPr>
                        <p:cNvPr id="0" name="图片 8231"/>
                        <p:cNvPicPr/>
                        <p:nvPr/>
                      </p:nvPicPr>
                      <p:blipFill>
                        <a:blip r:embed="rId4"/>
                        <a:stretch>
                          <a:fillRect/>
                        </a:stretch>
                      </p:blipFill>
                      <p:spPr>
                        <a:xfrm>
                          <a:off x="8013521" y="1860283"/>
                          <a:ext cx="1931710" cy="604400"/>
                        </a:xfrm>
                        <a:prstGeom prst="rect">
                          <a:avLst/>
                        </a:prstGeom>
                      </p:spPr>
                    </p:pic>
                  </p:oleObj>
                </mc:Fallback>
              </mc:AlternateContent>
            </a:graphicData>
          </a:graphic>
        </p:graphicFrame>
        <p:graphicFrame>
          <p:nvGraphicFramePr>
            <p:cNvPr id="19" name="对象 18"/>
            <p:cNvGraphicFramePr>
              <a:graphicFrameLocks noChangeAspect="1"/>
            </p:cNvGraphicFramePr>
            <p:nvPr/>
          </p:nvGraphicFramePr>
          <p:xfrm>
            <a:off x="8069263" y="2271736"/>
            <a:ext cx="1246187" cy="866775"/>
          </p:xfrm>
          <a:graphic>
            <a:graphicData uri="http://schemas.openxmlformats.org/presentationml/2006/ole">
              <mc:AlternateContent xmlns:mc="http://schemas.openxmlformats.org/markup-compatibility/2006">
                <mc:Choice xmlns:v="urn:schemas-microsoft-com:vml" Requires="v">
                  <p:oleObj spid="_x0000_s8240" name="Equation" r:id="rId5" imgW="958215" imgH="666115" progId="Equation.DSMT4">
                    <p:embed/>
                  </p:oleObj>
                </mc:Choice>
                <mc:Fallback>
                  <p:oleObj name="Equation" r:id="rId5" imgW="958215" imgH="666115" progId="Equation.DSMT4">
                    <p:embed/>
                    <p:pic>
                      <p:nvPicPr>
                        <p:cNvPr id="0" name="图片 8232"/>
                        <p:cNvPicPr/>
                        <p:nvPr/>
                      </p:nvPicPr>
                      <p:blipFill>
                        <a:blip r:embed="rId6"/>
                        <a:stretch>
                          <a:fillRect/>
                        </a:stretch>
                      </p:blipFill>
                      <p:spPr>
                        <a:xfrm>
                          <a:off x="8069263" y="2271736"/>
                          <a:ext cx="1246187" cy="866775"/>
                        </a:xfrm>
                        <a:prstGeom prst="rect">
                          <a:avLst/>
                        </a:prstGeom>
                      </p:spPr>
                    </p:pic>
                  </p:oleObj>
                </mc:Fallback>
              </mc:AlternateContent>
            </a:graphicData>
          </a:graphic>
        </p:graphicFrame>
        <p:sp>
          <p:nvSpPr>
            <p:cNvPr id="22" name="文本框 21"/>
            <p:cNvSpPr txBox="1"/>
            <p:nvPr/>
          </p:nvSpPr>
          <p:spPr>
            <a:xfrm>
              <a:off x="8311242" y="3168811"/>
              <a:ext cx="1863575" cy="24574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lang="zh-CN" altLang="en-US" sz="1600" dirty="0">
                <a:solidFill>
                  <a:schemeClr val="accent1"/>
                </a:solidFill>
                <a:latin typeface="微软雅黑" panose="020B0503020204020204" pitchFamily="34" charset="-122"/>
                <a:ea typeface="微软雅黑" panose="020B0503020204020204" pitchFamily="34" charset="-122"/>
              </a:endParaRPr>
            </a:p>
          </p:txBody>
        </p:sp>
        <p:pic>
          <p:nvPicPr>
            <p:cNvPr id="23" name="图片 22"/>
            <p:cNvPicPr>
              <a:picLocks noChangeAspect="1"/>
            </p:cNvPicPr>
            <p:nvPr/>
          </p:nvPicPr>
          <p:blipFill>
            <a:blip r:embed="rId7"/>
            <a:stretch>
              <a:fillRect/>
            </a:stretch>
          </p:blipFill>
          <p:spPr>
            <a:xfrm>
              <a:off x="5126382" y="2059492"/>
              <a:ext cx="1724972" cy="539761"/>
            </a:xfrm>
            <a:prstGeom prst="rect">
              <a:avLst/>
            </a:prstGeom>
          </p:spPr>
        </p:pic>
        <p:sp>
          <p:nvSpPr>
            <p:cNvPr id="25" name="文本框 24"/>
            <p:cNvSpPr txBox="1"/>
            <p:nvPr/>
          </p:nvSpPr>
          <p:spPr>
            <a:xfrm>
              <a:off x="4945957" y="2839794"/>
              <a:ext cx="2454819" cy="830997"/>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marL="0" indent="0">
                <a:buNone/>
              </a:pPr>
              <a:r>
                <a:rPr lang="zh-CN" altLang="en-US" sz="1600" dirty="0">
                  <a:solidFill>
                    <a:schemeClr val="accent1"/>
                  </a:solidFill>
                  <a:latin typeface="微软雅黑" panose="020B0503020204020204" pitchFamily="34" charset="-122"/>
                  <a:ea typeface="微软雅黑" panose="020B0503020204020204" pitchFamily="34" charset="-122"/>
                </a:rPr>
                <a:t>L1距离</a:t>
              </a:r>
              <a:r>
                <a:rPr lang="en-US" altLang="zh-CN" sz="1600" dirty="0">
                  <a:solidFill>
                    <a:schemeClr val="accent1"/>
                  </a:solidFill>
                  <a:latin typeface="微软雅黑" panose="020B0503020204020204" pitchFamily="34" charset="-122"/>
                  <a:ea typeface="微软雅黑" panose="020B0503020204020204" pitchFamily="34" charset="-122"/>
                </a:rPr>
                <a:t> </a:t>
              </a:r>
              <a:r>
                <a:rPr lang="zh-CN" altLang="en-US" sz="1600" dirty="0">
                  <a:solidFill>
                    <a:schemeClr val="accent1"/>
                  </a:solidFill>
                  <a:latin typeface="微软雅黑" panose="020B0503020204020204" pitchFamily="34" charset="-122"/>
                  <a:ea typeface="微软雅黑" panose="020B0503020204020204" pitchFamily="34" charset="-122"/>
                </a:rPr>
                <a:t>曼哈顿距离</a:t>
              </a:r>
              <a:endParaRPr lang="en-US" altLang="zh-CN" sz="1600" dirty="0">
                <a:solidFill>
                  <a:schemeClr val="accent1"/>
                </a:solidFill>
                <a:latin typeface="微软雅黑" panose="020B0503020204020204" pitchFamily="34" charset="-122"/>
                <a:ea typeface="微软雅黑" panose="020B0503020204020204" pitchFamily="34" charset="-122"/>
              </a:endParaRPr>
            </a:p>
            <a:p>
              <a:pPr marL="0" indent="0">
                <a:buNone/>
              </a:pPr>
              <a:r>
                <a:rPr lang="zh-CN" altLang="en-US" sz="1600" dirty="0">
                  <a:solidFill>
                    <a:schemeClr val="accent1"/>
                  </a:solidFill>
                  <a:latin typeface="微软雅黑" panose="020B0503020204020204" pitchFamily="34" charset="-122"/>
                  <a:ea typeface="微软雅黑" panose="020B0503020204020204" pitchFamily="34" charset="-122"/>
                </a:rPr>
                <a:t>把每个维度的绝对差相加</a:t>
              </a:r>
              <a:endParaRPr lang="zh-CN" altLang="en-US" sz="1600" dirty="0">
                <a:solidFill>
                  <a:schemeClr val="accent1"/>
                </a:solidFill>
                <a:latin typeface="微软雅黑" panose="020B0503020204020204" pitchFamily="34" charset="-122"/>
                <a:ea typeface="微软雅黑" panose="020B0503020204020204" pitchFamily="34" charset="-122"/>
              </a:endParaRPr>
            </a:p>
            <a:p>
              <a:pPr marL="0" indent="0">
                <a:buNone/>
              </a:pPr>
              <a:endParaRPr lang="zh-CN" altLang="en-US" sz="1600" dirty="0">
                <a:sym typeface="等线" panose="02010600030101010101" charset="-122"/>
              </a:endParaRPr>
            </a:p>
          </p:txBody>
        </p:sp>
        <p:pic>
          <p:nvPicPr>
            <p:cNvPr id="27" name="图片 26"/>
            <p:cNvPicPr>
              <a:picLocks noChangeAspect="1"/>
            </p:cNvPicPr>
            <p:nvPr/>
          </p:nvPicPr>
          <p:blipFill>
            <a:blip r:embed="rId8"/>
            <a:stretch>
              <a:fillRect/>
            </a:stretch>
          </p:blipFill>
          <p:spPr>
            <a:xfrm>
              <a:off x="2893784" y="1827963"/>
              <a:ext cx="1018567" cy="1587069"/>
            </a:xfrm>
            <a:prstGeom prst="rect">
              <a:avLst/>
            </a:prstGeom>
          </p:spPr>
        </p:pic>
      </p:grpSp>
      <p:grpSp>
        <p:nvGrpSpPr>
          <p:cNvPr id="32" name="组合 31"/>
          <p:cNvGrpSpPr/>
          <p:nvPr/>
        </p:nvGrpSpPr>
        <p:grpSpPr>
          <a:xfrm>
            <a:off x="2087928" y="952400"/>
            <a:ext cx="12346594" cy="2667622"/>
            <a:chOff x="3540319" y="7964098"/>
            <a:chExt cx="9416836" cy="2667622"/>
          </a:xfrm>
        </p:grpSpPr>
        <p:sp>
          <p:nvSpPr>
            <p:cNvPr id="29" name="矩形 28"/>
            <p:cNvSpPr/>
            <p:nvPr/>
          </p:nvSpPr>
          <p:spPr>
            <a:xfrm>
              <a:off x="3540319" y="7964098"/>
              <a:ext cx="5214282" cy="2667622"/>
            </a:xfrm>
            <a:prstGeom prst="rect">
              <a:avLst/>
            </a:prstGeom>
            <a:solidFill>
              <a:srgbClr val="FFFFFF"/>
            </a:solid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30" name="文本框 29"/>
            <p:cNvSpPr txBox="1"/>
            <p:nvPr/>
          </p:nvSpPr>
          <p:spPr>
            <a:xfrm>
              <a:off x="3680682" y="8309877"/>
              <a:ext cx="9276473" cy="1846580"/>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rPr>
                <a:t>假设成本矩阵的大小是</a:t>
              </a:r>
              <a:r>
                <a:rPr lang="en-US" altLang="zh-CN" sz="2000" dirty="0">
                  <a:solidFill>
                    <a:schemeClr val="accent1"/>
                  </a:solidFill>
                  <a:latin typeface="微软雅黑" panose="020B0503020204020204" pitchFamily="34" charset="-122"/>
                  <a:ea typeface="微软雅黑" panose="020B0503020204020204" pitchFamily="34" charset="-122"/>
                </a:rPr>
                <a:t>2*2</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rPr>
                <a:t>硬性规则：从每一列挑一个格子，且这 </a:t>
              </a:r>
              <a:r>
                <a:rPr lang="en-US" altLang="zh-CN" sz="2000" dirty="0">
                  <a:solidFill>
                    <a:schemeClr val="accent1"/>
                  </a:solidFill>
                  <a:latin typeface="微软雅黑" panose="020B0503020204020204" pitchFamily="34" charset="-122"/>
                  <a:ea typeface="微软雅黑" panose="020B0503020204020204" pitchFamily="34" charset="-122"/>
                </a:rPr>
                <a:t>2 </a:t>
              </a:r>
              <a:r>
                <a:rPr lang="zh-CN" altLang="en-US" sz="2000" dirty="0">
                  <a:solidFill>
                    <a:schemeClr val="accent1"/>
                  </a:solidFill>
                  <a:latin typeface="微软雅黑" panose="020B0503020204020204" pitchFamily="34" charset="-122"/>
                  <a:ea typeface="微软雅黑" panose="020B0503020204020204" pitchFamily="34" charset="-122"/>
                </a:rPr>
                <a:t>个格子在不同的行</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zh-CN" altLang="en-US" sz="2000" dirty="0">
                  <a:solidFill>
                    <a:schemeClr val="accent1"/>
                  </a:solidFill>
                  <a:latin typeface="微软雅黑" panose="020B0503020204020204" pitchFamily="34" charset="-122"/>
                  <a:ea typeface="微软雅黑" panose="020B0503020204020204" pitchFamily="34" charset="-122"/>
                </a:rPr>
                <a:t>使得这 </a:t>
              </a:r>
              <a:r>
                <a:rPr lang="en-US" altLang="zh-CN" sz="2000" dirty="0">
                  <a:solidFill>
                    <a:schemeClr val="accent1"/>
                  </a:solidFill>
                  <a:latin typeface="微软雅黑" panose="020B0503020204020204" pitchFamily="34" charset="-122"/>
                  <a:ea typeface="微软雅黑" panose="020B0503020204020204" pitchFamily="34" charset="-122"/>
                </a:rPr>
                <a:t>2 </a:t>
              </a:r>
              <a:r>
                <a:rPr lang="zh-CN" altLang="en-US" sz="2000" dirty="0">
                  <a:solidFill>
                    <a:schemeClr val="accent1"/>
                  </a:solidFill>
                  <a:latin typeface="微软雅黑" panose="020B0503020204020204" pitchFamily="34" charset="-122"/>
                  <a:ea typeface="微软雅黑" panose="020B0503020204020204" pitchFamily="34" charset="-122"/>
                </a:rPr>
                <a:t>个格子的分数加起来全场最小</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en-US" altLang="zh-CN" sz="2000" dirty="0" err="1">
                  <a:solidFill>
                    <a:schemeClr val="accent1"/>
                  </a:solidFill>
                  <a:latin typeface="微软雅黑" panose="020B0503020204020204" pitchFamily="34" charset="-122"/>
                  <a:ea typeface="微软雅黑" panose="020B0503020204020204" pitchFamily="34" charset="-122"/>
                </a:rPr>
                <a:t>row_ind</a:t>
              </a:r>
              <a:r>
                <a:rPr lang="en-US" altLang="zh-CN" sz="2000" dirty="0">
                  <a:solidFill>
                    <a:schemeClr val="accent1"/>
                  </a:solidFill>
                  <a:latin typeface="微软雅黑" panose="020B0503020204020204" pitchFamily="34" charset="-122"/>
                  <a:ea typeface="微软雅黑" panose="020B0503020204020204" pitchFamily="34" charset="-122"/>
                </a:rPr>
                <a:t> = [</a:t>
              </a:r>
              <a:r>
                <a:rPr lang="en-US" altLang="zh-CN" sz="2000" dirty="0">
                  <a:solidFill>
                    <a:srgbClr val="FF0000"/>
                  </a:solidFill>
                  <a:latin typeface="微软雅黑" panose="020B0503020204020204" pitchFamily="34" charset="-122"/>
                  <a:ea typeface="微软雅黑" panose="020B0503020204020204" pitchFamily="34" charset="-122"/>
                </a:rPr>
                <a:t>1</a:t>
              </a:r>
              <a:r>
                <a:rPr lang="en-US" altLang="zh-CN" sz="2000" dirty="0">
                  <a:solidFill>
                    <a:schemeClr val="accent1"/>
                  </a:solidFill>
                  <a:latin typeface="微软雅黑" panose="020B0503020204020204" pitchFamily="34" charset="-122"/>
                  <a:ea typeface="微软雅黑" panose="020B0503020204020204" pitchFamily="34" charset="-122"/>
                </a:rPr>
                <a:t>, 3]</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r>
                <a:rPr lang="en-US" altLang="zh-CN" sz="2000" dirty="0" err="1">
                  <a:solidFill>
                    <a:schemeClr val="accent1"/>
                  </a:solidFill>
                  <a:latin typeface="微软雅黑" panose="020B0503020204020204" pitchFamily="34" charset="-122"/>
                  <a:ea typeface="微软雅黑" panose="020B0503020204020204" pitchFamily="34" charset="-122"/>
                </a:rPr>
                <a:t>col_ind</a:t>
              </a:r>
              <a:r>
                <a:rPr lang="en-US" altLang="zh-CN" sz="2000" dirty="0">
                  <a:solidFill>
                    <a:schemeClr val="accent1"/>
                  </a:solidFill>
                  <a:latin typeface="微软雅黑" panose="020B0503020204020204" pitchFamily="34" charset="-122"/>
                  <a:ea typeface="微软雅黑" panose="020B0503020204020204" pitchFamily="34" charset="-122"/>
                </a:rPr>
                <a:t>  = [0, </a:t>
              </a:r>
              <a:r>
                <a:rPr lang="en-US" altLang="zh-CN" sz="2000" dirty="0">
                  <a:solidFill>
                    <a:srgbClr val="FF0000"/>
                  </a:solidFill>
                  <a:latin typeface="微软雅黑" panose="020B0503020204020204" pitchFamily="34" charset="-122"/>
                  <a:ea typeface="微软雅黑" panose="020B0503020204020204" pitchFamily="34" charset="-122"/>
                </a:rPr>
                <a:t>1</a:t>
              </a:r>
              <a:r>
                <a:rPr lang="en-US" altLang="zh-CN" sz="2000" dirty="0">
                  <a:solidFill>
                    <a:schemeClr val="accent1"/>
                  </a:solidFill>
                  <a:latin typeface="微软雅黑" panose="020B0503020204020204" pitchFamily="34" charset="-122"/>
                  <a:ea typeface="微软雅黑" panose="020B0503020204020204" pitchFamily="34" charset="-122"/>
                </a:rPr>
                <a:t>]</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lang="zh-CN" altLang="en-US" sz="2000" dirty="0">
                <a:solidFill>
                  <a:schemeClr val="accent1"/>
                </a:solidFill>
                <a:latin typeface="微软雅黑" panose="020B0503020204020204" pitchFamily="34" charset="-122"/>
                <a:ea typeface="微软雅黑" panose="020B0503020204020204" pitchFamily="34" charset="-122"/>
              </a:endParaRPr>
            </a:p>
          </p:txBody>
        </p:sp>
      </p:grpSp>
      <p:graphicFrame>
        <p:nvGraphicFramePr>
          <p:cNvPr id="35" name="对象 34"/>
          <p:cNvGraphicFramePr>
            <a:graphicFrameLocks noChangeAspect="1"/>
          </p:cNvGraphicFramePr>
          <p:nvPr/>
        </p:nvGraphicFramePr>
        <p:xfrm>
          <a:off x="3585043" y="5518703"/>
          <a:ext cx="4561401" cy="1029993"/>
        </p:xfrm>
        <a:graphic>
          <a:graphicData uri="http://schemas.openxmlformats.org/presentationml/2006/ole">
            <mc:AlternateContent xmlns:mc="http://schemas.openxmlformats.org/markup-compatibility/2006">
              <mc:Choice xmlns:v="urn:schemas-microsoft-com:vml" Requires="v">
                <p:oleObj spid="_x0000_s8241" name="Equation" r:id="rId9" imgW="1925955" imgH="437515" progId="Equation.DSMT4">
                  <p:embed/>
                </p:oleObj>
              </mc:Choice>
              <mc:Fallback>
                <p:oleObj name="Equation" r:id="rId9" imgW="1925955" imgH="437515" progId="Equation.DSMT4">
                  <p:embed/>
                  <p:pic>
                    <p:nvPicPr>
                      <p:cNvPr id="0" name="图片 8233"/>
                      <p:cNvPicPr/>
                      <p:nvPr/>
                    </p:nvPicPr>
                    <p:blipFill>
                      <a:blip r:embed="rId10"/>
                      <a:stretch>
                        <a:fillRect/>
                      </a:stretch>
                    </p:blipFill>
                    <p:spPr>
                      <a:xfrm>
                        <a:off x="3585043" y="5518703"/>
                        <a:ext cx="4561401" cy="1029993"/>
                      </a:xfrm>
                      <a:prstGeom prst="rect">
                        <a:avLst/>
                      </a:prstGeom>
                    </p:spPr>
                  </p:pic>
                </p:oleObj>
              </mc:Fallback>
            </mc:AlternateContent>
          </a:graphicData>
        </a:graphic>
      </p:graphicFrame>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 calcmode="lin" valueType="num">
                                      <p:cBhvr additive="base">
                                        <p:cTn id="7" dur="500" fill="hold"/>
                                        <p:tgtEl>
                                          <p:spTgt spid="28"/>
                                        </p:tgtEl>
                                        <p:attrNameLst>
                                          <p:attrName>ppt_x</p:attrName>
                                        </p:attrNameLst>
                                      </p:cBhvr>
                                      <p:tavLst>
                                        <p:tav tm="0">
                                          <p:val>
                                            <p:strVal val="#ppt_x"/>
                                          </p:val>
                                        </p:tav>
                                        <p:tav tm="100000">
                                          <p:val>
                                            <p:strVal val="#ppt_x"/>
                                          </p:val>
                                        </p:tav>
                                      </p:tavLst>
                                    </p:anim>
                                    <p:anim calcmode="lin" valueType="num">
                                      <p:cBhvr additive="base">
                                        <p:cTn id="8"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xit" presetSubtype="4" fill="hold" nodeType="clickEffect">
                                  <p:stCondLst>
                                    <p:cond delay="0"/>
                                  </p:stCondLst>
                                  <p:childTnLst>
                                    <p:anim calcmode="lin" valueType="num">
                                      <p:cBhvr additive="base">
                                        <p:cTn id="12" dur="500"/>
                                        <p:tgtEl>
                                          <p:spTgt spid="28"/>
                                        </p:tgtEl>
                                        <p:attrNameLst>
                                          <p:attrName>ppt_x</p:attrName>
                                        </p:attrNameLst>
                                      </p:cBhvr>
                                      <p:tavLst>
                                        <p:tav tm="0">
                                          <p:val>
                                            <p:strVal val="ppt_x"/>
                                          </p:val>
                                        </p:tav>
                                        <p:tav tm="100000">
                                          <p:val>
                                            <p:strVal val="ppt_x"/>
                                          </p:val>
                                        </p:tav>
                                      </p:tavLst>
                                    </p:anim>
                                    <p:anim calcmode="lin" valueType="num">
                                      <p:cBhvr additive="base">
                                        <p:cTn id="13" dur="500"/>
                                        <p:tgtEl>
                                          <p:spTgt spid="28"/>
                                        </p:tgtEl>
                                        <p:attrNameLst>
                                          <p:attrName>ppt_y</p:attrName>
                                        </p:attrNameLst>
                                      </p:cBhvr>
                                      <p:tavLst>
                                        <p:tav tm="0">
                                          <p:val>
                                            <p:strVal val="ppt_y"/>
                                          </p:val>
                                        </p:tav>
                                        <p:tav tm="100000">
                                          <p:val>
                                            <p:strVal val="1+ppt_h/2"/>
                                          </p:val>
                                        </p:tav>
                                      </p:tavLst>
                                    </p:anim>
                                    <p:set>
                                      <p:cBhvr>
                                        <p:cTn id="14" dur="1" fill="hold">
                                          <p:stCondLst>
                                            <p:cond delay="499"/>
                                          </p:stCondLst>
                                        </p:cTn>
                                        <p:tgtEl>
                                          <p:spTgt spid="2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anim calcmode="lin" valueType="num">
                                      <p:cBhvr additive="base">
                                        <p:cTn id="19" dur="500" fill="hold"/>
                                        <p:tgtEl>
                                          <p:spTgt spid="32"/>
                                        </p:tgtEl>
                                        <p:attrNameLst>
                                          <p:attrName>ppt_x</p:attrName>
                                        </p:attrNameLst>
                                      </p:cBhvr>
                                      <p:tavLst>
                                        <p:tav tm="0">
                                          <p:val>
                                            <p:strVal val="#ppt_x"/>
                                          </p:val>
                                        </p:tav>
                                        <p:tav tm="100000">
                                          <p:val>
                                            <p:strVal val="#ppt_x"/>
                                          </p:val>
                                        </p:tav>
                                      </p:tavLst>
                                    </p:anim>
                                    <p:anim calcmode="lin" valueType="num">
                                      <p:cBhvr additive="base">
                                        <p:cTn id="20"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xit" presetSubtype="4" fill="hold" nodeType="clickEffect">
                                  <p:stCondLst>
                                    <p:cond delay="0"/>
                                  </p:stCondLst>
                                  <p:childTnLst>
                                    <p:anim calcmode="lin" valueType="num">
                                      <p:cBhvr additive="base">
                                        <p:cTn id="24" dur="500"/>
                                        <p:tgtEl>
                                          <p:spTgt spid="32"/>
                                        </p:tgtEl>
                                        <p:attrNameLst>
                                          <p:attrName>ppt_x</p:attrName>
                                        </p:attrNameLst>
                                      </p:cBhvr>
                                      <p:tavLst>
                                        <p:tav tm="0">
                                          <p:val>
                                            <p:strVal val="ppt_x"/>
                                          </p:val>
                                        </p:tav>
                                        <p:tav tm="100000">
                                          <p:val>
                                            <p:strVal val="ppt_x"/>
                                          </p:val>
                                        </p:tav>
                                      </p:tavLst>
                                    </p:anim>
                                    <p:anim calcmode="lin" valueType="num">
                                      <p:cBhvr additive="base">
                                        <p:cTn id="25" dur="500"/>
                                        <p:tgtEl>
                                          <p:spTgt spid="32"/>
                                        </p:tgtEl>
                                        <p:attrNameLst>
                                          <p:attrName>ppt_y</p:attrName>
                                        </p:attrNameLst>
                                      </p:cBhvr>
                                      <p:tavLst>
                                        <p:tav tm="0">
                                          <p:val>
                                            <p:strVal val="ppt_y"/>
                                          </p:val>
                                        </p:tav>
                                        <p:tav tm="100000">
                                          <p:val>
                                            <p:strVal val="1+ppt_h/2"/>
                                          </p:val>
                                        </p:tav>
                                      </p:tavLst>
                                    </p:anim>
                                    <p:set>
                                      <p:cBhvr>
                                        <p:cTn id="26" dur="1" fill="hold">
                                          <p:stCondLst>
                                            <p:cond delay="499"/>
                                          </p:stCondLst>
                                        </p:cTn>
                                        <p:tgtEl>
                                          <p:spTgt spid="3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损失函数的设计</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926680" y="3108651"/>
            <a:ext cx="11140214" cy="4351338"/>
          </a:xfrm>
        </p:spPr>
        <p:txBody>
          <a:bodyPr/>
          <a:lstStyle/>
          <a:p>
            <a:r>
              <a:rPr lang="zh-CN" altLang="en-US" b="1" dirty="0"/>
              <a:t>分类损失</a:t>
            </a:r>
            <a:r>
              <a:rPr lang="zh-CN" altLang="en-US" dirty="0"/>
              <a:t>： 使用交叉熵计算每个 </a:t>
            </a:r>
            <a:r>
              <a:rPr lang="en-US" altLang="zh-CN" dirty="0"/>
              <a:t>Query </a:t>
            </a:r>
            <a:r>
              <a:rPr lang="zh-CN" altLang="en-US" dirty="0"/>
              <a:t>预测类别的误差（包含背景类）</a:t>
            </a:r>
            <a:endParaRPr lang="zh-CN" altLang="en-US" dirty="0"/>
          </a:p>
          <a:p>
            <a:pPr>
              <a:lnSpc>
                <a:spcPct val="110000"/>
              </a:lnSpc>
            </a:pPr>
            <a:r>
              <a:rPr lang="zh-CN" altLang="en-US" b="1" dirty="0"/>
              <a:t>边界框损失</a:t>
            </a:r>
            <a:r>
              <a:rPr lang="zh-CN" altLang="en-US" dirty="0"/>
              <a:t>： 如果该 </a:t>
            </a:r>
            <a:r>
              <a:rPr lang="en-US" altLang="zh-CN" dirty="0"/>
              <a:t>Query </a:t>
            </a:r>
            <a:r>
              <a:rPr lang="zh-CN" altLang="en-US" dirty="0"/>
              <a:t>匹配到了真目标，为了避免大目标和小目标的绝对误差不同，</a:t>
            </a:r>
            <a:r>
              <a:rPr lang="en-US" altLang="zh-CN" dirty="0"/>
              <a:t>DETR </a:t>
            </a:r>
            <a:r>
              <a:rPr lang="zh-CN" altLang="en-US" dirty="0"/>
              <a:t>组合了 </a:t>
            </a:r>
            <a:r>
              <a:rPr lang="en-US" altLang="zh-CN" dirty="0"/>
              <a:t>L1 </a:t>
            </a:r>
            <a:r>
              <a:rPr lang="zh-CN" altLang="en-US" dirty="0"/>
              <a:t>距离和尺度不敏感的 </a:t>
            </a:r>
            <a:r>
              <a:rPr lang="en-US" altLang="zh-CN" dirty="0" err="1"/>
              <a:t>GIoU</a:t>
            </a:r>
            <a:endParaRPr lang="zh-CN" altLang="en-US" dirty="0"/>
          </a:p>
          <a:p>
            <a:endParaRPr lang="zh-CN" altLang="en-US" dirty="0"/>
          </a:p>
        </p:txBody>
      </p:sp>
      <p:pic>
        <p:nvPicPr>
          <p:cNvPr id="5" name="图片 4"/>
          <p:cNvPicPr>
            <a:picLocks noChangeAspect="1"/>
          </p:cNvPicPr>
          <p:nvPr/>
        </p:nvPicPr>
        <p:blipFill>
          <a:blip r:embed="rId1"/>
          <a:stretch>
            <a:fillRect/>
          </a:stretch>
        </p:blipFill>
        <p:spPr>
          <a:xfrm>
            <a:off x="1060633" y="1345431"/>
            <a:ext cx="9447486" cy="1494021"/>
          </a:xfrm>
          <a:prstGeom prst="rect">
            <a:avLst/>
          </a:prstGeom>
        </p:spPr>
      </p:pic>
    </p:spTree>
  </p:cSld>
  <p:clrMapOvr>
    <a:masterClrMapping/>
  </p:clrMapOvr>
  <p:transition spd="me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DETR</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lstStyle/>
          <a:p>
            <a:pPr marL="0" indent="0" algn="ctr">
              <a:buNone/>
            </a:pPr>
            <a:r>
              <a:rPr lang="zh-CN" altLang="en-US" dirty="0"/>
              <a:t>对大目标检测表现较好，对小目标检测能力有所欠缺</a:t>
            </a:r>
            <a:endParaRPr lang="zh-CN" altLang="en-US" dirty="0"/>
          </a:p>
        </p:txBody>
      </p:sp>
      <p:pic>
        <p:nvPicPr>
          <p:cNvPr id="5" name="图片 4"/>
          <p:cNvPicPr>
            <a:picLocks noChangeAspect="1"/>
          </p:cNvPicPr>
          <p:nvPr/>
        </p:nvPicPr>
        <p:blipFill>
          <a:blip r:embed="rId1"/>
          <a:stretch>
            <a:fillRect/>
          </a:stretch>
        </p:blipFill>
        <p:spPr>
          <a:xfrm>
            <a:off x="2187749" y="2583877"/>
            <a:ext cx="8220207" cy="3908998"/>
          </a:xfrm>
          <a:prstGeom prst="rect">
            <a:avLst/>
          </a:prstGeom>
        </p:spPr>
      </p:pic>
    </p:spTree>
  </p:cSld>
  <p:clrMapOvr>
    <a:masterClrMapping/>
  </p:clrMapOvr>
  <p:transition spd="me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图像分割 </a:t>
            </a:r>
            <a:r>
              <a:rPr lang="en-US" altLang="zh-CN" dirty="0"/>
              <a:t>Segmentation</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p:txBody>
          <a:bodyPr>
            <a:normAutofit/>
          </a:bodyPr>
          <a:lstStyle/>
          <a:p>
            <a:r>
              <a:rPr lang="zh-CN" altLang="en-US" sz="2000" b="1" dirty="0"/>
              <a:t>语义分割</a:t>
            </a:r>
            <a:r>
              <a:rPr lang="en-US" altLang="zh-CN" sz="2000" b="1" dirty="0"/>
              <a:t> Semantic Segmentation</a:t>
            </a:r>
            <a:endParaRPr lang="en-US" altLang="zh-CN" sz="2000" b="1" dirty="0"/>
          </a:p>
          <a:p>
            <a:pPr marL="0" indent="0">
              <a:buNone/>
            </a:pPr>
            <a:r>
              <a:rPr lang="zh-CN" altLang="en-US" sz="2000" dirty="0"/>
              <a:t>语义分割的核心任务是“像素级分类”</a:t>
            </a:r>
            <a:endParaRPr lang="en-US" altLang="zh-CN" sz="2000" dirty="0"/>
          </a:p>
          <a:p>
            <a:pPr marL="0" indent="0">
              <a:buNone/>
            </a:pPr>
            <a:r>
              <a:rPr lang="zh-CN" altLang="en-US" sz="2000" dirty="0"/>
              <a:t>会将图像中的每一个像素都划分到一个特定的类别</a:t>
            </a:r>
            <a:endParaRPr lang="en-US" altLang="zh-CN" sz="2000" dirty="0"/>
          </a:p>
          <a:p>
            <a:pPr marL="0" indent="0">
              <a:buNone/>
            </a:pPr>
            <a:r>
              <a:rPr lang="zh-CN" altLang="en-US" sz="2000" dirty="0"/>
              <a:t>只关心“这个像素属于什么类”，而不区分同类的不同个体</a:t>
            </a:r>
            <a:endParaRPr lang="en-US" altLang="zh-CN" sz="2000" dirty="0"/>
          </a:p>
          <a:p>
            <a:pPr marL="0" indent="0">
              <a:buNone/>
            </a:pPr>
            <a:endParaRPr lang="en-US" altLang="zh-CN" sz="2000" dirty="0"/>
          </a:p>
          <a:p>
            <a:pPr marL="0" indent="0">
              <a:buNone/>
            </a:pPr>
            <a:endParaRPr lang="en-US" altLang="zh-CN" sz="2000" dirty="0"/>
          </a:p>
          <a:p>
            <a:r>
              <a:rPr lang="zh-CN" altLang="en-US" sz="2000" b="1" dirty="0"/>
              <a:t>实例分割</a:t>
            </a:r>
            <a:r>
              <a:rPr lang="en-US" altLang="zh-CN" sz="2000" b="1" dirty="0"/>
              <a:t> Instance Segmentation</a:t>
            </a:r>
            <a:endParaRPr lang="en-US" altLang="zh-CN" sz="2000" b="1" dirty="0"/>
          </a:p>
          <a:p>
            <a:pPr marL="0" indent="0">
              <a:buNone/>
            </a:pPr>
            <a:r>
              <a:rPr lang="zh-CN" altLang="en-US" sz="2000" dirty="0"/>
              <a:t>实例分割可以看作是“目标检测 </a:t>
            </a:r>
            <a:r>
              <a:rPr lang="en-US" altLang="zh-CN" sz="2000" dirty="0"/>
              <a:t>+ </a:t>
            </a:r>
            <a:r>
              <a:rPr lang="zh-CN" altLang="en-US" sz="2000" dirty="0"/>
              <a:t>语义分割”的结合体</a:t>
            </a:r>
            <a:endParaRPr lang="en-US" altLang="zh-CN" sz="2000" dirty="0"/>
          </a:p>
          <a:p>
            <a:pPr marL="0" indent="0">
              <a:buNone/>
            </a:pPr>
            <a:r>
              <a:rPr lang="zh-CN" altLang="en-US" sz="2000" dirty="0"/>
              <a:t>不仅要知道像素属于什么类别，还要把同类别的不同个体区分开来</a:t>
            </a:r>
            <a:endParaRPr lang="zh-CN" altLang="en-US" sz="2000" dirty="0"/>
          </a:p>
        </p:txBody>
      </p:sp>
      <p:pic>
        <p:nvPicPr>
          <p:cNvPr id="6" name="图片 5"/>
          <p:cNvPicPr>
            <a:picLocks noChangeAspect="1"/>
          </p:cNvPicPr>
          <p:nvPr/>
        </p:nvPicPr>
        <p:blipFill>
          <a:blip r:embed="rId1"/>
          <a:stretch>
            <a:fillRect/>
          </a:stretch>
        </p:blipFill>
        <p:spPr>
          <a:xfrm>
            <a:off x="8566424" y="1588885"/>
            <a:ext cx="3540169" cy="2324938"/>
          </a:xfrm>
          <a:prstGeom prst="rect">
            <a:avLst/>
          </a:prstGeom>
        </p:spPr>
      </p:pic>
      <p:pic>
        <p:nvPicPr>
          <p:cNvPr id="7" name="图片 6"/>
          <p:cNvPicPr>
            <a:picLocks noChangeAspect="1"/>
          </p:cNvPicPr>
          <p:nvPr/>
        </p:nvPicPr>
        <p:blipFill>
          <a:blip r:embed="rId2"/>
          <a:stretch>
            <a:fillRect/>
          </a:stretch>
        </p:blipFill>
        <p:spPr>
          <a:xfrm>
            <a:off x="8566121" y="4264021"/>
            <a:ext cx="3467447" cy="2140142"/>
          </a:xfrm>
          <a:prstGeom prst="rect">
            <a:avLst/>
          </a:prstGeom>
        </p:spPr>
      </p:pic>
    </p:spTree>
  </p:cSld>
  <p:clrMapOvr>
    <a:masterClrMapping/>
  </p:clrMapOvr>
  <p:transition spd="med"/>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图像分割 </a:t>
            </a:r>
            <a:r>
              <a:rPr lang="en-US" altLang="zh-CN" dirty="0"/>
              <a:t>Segmentation</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834072" y="1868487"/>
            <a:ext cx="11140214" cy="4805046"/>
          </a:xfrm>
        </p:spPr>
        <p:txBody>
          <a:bodyPr/>
          <a:lstStyle/>
          <a:p>
            <a:pPr marL="0" indent="0">
              <a:lnSpc>
                <a:spcPct val="120000"/>
              </a:lnSpc>
              <a:buNone/>
            </a:pPr>
            <a:r>
              <a:rPr lang="zh-CN" altLang="en-US" dirty="0"/>
              <a:t>一般的语义分割架构 可以被认为是一个编码器</a:t>
            </a:r>
            <a:r>
              <a:rPr lang="en-US" altLang="zh-CN" dirty="0"/>
              <a:t>-</a:t>
            </a:r>
            <a:r>
              <a:rPr lang="zh-CN" altLang="en-US" dirty="0"/>
              <a:t>解码器网络。</a:t>
            </a:r>
            <a:endParaRPr lang="zh-CN" altLang="en-US" dirty="0"/>
          </a:p>
          <a:p>
            <a:pPr>
              <a:lnSpc>
                <a:spcPct val="120000"/>
              </a:lnSpc>
            </a:pPr>
            <a:r>
              <a:rPr lang="en-US" altLang="zh-CN" dirty="0"/>
              <a:t>1</a:t>
            </a:r>
            <a:r>
              <a:rPr lang="zh-CN" altLang="en-US" dirty="0"/>
              <a:t>）编码器：通常是一个预训练的分类网络，像 </a:t>
            </a:r>
            <a:r>
              <a:rPr lang="en-US" altLang="zh-CN" dirty="0"/>
              <a:t>VGG</a:t>
            </a:r>
            <a:r>
              <a:rPr lang="zh-CN" altLang="en-US" dirty="0"/>
              <a:t>、</a:t>
            </a:r>
            <a:r>
              <a:rPr lang="en-US" altLang="zh-CN" dirty="0" err="1"/>
              <a:t>ResNet</a:t>
            </a:r>
            <a:r>
              <a:rPr lang="zh-CN" altLang="en-US" dirty="0"/>
              <a:t>，然后是一个解码器网络。这些架构不同的地方主要在于解码器网络</a:t>
            </a:r>
            <a:endParaRPr lang="zh-CN" altLang="en-US" dirty="0"/>
          </a:p>
          <a:p>
            <a:pPr>
              <a:lnSpc>
                <a:spcPct val="120000"/>
              </a:lnSpc>
            </a:pPr>
            <a:r>
              <a:rPr lang="en-US" altLang="zh-CN" dirty="0"/>
              <a:t>2</a:t>
            </a:r>
            <a:r>
              <a:rPr lang="zh-CN" altLang="en-US" dirty="0"/>
              <a:t>）解码器：解码器的任务是将编码器学习到的可判别特征</a:t>
            </a:r>
            <a:r>
              <a:rPr lang="en-US" altLang="zh-CN" dirty="0"/>
              <a:t>(</a:t>
            </a:r>
            <a:r>
              <a:rPr lang="zh-CN" altLang="en-US" dirty="0"/>
              <a:t>较低分辨率</a:t>
            </a:r>
            <a:r>
              <a:rPr lang="en-US" altLang="zh-CN" dirty="0"/>
              <a:t>)</a:t>
            </a:r>
            <a:r>
              <a:rPr lang="zh-CN" altLang="en-US" dirty="0"/>
              <a:t>从语义上投影到像素空间</a:t>
            </a:r>
            <a:r>
              <a:rPr lang="en-US" altLang="zh-CN" dirty="0"/>
              <a:t>(</a:t>
            </a:r>
            <a:r>
              <a:rPr lang="zh-CN" altLang="en-US" dirty="0"/>
              <a:t>较高分辨率</a:t>
            </a:r>
            <a:r>
              <a:rPr lang="en-US" altLang="zh-CN" dirty="0"/>
              <a:t>)</a:t>
            </a:r>
            <a:r>
              <a:rPr lang="zh-CN" altLang="en-US" dirty="0"/>
              <a:t>，以获得密集分类</a:t>
            </a:r>
            <a:endParaRPr lang="zh-CN" altLang="en-US" dirty="0"/>
          </a:p>
        </p:txBody>
      </p:sp>
      <p:cxnSp>
        <p:nvCxnSpPr>
          <p:cNvPr id="8" name="连接符: 曲线 7"/>
          <p:cNvCxnSpPr/>
          <p:nvPr/>
        </p:nvCxnSpPr>
        <p:spPr>
          <a:xfrm rot="16200000" flipH="1">
            <a:off x="918633" y="4432299"/>
            <a:ext cx="889000" cy="846667"/>
          </a:xfrm>
          <a:prstGeom prst="curvedConnector3">
            <a:avLst/>
          </a:prstGeom>
          <a:noFill/>
          <a:ln w="12700" cap="flat">
            <a:solidFill>
              <a:schemeClr val="accent1"/>
            </a:solidFill>
            <a:prstDash val="solid"/>
            <a:miter lim="800000"/>
            <a:tailEnd type="triangle"/>
          </a:ln>
        </p:spPr>
        <p:style>
          <a:lnRef idx="0">
            <a:scrgbClr r="0" g="0" b="0"/>
          </a:lnRef>
          <a:fillRef idx="0">
            <a:scrgbClr r="0" g="0" b="0"/>
          </a:fillRef>
          <a:effectRef idx="0">
            <a:scrgbClr r="0" g="0" b="0"/>
          </a:effectRef>
          <a:fontRef idx="none"/>
        </p:style>
      </p:cxnSp>
      <p:sp>
        <p:nvSpPr>
          <p:cNvPr id="9" name="文本框 8"/>
          <p:cNvSpPr txBox="1"/>
          <p:nvPr/>
        </p:nvSpPr>
        <p:spPr>
          <a:xfrm>
            <a:off x="1926062" y="5207569"/>
            <a:ext cx="2175933" cy="369332"/>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pPr>
            <a:r>
              <a:rPr lang="zh-CN" altLang="en-US" sz="2400" dirty="0">
                <a:solidFill>
                  <a:schemeClr val="accent1"/>
                </a:solidFill>
                <a:latin typeface="微软雅黑" panose="020B0503020204020204" pitchFamily="34" charset="-122"/>
                <a:ea typeface="微软雅黑" panose="020B0503020204020204" pitchFamily="34" charset="-122"/>
              </a:rPr>
              <a:t>上采样方法</a:t>
            </a:r>
            <a:endParaRPr lang="zh-CN" altLang="en-US" sz="2400" dirty="0">
              <a:solidFill>
                <a:schemeClr val="accent1"/>
              </a:solidFill>
              <a:latin typeface="微软雅黑" panose="020B0503020204020204" pitchFamily="34" charset="-122"/>
              <a:ea typeface="微软雅黑" panose="020B0503020204020204" pitchFamily="34" charset="-122"/>
            </a:endParaRPr>
          </a:p>
        </p:txBody>
      </p:sp>
      <p:sp>
        <p:nvSpPr>
          <p:cNvPr id="12" name="左大括号 11"/>
          <p:cNvSpPr/>
          <p:nvPr/>
        </p:nvSpPr>
        <p:spPr>
          <a:xfrm>
            <a:off x="3635909" y="4533397"/>
            <a:ext cx="563138" cy="1717675"/>
          </a:xfrm>
          <a:prstGeom prst="leftBrace">
            <a:avLst/>
          </a:prstGeom>
          <a:noFill/>
          <a:ln w="12700" cap="flat">
            <a:solidFill>
              <a:schemeClr val="accent1"/>
            </a:solidFill>
            <a:prstDash val="solid"/>
            <a:miter lim="800000"/>
          </a:ln>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endParaRPr>
          </a:p>
        </p:txBody>
      </p:sp>
      <p:sp>
        <p:nvSpPr>
          <p:cNvPr id="5" name="文本框 4"/>
          <p:cNvSpPr txBox="1"/>
          <p:nvPr/>
        </p:nvSpPr>
        <p:spPr>
          <a:xfrm>
            <a:off x="4474845" y="4514215"/>
            <a:ext cx="2476500" cy="1736725"/>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vertOverflow="overflow" horzOverflow="overflow" vert="horz" wrap="square" lIns="0" tIns="0" rIns="0" bIns="0" numCol="1" spcCol="38100" rtlCol="0" anchor="t" forceAA="0">
            <a:noAutofit/>
          </a:bodyPr>
          <a:lstStyle/>
          <a:p>
            <a:pPr marL="0" marR="0" indent="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反卷积</a:t>
            </a:r>
            <a:endParaRPr kumimoji="0" lang="zh-CN" altLang="en-US" sz="2400" b="0" i="0" u="none" strike="noStrike" cap="none" spc="0" normalizeH="0" baseline="0" dirty="0">
              <a:solidFill>
                <a:schemeClr val="accent1"/>
              </a:solidFill>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a:p>
            <a:pPr marL="0" marR="0" algn="l" defTabSz="914400" rtl="0" fontAlgn="auto" latinLnBrk="0" hangingPunct="0">
              <a:lnSpc>
                <a:spcPct val="100000"/>
              </a:lnSpc>
              <a:spcBef>
                <a:spcPts val="0"/>
              </a:spcBef>
              <a:spcAft>
                <a:spcPts val="0"/>
              </a:spcAft>
              <a:buClrTx/>
              <a:buSzTx/>
              <a:buFontTx/>
              <a:buNone/>
            </a:pPr>
            <a:r>
              <a:rPr kumimoji="0" lang="zh-CN" altLang="en-US" sz="2400" b="0" i="0" u="none" strike="noStrike" cap="none" spc="0" normalizeH="0" baseline="0" dirty="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rPr>
              <a:t>反池化</a:t>
            </a:r>
            <a:endParaRPr kumimoji="0" lang="zh-CN" altLang="en-US" sz="2400" b="0" i="0" u="none" strike="noStrike" cap="none" spc="0" normalizeH="0" baseline="0" dirty="0">
              <a:ln>
                <a:noFill/>
              </a:ln>
              <a:solidFill>
                <a:schemeClr val="accent1"/>
              </a:solidFill>
              <a:effectLst/>
              <a:uFillTx/>
              <a:latin typeface="微软雅黑" panose="020B0503020204020204" pitchFamily="34" charset="-122"/>
              <a:ea typeface="微软雅黑" panose="020B0503020204020204" pitchFamily="34" charset="-122"/>
              <a:cs typeface="微软雅黑" panose="020B0503020204020204" pitchFamily="34" charset="-122"/>
              <a:sym typeface="等线" panose="02010600030101010101" charset="-122"/>
            </a:endParaRPr>
          </a:p>
        </p:txBody>
      </p:sp>
    </p:spTree>
  </p:cSld>
  <p:clrMapOvr>
    <a:masterClrMapping/>
  </p:clrMapOvr>
  <p:transition spd="med"/>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zh-CN" altLang="en-US" dirty="0"/>
              <a:t>全卷积网络 </a:t>
            </a:r>
            <a:r>
              <a:rPr lang="en-US" altLang="zh-CN" sz="2800" dirty="0"/>
              <a:t>Fully Convolution Networks (FCNs) </a:t>
            </a:r>
            <a:endParaRPr lang="zh-CN" altLang="en-US" sz="2800"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207169" y="1868487"/>
            <a:ext cx="12187237" cy="4351338"/>
          </a:xfrm>
        </p:spPr>
        <p:txBody>
          <a:bodyPr/>
          <a:lstStyle/>
          <a:p>
            <a:pPr marL="0" indent="0">
              <a:buNone/>
            </a:pPr>
            <a:r>
              <a:rPr lang="zh-CN" altLang="en-US" dirty="0"/>
              <a:t>论文：</a:t>
            </a:r>
            <a:r>
              <a:rPr lang="en-US" altLang="zh-CN" dirty="0"/>
              <a:t>Fully Convolutional Networks for Semantic Segmentation</a:t>
            </a:r>
            <a:endParaRPr lang="en-US" altLang="zh-CN" dirty="0"/>
          </a:p>
          <a:p>
            <a:pPr marL="0" indent="0">
              <a:buNone/>
            </a:pPr>
            <a:r>
              <a:rPr lang="zh-CN" altLang="en-US" dirty="0"/>
              <a:t>随着网络深度增加分辨率下降，学习到深层的语义特征，最后映射回原图进行像素级预测</a:t>
            </a:r>
            <a:endParaRPr lang="en-US" altLang="zh-CN" dirty="0"/>
          </a:p>
          <a:p>
            <a:pPr marL="0" indent="0">
              <a:buNone/>
            </a:pPr>
            <a:endParaRPr lang="en-US" altLang="zh-CN" dirty="0"/>
          </a:p>
          <a:p>
            <a:pPr marL="0" indent="0">
              <a:buNone/>
            </a:pPr>
            <a:endParaRPr lang="en-US" altLang="zh-CN" dirty="0"/>
          </a:p>
          <a:p>
            <a:pPr marL="0" indent="0">
              <a:buNone/>
            </a:pPr>
            <a:endParaRPr lang="en-US" altLang="zh-CN" dirty="0"/>
          </a:p>
          <a:p>
            <a:pPr marL="0" indent="0">
              <a:buNone/>
            </a:pPr>
            <a:endParaRPr lang="zh-CN" altLang="en-US" dirty="0"/>
          </a:p>
        </p:txBody>
      </p:sp>
      <p:pic>
        <p:nvPicPr>
          <p:cNvPr id="5" name="图片 4"/>
          <p:cNvPicPr>
            <a:picLocks noChangeAspect="1"/>
          </p:cNvPicPr>
          <p:nvPr/>
        </p:nvPicPr>
        <p:blipFill>
          <a:blip r:embed="rId1"/>
          <a:stretch>
            <a:fillRect/>
          </a:stretch>
        </p:blipFill>
        <p:spPr>
          <a:xfrm>
            <a:off x="2856116" y="3022917"/>
            <a:ext cx="6781800" cy="3381375"/>
          </a:xfrm>
          <a:prstGeom prst="rect">
            <a:avLst/>
          </a:prstGeom>
        </p:spPr>
      </p:pic>
    </p:spTree>
  </p:cSld>
  <p:clrMapOvr>
    <a:masterClrMapping/>
  </p:clrMapOvr>
  <p:transition spd="med"/>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4607"/>
            <a:ext cx="10515600" cy="1325563"/>
          </a:xfrm>
        </p:spPr>
        <p:txBody>
          <a:bodyPr/>
          <a:lstStyle/>
          <a:p>
            <a:r>
              <a:rPr lang="zh-CN" altLang="en-US" dirty="0"/>
              <a:t>全卷积网络 </a:t>
            </a:r>
            <a:r>
              <a:rPr lang="en-US" altLang="zh-CN" sz="2800" dirty="0"/>
              <a:t>Fully Convolution Networks (FCNs) </a:t>
            </a:r>
            <a:endParaRPr lang="zh-CN" altLang="en-US" sz="2800"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604168"/>
            <a:ext cx="11140214" cy="4800123"/>
          </a:xfrm>
        </p:spPr>
        <p:txBody>
          <a:bodyPr>
            <a:normAutofit/>
          </a:bodyPr>
          <a:lstStyle/>
          <a:p>
            <a:pPr marL="0" indent="0">
              <a:buNone/>
            </a:pPr>
            <a:r>
              <a:rPr lang="zh-CN" altLang="en-US" dirty="0"/>
              <a:t>重要概念：</a:t>
            </a:r>
            <a:r>
              <a:rPr lang="zh-CN" altLang="en-US" b="1" dirty="0"/>
              <a:t>反卷积</a:t>
            </a:r>
            <a:endParaRPr lang="en-US" altLang="zh-CN" b="1" dirty="0"/>
          </a:p>
          <a:p>
            <a:pPr algn="l">
              <a:buFont typeface="Arial" panose="020B0604020202020204" pitchFamily="34" charset="0"/>
              <a:buChar char="•"/>
            </a:pPr>
            <a:r>
              <a:rPr lang="zh-CN" altLang="en-US" dirty="0"/>
              <a:t>输入尺寸 </a:t>
            </a:r>
            <a:r>
              <a:rPr lang="en-US" altLang="zh-CN" dirty="0"/>
              <a:t>2*2</a:t>
            </a:r>
            <a:r>
              <a:rPr lang="zh-CN" altLang="en-US" dirty="0"/>
              <a:t>，卷积核 </a:t>
            </a:r>
            <a:r>
              <a:rPr lang="en-US" altLang="zh-CN" dirty="0"/>
              <a:t>3*3</a:t>
            </a:r>
            <a:r>
              <a:rPr lang="zh-CN" altLang="en-US" dirty="0"/>
              <a:t>，对输入特征图进行</a:t>
            </a:r>
            <a:r>
              <a:rPr lang="en-US" altLang="zh-CN" dirty="0"/>
              <a:t>padding</a:t>
            </a:r>
            <a:r>
              <a:rPr lang="zh-CN" altLang="en-US" dirty="0"/>
              <a:t>，然后再执行卷积操作。</a:t>
            </a:r>
            <a:endParaRPr lang="en-US" altLang="zh-CN" dirty="0"/>
          </a:p>
          <a:p>
            <a:pPr marL="0" indent="0" algn="l">
              <a:buNone/>
            </a:pPr>
            <a:r>
              <a:rPr lang="en-US" altLang="zh-CN" dirty="0"/>
              <a:t>  </a:t>
            </a:r>
            <a:r>
              <a:rPr lang="zh-CN" altLang="en-US" dirty="0"/>
              <a:t>得到输出的尺寸为</a:t>
            </a:r>
            <a:r>
              <a:rPr lang="en-US" altLang="zh-CN" dirty="0"/>
              <a:t>5*5</a:t>
            </a:r>
            <a:r>
              <a:rPr lang="zh-CN" altLang="en-US" dirty="0"/>
              <a:t>；</a:t>
            </a:r>
            <a:endParaRPr lang="zh-CN" altLang="en-US" dirty="0"/>
          </a:p>
          <a:p>
            <a:pPr algn="l">
              <a:buFont typeface="Arial" panose="020B0604020202020204" pitchFamily="34" charset="0"/>
              <a:buChar char="•"/>
            </a:pPr>
            <a:r>
              <a:rPr lang="en-US" altLang="zh-CN" dirty="0"/>
              <a:t>padding</a:t>
            </a:r>
            <a:r>
              <a:rPr lang="zh-CN" altLang="en-US" dirty="0"/>
              <a:t>方式</a:t>
            </a:r>
            <a:endParaRPr lang="en-US" altLang="zh-CN" dirty="0"/>
          </a:p>
          <a:p>
            <a:pPr marL="0" indent="0" algn="l">
              <a:buNone/>
            </a:pPr>
            <a:r>
              <a:rPr lang="zh-CN" altLang="en-US" dirty="0"/>
              <a:t>在输入特征图元素之间插入</a:t>
            </a:r>
            <a:r>
              <a:rPr lang="en-US" altLang="zh-CN" dirty="0"/>
              <a:t>0</a:t>
            </a:r>
            <a:r>
              <a:rPr lang="zh-CN" altLang="en-US" dirty="0"/>
              <a:t>元素，不是传统卷积只在两边填充。</a:t>
            </a:r>
            <a:endParaRPr lang="en-US" altLang="zh-CN" dirty="0"/>
          </a:p>
          <a:p>
            <a:pPr marL="0" indent="0" algn="l">
              <a:buNone/>
            </a:pPr>
            <a:r>
              <a:rPr lang="zh-CN" altLang="en-US" dirty="0"/>
              <a:t>操作步骤：</a:t>
            </a:r>
            <a:endParaRPr lang="en-US" altLang="zh-CN" dirty="0"/>
          </a:p>
          <a:p>
            <a:r>
              <a:rPr lang="zh-CN" altLang="en-US" dirty="0"/>
              <a:t>首先在</a:t>
            </a:r>
            <a:r>
              <a:rPr lang="en-US" altLang="zh-CN" dirty="0"/>
              <a:t>2*2</a:t>
            </a:r>
            <a:r>
              <a:rPr lang="zh-CN" altLang="en-US" dirty="0"/>
              <a:t>的输入特征图元素间插入</a:t>
            </a:r>
            <a:r>
              <a:rPr lang="en-US" altLang="zh-CN" dirty="0"/>
              <a:t>0</a:t>
            </a:r>
            <a:r>
              <a:rPr lang="zh-CN" altLang="en-US" dirty="0"/>
              <a:t>元素得到</a:t>
            </a:r>
            <a:r>
              <a:rPr lang="en-US" altLang="zh-CN" dirty="0"/>
              <a:t>3*3</a:t>
            </a:r>
            <a:r>
              <a:rPr lang="zh-CN" altLang="en-US" dirty="0"/>
              <a:t>尺寸的特征图</a:t>
            </a:r>
            <a:endParaRPr lang="en-US" altLang="zh-CN" dirty="0"/>
          </a:p>
          <a:p>
            <a:r>
              <a:rPr lang="zh-CN" altLang="en-US" dirty="0"/>
              <a:t>然后使用</a:t>
            </a:r>
            <a:r>
              <a:rPr lang="en-US" altLang="zh-CN" dirty="0"/>
              <a:t>padding</a:t>
            </a:r>
            <a:r>
              <a:rPr lang="zh-CN" altLang="en-US" dirty="0"/>
              <a:t>方法填充元素，将</a:t>
            </a:r>
            <a:r>
              <a:rPr lang="en-US" altLang="zh-CN" dirty="0"/>
              <a:t>2*2</a:t>
            </a:r>
            <a:r>
              <a:rPr lang="zh-CN" altLang="en-US" dirty="0"/>
              <a:t>特征图</a:t>
            </a:r>
            <a:r>
              <a:rPr lang="en-US" altLang="zh-CN" dirty="0"/>
              <a:t>padding</a:t>
            </a:r>
            <a:r>
              <a:rPr lang="zh-CN" altLang="en-US" dirty="0"/>
              <a:t>到下面的</a:t>
            </a:r>
            <a:r>
              <a:rPr lang="en-US" altLang="zh-CN" dirty="0"/>
              <a:t>7*7</a:t>
            </a:r>
            <a:endParaRPr lang="en-US" altLang="zh-CN" dirty="0"/>
          </a:p>
          <a:p>
            <a:r>
              <a:rPr lang="zh-CN" altLang="en-US" dirty="0"/>
              <a:t>最后用</a:t>
            </a:r>
            <a:r>
              <a:rPr lang="en-US" altLang="zh-CN" dirty="0"/>
              <a:t>3*3</a:t>
            </a:r>
            <a:r>
              <a:rPr lang="zh-CN" altLang="en-US" dirty="0"/>
              <a:t>大小的卷积核进行卷积</a:t>
            </a:r>
            <a:endParaRPr lang="en-US" altLang="zh-CN" dirty="0"/>
          </a:p>
          <a:p>
            <a:pPr marL="0" indent="0" algn="l">
              <a:buNone/>
            </a:pPr>
            <a:endParaRPr lang="zh-CN" altLang="en-US" dirty="0"/>
          </a:p>
          <a:p>
            <a:pPr marL="0" indent="0">
              <a:buNone/>
            </a:pPr>
            <a:endParaRPr lang="zh-CN" altLang="en-US" dirty="0"/>
          </a:p>
        </p:txBody>
      </p:sp>
      <p:pic>
        <p:nvPicPr>
          <p:cNvPr id="5" name="20260826_170348">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9601041" y="2983706"/>
            <a:ext cx="2590800" cy="2781300"/>
          </a:xfrm>
          <a:prstGeom prst="rect">
            <a:avLst/>
          </a:prstGeom>
        </p:spPr>
      </p:pic>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26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kumimoji="0" lang="zh-CN" altLang="en-US" sz="4000" b="0" i="0" u="none" strike="noStrike" kern="0" cap="none" spc="0" normalizeH="0" baseline="0" noProof="0" dirty="0">
                <a:ln>
                  <a:noFill/>
                </a:ln>
                <a:solidFill>
                  <a:srgbClr val="045499"/>
                </a:solidFill>
                <a:effectLst/>
                <a:uLnTx/>
                <a:uFillTx/>
                <a:latin typeface="微软雅黑" panose="020B0503020204020204" pitchFamily="34" charset="-122"/>
                <a:ea typeface="微软雅黑" panose="020B0503020204020204" pitchFamily="34" charset="-122"/>
                <a:sym typeface="等线 Light" panose="02010600030101010101" charset="-122"/>
              </a:rPr>
              <a:t>全卷积网络 </a:t>
            </a:r>
            <a:r>
              <a:rPr kumimoji="0" lang="en-US" altLang="zh-CN" sz="2800" b="0" i="0" u="none" strike="noStrike" kern="0" cap="none" spc="0" normalizeH="0" baseline="0" noProof="0" dirty="0">
                <a:ln>
                  <a:noFill/>
                </a:ln>
                <a:solidFill>
                  <a:srgbClr val="045499"/>
                </a:solidFill>
                <a:effectLst/>
                <a:uLnTx/>
                <a:uFillTx/>
                <a:latin typeface="微软雅黑" panose="020B0503020204020204" pitchFamily="34" charset="-122"/>
                <a:ea typeface="微软雅黑" panose="020B0503020204020204" pitchFamily="34" charset="-122"/>
                <a:sym typeface="等线 Light" panose="02010600030101010101" charset="-122"/>
              </a:rPr>
              <a:t>Fully Convolution Networks (FCNs) </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pic>
        <p:nvPicPr>
          <p:cNvPr id="5" name="图片 4"/>
          <p:cNvPicPr>
            <a:picLocks noChangeAspect="1"/>
          </p:cNvPicPr>
          <p:nvPr/>
        </p:nvPicPr>
        <p:blipFill>
          <a:blip r:embed="rId1"/>
          <a:stretch>
            <a:fillRect/>
          </a:stretch>
        </p:blipFill>
        <p:spPr>
          <a:xfrm>
            <a:off x="5558879" y="2200273"/>
            <a:ext cx="6372508" cy="2706133"/>
          </a:xfrm>
          <a:prstGeom prst="rect">
            <a:avLst/>
          </a:prstGeom>
        </p:spPr>
      </p:pic>
      <p:sp>
        <p:nvSpPr>
          <p:cNvPr id="4" name="文本占位符 3"/>
          <p:cNvSpPr>
            <a:spLocks noGrp="1"/>
          </p:cNvSpPr>
          <p:nvPr>
            <p:ph type="body" idx="1"/>
          </p:nvPr>
        </p:nvSpPr>
        <p:spPr>
          <a:xfrm>
            <a:off x="57150" y="1325563"/>
            <a:ext cx="5243513" cy="5347970"/>
          </a:xfrm>
        </p:spPr>
        <p:txBody>
          <a:bodyPr>
            <a:noAutofit/>
          </a:bodyPr>
          <a:lstStyle/>
          <a:p>
            <a:pPr>
              <a:lnSpc>
                <a:spcPct val="150000"/>
              </a:lnSpc>
              <a:buFont typeface="Arial" panose="020B0604020202020204" pitchFamily="34" charset="0"/>
              <a:buChar char="•"/>
            </a:pPr>
            <a:r>
              <a:rPr lang="en-US" altLang="zh-CN" sz="2000" dirty="0"/>
              <a:t>1</a:t>
            </a:r>
            <a:r>
              <a:rPr lang="zh-CN" altLang="en-US" sz="2000" dirty="0"/>
              <a:t>）</a:t>
            </a:r>
            <a:r>
              <a:rPr lang="zh-CN" altLang="en-US" sz="2000" b="1" dirty="0"/>
              <a:t>融合不同阶段</a:t>
            </a:r>
            <a:r>
              <a:rPr lang="en-US" altLang="zh-CN" sz="2000" b="1" dirty="0"/>
              <a:t>(</a:t>
            </a:r>
            <a:r>
              <a:rPr lang="zh-CN" altLang="en-US" sz="2000" b="1" dirty="0"/>
              <a:t>深层浅层</a:t>
            </a:r>
            <a:r>
              <a:rPr lang="en-US" altLang="zh-CN" sz="2000" b="1" dirty="0"/>
              <a:t>)</a:t>
            </a:r>
            <a:r>
              <a:rPr lang="zh-CN" altLang="en-US" sz="2000" b="1" dirty="0"/>
              <a:t>的特征</a:t>
            </a:r>
            <a:r>
              <a:rPr lang="zh-CN" altLang="en-US" sz="2000" dirty="0"/>
              <a:t>：特征是由编码器中的不同阶段合并而成的，它们在语义信息的粗糙程度上有所不同，融合采用像素值相加的方式</a:t>
            </a:r>
            <a:endParaRPr lang="zh-CN" altLang="en-US" sz="2000" dirty="0"/>
          </a:p>
          <a:p>
            <a:pPr>
              <a:lnSpc>
                <a:spcPct val="150000"/>
              </a:lnSpc>
              <a:buFont typeface="Arial" panose="020B0604020202020204" pitchFamily="34" charset="0"/>
              <a:buChar char="•"/>
            </a:pPr>
            <a:r>
              <a:rPr lang="en-US" altLang="zh-CN" sz="2000" dirty="0"/>
              <a:t>2</a:t>
            </a:r>
            <a:r>
              <a:rPr lang="zh-CN" altLang="en-US" sz="2000" dirty="0"/>
              <a:t>）使用</a:t>
            </a:r>
            <a:r>
              <a:rPr lang="zh-CN" altLang="en-US" sz="2000" b="1" dirty="0"/>
              <a:t>反卷积上采样</a:t>
            </a:r>
            <a:r>
              <a:rPr lang="zh-CN" altLang="en-US" sz="2000" dirty="0"/>
              <a:t>：低分辨率语义特征图的上采样使用反卷积操作完成</a:t>
            </a:r>
            <a:endParaRPr lang="en-US" altLang="zh-CN" sz="2000" dirty="0"/>
          </a:p>
          <a:p>
            <a:pPr marL="0" indent="0">
              <a:lnSpc>
                <a:spcPct val="150000"/>
              </a:lnSpc>
              <a:buNone/>
            </a:pPr>
            <a:r>
              <a:rPr lang="zh-CN" altLang="en-US" sz="2000" dirty="0"/>
              <a:t>如果直接将网络最深处的特征图一次性放大到原图尺寸，由于丢失了太多空间细节，分割边缘会非常模糊。因此，</a:t>
            </a:r>
            <a:r>
              <a:rPr lang="en-US" altLang="zh-CN" sz="2000" dirty="0"/>
              <a:t>FCN </a:t>
            </a:r>
            <a:r>
              <a:rPr lang="zh-CN" altLang="en-US" sz="2000" dirty="0"/>
              <a:t>设计了</a:t>
            </a:r>
            <a:r>
              <a:rPr lang="zh-CN" altLang="en-US" sz="2000" b="1" dirty="0"/>
              <a:t>跳跃连接机制</a:t>
            </a:r>
            <a:r>
              <a:rPr lang="zh-CN" altLang="en-US" sz="2000" dirty="0"/>
              <a:t>将浅层边缘位置信息与深层的抽象信息进行融合</a:t>
            </a:r>
            <a:endParaRPr lang="zh-CN" altLang="en-US" sz="2000" dirty="0"/>
          </a:p>
        </p:txBody>
      </p:sp>
    </p:spTree>
  </p:cSld>
  <p:clrMapOvr>
    <a:masterClrMapping/>
  </p:clrMapOvr>
  <p:transition spd="med"/>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2859"/>
            <a:ext cx="10515600" cy="1325563"/>
          </a:xfrm>
        </p:spPr>
        <p:txBody>
          <a:bodyPr/>
          <a:lstStyle/>
          <a:p>
            <a:r>
              <a:rPr lang="en-US" altLang="zh-CN" dirty="0" err="1"/>
              <a:t>SegNet</a:t>
            </a:r>
            <a:r>
              <a:rPr lang="zh-CN" altLang="en-US" dirty="0"/>
              <a:t>网络</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690688"/>
            <a:ext cx="12989084" cy="4351338"/>
          </a:xfrm>
        </p:spPr>
        <p:txBody>
          <a:bodyPr/>
          <a:lstStyle/>
          <a:p>
            <a:pPr marL="0" indent="0">
              <a:buNone/>
            </a:pPr>
            <a:r>
              <a:rPr lang="zh-CN" altLang="en-US" sz="2000" dirty="0"/>
              <a:t>论文：</a:t>
            </a:r>
            <a:r>
              <a:rPr lang="en-US" altLang="zh-CN" sz="2000" dirty="0" err="1"/>
              <a:t>SegNet</a:t>
            </a:r>
            <a:r>
              <a:rPr lang="en-US" altLang="zh-CN" sz="2000" dirty="0"/>
              <a:t>: A Deep Convolutional Encoder-Decoder Architecture for Image Segmentation</a:t>
            </a:r>
            <a:endParaRPr lang="en-US" altLang="zh-CN" sz="2000" dirty="0"/>
          </a:p>
          <a:p>
            <a:pPr marL="0" indent="0">
              <a:buNone/>
            </a:pPr>
            <a:r>
              <a:rPr lang="en-US" altLang="zh-CN" sz="2000" dirty="0" err="1"/>
              <a:t>SegNet</a:t>
            </a:r>
            <a:r>
              <a:rPr lang="zh-CN" altLang="en-US" sz="2000" dirty="0"/>
              <a:t> 是一种经典的深度全卷积神经网络结构，由剑桥大学团队在 </a:t>
            </a:r>
            <a:r>
              <a:rPr lang="en-US" altLang="zh-CN" sz="2000" dirty="0"/>
              <a:t>2015 </a:t>
            </a:r>
            <a:r>
              <a:rPr lang="zh-CN" altLang="en-US" sz="2000" dirty="0"/>
              <a:t>年提出，专门用于图像的语义分割</a:t>
            </a:r>
            <a:endParaRPr lang="zh-CN" altLang="en-US" sz="2000" dirty="0"/>
          </a:p>
        </p:txBody>
      </p:sp>
      <p:pic>
        <p:nvPicPr>
          <p:cNvPr id="5" name="图片 4"/>
          <p:cNvPicPr>
            <a:picLocks noChangeAspect="1"/>
          </p:cNvPicPr>
          <p:nvPr/>
        </p:nvPicPr>
        <p:blipFill>
          <a:blip r:embed="rId1"/>
          <a:stretch>
            <a:fillRect/>
          </a:stretch>
        </p:blipFill>
        <p:spPr>
          <a:xfrm>
            <a:off x="190500" y="2479834"/>
            <a:ext cx="11811000" cy="3743325"/>
          </a:xfrm>
          <a:prstGeom prst="rect">
            <a:avLst/>
          </a:prstGeom>
        </p:spPr>
      </p:pic>
    </p:spTree>
  </p:cSld>
  <p:clrMapOvr>
    <a:masterClrMapping/>
  </p:clrMapOvr>
  <p:transition spd="med"/>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err="1"/>
              <a:t>SegNet</a:t>
            </a:r>
            <a:r>
              <a:rPr lang="zh-CN" altLang="en-US" dirty="0"/>
              <a:t>网络</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0" y="1650471"/>
            <a:ext cx="11140214" cy="4351338"/>
          </a:xfrm>
        </p:spPr>
        <p:txBody>
          <a:bodyPr/>
          <a:lstStyle/>
          <a:p>
            <a:pPr marL="0" indent="0">
              <a:buNone/>
            </a:pPr>
            <a:r>
              <a:rPr lang="zh-CN" altLang="en-US" dirty="0"/>
              <a:t>重要概念：</a:t>
            </a:r>
            <a:r>
              <a:rPr lang="zh-CN" altLang="en-US" b="1" dirty="0"/>
              <a:t>反池化</a:t>
            </a:r>
            <a:endParaRPr lang="en-US" altLang="zh-CN" b="1" dirty="0"/>
          </a:p>
          <a:p>
            <a:pPr marL="0" indent="0">
              <a:lnSpc>
                <a:spcPct val="150000"/>
              </a:lnSpc>
              <a:buNone/>
            </a:pPr>
            <a:r>
              <a:rPr lang="zh-CN" altLang="en-US" dirty="0"/>
              <a:t>它的运作依赖于“位置记忆”。在网络前半段进行最大池化缩小图像时，网络不仅会选出局部区域的最大像素值，还会</a:t>
            </a:r>
            <a:r>
              <a:rPr lang="zh-CN" altLang="en-US" b="1" dirty="0"/>
              <a:t>严格记录下这个最大值原本所在的精确位置</a:t>
            </a:r>
            <a:endParaRPr lang="zh-CN" altLang="en-US" dirty="0"/>
          </a:p>
        </p:txBody>
      </p:sp>
      <p:pic>
        <p:nvPicPr>
          <p:cNvPr id="5" name="图片 4"/>
          <p:cNvPicPr>
            <a:picLocks noChangeAspect="1"/>
          </p:cNvPicPr>
          <p:nvPr/>
        </p:nvPicPr>
        <p:blipFill>
          <a:blip r:embed="rId1"/>
          <a:stretch>
            <a:fillRect/>
          </a:stretch>
        </p:blipFill>
        <p:spPr>
          <a:xfrm>
            <a:off x="2954867" y="3221318"/>
            <a:ext cx="6746346" cy="3796491"/>
          </a:xfrm>
          <a:prstGeom prst="rect">
            <a:avLst/>
          </a:prstGeom>
        </p:spPr>
      </p:pic>
    </p:spTree>
  </p:cSld>
  <p:clrMapOvr>
    <a:masterClrMapping/>
  </p:clrMapOvr>
  <p:transition spd="med"/>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0" y="0"/>
            <a:ext cx="10515600" cy="1325563"/>
          </a:xfrm>
        </p:spPr>
        <p:txBody>
          <a:bodyPr/>
          <a:lstStyle/>
          <a:p>
            <a:r>
              <a:rPr lang="en-US" altLang="zh-CN" dirty="0" err="1"/>
              <a:t>SegNet</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76200" y="1168399"/>
            <a:ext cx="5350933" cy="5141913"/>
          </a:xfrm>
        </p:spPr>
        <p:txBody>
          <a:bodyPr>
            <a:normAutofit/>
          </a:bodyPr>
          <a:lstStyle/>
          <a:p>
            <a:pPr marL="0" indent="0">
              <a:lnSpc>
                <a:spcPct val="120000"/>
              </a:lnSpc>
              <a:buNone/>
            </a:pPr>
            <a:r>
              <a:rPr lang="zh-CN" altLang="en-US" sz="2000" b="1" dirty="0"/>
              <a:t>编码器网络 </a:t>
            </a:r>
            <a:r>
              <a:rPr lang="en-US" altLang="zh-CN" sz="2000" b="1" dirty="0"/>
              <a:t>Encoder</a:t>
            </a:r>
            <a:endParaRPr lang="en-US" altLang="zh-CN" sz="2000" b="1" dirty="0"/>
          </a:p>
          <a:p>
            <a:pPr marL="0" indent="0">
              <a:lnSpc>
                <a:spcPct val="120000"/>
              </a:lnSpc>
              <a:buNone/>
            </a:pPr>
            <a:r>
              <a:rPr lang="en-US" altLang="zh-CN" sz="2000" dirty="0" err="1"/>
              <a:t>SegNet</a:t>
            </a:r>
            <a:r>
              <a:rPr lang="en-US" altLang="zh-CN" sz="2000" dirty="0"/>
              <a:t> </a:t>
            </a:r>
            <a:r>
              <a:rPr lang="zh-CN" altLang="en-US" sz="2000" dirty="0"/>
              <a:t>直接借用了当时非常著名的 </a:t>
            </a:r>
            <a:r>
              <a:rPr lang="en-US" altLang="zh-CN" sz="2000" dirty="0"/>
              <a:t>VGG-16 </a:t>
            </a:r>
            <a:r>
              <a:rPr lang="zh-CN" altLang="en-US" sz="2000" dirty="0"/>
              <a:t>网络的卷积部分。它的任务是对输入图像进行特征提取，通过多次“卷积 </a:t>
            </a:r>
            <a:r>
              <a:rPr lang="en-US" altLang="zh-CN" sz="2000" dirty="0"/>
              <a:t>+ </a:t>
            </a:r>
            <a:r>
              <a:rPr lang="zh-CN" altLang="en-US" sz="2000" dirty="0"/>
              <a:t>最大池化”，将图像不断压缩，提取出极具概括性的深层语义特征</a:t>
            </a:r>
            <a:endParaRPr lang="en-US" altLang="zh-CN" sz="2000" dirty="0"/>
          </a:p>
          <a:p>
            <a:pPr marL="0" indent="0">
              <a:lnSpc>
                <a:spcPct val="120000"/>
              </a:lnSpc>
              <a:buNone/>
            </a:pPr>
            <a:endParaRPr lang="zh-CN" altLang="en-US" dirty="0"/>
          </a:p>
        </p:txBody>
      </p:sp>
      <p:pic>
        <p:nvPicPr>
          <p:cNvPr id="6" name="图片 5"/>
          <p:cNvPicPr>
            <a:picLocks noChangeAspect="1"/>
          </p:cNvPicPr>
          <p:nvPr/>
        </p:nvPicPr>
        <p:blipFill>
          <a:blip r:embed="rId1"/>
          <a:stretch>
            <a:fillRect/>
          </a:stretch>
        </p:blipFill>
        <p:spPr>
          <a:xfrm>
            <a:off x="668428" y="3739355"/>
            <a:ext cx="9517409" cy="3016405"/>
          </a:xfrm>
          <a:prstGeom prst="rect">
            <a:avLst/>
          </a:prstGeom>
        </p:spPr>
      </p:pic>
      <p:sp>
        <p:nvSpPr>
          <p:cNvPr id="8" name="文本框 7"/>
          <p:cNvSpPr txBox="1"/>
          <p:nvPr/>
        </p:nvSpPr>
        <p:spPr>
          <a:xfrm>
            <a:off x="5691780" y="1129560"/>
            <a:ext cx="4696819" cy="240527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wrap="square">
            <a:spAutoFit/>
          </a:bodyPr>
          <a:lstStyle/>
          <a:p>
            <a:pPr>
              <a:lnSpc>
                <a:spcPct val="120000"/>
              </a:lnSpc>
            </a:pPr>
            <a:r>
              <a:rPr lang="zh-CN" altLang="en-US" sz="2000" b="1" dirty="0">
                <a:solidFill>
                  <a:schemeClr val="accent1"/>
                </a:solidFill>
                <a:latin typeface="微软雅黑" panose="020B0503020204020204" pitchFamily="34" charset="-122"/>
                <a:ea typeface="微软雅黑" panose="020B0503020204020204" pitchFamily="34" charset="-122"/>
              </a:rPr>
              <a:t>解码器网络 </a:t>
            </a:r>
            <a:r>
              <a:rPr lang="en-US" altLang="zh-CN" sz="2000" b="1" dirty="0">
                <a:solidFill>
                  <a:schemeClr val="accent1"/>
                </a:solidFill>
                <a:latin typeface="微软雅黑" panose="020B0503020204020204" pitchFamily="34" charset="-122"/>
                <a:ea typeface="微软雅黑" panose="020B0503020204020204" pitchFamily="34" charset="-122"/>
              </a:rPr>
              <a:t>Decoder</a:t>
            </a:r>
            <a:endParaRPr lang="en-US" altLang="zh-CN" sz="2000" b="1" dirty="0">
              <a:solidFill>
                <a:schemeClr val="accent1"/>
              </a:solidFill>
              <a:latin typeface="微软雅黑" panose="020B0503020204020204" pitchFamily="34" charset="-122"/>
              <a:ea typeface="微软雅黑" panose="020B0503020204020204" pitchFamily="34" charset="-122"/>
            </a:endParaRPr>
          </a:p>
          <a:p>
            <a:pPr>
              <a:lnSpc>
                <a:spcPct val="120000"/>
              </a:lnSpc>
              <a:spcBef>
                <a:spcPts val="1000"/>
              </a:spcBef>
            </a:pPr>
            <a:r>
              <a:rPr lang="zh-CN" altLang="en-US" sz="2000" dirty="0">
                <a:solidFill>
                  <a:schemeClr val="accent1"/>
                </a:solidFill>
                <a:latin typeface="微软雅黑" panose="020B0503020204020204" pitchFamily="34" charset="-122"/>
                <a:ea typeface="微软雅黑" panose="020B0503020204020204" pitchFamily="34" charset="-122"/>
              </a:rPr>
              <a:t>后端是一个与编码器层级完全对称的结构。它的任务是将编码器输出的那张极小的特征图，一层一层地通过反池化回原始图像的尺寸，以便最后输出逐像素的分类预测</a:t>
            </a:r>
            <a:endParaRPr lang="zh-CN" altLang="en-US" sz="2000"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6475" y="0"/>
            <a:ext cx="10515600" cy="1325563"/>
          </a:xfrm>
        </p:spPr>
        <p:txBody>
          <a:bodyPr/>
          <a:lstStyle/>
          <a:p>
            <a:r>
              <a:rPr lang="en-US" altLang="zh-CN" dirty="0"/>
              <a:t>U-Net</a:t>
            </a:r>
            <a:endParaRPr lang="zh-CN" altLang="en-US" dirty="0"/>
          </a:p>
        </p:txBody>
      </p:sp>
      <p:sp>
        <p:nvSpPr>
          <p:cNvPr id="3" name="灯片编号占位符 2"/>
          <p:cNvSpPr>
            <a:spLocks noGrp="1"/>
          </p:cNvSpPr>
          <p:nvPr>
            <p:ph type="sldNum" sz="quarter" idx="2"/>
          </p:nvPr>
        </p:nvSpPr>
        <p:spPr/>
        <p:txBody>
          <a:bodyPr/>
          <a:lstStyle/>
          <a:p>
            <a:fld id="{86CB4B4D-7CA3-9044-876B-883B54F8677D}" type="slidenum">
              <a:rPr lang="en-US" altLang="zh-CN" smtClean="0"/>
            </a:fld>
            <a:endParaRPr lang="en-US" altLang="zh-CN"/>
          </a:p>
        </p:txBody>
      </p:sp>
      <p:sp>
        <p:nvSpPr>
          <p:cNvPr id="4" name="文本占位符 3"/>
          <p:cNvSpPr>
            <a:spLocks noGrp="1"/>
          </p:cNvSpPr>
          <p:nvPr>
            <p:ph type="body" idx="1"/>
          </p:nvPr>
        </p:nvSpPr>
        <p:spPr>
          <a:xfrm>
            <a:off x="177666" y="2051221"/>
            <a:ext cx="4757351" cy="5813853"/>
          </a:xfrm>
        </p:spPr>
        <p:txBody>
          <a:bodyPr>
            <a:normAutofit/>
          </a:bodyPr>
          <a:lstStyle/>
          <a:p>
            <a:pPr marL="0" indent="0">
              <a:lnSpc>
                <a:spcPct val="120000"/>
              </a:lnSpc>
              <a:buNone/>
            </a:pPr>
            <a:r>
              <a:rPr lang="zh-CN" altLang="en-US" sz="2000" b="1" dirty="0"/>
              <a:t>通道拼接</a:t>
            </a:r>
            <a:r>
              <a:rPr lang="zh-CN" altLang="en-US" sz="2000" dirty="0"/>
              <a:t>：</a:t>
            </a:r>
            <a:r>
              <a:rPr lang="en-US" altLang="zh-CN" sz="2000" dirty="0"/>
              <a:t>U-Net </a:t>
            </a:r>
            <a:r>
              <a:rPr lang="zh-CN" altLang="en-US" sz="2000" dirty="0"/>
              <a:t>将左侧编码器中具有极高分辨率的浅层特征图，直接复制并与右侧放大后的特征图在通道维度上进行</a:t>
            </a:r>
            <a:r>
              <a:rPr lang="zh-CN" altLang="en-US" sz="2000" b="1" dirty="0"/>
              <a:t>拼接</a:t>
            </a:r>
            <a:r>
              <a:rPr lang="zh-CN" altLang="en-US" sz="2000" dirty="0"/>
              <a:t>。这使得网络在还原图像时，能够直接参考原始的高清边缘细节</a:t>
            </a:r>
            <a:endParaRPr lang="en-US" altLang="zh-CN" sz="2000" dirty="0"/>
          </a:p>
          <a:p>
            <a:pPr marL="0" indent="0">
              <a:lnSpc>
                <a:spcPct val="120000"/>
              </a:lnSpc>
              <a:buNone/>
            </a:pPr>
            <a:endParaRPr lang="en-US" altLang="zh-CN" sz="2000" dirty="0"/>
          </a:p>
          <a:p>
            <a:pPr marL="0" indent="0">
              <a:lnSpc>
                <a:spcPct val="120000"/>
              </a:lnSpc>
              <a:buNone/>
            </a:pPr>
            <a:r>
              <a:rPr lang="zh-CN" altLang="en-US" sz="2000" b="1" dirty="0"/>
              <a:t>中心裁剪</a:t>
            </a:r>
            <a:r>
              <a:rPr lang="zh-CN" altLang="en-US" sz="2000" dirty="0"/>
              <a:t>：由于左侧的特征图因为没有填充导致尺寸比右侧对应的特征图略大因此在拼接前，必须先对左侧的特征图进行中心裁剪，以保证两者尺寸完全对齐</a:t>
            </a:r>
            <a:endParaRPr lang="en-US" altLang="zh-CN" sz="2000" dirty="0"/>
          </a:p>
          <a:p>
            <a:pPr marL="0" indent="0">
              <a:buNone/>
            </a:pPr>
            <a:endParaRPr lang="en-US" altLang="zh-CN" sz="2000" dirty="0"/>
          </a:p>
          <a:p>
            <a:endParaRPr lang="zh-CN" altLang="en-US" sz="2000" dirty="0"/>
          </a:p>
        </p:txBody>
      </p:sp>
      <p:pic>
        <p:nvPicPr>
          <p:cNvPr id="5" name="图片 4"/>
          <p:cNvPicPr>
            <a:picLocks noChangeAspect="1"/>
          </p:cNvPicPr>
          <p:nvPr/>
        </p:nvPicPr>
        <p:blipFill>
          <a:blip r:embed="rId1"/>
          <a:stretch>
            <a:fillRect/>
          </a:stretch>
        </p:blipFill>
        <p:spPr>
          <a:xfrm>
            <a:off x="5367774" y="1603468"/>
            <a:ext cx="6785769" cy="4657314"/>
          </a:xfrm>
          <a:prstGeom prst="rect">
            <a:avLst/>
          </a:prstGeom>
        </p:spPr>
      </p:pic>
      <p:sp>
        <p:nvSpPr>
          <p:cNvPr id="7" name="文本框 6"/>
          <p:cNvSpPr txBox="1"/>
          <p:nvPr/>
        </p:nvSpPr>
        <p:spPr>
          <a:xfrm>
            <a:off x="2556342" y="403251"/>
            <a:ext cx="6856893" cy="1200329"/>
          </a:xfrm>
          <a:prstGeom prst="rect">
            <a:avLst/>
          </a:prstGeom>
          <a:noFill/>
          <a:ln w="12700" cap="flat">
            <a:noFill/>
            <a:miter lim="400000"/>
          </a:ln>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spAutoFit/>
          </a:bodyPr>
          <a:lstStyle/>
          <a:p>
            <a:r>
              <a:rPr lang="zh-CN" altLang="en-US" sz="2000" b="1" dirty="0">
                <a:solidFill>
                  <a:schemeClr val="accent1"/>
                </a:solidFill>
                <a:latin typeface="微软雅黑" panose="020B0503020204020204" pitchFamily="34" charset="-122"/>
                <a:ea typeface="微软雅黑" panose="020B0503020204020204" pitchFamily="34" charset="-122"/>
              </a:rPr>
              <a:t>编码器</a:t>
            </a:r>
            <a:r>
              <a:rPr lang="zh-CN" altLang="en-US" sz="2000" dirty="0">
                <a:solidFill>
                  <a:schemeClr val="accent1"/>
                </a:solidFill>
                <a:latin typeface="微软雅黑" panose="020B0503020204020204" pitchFamily="34" charset="-122"/>
                <a:ea typeface="微软雅黑" panose="020B0503020204020204" pitchFamily="34" charset="-122"/>
              </a:rPr>
              <a:t>：左半部分的主要任务是特征提取和捕捉上下文语义</a:t>
            </a:r>
            <a:endParaRPr lang="en-US" altLang="zh-CN" sz="2000" dirty="0">
              <a:solidFill>
                <a:schemeClr val="accent1"/>
              </a:solidFill>
              <a:latin typeface="微软雅黑" panose="020B0503020204020204" pitchFamily="34" charset="-122"/>
              <a:ea typeface="微软雅黑" panose="020B0503020204020204" pitchFamily="34" charset="-122"/>
            </a:endParaRPr>
          </a:p>
          <a:p>
            <a:endParaRPr lang="en-US" altLang="zh-CN" sz="2000" dirty="0">
              <a:solidFill>
                <a:schemeClr val="accent1"/>
              </a:solidFill>
              <a:latin typeface="微软雅黑" panose="020B0503020204020204" pitchFamily="34" charset="-122"/>
              <a:ea typeface="微软雅黑" panose="020B0503020204020204" pitchFamily="34" charset="-122"/>
            </a:endParaRPr>
          </a:p>
          <a:p>
            <a:r>
              <a:rPr lang="zh-CN" altLang="en-US" sz="2000" b="1" dirty="0">
                <a:solidFill>
                  <a:schemeClr val="accent1"/>
                </a:solidFill>
                <a:latin typeface="微软雅黑" panose="020B0503020204020204" pitchFamily="34" charset="-122"/>
                <a:ea typeface="微软雅黑" panose="020B0503020204020204" pitchFamily="34" charset="-122"/>
              </a:rPr>
              <a:t>解码器</a:t>
            </a:r>
            <a:r>
              <a:rPr lang="zh-CN" altLang="en-US" sz="2000" dirty="0">
                <a:solidFill>
                  <a:schemeClr val="accent1"/>
                </a:solidFill>
                <a:latin typeface="微软雅黑" panose="020B0503020204020204" pitchFamily="34" charset="-122"/>
                <a:ea typeface="微软雅黑" panose="020B0503020204020204" pitchFamily="34" charset="-122"/>
              </a:rPr>
              <a:t>：右半部分的主要任务是精准定位并恢复图像分辨率</a:t>
            </a:r>
            <a:endParaRPr lang="en-US" altLang="zh-CN" sz="2000" dirty="0">
              <a:solidFill>
                <a:schemeClr val="accent1"/>
              </a:solidFill>
              <a:latin typeface="微软雅黑" panose="020B0503020204020204" pitchFamily="34" charset="-122"/>
              <a:ea typeface="微软雅黑" panose="020B0503020204020204" pitchFamily="34" charset="-122"/>
            </a:endParaRPr>
          </a:p>
          <a:p>
            <a:pPr marL="0" marR="0" indent="0" algn="l" defTabSz="914400" rtl="0" fontAlgn="auto" latinLnBrk="0" hangingPunct="0">
              <a:lnSpc>
                <a:spcPct val="100000"/>
              </a:lnSpc>
              <a:spcBef>
                <a:spcPts val="0"/>
              </a:spcBef>
              <a:spcAft>
                <a:spcPts val="0"/>
              </a:spcAft>
              <a:buClrTx/>
              <a:buSzTx/>
              <a:buFontTx/>
              <a:buNone/>
            </a:pPr>
            <a:endParaRPr kumimoji="0" lang="zh-CN" altLang="en-US" sz="1800" b="0" i="0" u="none" strike="noStrike" cap="none" spc="0" normalizeH="0" baseline="0" dirty="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endParaRPr>
          </a:p>
        </p:txBody>
      </p:sp>
    </p:spTree>
  </p:cSld>
  <p:clrMapOvr>
    <a:masterClrMapping/>
  </p:clrMapOvr>
  <p:transition spd="med"/>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文本框 15"/>
          <p:cNvSpPr txBox="1"/>
          <p:nvPr/>
        </p:nvSpPr>
        <p:spPr>
          <a:xfrm>
            <a:off x="1477617" y="2767280"/>
            <a:ext cx="9236766" cy="830997"/>
          </a:xfrm>
          <a:prstGeom prst="rect">
            <a:avLst/>
          </a:prstGeom>
          <a:noFill/>
        </p:spPr>
        <p:txBody>
          <a:bodyPr wrap="square">
            <a:spAutoFit/>
          </a:bodyPr>
          <a:lstStyle/>
          <a:p>
            <a:pPr algn="ctr"/>
            <a:r>
              <a:rPr lang="en-GB" altLang="zh-CN" sz="4800" b="1" dirty="0">
                <a:solidFill>
                  <a:schemeClr val="accent1"/>
                </a:solidFill>
                <a:latin typeface="Arial" panose="020B0604020202020204" pitchFamily="34" charset="0"/>
                <a:cs typeface="Arial" panose="020B0604020202020204" pitchFamily="34" charset="0"/>
              </a:rPr>
              <a:t>THANKS</a:t>
            </a:r>
            <a:endParaRPr lang="en-GB" altLang="zh-CN" sz="4800" b="1" dirty="0">
              <a:solidFill>
                <a:schemeClr val="accent1"/>
              </a:solidFill>
              <a:latin typeface="Arial" panose="020B0604020202020204" pitchFamily="34" charset="0"/>
              <a:cs typeface="Arial" panose="020B0604020202020204" pitchFamily="34" charset="0"/>
            </a:endParaRPr>
          </a:p>
        </p:txBody>
      </p:sp>
      <p:pic>
        <p:nvPicPr>
          <p:cNvPr id="3" name="图片 2" descr="计算机楼——西门（蓝色）=="/>
          <p:cNvPicPr>
            <a:picLocks noChangeAspect="1"/>
          </p:cNvPicPr>
          <p:nvPr/>
        </p:nvPicPr>
        <p:blipFill>
          <a:blip r:embed="rId1"/>
          <a:srcRect l="1146" b="9039"/>
          <a:stretch>
            <a:fillRect/>
          </a:stretch>
        </p:blipFill>
        <p:spPr>
          <a:xfrm>
            <a:off x="0" y="3851910"/>
            <a:ext cx="12200255" cy="3006090"/>
          </a:xfrm>
          <a:prstGeom prst="rect">
            <a:avLst/>
          </a:prstGeom>
        </p:spPr>
      </p:pic>
      <p:pic>
        <p:nvPicPr>
          <p:cNvPr id="5" name="图片 4" descr="吉大logo-蓝"/>
          <p:cNvPicPr>
            <a:picLocks noChangeAspect="1"/>
          </p:cNvPicPr>
          <p:nvPr/>
        </p:nvPicPr>
        <p:blipFill>
          <a:blip r:embed="rId2"/>
          <a:stretch>
            <a:fillRect/>
          </a:stretch>
        </p:blipFill>
        <p:spPr>
          <a:xfrm>
            <a:off x="4451670" y="198915"/>
            <a:ext cx="3288660" cy="970666"/>
          </a:xfrm>
          <a:prstGeom prst="rect">
            <a:avLst/>
          </a:prstGeom>
        </p:spPr>
      </p:pic>
    </p:spTree>
  </p:cSld>
  <p:clrMapOvr>
    <a:masterClrMapping/>
  </p:clrMapOvr>
  <p:transition spd="med"/>
</p:sld>
</file>

<file path=ppt/tags/tag1.xml><?xml version="1.0" encoding="utf-8"?>
<p:tagLst xmlns:p="http://schemas.openxmlformats.org/presentationml/2006/main">
  <p:tag name="KSO_WM_AICARD_INVALID" val="Invalid"/>
</p:tagLst>
</file>

<file path=ppt/tags/tag2.xml><?xml version="1.0" encoding="utf-8"?>
<p:tagLst xmlns:p="http://schemas.openxmlformats.org/presentationml/2006/main">
  <p:tag name="TABLE_ENDDRAG_ORIGIN_RECT" val="944*211"/>
  <p:tag name="TABLE_ENDDRAG_RECT" val="7*193*944*211"/>
</p:tagLst>
</file>

<file path=ppt/tags/tag3.xml><?xml version="1.0" encoding="utf-8"?>
<p:tagLst xmlns:p="http://schemas.openxmlformats.org/presentationml/2006/main">
  <p:tag name="KSO_WM_AICARD_INVALID" val="Invalid"/>
</p:tagLst>
</file>

<file path=ppt/tags/tag4.xml><?xml version="1.0" encoding="utf-8"?>
<p:tagLst xmlns:p="http://schemas.openxmlformats.org/presentationml/2006/main">
  <p:tag name="TABLE_ENDDRAG_ORIGIN_RECT" val="944*211"/>
  <p:tag name="TABLE_ENDDRAG_RECT" val="7*193*944*211"/>
</p:tagLst>
</file>

<file path=ppt/tags/tag5.xml><?xml version="1.0" encoding="utf-8"?>
<p:tagLst xmlns:p="http://schemas.openxmlformats.org/presentationml/2006/main">
  <p:tag name="KSO_WM_AICARD_INVALID" val="Invalid"/>
</p:tagLst>
</file>

<file path=ppt/tags/tag6.xml><?xml version="1.0" encoding="utf-8"?>
<p:tagLst xmlns:p="http://schemas.openxmlformats.org/presentationml/2006/main">
  <p:tag name="KSO_WM_AICARD_INVALID" val="Invalid"/>
</p:tagLst>
</file>

<file path=ppt/tags/tag7.xml><?xml version="1.0" encoding="utf-8"?>
<p:tagLst xmlns:p="http://schemas.openxmlformats.org/presentationml/2006/main">
  <p:tag name="KSO_WM_AICARD_INVALID" val="Invalid"/>
</p:tagLst>
</file>

<file path=ppt/tags/tag8.xml><?xml version="1.0" encoding="utf-8"?>
<p:tagLst xmlns:p="http://schemas.openxmlformats.org/presentationml/2006/main">
  <p:tag name="KSO_WM_AICARD_INVALID" val="Invalid"/>
</p:tagLst>
</file>

<file path=ppt/tags/tag9.xml><?xml version="1.0" encoding="utf-8"?>
<p:tagLst xmlns:p="http://schemas.openxmlformats.org/presentationml/2006/main">
  <p:tag name="KSO_WM_AICARD_INVALID" val="Invalid"/>
</p:tagLst>
</file>

<file path=ppt/tags/tag10.xml><?xml version="1.0" encoding="utf-8"?>
<p:tagLst xmlns:p="http://schemas.openxmlformats.org/presentationml/2006/main">
  <p:tag name="KSO_WM_AICARD_INVALID" val="Invalid"/>
</p:tagLst>
</file>

<file path=ppt/tags/tag11.xml><?xml version="1.0" encoding="utf-8"?>
<p:tagLst xmlns:p="http://schemas.openxmlformats.org/presentationml/2006/main">
  <p:tag name="KSO_WM_AICARD_INVALID" val="Invalid"/>
</p:tagLst>
</file>

<file path=ppt/tags/tag12.xml><?xml version="1.0" encoding="utf-8"?>
<p:tagLst xmlns:p="http://schemas.openxmlformats.org/presentationml/2006/main">
  <p:tag name="KSO_WM_AICARD_INVALID" val="Invalid"/>
</p:tagLst>
</file>

<file path=ppt/tags/tag13.xml><?xml version="1.0" encoding="utf-8"?>
<p:tagLst xmlns:p="http://schemas.openxmlformats.org/presentationml/2006/main">
  <p:tag name="KSO_WM_AICARD_INVALID" val="Invalid"/>
</p:tagLst>
</file>

<file path=ppt/tags/tag14.xml><?xml version="1.0" encoding="utf-8"?>
<p:tagLst xmlns:p="http://schemas.openxmlformats.org/presentationml/2006/main">
  <p:tag name="KSO_WM_AICARD_INVALID" val="Invalid"/>
</p:tagLst>
</file>

<file path=ppt/tags/tag15.xml><?xml version="1.0" encoding="utf-8"?>
<p:tagLst xmlns:p="http://schemas.openxmlformats.org/presentationml/2006/main">
  <p:tag name="KSO_WM_AICARD_INVALID" val="Invalid"/>
</p:tagLst>
</file>

<file path=ppt/tags/tag16.xml><?xml version="1.0" encoding="utf-8"?>
<p:tagLst xmlns:p="http://schemas.openxmlformats.org/presentationml/2006/main">
  <p:tag name="KSO_WM_AICARD_INVALID" val="Invalid"/>
</p:tagLst>
</file>

<file path=ppt/tags/tag17.xml><?xml version="1.0" encoding="utf-8"?>
<p:tagLst xmlns:p="http://schemas.openxmlformats.org/presentationml/2006/main">
  <p:tag name="KSO_WM_AICARD_INVALID" val="Invalid"/>
</p:tagLst>
</file>

<file path=ppt/tags/tag18.xml><?xml version="1.0" encoding="utf-8"?>
<p:tagLst xmlns:p="http://schemas.openxmlformats.org/presentationml/2006/main">
  <p:tag name="KSO_WM_AICARD_INVALID" val="Invalid"/>
</p:tagLst>
</file>

<file path=ppt/tags/tag19.xml><?xml version="1.0" encoding="utf-8"?>
<p:tagLst xmlns:p="http://schemas.openxmlformats.org/presentationml/2006/main">
  <p:tag name="KSO_WM_AICARD_INVALID" val="Invalid"/>
</p:tagLst>
</file>

<file path=ppt/tags/tag20.xml><?xml version="1.0" encoding="utf-8"?>
<p:tagLst xmlns:p="http://schemas.openxmlformats.org/presentationml/2006/main">
  <p:tag name="KSO_WM_AICARD_INVALID" val="Invalid"/>
</p:tagLst>
</file>

<file path=ppt/tags/tag21.xml><?xml version="1.0" encoding="utf-8"?>
<p:tagLst xmlns:p="http://schemas.openxmlformats.org/presentationml/2006/main">
  <p:tag name="KSO_WM_AICARD_INVALID" val="Invalid"/>
</p:tagLst>
</file>

<file path=ppt/tags/tag22.xml><?xml version="1.0" encoding="utf-8"?>
<p:tagLst xmlns:p="http://schemas.openxmlformats.org/presentationml/2006/main">
  <p:tag name="KSO_WM_AICARD_INVALID" val="Invalid"/>
</p:tagLst>
</file>

<file path=ppt/tags/tag23.xml><?xml version="1.0" encoding="utf-8"?>
<p:tagLst xmlns:p="http://schemas.openxmlformats.org/presentationml/2006/main">
  <p:tag name="KSO_WM_AICARD_INVALID" val="Invalid"/>
</p:tagLst>
</file>

<file path=ppt/tags/tag24.xml><?xml version="1.0" encoding="utf-8"?>
<p:tagLst xmlns:p="http://schemas.openxmlformats.org/presentationml/2006/main">
  <p:tag name="KSO_WM_AICARD_INVALID" val="Invalid"/>
</p:tagLst>
</file>

<file path=ppt/tags/tag25.xml><?xml version="1.0" encoding="utf-8"?>
<p:tagLst xmlns:p="http://schemas.openxmlformats.org/presentationml/2006/main">
  <p:tag name="TABLE_ENDDRAG_ORIGIN_RECT" val="944*211"/>
  <p:tag name="TABLE_ENDDRAG_RECT" val="7*193*944*211"/>
</p:tagLst>
</file>

<file path=ppt/tags/tag26.xml><?xml version="1.0" encoding="utf-8"?>
<p:tagLst xmlns:p="http://schemas.openxmlformats.org/presentationml/2006/main">
  <p:tag name="KSO_WM_DIAGRAM_VIRTUALLY_FRAME" val="{&quot;height&quot;:459.7,&quot;left&quot;:73.6,&quot;top&quot;:67.15,&quot;width&quot;:392.5}"/>
</p:tagLst>
</file>

<file path=ppt/tags/tag27.xml><?xml version="1.0" encoding="utf-8"?>
<p:tagLst xmlns:p="http://schemas.openxmlformats.org/presentationml/2006/main">
  <p:tag name="KSO_WM_DIAGRAM_VIRTUALLY_FRAME" val="{&quot;height&quot;:459.7,&quot;left&quot;:73.6,&quot;top&quot;:67.15,&quot;width&quot;:392.5}"/>
</p:tagLst>
</file>

<file path=ppt/tags/tag28.xml><?xml version="1.0" encoding="utf-8"?>
<p:tagLst xmlns:p="http://schemas.openxmlformats.org/presentationml/2006/main">
  <p:tag name="KSO_WM_DIAGRAM_VIRTUALLY_FRAME" val="{&quot;height&quot;:459.7,&quot;left&quot;:73.6,&quot;top&quot;:67.15,&quot;width&quot;:392.5}"/>
</p:tagLst>
</file>

<file path=ppt/tags/tag29.xml><?xml version="1.0" encoding="utf-8"?>
<p:tagLst xmlns:p="http://schemas.openxmlformats.org/presentationml/2006/main">
  <p:tag name="KSO_WM_DIAGRAM_VIRTUALLY_FRAME" val="{&quot;height&quot;:459.7,&quot;left&quot;:73.6,&quot;top&quot;:67.15,&quot;width&quot;:392.5}"/>
</p:tagLst>
</file>

<file path=ppt/tags/tag30.xml><?xml version="1.0" encoding="utf-8"?>
<p:tagLst xmlns:p="http://schemas.openxmlformats.org/presentationml/2006/main">
  <p:tag name="KSO_WM_DIAGRAM_VIRTUALLY_FRAME" val="{&quot;height&quot;:459.7,&quot;left&quot;:73.6,&quot;top&quot;:67.15,&quot;width&quot;:392.5}"/>
</p:tagLst>
</file>

<file path=ppt/tags/tag31.xml><?xml version="1.0" encoding="utf-8"?>
<p:tagLst xmlns:p="http://schemas.openxmlformats.org/presentationml/2006/main">
  <p:tag name="KSO_WM_DIAGRAM_VIRTUALLY_FRAME" val="{&quot;height&quot;:459.7,&quot;left&quot;:73.6,&quot;top&quot;:67.15,&quot;width&quot;:392.5}"/>
</p:tagLst>
</file>

<file path=ppt/tags/tag32.xml><?xml version="1.0" encoding="utf-8"?>
<p:tagLst xmlns:p="http://schemas.openxmlformats.org/presentationml/2006/main">
  <p:tag name="KSO_WM_DIAGRAM_VIRTUALLY_FRAME" val="{&quot;height&quot;:459.7,&quot;left&quot;:73.6,&quot;top&quot;:67.15,&quot;width&quot;:392.5}"/>
</p:tagLst>
</file>

<file path=ppt/tags/tag33.xml><?xml version="1.0" encoding="utf-8"?>
<p:tagLst xmlns:p="http://schemas.openxmlformats.org/presentationml/2006/main">
  <p:tag name="KSO_WM_DIAGRAM_VIRTUALLY_FRAME" val="{&quot;height&quot;:459.7,&quot;left&quot;:73.6,&quot;top&quot;:67.15,&quot;width&quot;:392.5}"/>
</p:tagLst>
</file>

<file path=ppt/tags/tag34.xml><?xml version="1.0" encoding="utf-8"?>
<p:tagLst xmlns:p="http://schemas.openxmlformats.org/presentationml/2006/main">
  <p:tag name="KSO_WM_DIAGRAM_VIRTUALLY_FRAME" val="{&quot;height&quot;:459.7,&quot;left&quot;:73.6,&quot;top&quot;:67.15,&quot;width&quot;:392.5}"/>
</p:tagLst>
</file>

<file path=ppt/tags/tag35.xml><?xml version="1.0" encoding="utf-8"?>
<p:tagLst xmlns:p="http://schemas.openxmlformats.org/presentationml/2006/main">
  <p:tag name="KSO_WM_DIAGRAM_VIRTUALLY_FRAME" val="{&quot;height&quot;:459.7,&quot;left&quot;:73.6,&quot;top&quot;:67.15,&quot;width&quot;:392.5}"/>
</p:tagLst>
</file>

<file path=ppt/tags/tag36.xml><?xml version="1.0" encoding="utf-8"?>
<p:tagLst xmlns:p="http://schemas.openxmlformats.org/presentationml/2006/main">
  <p:tag name="KSO_WM_DIAGRAM_VIRTUALLY_FRAME" val="{&quot;height&quot;:459.7,&quot;left&quot;:73.6,&quot;top&quot;:67.15,&quot;width&quot;:392.5}"/>
</p:tagLst>
</file>

<file path=ppt/tags/tag37.xml><?xml version="1.0" encoding="utf-8"?>
<p:tagLst xmlns:p="http://schemas.openxmlformats.org/presentationml/2006/main">
  <p:tag name="KSO_WM_DIAGRAM_VIRTUALLY_FRAME" val="{&quot;height&quot;:459.7,&quot;left&quot;:73.6,&quot;top&quot;:67.15,&quot;width&quot;:392.5}"/>
</p:tagLst>
</file>

<file path=ppt/tags/tag38.xml><?xml version="1.0" encoding="utf-8"?>
<p:tagLst xmlns:p="http://schemas.openxmlformats.org/presentationml/2006/main">
  <p:tag name="KSO_WM_DIAGRAM_VIRTUALLY_FRAME" val="{&quot;height&quot;:459.7,&quot;left&quot;:73.6,&quot;top&quot;:67.15,&quot;width&quot;:392.5}"/>
</p:tagLst>
</file>

<file path=ppt/tags/tag39.xml><?xml version="1.0" encoding="utf-8"?>
<p:tagLst xmlns:p="http://schemas.openxmlformats.org/presentationml/2006/main">
  <p:tag name="KSO_WM_DIAGRAM_VIRTUALLY_FRAME" val="{&quot;height&quot;:459.7,&quot;left&quot;:73.6,&quot;top&quot;:67.15,&quot;width&quot;:392.5}"/>
</p:tagLst>
</file>

<file path=ppt/tags/tag40.xml><?xml version="1.0" encoding="utf-8"?>
<p:tagLst xmlns:p="http://schemas.openxmlformats.org/presentationml/2006/main">
  <p:tag name="KSO_WM_DIAGRAM_VIRTUALLY_FRAME" val="{&quot;height&quot;:459.7,&quot;left&quot;:73.6,&quot;top&quot;:67.15,&quot;width&quot;:392.5}"/>
</p:tagLst>
</file>

<file path=ppt/tags/tag41.xml><?xml version="1.0" encoding="utf-8"?>
<p:tagLst xmlns:p="http://schemas.openxmlformats.org/presentationml/2006/main">
  <p:tag name="KSO_WM_DIAGRAM_VIRTUALLY_FRAME" val="{&quot;height&quot;:459.7,&quot;left&quot;:73.6,&quot;top&quot;:67.15,&quot;width&quot;:392.5}"/>
</p:tagLst>
</file>

<file path=ppt/tags/tag42.xml><?xml version="1.0" encoding="utf-8"?>
<p:tagLst xmlns:p="http://schemas.openxmlformats.org/presentationml/2006/main">
  <p:tag name="KSO_WM_DIAGRAM_VIRTUALLY_FRAME" val="{&quot;height&quot;:459.7,&quot;left&quot;:73.6,&quot;top&quot;:67.15,&quot;width&quot;:392.5}"/>
</p:tagLst>
</file>

<file path=ppt/tags/tag43.xml><?xml version="1.0" encoding="utf-8"?>
<p:tagLst xmlns:p="http://schemas.openxmlformats.org/presentationml/2006/main">
  <p:tag name="KSO_WM_DIAGRAM_VIRTUALLY_FRAME" val="{&quot;height&quot;:459.7,&quot;left&quot;:73.6,&quot;top&quot;:67.15,&quot;width&quot;:392.5}"/>
</p:tagLst>
</file>

<file path=ppt/tags/tag44.xml><?xml version="1.0" encoding="utf-8"?>
<p:tagLst xmlns:p="http://schemas.openxmlformats.org/presentationml/2006/main">
  <p:tag name="KSO_WM_DIAGRAM_VIRTUALLY_FRAME" val="{&quot;height&quot;:459.7,&quot;left&quot;:73.6,&quot;top&quot;:67.15,&quot;width&quot;:392.5}"/>
</p:tagLst>
</file>

<file path=ppt/tags/tag45.xml><?xml version="1.0" encoding="utf-8"?>
<p:tagLst xmlns:p="http://schemas.openxmlformats.org/presentationml/2006/main">
  <p:tag name="KSO_WM_DIAGRAM_VIRTUALLY_FRAME" val="{&quot;height&quot;:459.7,&quot;left&quot;:73.6,&quot;top&quot;:67.15,&quot;width&quot;:392.5}"/>
</p:tagLst>
</file>

<file path=ppt/tags/tag46.xml><?xml version="1.0" encoding="utf-8"?>
<p:tagLst xmlns:p="http://schemas.openxmlformats.org/presentationml/2006/main">
  <p:tag name="KSO_WM_DIAGRAM_VIRTUALLY_FRAME" val="{&quot;height&quot;:459.7,&quot;left&quot;:73.6,&quot;top&quot;:67.15,&quot;width&quot;:392.5}"/>
</p:tagLst>
</file>

<file path=ppt/tags/tag47.xml><?xml version="1.0" encoding="utf-8"?>
<p:tagLst xmlns:p="http://schemas.openxmlformats.org/presentationml/2006/main">
  <p:tag name="KSO_WM_DIAGRAM_VIRTUALLY_FRAME" val="{&quot;height&quot;:459.7,&quot;left&quot;:73.6,&quot;top&quot;:67.15,&quot;width&quot;:392.5}"/>
</p:tagLst>
</file>

<file path=ppt/tags/tag48.xml><?xml version="1.0" encoding="utf-8"?>
<p:tagLst xmlns:p="http://schemas.openxmlformats.org/presentationml/2006/main">
  <p:tag name="KSO_WM_DIAGRAM_VIRTUALLY_FRAME" val="{&quot;height&quot;:459.7,&quot;left&quot;:73.6,&quot;top&quot;:67.15,&quot;width&quot;:392.5}"/>
</p:tagLst>
</file>

<file path=ppt/tags/tag49.xml><?xml version="1.0" encoding="utf-8"?>
<p:tagLst xmlns:p="http://schemas.openxmlformats.org/presentationml/2006/main">
  <p:tag name="KSO_WM_DIAGRAM_VIRTUALLY_FRAME" val="{&quot;height&quot;:459.7,&quot;left&quot;:73.6,&quot;top&quot;:67.15,&quot;width&quot;:392.5}"/>
</p:tagLst>
</file>

<file path=ppt/tags/tag50.xml><?xml version="1.0" encoding="utf-8"?>
<p:tagLst xmlns:p="http://schemas.openxmlformats.org/presentationml/2006/main">
  <p:tag name="KSO_WM_DIAGRAM_VIRTUALLY_FRAME" val="{&quot;height&quot;:459.7,&quot;left&quot;:73.6,&quot;top&quot;:67.15,&quot;width&quot;:392.5}"/>
</p:tagLst>
</file>

<file path=ppt/tags/tag51.xml><?xml version="1.0" encoding="utf-8"?>
<p:tagLst xmlns:p="http://schemas.openxmlformats.org/presentationml/2006/main">
  <p:tag name="KSO_WM_DIAGRAM_VIRTUALLY_FRAME" val="{&quot;height&quot;:459.7,&quot;left&quot;:73.6,&quot;top&quot;:67.15,&quot;width&quot;:392.5}"/>
</p:tagLst>
</file>

<file path=ppt/tags/tag52.xml><?xml version="1.0" encoding="utf-8"?>
<p:tagLst xmlns:p="http://schemas.openxmlformats.org/presentationml/2006/main">
  <p:tag name="KSO_WM_DIAGRAM_VIRTUALLY_FRAME" val="{&quot;height&quot;:459.7,&quot;left&quot;:73.6,&quot;top&quot;:67.15,&quot;width&quot;:392.5}"/>
</p:tagLst>
</file>

<file path=ppt/tags/tag53.xml><?xml version="1.0" encoding="utf-8"?>
<p:tagLst xmlns:p="http://schemas.openxmlformats.org/presentationml/2006/main">
  <p:tag name="KSO_WM_DIAGRAM_VIRTUALLY_FRAME" val="{&quot;height&quot;:459.7,&quot;left&quot;:73.6,&quot;top&quot;:67.15,&quot;width&quot;:392.5}"/>
</p:tagLst>
</file>

<file path=ppt/tags/tag54.xml><?xml version="1.0" encoding="utf-8"?>
<p:tagLst xmlns:p="http://schemas.openxmlformats.org/presentationml/2006/main">
  <p:tag name="KSO_WM_DIAGRAM_VIRTUALLY_FRAME" val="{&quot;height&quot;:459.7,&quot;left&quot;:73.6,&quot;top&quot;:67.15,&quot;width&quot;:392.5}"/>
</p:tagLst>
</file>

<file path=ppt/tags/tag55.xml><?xml version="1.0" encoding="utf-8"?>
<p:tagLst xmlns:p="http://schemas.openxmlformats.org/presentationml/2006/main">
  <p:tag name="KSO_WM_DIAGRAM_VIRTUALLY_FRAME" val="{&quot;height&quot;:459.7,&quot;left&quot;:73.6,&quot;top&quot;:67.15,&quot;width&quot;:392.5}"/>
</p:tagLst>
</file>

<file path=ppt/tags/tag56.xml><?xml version="1.0" encoding="utf-8"?>
<p:tagLst xmlns:p="http://schemas.openxmlformats.org/presentationml/2006/main">
  <p:tag name="KSO_WM_DIAGRAM_VIRTUALLY_FRAME" val="{&quot;height&quot;:459.7,&quot;left&quot;:73.6,&quot;top&quot;:67.15,&quot;width&quot;:392.5}"/>
</p:tagLst>
</file>

<file path=ppt/tags/tag57.xml><?xml version="1.0" encoding="utf-8"?>
<p:tagLst xmlns:p="http://schemas.openxmlformats.org/presentationml/2006/main">
  <p:tag name="KSO_WM_DIAGRAM_VIRTUALLY_FRAME" val="{&quot;height&quot;:459.7,&quot;left&quot;:73.6,&quot;top&quot;:67.15,&quot;width&quot;:392.5}"/>
</p:tagLst>
</file>

<file path=ppt/tags/tag58.xml><?xml version="1.0" encoding="utf-8"?>
<p:tagLst xmlns:p="http://schemas.openxmlformats.org/presentationml/2006/main">
  <p:tag name="KSO_WM_DIAGRAM_VIRTUALLY_FRAME" val="{&quot;height&quot;:459.7,&quot;left&quot;:73.6,&quot;top&quot;:67.15,&quot;width&quot;:392.5}"/>
</p:tagLst>
</file>

<file path=ppt/tags/tag59.xml><?xml version="1.0" encoding="utf-8"?>
<p:tagLst xmlns:p="http://schemas.openxmlformats.org/presentationml/2006/main">
  <p:tag name="KSO_WM_DIAGRAM_VIRTUALLY_FRAME" val="{&quot;height&quot;:459.7,&quot;left&quot;:73.6,&quot;top&quot;:67.15,&quot;width&quot;:392.5}"/>
</p:tagLst>
</file>

<file path=ppt/tags/tag60.xml><?xml version="1.0" encoding="utf-8"?>
<p:tagLst xmlns:p="http://schemas.openxmlformats.org/presentationml/2006/main">
  <p:tag name="KSO_WM_DIAGRAM_VIRTUALLY_FRAME" val="{&quot;height&quot;:459.7,&quot;left&quot;:73.6,&quot;top&quot;:67.15,&quot;width&quot;:392.5}"/>
</p:tagLst>
</file>

<file path=ppt/tags/tag61.xml><?xml version="1.0" encoding="utf-8"?>
<p:tagLst xmlns:p="http://schemas.openxmlformats.org/presentationml/2006/main">
  <p:tag name="KSO_WM_DIAGRAM_VIRTUALLY_FRAME" val="{&quot;height&quot;:459.7,&quot;left&quot;:73.6,&quot;top&quot;:67.15,&quot;width&quot;:392.5}"/>
</p:tagLst>
</file>

<file path=ppt/tags/tag62.xml><?xml version="1.0" encoding="utf-8"?>
<p:tagLst xmlns:p="http://schemas.openxmlformats.org/presentationml/2006/main">
  <p:tag name="KSO_WM_DIAGRAM_VIRTUALLY_FRAME" val="{&quot;height&quot;:459.7,&quot;left&quot;:73.6,&quot;top&quot;:67.15,&quot;width&quot;:392.5}"/>
</p:tagLst>
</file>

<file path=ppt/tags/tag63.xml><?xml version="1.0" encoding="utf-8"?>
<p:tagLst xmlns:p="http://schemas.openxmlformats.org/presentationml/2006/main">
  <p:tag name="KSO_WM_DIAGRAM_VIRTUALLY_FRAME" val="{&quot;height&quot;:459.7,&quot;left&quot;:73.6,&quot;top&quot;:67.15,&quot;width&quot;:392.5}"/>
</p:tagLst>
</file>

<file path=ppt/tags/tag64.xml><?xml version="1.0" encoding="utf-8"?>
<p:tagLst xmlns:p="http://schemas.openxmlformats.org/presentationml/2006/main">
  <p:tag name="KSO_WM_DIAGRAM_VIRTUALLY_FRAME" val="{&quot;height&quot;:459.7,&quot;left&quot;:73.6,&quot;top&quot;:67.15,&quot;width&quot;:392.5}"/>
</p:tagLst>
</file>

<file path=ppt/tags/tag65.xml><?xml version="1.0" encoding="utf-8"?>
<p:tagLst xmlns:p="http://schemas.openxmlformats.org/presentationml/2006/main">
  <p:tag name="KSO_WM_DIAGRAM_VIRTUALLY_FRAME" val="{&quot;height&quot;:459.7,&quot;left&quot;:73.6,&quot;top&quot;:67.15,&quot;width&quot;:392.5}"/>
</p:tagLst>
</file>

<file path=ppt/tags/tag66.xml><?xml version="1.0" encoding="utf-8"?>
<p:tagLst xmlns:p="http://schemas.openxmlformats.org/presentationml/2006/main">
  <p:tag name="KSO_WM_DIAGRAM_VIRTUALLY_FRAME" val="{&quot;height&quot;:459.7,&quot;left&quot;:73.6,&quot;top&quot;:67.15,&quot;width&quot;:392.5}"/>
</p:tagLst>
</file>

<file path=ppt/tags/tag67.xml><?xml version="1.0" encoding="utf-8"?>
<p:tagLst xmlns:p="http://schemas.openxmlformats.org/presentationml/2006/main">
  <p:tag name="KSO_WM_DIAGRAM_VIRTUALLY_FRAME" val="{&quot;height&quot;:459.7,&quot;left&quot;:73.6,&quot;top&quot;:67.15,&quot;width&quot;:392.5}"/>
</p:tagLst>
</file>

<file path=ppt/tags/tag68.xml><?xml version="1.0" encoding="utf-8"?>
<p:tagLst xmlns:p="http://schemas.openxmlformats.org/presentationml/2006/main">
  <p:tag name="KSO_WM_DIAGRAM_VIRTUALLY_FRAME" val="{&quot;height&quot;:459.7,&quot;left&quot;:73.6,&quot;top&quot;:67.15,&quot;width&quot;:392.5}"/>
</p:tagLst>
</file>

<file path=ppt/tags/tag69.xml><?xml version="1.0" encoding="utf-8"?>
<p:tagLst xmlns:p="http://schemas.openxmlformats.org/presentationml/2006/main">
  <p:tag name="KSO_WM_DIAGRAM_VIRTUALLY_FRAME" val="{&quot;height&quot;:459.7,&quot;left&quot;:73.6,&quot;top&quot;:67.15,&quot;width&quot;:392.5}"/>
</p:tagLst>
</file>

<file path=ppt/tags/tag70.xml><?xml version="1.0" encoding="utf-8"?>
<p:tagLst xmlns:p="http://schemas.openxmlformats.org/presentationml/2006/main">
  <p:tag name="KSO_WM_DIAGRAM_VIRTUALLY_FRAME" val="{&quot;height&quot;:459.7,&quot;left&quot;:73.6,&quot;top&quot;:67.15,&quot;width&quot;:392.5}"/>
</p:tagLst>
</file>

<file path=ppt/tags/tag71.xml><?xml version="1.0" encoding="utf-8"?>
<p:tagLst xmlns:p="http://schemas.openxmlformats.org/presentationml/2006/main">
  <p:tag name="KSO_WM_DIAGRAM_VIRTUALLY_FRAME" val="{&quot;height&quot;:459.7,&quot;left&quot;:73.6,&quot;top&quot;:67.15,&quot;width&quot;:392.5}"/>
</p:tagLst>
</file>

<file path=ppt/tags/tag72.xml><?xml version="1.0" encoding="utf-8"?>
<p:tagLst xmlns:p="http://schemas.openxmlformats.org/presentationml/2006/main">
  <p:tag name="KSO_WM_DIAGRAM_VIRTUALLY_FRAME" val="{&quot;height&quot;:459.7,&quot;left&quot;:73.6,&quot;top&quot;:67.15,&quot;width&quot;:392.5}"/>
</p:tagLst>
</file>

<file path=ppt/tags/tag73.xml><?xml version="1.0" encoding="utf-8"?>
<p:tagLst xmlns:p="http://schemas.openxmlformats.org/presentationml/2006/main">
  <p:tag name="KSO_WM_DIAGRAM_VIRTUALLY_FRAME" val="{&quot;height&quot;:459.7,&quot;left&quot;:73.6,&quot;top&quot;:67.15,&quot;width&quot;:392.5}"/>
</p:tagLst>
</file>

<file path=ppt/tags/tag74.xml><?xml version="1.0" encoding="utf-8"?>
<p:tagLst xmlns:p="http://schemas.openxmlformats.org/presentationml/2006/main">
  <p:tag name="KSO_WM_DIAGRAM_VIRTUALLY_FRAME" val="{&quot;height&quot;:459.7,&quot;left&quot;:73.6,&quot;top&quot;:67.15,&quot;width&quot;:392.5}"/>
</p:tagLst>
</file>

<file path=ppt/tags/tag75.xml><?xml version="1.0" encoding="utf-8"?>
<p:tagLst xmlns:p="http://schemas.openxmlformats.org/presentationml/2006/main">
  <p:tag name="KSO_WM_DIAGRAM_VIRTUALLY_FRAME" val="{&quot;height&quot;:459.7,&quot;left&quot;:73.6,&quot;top&quot;:67.15,&quot;width&quot;:392.5}"/>
</p:tagLst>
</file>

<file path=ppt/tags/tag76.xml><?xml version="1.0" encoding="utf-8"?>
<p:tagLst xmlns:p="http://schemas.openxmlformats.org/presentationml/2006/main">
  <p:tag name="KSO_WM_DIAGRAM_VIRTUALLY_FRAME" val="{&quot;height&quot;:459.7,&quot;left&quot;:73.6,&quot;top&quot;:67.15,&quot;width&quot;:392.5}"/>
</p:tagLst>
</file>

<file path=ppt/tags/tag77.xml><?xml version="1.0" encoding="utf-8"?>
<p:tagLst xmlns:p="http://schemas.openxmlformats.org/presentationml/2006/main">
  <p:tag name="KSO_WM_DIAGRAM_VIRTUALLY_FRAME" val="{&quot;height&quot;:459.7,&quot;left&quot;:73.6,&quot;top&quot;:67.15,&quot;width&quot;:392.5}"/>
</p:tagLst>
</file>

<file path=ppt/tags/tag78.xml><?xml version="1.0" encoding="utf-8"?>
<p:tagLst xmlns:p="http://schemas.openxmlformats.org/presentationml/2006/main">
  <p:tag name="KSO_WM_DIAGRAM_VIRTUALLY_FRAME" val="{&quot;height&quot;:459.7,&quot;left&quot;:73.6,&quot;top&quot;:67.15,&quot;width&quot;:392.5}"/>
</p:tagLst>
</file>

<file path=ppt/tags/tag79.xml><?xml version="1.0" encoding="utf-8"?>
<p:tagLst xmlns:p="http://schemas.openxmlformats.org/presentationml/2006/main">
  <p:tag name="KSO_WM_DIAGRAM_VIRTUALLY_FRAME" val="{&quot;height&quot;:459.7,&quot;left&quot;:73.6,&quot;top&quot;:67.15,&quot;width&quot;:392.5}"/>
</p:tagLst>
</file>

<file path=ppt/tags/tag80.xml><?xml version="1.0" encoding="utf-8"?>
<p:tagLst xmlns:p="http://schemas.openxmlformats.org/presentationml/2006/main">
  <p:tag name="KSO_WM_DIAGRAM_VIRTUALLY_FRAME" val="{&quot;height&quot;:459.7,&quot;left&quot;:73.6,&quot;top&quot;:67.15,&quot;width&quot;:392.5}"/>
</p:tagLst>
</file>

<file path=ppt/tags/tag81.xml><?xml version="1.0" encoding="utf-8"?>
<p:tagLst xmlns:p="http://schemas.openxmlformats.org/presentationml/2006/main">
  <p:tag name="TABLE_ENDDRAG_ORIGIN_RECT" val="944*211"/>
  <p:tag name="TABLE_ENDDRAG_RECT" val="7*193*944*211"/>
</p:tagLst>
</file>

<file path=ppt/tags/tag82.xml><?xml version="1.0" encoding="utf-8"?>
<p:tagLst xmlns:p="http://schemas.openxmlformats.org/presentationml/2006/main">
  <p:tag name="TABLE_ENDDRAG_ORIGIN_RECT" val="944*211"/>
  <p:tag name="TABLE_ENDDRAG_RECT" val="7*193*944*211"/>
</p:tagLst>
</file>

<file path=ppt/tags/tag83.xml><?xml version="1.0" encoding="utf-8"?>
<p:tagLst xmlns:p="http://schemas.openxmlformats.org/presentationml/2006/main">
  <p:tag name="TABLE_ENDDRAG_ORIGIN_RECT" val="944*211"/>
  <p:tag name="TABLE_ENDDRAG_RECT" val="7*193*944*211"/>
</p:tagLst>
</file>

<file path=ppt/tags/tag84.xml><?xml version="1.0" encoding="utf-8"?>
<p:tagLst xmlns:p="http://schemas.openxmlformats.org/presentationml/2006/main">
  <p:tag name="TABLE_ENDDRAG_ORIGIN_RECT" val="944*211"/>
  <p:tag name="TABLE_ENDDRAG_RECT" val="7*193*944*211"/>
</p:tagLst>
</file>

<file path=ppt/tags/tag85.xml><?xml version="1.0" encoding="utf-8"?>
<p:tagLst xmlns:p="http://schemas.openxmlformats.org/presentationml/2006/main">
  <p:tag name="TABLE_ENDDRAG_ORIGIN_RECT" val="944*211"/>
  <p:tag name="TABLE_ENDDRAG_RECT" val="7*193*944*211"/>
</p:tagLst>
</file>

<file path=ppt/tags/tag86.xml><?xml version="1.0" encoding="utf-8"?>
<p:tagLst xmlns:p="http://schemas.openxmlformats.org/presentationml/2006/main">
  <p:tag name="TABLE_ENDDRAG_ORIGIN_RECT" val="944*211"/>
  <p:tag name="TABLE_ENDDRAG_RECT" val="7*193*944*211"/>
</p:tagLst>
</file>

<file path=ppt/tags/tag87.xml><?xml version="1.0" encoding="utf-8"?>
<p:tagLst xmlns:p="http://schemas.openxmlformats.org/presentationml/2006/main">
  <p:tag name="TABLE_ENDDRAG_ORIGIN_RECT" val="944*211"/>
  <p:tag name="TABLE_ENDDRAG_RECT" val="7*193*944*211"/>
</p:tagLst>
</file>

<file path=ppt/tags/tag88.xml><?xml version="1.0" encoding="utf-8"?>
<p:tagLst xmlns:p="http://schemas.openxmlformats.org/presentationml/2006/main">
  <p:tag name="KSO_WM_DIAGRAM_VIRTUALLY_FRAME" val="{&quot;height&quot;:395.45,&quot;left&quot;:16.8,&quot;top&quot;:130.3,&quot;width&quot;:923.7}"/>
</p:tagLst>
</file>

<file path=ppt/tags/tag89.xml><?xml version="1.0" encoding="utf-8"?>
<p:tagLst xmlns:p="http://schemas.openxmlformats.org/presentationml/2006/main">
  <p:tag name="KSO_WM_DIAGRAM_VIRTUALLY_FRAME" val="{&quot;height&quot;:395.45,&quot;left&quot;:16.8,&quot;top&quot;:130.3,&quot;width&quot;:923.7}"/>
</p:tagLst>
</file>

<file path=ppt/tags/tag90.xml><?xml version="1.0" encoding="utf-8"?>
<p:tagLst xmlns:p="http://schemas.openxmlformats.org/presentationml/2006/main">
  <p:tag name="KSO_WM_DIAGRAM_VIRTUALLY_FRAME" val="{&quot;height&quot;:395.45,&quot;left&quot;:16.8,&quot;top&quot;:130.3,&quot;width&quot;:923.7}"/>
</p:tagLst>
</file>

<file path=ppt/tags/tag91.xml><?xml version="1.0" encoding="utf-8"?>
<p:tagLst xmlns:p="http://schemas.openxmlformats.org/presentationml/2006/main">
  <p:tag name="KSO_WM_DIAGRAM_VIRTUALLY_FRAME" val="{&quot;height&quot;:395.45,&quot;left&quot;:16.8,&quot;top&quot;:130.3,&quot;width&quot;:923.7}"/>
</p:tagLst>
</file>

<file path=ppt/tags/tag92.xml><?xml version="1.0" encoding="utf-8"?>
<p:tagLst xmlns:p="http://schemas.openxmlformats.org/presentationml/2006/main">
  <p:tag name="KSO_WM_DIAGRAM_VIRTUALLY_FRAME" val="{&quot;height&quot;:395.45,&quot;left&quot;:16.8,&quot;top&quot;:130.3,&quot;width&quot;:923.7}"/>
</p:tagLst>
</file>

<file path=ppt/tags/tag93.xml><?xml version="1.0" encoding="utf-8"?>
<p:tagLst xmlns:p="http://schemas.openxmlformats.org/presentationml/2006/main">
  <p:tag name="KSO_WM_DIAGRAM_VIRTUALLY_FRAME" val="{&quot;height&quot;:395.45,&quot;left&quot;:16.8,&quot;top&quot;:130.3,&quot;width&quot;:923.7}"/>
</p:tagLst>
</file>

<file path=ppt/tags/tag94.xml><?xml version="1.0" encoding="utf-8"?>
<p:tagLst xmlns:p="http://schemas.openxmlformats.org/presentationml/2006/main">
  <p:tag name="KSO_WM_DIAGRAM_VIRTUALLY_FRAME" val="{&quot;height&quot;:395.45,&quot;left&quot;:16.8,&quot;top&quot;:130.3,&quot;width&quot;:923.7}"/>
</p:tagLst>
</file>

<file path=ppt/tags/tag95.xml><?xml version="1.0" encoding="utf-8"?>
<p:tagLst xmlns:p="http://schemas.openxmlformats.org/presentationml/2006/main">
  <p:tag name="KSO_WM_DIAGRAM_VIRTUALLY_FRAME" val="{&quot;height&quot;:395.45,&quot;left&quot;:16.8,&quot;top&quot;:130.3,&quot;width&quot;:923.7}"/>
</p:tagLst>
</file>

<file path=ppt/tags/tag96.xml><?xml version="1.0" encoding="utf-8"?>
<p:tagLst xmlns:p="http://schemas.openxmlformats.org/presentationml/2006/main">
  <p:tag name="KSO_WM_DIAGRAM_VIRTUALLY_FRAME" val="{&quot;height&quot;:395.45,&quot;left&quot;:16.8,&quot;top&quot;:130.3,&quot;width&quot;:923.7}"/>
</p:tagLst>
</file>

<file path=ppt/tags/tag97.xml><?xml version="1.0" encoding="utf-8"?>
<p:tagLst xmlns:p="http://schemas.openxmlformats.org/presentationml/2006/main">
  <p:tag name="KSO_WM_DIAGRAM_VIRTUALLY_FRAME" val="{&quot;height&quot;:395.45,&quot;left&quot;:16.8,&quot;top&quot;:130.3,&quot;width&quot;:923.7}"/>
</p:tagLst>
</file>

<file path=ppt/tags/tag98.xml><?xml version="1.0" encoding="utf-8"?>
<p:tagLst xmlns:p="http://schemas.openxmlformats.org/presentationml/2006/main">
  <p:tag name="KSO_WM_DIAGRAM_VIRTUALLY_FRAME" val="{&quot;height&quot;:395.45,&quot;left&quot;:16.8,&quot;top&quot;:130.3,&quot;width&quot;:923.7}"/>
</p:tagLst>
</file>

<file path=ppt/tags/tag99.xml><?xml version="1.0" encoding="utf-8"?>
<p:tagLst xmlns:p="http://schemas.openxmlformats.org/presentationml/2006/main">
  <p:tag name="KSO_WM_DIAGRAM_VIRTUALLY_FRAME" val="{&quot;height&quot;:395.45,&quot;left&quot;:16.8,&quot;top&quot;:130.3,&quot;width&quot;:923.7}"/>
</p:tagLst>
</file>

<file path=ppt/tags/tag100.xml><?xml version="1.0" encoding="utf-8"?>
<p:tagLst xmlns:p="http://schemas.openxmlformats.org/presentationml/2006/main">
  <p:tag name="KSO_WM_DIAGRAM_VIRTUALLY_FRAME" val="{&quot;height&quot;:395.45,&quot;left&quot;:16.8,&quot;top&quot;:130.3,&quot;width&quot;:923.7}"/>
</p:tagLst>
</file>

<file path=ppt/tags/tag101.xml><?xml version="1.0" encoding="utf-8"?>
<p:tagLst xmlns:p="http://schemas.openxmlformats.org/presentationml/2006/main">
  <p:tag name="KSO_WM_DIAGRAM_VIRTUALLY_FRAME" val="{&quot;height&quot;:395.45,&quot;left&quot;:16.8,&quot;top&quot;:130.3,&quot;width&quot;:923.7}"/>
</p:tagLst>
</file>

<file path=ppt/tags/tag102.xml><?xml version="1.0" encoding="utf-8"?>
<p:tagLst xmlns:p="http://schemas.openxmlformats.org/presentationml/2006/main">
  <p:tag name="KSO_WM_DIAGRAM_VIRTUALLY_FRAME" val="{&quot;height&quot;:395.45,&quot;left&quot;:16.8,&quot;top&quot;:130.3,&quot;width&quot;:923.7}"/>
</p:tagLst>
</file>

<file path=ppt/tags/tag103.xml><?xml version="1.0" encoding="utf-8"?>
<p:tagLst xmlns:p="http://schemas.openxmlformats.org/presentationml/2006/main">
  <p:tag name="KSO_WM_DIAGRAM_VIRTUALLY_FRAME" val="{&quot;height&quot;:395.45,&quot;left&quot;:16.8,&quot;top&quot;:130.3,&quot;width&quot;:923.7}"/>
</p:tagLst>
</file>

<file path=ppt/theme/theme1.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045499"/>
      </a:accent1>
      <a:accent2>
        <a:srgbClr val="FEBF02"/>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主题​​">
      <a:dk1>
        <a:srgbClr val="000000"/>
      </a:dk1>
      <a:lt1>
        <a:srgbClr val="FFFFFF"/>
      </a:lt1>
      <a:dk2>
        <a:srgbClr val="A7A7A7"/>
      </a:dk2>
      <a:lt2>
        <a:srgbClr val="535353"/>
      </a:lt2>
      <a:accent1>
        <a:srgbClr val="045499"/>
      </a:accent1>
      <a:accent2>
        <a:srgbClr val="FEBF02"/>
      </a:accent2>
      <a:accent3>
        <a:srgbClr val="A5A5A5"/>
      </a:accent3>
      <a:accent4>
        <a:srgbClr val="FFC000"/>
      </a:accent4>
      <a:accent5>
        <a:srgbClr val="5B9BD5"/>
      </a:accent5>
      <a:accent6>
        <a:srgbClr val="70AD47"/>
      </a:accent6>
      <a:hlink>
        <a:srgbClr val="0000FF"/>
      </a:hlink>
      <a:folHlink>
        <a:srgbClr val="FF00FF"/>
      </a:folHlink>
    </a:clrScheme>
    <a:fontScheme name="Office 主题​​">
      <a:majorFont>
        <a:latin typeface="Helvetica"/>
        <a:ea typeface="Helvetica"/>
        <a:cs typeface="Helvetica"/>
      </a:majorFont>
      <a:minorFont>
        <a:latin typeface="Calibri"/>
        <a:ea typeface="Calibri"/>
        <a:cs typeface="Calibri"/>
      </a:minorFont>
    </a:fontScheme>
    <a:fmtScheme name="Office 主题​​">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latin typeface="等线" panose="02010600030101010101" charset="-122"/>
            <a:ea typeface="等线" panose="02010600030101010101" charset="-122"/>
            <a:cs typeface="等线" panose="02010600030101010101" charset="-122"/>
            <a:sym typeface="等线" panose="02010600030101010101" charset="-122"/>
          </a:defRPr>
        </a:defPPr>
        <a:lvl1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主题​​</Template>
  <TotalTime>0</TotalTime>
  <Words>20090</Words>
  <Application>WPS 演示</Application>
  <PresentationFormat>宽屏</PresentationFormat>
  <Paragraphs>2207</Paragraphs>
  <Slides>130</Slides>
  <Notes>1</Notes>
  <HiddenSlides>0</HiddenSlides>
  <MMClips>1</MMClips>
  <ScaleCrop>false</ScaleCrop>
  <HeadingPairs>
    <vt:vector size="8" baseType="variant">
      <vt:variant>
        <vt:lpstr>已用的字体</vt:lpstr>
      </vt:variant>
      <vt:variant>
        <vt:i4>17</vt:i4>
      </vt:variant>
      <vt:variant>
        <vt:lpstr>主题</vt:lpstr>
      </vt:variant>
      <vt:variant>
        <vt:i4>1</vt:i4>
      </vt:variant>
      <vt:variant>
        <vt:lpstr>嵌入 OLE 服务器</vt:lpstr>
      </vt:variant>
      <vt:variant>
        <vt:i4>125</vt:i4>
      </vt:variant>
      <vt:variant>
        <vt:lpstr>幻灯片标题</vt:lpstr>
      </vt:variant>
      <vt:variant>
        <vt:i4>130</vt:i4>
      </vt:variant>
    </vt:vector>
  </HeadingPairs>
  <TitlesOfParts>
    <vt:vector size="273" baseType="lpstr">
      <vt:lpstr>Arial</vt:lpstr>
      <vt:lpstr>宋体</vt:lpstr>
      <vt:lpstr>Wingdings</vt:lpstr>
      <vt:lpstr>等线</vt:lpstr>
      <vt:lpstr>微软雅黑</vt:lpstr>
      <vt:lpstr>等线 Light</vt:lpstr>
      <vt:lpstr>Arial</vt:lpstr>
      <vt:lpstr>Calibri</vt:lpstr>
      <vt:lpstr>Times New Roman</vt:lpstr>
      <vt:lpstr>Arial Unicode MS</vt:lpstr>
      <vt:lpstr>Wingdings</vt:lpstr>
      <vt:lpstr>geistSans</vt:lpstr>
      <vt:lpstr>Segoe Print</vt:lpstr>
      <vt:lpstr>-apple-system</vt:lpstr>
      <vt:lpstr>Helvetica</vt:lpstr>
      <vt:lpstr>Google Sans Text</vt:lpstr>
      <vt:lpstr>PingFang SC</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Equation.KSEE3</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PowerPoint 演示文稿</vt:lpstr>
      <vt:lpstr>图像的基本知识</vt:lpstr>
      <vt:lpstr>图像分类</vt:lpstr>
      <vt:lpstr>图像分类方法</vt:lpstr>
      <vt:lpstr>K近邻算法</vt:lpstr>
      <vt:lpstr>K近邻算法</vt:lpstr>
      <vt:lpstr>K近邻算法</vt:lpstr>
      <vt:lpstr>线性分类算法</vt:lpstr>
      <vt:lpstr>线性分类算法</vt:lpstr>
      <vt:lpstr>Softmax函数</vt:lpstr>
      <vt:lpstr>交叉熵构建损失函数</vt:lpstr>
      <vt:lpstr>总结</vt:lpstr>
      <vt:lpstr>梯度下降</vt:lpstr>
      <vt:lpstr>随机梯度下降SGD方法</vt:lpstr>
      <vt:lpstr>动量Momentum方法优化</vt:lpstr>
      <vt:lpstr>均方根反向传播法RMSProp</vt:lpstr>
      <vt:lpstr>adam优化器</vt:lpstr>
      <vt:lpstr>过拟合问题</vt:lpstr>
      <vt:lpstr>损失函数的正则化</vt:lpstr>
      <vt:lpstr>AdamW优化器</vt:lpstr>
      <vt:lpstr>PowerPoint 演示文稿</vt:lpstr>
      <vt:lpstr>PowerPoint 演示文稿</vt:lpstr>
      <vt:lpstr>PowerPoint 演示文稿</vt:lpstr>
      <vt:lpstr>训练流程总结</vt:lpstr>
      <vt:lpstr>常见线性模型</vt:lpstr>
      <vt:lpstr>线性回归模型</vt:lpstr>
      <vt:lpstr>岭回归模型</vt:lpstr>
      <vt:lpstr>逻辑回归</vt:lpstr>
      <vt:lpstr>线性SVM模型</vt:lpstr>
      <vt:lpstr>非线性模型</vt:lpstr>
      <vt:lpstr>神经网络</vt:lpstr>
      <vt:lpstr>激活函数</vt:lpstr>
      <vt:lpstr>PowerPoint 演示文稿</vt:lpstr>
      <vt:lpstr>反向传播</vt:lpstr>
      <vt:lpstr>反向传播</vt:lpstr>
      <vt:lpstr>PowerPoint 演示文稿</vt:lpstr>
      <vt:lpstr>总结——神经网络</vt:lpstr>
      <vt:lpstr>卷积神经网络 CNN</vt:lpstr>
      <vt:lpstr>CNN的四个主要阶段</vt:lpstr>
      <vt:lpstr>卷积层</vt:lpstr>
      <vt:lpstr>卷积层</vt:lpstr>
      <vt:lpstr>卷积层</vt:lpstr>
      <vt:lpstr>卷积层</vt:lpstr>
      <vt:lpstr>卷积层</vt:lpstr>
      <vt:lpstr>激活层</vt:lpstr>
      <vt:lpstr>池化层</vt:lpstr>
      <vt:lpstr>池化层</vt:lpstr>
      <vt:lpstr>全连接层</vt:lpstr>
      <vt:lpstr>CNN的具体实例</vt:lpstr>
      <vt:lpstr>LeNet 网络</vt:lpstr>
      <vt:lpstr>VGGNet 网络</vt:lpstr>
      <vt:lpstr>ResNet   论文：Deep Residual Learning for Image Recognition</vt:lpstr>
      <vt:lpstr>问题1：梯度问题</vt:lpstr>
      <vt:lpstr>问题2：退化问题</vt:lpstr>
      <vt:lpstr>残差学习</vt:lpstr>
      <vt:lpstr>ResNet 网络结构</vt:lpstr>
      <vt:lpstr>ResNet 网络结构具体实例</vt:lpstr>
      <vt:lpstr>注意力机制</vt:lpstr>
      <vt:lpstr>注意力机制</vt:lpstr>
      <vt:lpstr>注意力机制</vt:lpstr>
      <vt:lpstr>PowerPoint 演示文稿</vt:lpstr>
      <vt:lpstr>PowerPoint 演示文稿</vt:lpstr>
      <vt:lpstr>多头注意力机制</vt:lpstr>
      <vt:lpstr>Transformer介绍</vt:lpstr>
      <vt:lpstr>Transformer架构</vt:lpstr>
      <vt:lpstr>Transformer架构</vt:lpstr>
      <vt:lpstr>Transformer架构</vt:lpstr>
      <vt:lpstr>Transformer架构</vt:lpstr>
      <vt:lpstr>Transformer架构</vt:lpstr>
      <vt:lpstr>Transformer架构</vt:lpstr>
      <vt:lpstr>Transformer架构</vt:lpstr>
      <vt:lpstr>Transformer架构</vt:lpstr>
      <vt:lpstr>Transformer架构</vt:lpstr>
      <vt:lpstr>Transformer架构</vt:lpstr>
      <vt:lpstr>Transformer架构</vt:lpstr>
      <vt:lpstr>Transformer训练模式</vt:lpstr>
      <vt:lpstr>PowerPoint 演示文稿</vt:lpstr>
      <vt:lpstr>Transformer具体工作</vt:lpstr>
      <vt:lpstr>Vision Transformer</vt:lpstr>
      <vt:lpstr>ViT vs CNN</vt:lpstr>
      <vt:lpstr>图像识别任务</vt:lpstr>
      <vt:lpstr>图像识别任务</vt:lpstr>
      <vt:lpstr>图像检测</vt:lpstr>
      <vt:lpstr>图像检测的核心流程</vt:lpstr>
      <vt:lpstr>候选区域产生 Region Proposals</vt:lpstr>
      <vt:lpstr>候选区域产生 Region Proposals</vt:lpstr>
      <vt:lpstr>PowerPoint 演示文稿</vt:lpstr>
      <vt:lpstr>滑动窗口法 vs 选择性搜索 </vt:lpstr>
      <vt:lpstr>模型预测、数据表示</vt:lpstr>
      <vt:lpstr>效果评估</vt:lpstr>
      <vt:lpstr>效果评估</vt:lpstr>
      <vt:lpstr>效果评估</vt:lpstr>
      <vt:lpstr>预测结果后处理</vt:lpstr>
      <vt:lpstr>图像检测方法</vt:lpstr>
      <vt:lpstr>R-CNN</vt:lpstr>
      <vt:lpstr>知识点回忆：线性SVM模型</vt:lpstr>
      <vt:lpstr>R-CNN详细训练流程</vt:lpstr>
      <vt:lpstr>R-CNN详细训练流程</vt:lpstr>
      <vt:lpstr>Fast R-CNN</vt:lpstr>
      <vt:lpstr>Fast R-CNN训练流程</vt:lpstr>
      <vt:lpstr>Fast R-CNN训练流程</vt:lpstr>
      <vt:lpstr>Fast R-CNN训练流程</vt:lpstr>
      <vt:lpstr>Faster R-CNN</vt:lpstr>
      <vt:lpstr>Faster R-CNN训练流程</vt:lpstr>
      <vt:lpstr>Faster R-CNN训练流程</vt:lpstr>
      <vt:lpstr>R-CNN vs Fast R-CNN vs Faster R-CNN</vt:lpstr>
      <vt:lpstr>YOLO</vt:lpstr>
      <vt:lpstr>YOLO的网络结构</vt:lpstr>
      <vt:lpstr>YOLO的演进</vt:lpstr>
      <vt:lpstr>YOLO3</vt:lpstr>
      <vt:lpstr>YOLO5</vt:lpstr>
      <vt:lpstr>YOLO5</vt:lpstr>
      <vt:lpstr>YOLO11手机检测实例、损失函数设计</vt:lpstr>
      <vt:lpstr>DETR</vt:lpstr>
      <vt:lpstr>知识点回忆：Transformer</vt:lpstr>
      <vt:lpstr>DETR概述</vt:lpstr>
      <vt:lpstr>DETR</vt:lpstr>
      <vt:lpstr>匈牙利算法</vt:lpstr>
      <vt:lpstr>损失函数的设计</vt:lpstr>
      <vt:lpstr>DETR</vt:lpstr>
      <vt:lpstr>图像分割 Segmentation</vt:lpstr>
      <vt:lpstr>图像分割 Segmentation</vt:lpstr>
      <vt:lpstr>全卷积网络 Fully Convolution Networks (FCNs) </vt:lpstr>
      <vt:lpstr>全卷积网络 Fully Convolution Networks (FCNs) </vt:lpstr>
      <vt:lpstr>全卷积网络 Fully Convolution Networks (FCNs) </vt:lpstr>
      <vt:lpstr>SegNet网络</vt:lpstr>
      <vt:lpstr>SegNet网络</vt:lpstr>
      <vt:lpstr>SegNet</vt:lpstr>
      <vt:lpstr>U-Net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1300116177@qq.com</dc:creator>
  <cp:lastModifiedBy>WPS_1742976995</cp:lastModifiedBy>
  <cp:revision>183</cp:revision>
  <dcterms:created xsi:type="dcterms:W3CDTF">2025-06-10T05:19:00Z</dcterms:created>
  <dcterms:modified xsi:type="dcterms:W3CDTF">2026-08-27T12:13:41Z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2052-12.1.0.28043</vt:lpwstr>
  </property>
  <property fmtid="{D5CDD505-2E9C-101B-9397-08002B2CF9AE}" pid="3" name="ICV">
    <vt:lpwstr>2E4848D758A5438096E96A400DB1F08A_13</vt:lpwstr>
  </property>
</Properties>
</file>