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embeddedFontLst>
    <p:embeddedFont>
      <p:font typeface="Microsoft YaHei" panose="020B0503020204020204" pitchFamily="34" charset="-122"/>
      <p:regular r:id="rId41"/>
      <p:bold r:id="rId4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p:cViewPr varScale="1">
        <p:scale>
          <a:sx n="116" d="100"/>
          <a:sy n="116" d="100"/>
        </p:scale>
        <p:origin x="60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Wan 1.3B</c:v>
          </c:tx>
          <c:spPr>
            <a:solidFill>
              <a:srgbClr val="AF9AD9"/>
            </a:solidFill>
            <a:ln w="0">
              <a:noFill/>
            </a:ln>
          </c:spPr>
          <c:invertIfNegative val="1"/>
          <c:dLbls>
            <c:spPr>
              <a:noFill/>
              <a:ln>
                <a:noFill/>
              </a:ln>
              <a:effectLst/>
            </c:spPr>
            <c:txPr>
              <a:bodyPr anchorCtr="1"/>
              <a:lstStyle/>
              <a:p>
                <a:pPr>
                  <a:defRPr sz="1125">
                    <a:solidFill>
                      <a:srgbClr val="162A4A"/>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Quality</c:v>
                </c:pt>
                <c:pt idx="1">
                  <c:v>Semantics</c:v>
                </c:pt>
                <c:pt idx="2">
                  <c:v>Total</c:v>
                </c:pt>
              </c:strCache>
            </c:strRef>
          </c:cat>
          <c:val>
            <c:numRef>
              <c:f>'Chart Data'!$B$2:$B$4</c:f>
              <c:numCache>
                <c:formatCode>0.00</c:formatCode>
                <c:ptCount val="3"/>
                <c:pt idx="0">
                  <c:v>84.92</c:v>
                </c:pt>
                <c:pt idx="1">
                  <c:v>80.099999999999994</c:v>
                </c:pt>
                <c:pt idx="2">
                  <c:v>83.96</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8292-7F40-8FF1-41672765AA02}"/>
            </c:ext>
          </c:extLst>
        </c:ser>
        <c:ser>
          <c:idx val="1"/>
          <c:order val="1"/>
          <c:tx>
            <c:v>Wan 14B</c:v>
          </c:tx>
          <c:spPr>
            <a:solidFill>
              <a:srgbClr val="08559C"/>
            </a:solidFill>
            <a:ln w="0">
              <a:noFill/>
            </a:ln>
          </c:spPr>
          <c:invertIfNegative val="1"/>
          <c:dLbls>
            <c:spPr>
              <a:noFill/>
              <a:ln>
                <a:noFill/>
              </a:ln>
              <a:effectLst/>
            </c:spPr>
            <c:txPr>
              <a:bodyPr anchorCtr="1"/>
              <a:lstStyle/>
              <a:p>
                <a:pPr>
                  <a:defRPr sz="1125">
                    <a:solidFill>
                      <a:srgbClr val="162A4A"/>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Quality</c:v>
                </c:pt>
                <c:pt idx="1">
                  <c:v>Semantics</c:v>
                </c:pt>
                <c:pt idx="2">
                  <c:v>Total</c:v>
                </c:pt>
              </c:strCache>
            </c:strRef>
          </c:cat>
          <c:val>
            <c:numRef>
              <c:f>'Chart Data'!$D$2:$D$4</c:f>
              <c:numCache>
                <c:formatCode>0.00</c:formatCode>
                <c:ptCount val="3"/>
                <c:pt idx="0">
                  <c:v>86.67</c:v>
                </c:pt>
                <c:pt idx="1">
                  <c:v>84.44</c:v>
                </c:pt>
                <c:pt idx="2">
                  <c:v>86.22</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1-8292-7F40-8FF1-41672765AA02}"/>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1ED"/>
            </a:solidFill>
          </a:ln>
        </c:spPr>
        <c:txPr>
          <a:bodyPr anchorCtr="1"/>
          <a:lstStyle/>
          <a:p>
            <a:pPr>
              <a:defRPr sz="1350">
                <a:solidFill>
                  <a:srgbClr val="162A4A"/>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00"/>
          <c:min val="0"/>
        </c:scaling>
        <c:delete val="0"/>
        <c:axPos val="l"/>
        <c:majorGridlines>
          <c:spPr>
            <a:ln w="6668">
              <a:solidFill>
                <a:srgbClr val="D9E1ED"/>
              </a:solidFill>
            </a:ln>
          </c:spPr>
        </c:majorGridlines>
        <c:numFmt formatCode="0.00" sourceLinked="1"/>
        <c:majorTickMark val="none"/>
        <c:minorTickMark val="none"/>
        <c:tickLblPos val="nextTo"/>
        <c:spPr>
          <a:ln w="0">
            <a:noFill/>
          </a:ln>
        </c:spPr>
        <c:txPr>
          <a:bodyPr anchorCtr="1"/>
          <a:lstStyle/>
          <a:p>
            <a:pPr>
              <a:defRPr sz="1200">
                <a:solidFill>
                  <a:srgbClr val="536174"/>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a:ln w="0">
          <a:noFill/>
        </a:ln>
      </c:spPr>
    </c:plotArea>
    <c:legend>
      <c:legendPos val="b"/>
      <c:overlay val="0"/>
      <c:txPr>
        <a:bodyPr anchorCtr="1"/>
        <a:lstStyle/>
        <a:p>
          <a:pPr>
            <a:defRPr sz="1200">
              <a:solidFill>
                <a:srgbClr val="162A4A"/>
              </a:solidFill>
              <a:latin typeface="Microsoft YaHei"/>
              <a:ea typeface="Microsoft YaHei"/>
              <a:cs typeface="Microsoft YaHei"/>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pPr>
              <a:defRPr>
                <a:latin typeface="Microsoft YaHei"/>
                <a:ea typeface="Microsoft YaHei"/>
                <a:cs typeface="Microsoft YaHei"/>
              </a:defRPr>
            </a:pPr>
            <a:endParaRPr/>
          </a:p>
        </p:txBody>
      </p:sp>
      <p:sp>
        <p:nvSpPr>
          <p:cNvPr id="3" name="Date Placeholder"/>
          <p:cNvSpPr>
            <a:spLocks noGrp="1"/>
          </p:cNvSpPr>
          <p:nvPr>
            <p:ph type="dt" sz="quarter" idx="1"/>
          </p:nvPr>
        </p:nvSpPr>
        <p:spPr>
          <a:prstGeom prst="rect">
            <a:avLst/>
          </a:prstGeom>
        </p:spPr>
        <p:txBody>
          <a:bodyPr/>
          <a:lstStyle/>
          <a:p>
            <a:pPr>
              <a:defRPr>
                <a:latin typeface="Microsoft YaHei"/>
                <a:ea typeface="Microsoft YaHei"/>
                <a:cs typeface="Microsoft YaHei"/>
              </a:defRPr>
            </a:pPr>
            <a:endParaRPr/>
          </a:p>
        </p:txBody>
      </p:sp>
      <p:sp>
        <p:nvSpPr>
          <p:cNvPr id="4" name="Slide Image Placeholder"/>
          <p:cNvSpPr>
            <a:spLocks noGrp="1" noRot="1" noChangeAspect="1"/>
          </p:cNvSpPr>
          <p:nvPr>
            <p:ph type="sldImg" idx="2"/>
          </p:nvPr>
        </p:nvSpPr>
        <p:spPr>
          <a:prstGeom prst="rect">
            <a:avLst/>
          </a:prstGeom>
        </p:spPr>
        <p:txBody>
          <a:bodyPr/>
          <a:lstStyle/>
          <a:p>
            <a:pPr>
              <a:defRPr>
                <a:latin typeface="Microsoft YaHei"/>
                <a:ea typeface="Microsoft YaHei"/>
                <a:cs typeface="Microsoft YaHei"/>
              </a:defRPr>
            </a:pPr>
            <a:endParaRPr/>
          </a:p>
        </p:txBody>
      </p:sp>
      <p:sp>
        <p:nvSpPr>
          <p:cNvPr id="5" name="Notes Placeholder"/>
          <p:cNvSpPr>
            <a:spLocks noGrp="1"/>
          </p:cNvSpPr>
          <p:nvPr>
            <p:ph type="body" sz="quarter" idx="3"/>
          </p:nvPr>
        </p:nvSpPr>
        <p:spPr>
          <a:prstGeom prst="rect">
            <a:avLst/>
          </a:prstGeom>
        </p:spPr>
        <p:txBody>
          <a:bodyPr/>
          <a:lstStyle/>
          <a:p>
            <a:pPr>
              <a:defRPr>
                <a:latin typeface="Microsoft YaHei"/>
                <a:ea typeface="Microsoft YaHei"/>
                <a:cs typeface="Microsoft YaHei"/>
              </a:defRPr>
            </a:pPr>
            <a:endParaRPr/>
          </a:p>
        </p:txBody>
      </p:sp>
      <p:sp>
        <p:nvSpPr>
          <p:cNvPr id="6" name="Footer Placeholder"/>
          <p:cNvSpPr>
            <a:spLocks noGrp="1"/>
          </p:cNvSpPr>
          <p:nvPr>
            <p:ph type="ftr" sz="quarter" idx="4"/>
          </p:nvPr>
        </p:nvSpPr>
        <p:spPr>
          <a:prstGeom prst="rect">
            <a:avLst/>
          </a:prstGeom>
        </p:spPr>
        <p:txBody>
          <a:bodyPr/>
          <a:lstStyle/>
          <a:p>
            <a:pPr>
              <a:defRPr>
                <a:latin typeface="Microsoft YaHei"/>
                <a:ea typeface="Microsoft YaHei"/>
                <a:cs typeface="Microsoft YaHei"/>
              </a:defRPr>
            </a:pPr>
            <a:endParaRPr/>
          </a:p>
        </p:txBody>
      </p:sp>
      <p:sp>
        <p:nvSpPr>
          <p:cNvPr id="7" name="Slide Number Placeholder"/>
          <p:cNvSpPr>
            <a:spLocks noGrp="1"/>
          </p:cNvSpPr>
          <p:nvPr>
            <p:ph type="sldNum" sz="quarter" idx="5"/>
          </p:nvPr>
        </p:nvSpPr>
        <p:spPr>
          <a:prstGeom prst="rect">
            <a:avLst/>
          </a:prstGeom>
        </p:spPr>
        <p:txBody>
          <a:bodyPr/>
          <a:lstStyle/>
          <a:p>
            <a:pPr>
              <a:defRPr>
                <a:latin typeface="Microsoft YaHei"/>
                <a:ea typeface="Microsoft YaHei"/>
                <a:cs typeface="Microsoft YaHei"/>
              </a:defRPr>
            </a:pPr>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Microsoft YaHei"/>
        <a:ea typeface="Microsoft YaHei"/>
        <a:cs typeface="Microsoft YaHei"/>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This talk explains Wan2.1 and Wan2.2 as reusable video-generation foundations. We first build a mental model of the latent video pipeline, then examine the changes introduced by Wan2.2. The final section follows four recent research projects that reuse Wan for interactive world generation or robot visual planning. The emphasis is on the mechanisms that are inherited, the mechanisms that downstream work adds, and the evidence available for each claim. Sources were checked on 10 September 2026. The world-model examples are representative case studies, not an exhaustive usage ranking.</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Presentation framing and research synthesis.</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A single attractive frame is insufficient for video generation. The model must maintain identity while the scene changes, follow text describing events, and represent camera motion without producing inconsistent geometry. These requirements interact with compute: more frames and higher resolution produce longer token sequences. Wan addresses the problem as an integrated system. A causal video VAE reduces the visual representation; a diffusion transformer learns its conditional evolution; and the data pipeline supplies coverage and detailed supervision. This organization also explains why later world models often retain the pretrained video backbone while adding task-specific control and memory.</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Sections 3–4</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first part establishes the common machinery: latent compression, patchification, spatiotemporal attention, text conditioning, and flow matching. The second part separates two different developments inside Wan2.2. A14B introduces high-noise and low-noise experts, while TI2V-5B uses a dense transformer and a more compressed VAE representation. The third part examines concrete downstream adaptations. It is useful to ask the same question for each example: which checkpoint supplies the video prior, what new training or architecture is added, and which experiment actually evaluates the resulting world-model capability?</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This table scopes the talk to the core Wan2.1 and Wan2.2 generation models, rather than every editing, animation, speech, or community derivative. Wan2.1 exposes a small 1.3B T2V model and a larger 14B family. Wan2.2 has two directions: A14B contains two denoisers of approximately 14B parameters each, while only one is active at a given noise level; TI2V-5B is a separate dense model. The 27B total versus 14B active interpretation refers to the diffusion-transformer experts, not the complete end-to-end system. Keeping this distinction explicit is necessary when reading world-model papers, many of which use the dense 5B checkpoint.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Wan2.1 — official implementation and checkpoints</a:t>
            </a:r>
          </a:p>
          <a:p>
            <a:pPr>
              <a:defRPr>
                <a:latin typeface="Microsoft YaHei"/>
                <a:ea typeface="Microsoft YaHei"/>
                <a:cs typeface="Microsoft YaHei"/>
              </a:defRPr>
            </a:pPr>
            <a:r>
              <a:t>https://github.com/Wan-Video/Wan2.1</a:t>
            </a:r>
          </a:p>
          <a:p>
            <a:pPr>
              <a:defRPr>
                <a:latin typeface="Microsoft YaHei"/>
                <a:ea typeface="Microsoft YaHei"/>
                <a:cs typeface="Microsoft YaHei"/>
              </a:defRPr>
            </a:pPr>
            <a:endParaRP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Core checkpoint families; Wan2.2 release: 28 Jul 2025</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original architecture figure shows an encoder on the left because it includes the training path. At inference in text-to-video generation, there is no target video to encode: the latent sequence starts as random noise. The DiT repeatedly predicts how the latent should change under the prompt and current time condition, and the VAE decoder converts the final latent into pixels. UMT5 provides a sequence of language embeddings through cross-attention. This is different from using Qwen as the video generator. Qwen can appear elsewhere in the data-captioning or prompt-extension pipeline, but it is not the main diffusion-transformer backbone in this diagram.</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9; Sections 4.1–4.2</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compression ratio is temporal by height by width. A video with 81 frames has T equal to 80, so it becomes 21 latent time steps. The spatial dimensions are divided by eight, and each latent cell has 16 channels. The special first-frame treatment allows an image to be handled without requiring a temporal group of four frames. Causal convolutions ensure that future frames do not influence an earlier representation. Wan also replaces normalization that could mix temporal information with RMSNorm and reduces channels in spatial upsampling to lower memory use. These choices make the VAE a reusable component independently of the DiT.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5; Section 4.1.1</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Read the figure from left to right. A convolution requires a short temporal neighborhood. For the first chunk, missing earlier frames are represented by padding. Later chunks can reuse cached features from the previous chunk, preserving continuity without processing the entire video again. The cache management differs when temporal downsampling uses stride two. The authors use this mechanism to support long-video encoding and decoding with bounded chunk memory. This is a property of the representation module. The standard video DiT still processes a finite denoising window, so the VAE feature cache should not be confused with the recurrent state, attention cache, or memory bank used by an interactive world model.</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6; Section 4.1.3</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claim is that a compact causal VAE can reconstruct videos efficiently without sacrificing too much fidelity. The expected evidence is a favorable position on the PSNR-versus-throughput plot. The figure places Wan-VAE toward the high-throughput side while retaining competitive reconstruction quality. Circle size represents parameter count. The paper reports a 2.5-times reconstruction speed advantage over HunyuanVideo under the same hardware environment. This should not be converted into a 2.5-times end-to-end generation claim because the DiT dominates a different portion of the workload. Several baselines also use different compression ratios or latent dimensions, which limits a perfectly controlled architectural comparison.</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7; Section 4.1.4</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block alternates video self-attention, text cross-attention, and a feed-forward network, with normalization and residual modulation. Self-attention lets information move across spatial positions and frames, while three-dimensional rotary position encoding represents temporal and spatial coordinates in the implementation. Cross-attention lets video tokens query the text embeddings instead of simply appending language to the video sequence. The diffusion time controls how the block behaves at a particular noise level. Wan shares the MLP that predicts time-modulation parameters across blocks, while retaining block-specific biases. We will later inspect the ablation that supports this parameter-allocation choice.</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Wan2.1 — official implementation and checkpoints</a:t>
            </a:r>
          </a:p>
          <a:p>
            <a:pPr>
              <a:defRPr>
                <a:latin typeface="Microsoft YaHei"/>
                <a:ea typeface="Microsoft YaHei"/>
                <a:cs typeface="Microsoft YaHei"/>
              </a:defRPr>
            </a:pPr>
            <a:r>
              <a:t>https://github.com/Wan-Video/Wan2.1</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10; Section 4.2.1</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configuration rows come from the released model definitions. The final row is a calculation, not a measured benchmark or a recommendation to run the 1.3B model at 720p. An 81-frame video becomes 21 latent frames. At 720 by 1280 pixels, the VAE produces a 90 by 160 spatial grid. Patchification groups each two-by-two latent region, giving 45 by 80 spatial tokens per time step. Therefore, 21 times 45 times 80 equals 75,600 tokens. Full attention over such a sequence is expensive, which motivates sequence parallelism during training and stronger compression or restricted context in downstream systems.</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Wan2.1 — official implementation and checkpoints</a:t>
            </a:r>
          </a:p>
          <a:p>
            <a:pPr>
              <a:defRPr>
                <a:latin typeface="Microsoft YaHei"/>
                <a:ea typeface="Microsoft YaHei"/>
                <a:cs typeface="Microsoft YaHei"/>
              </a:defRPr>
            </a:pPr>
            <a:r>
              <a:t>https://github.com/Wan-Video/Wan2.1</a:t>
            </a:r>
          </a:p>
          <a:p>
            <a:pPr>
              <a:defRPr>
                <a:latin typeface="Microsoft YaHei"/>
                <a:ea typeface="Microsoft YaHei"/>
                <a:cs typeface="Microsoft YaHei"/>
              </a:defRPr>
            </a:pPr>
            <a:endParaRP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Official model configs; sequence length derived from Section 4.2.1</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source paper defines x zero as Gaussian noise and x one as the clean latent. Time runs from zero at noise to one at data in this mathematical convention. An intermediate sample is a linear interpolation of these endpoints, and its target velocity is the clean latent minus the noise. The network learns this vector field with a mean-squared error objective. The text condition c denotes the UMT5 embedding sequence; time is sampled from a logit-normal distribution during training. At inference the unknown clean latent is not available, so a numerical solver follows the network-predicted field. Some sampler code uses the opposite noise-time direction; that notation change should not be mistaken for a different objective.</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Equations 1–3; c abbreviates the text-embedding sequence</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motivation for a curriculum is computational as well as statistical. Directly training on long, high-resolution clips reduces examples processed per GPU-hour and can force smaller batches. Wan first learns broad semantic and spatial alignment from lower-resolution images, then introduces video and raises resolution. The report describes a first joint stage with 256-pixel images and approximately five-second, 192-pixel videos at 16 frames per second, followed by 480-pixel and 720-pixel stages. Post-training uses a more selective dataset without changing the main architecture. The report also specifies mixed-precision training and AdamW, but those standard optimizer choices are less central than the curriculum and data distribution.</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Sections 4.2.2–4.2.3; resolution labels follow the report</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Wan treats data preparation as a major part of the system. The pretraining pipeline filters multiple quality dimensions, and the sampling distribution changes as training progresses. Detailed captions make otherwise ambiguous motion easier to associate with language. The report describes a LLaVA-style captioning model with a vision encoder, a two-layer projection, and a Qwen language model. It also uses a slow-fast video representation to limit captioning cost. These models generate supervision for the video model; they are not the diffusion backbone used to synthesize video. This distinction is especially useful when reading model-family diagrams where the same language-model name can appear in several different roles.</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Sections 3.1–3.3; Figure 3</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Text-to-video leaves the initial scene underdetermined. Image-to-video adds an observed image as a spatial anchor. Wan constructs a conditional video by retaining known frames and padding unknown frames, encodes it with the VAE, and combines it with a temporal mask. The resulting patch-embedding input has 36 channels: 16 from the noisy video, 16 from the encoded condition, and four mask channels after temporal packing. CLIP image embeddings provide an additional global semantic condition through cross-attention, while UMT5 still encodes the prompt. The mask formulation supports broader variants such as continuation and first-last-frame conditioning, but the released checkpoints should be distinguished by their actual task and resolution.</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Wan2.1 — official implementation and checkpoints</a:t>
            </a:r>
          </a:p>
          <a:p>
            <a:pPr>
              <a:defRPr>
                <a:latin typeface="Microsoft YaHei"/>
                <a:ea typeface="Microsoft YaHei"/>
                <a:cs typeface="Microsoft YaHei"/>
              </a:defRPr>
            </a:pPr>
            <a:r>
              <a:t>https://github.com/Wan-Video/Wan2.1</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18; Section 5.1; official I2V implementation</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architectural question is where to spend parameters. The paper compares four configurations, including a fully shared 1.3B model, a partly shared 1.5B model, a deeper fully shared 1.5B model, and an unshared 1.7B model. The key comparison controls parameter count: the deeper fully shared 1.5B configuration reaches lower loss than the partly shared 1.5B version. This supports putting capacity into transformer depth rather than a separate large modulation network in each block. The evidence is a training-loss experiment on text-to-image generation with other settings held constant. It does not isolate every effect that could matter in final video quality, and the plot should not be read as an inference-speed measurement.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16; Section 4.7.2; 200k image-training steps</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authors test several bilingual text encoders under a common text-to-image training setup. UMT5 has bidirectional token representations, while the compared instruction-tuned language models originate from causal language modeling. The reported loss curve favors UMT5. The paper also explores token-refiner adapters and a multimodal language model, so the conclusion is not that decoder-only language models can never condition a diffusion generator. Instead, the existing UMT5 representation is an effective and comparatively compact interface for this specific architecture and training budget. For a lab project, this suggests testing the conditioning interface directly rather than assuming that a newer conversational model must improve visual generation.</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17; Section 4.7.2</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editable chart reproduces three rows of metrics for the two Wan sizes from the paper's VBench table. Wan14B improves quality, semantic score and the aggregate score. The semantic improvement is 84.44 minus 80.10, or 4.34 percentage points; the aggregate improvement is 2.26 points. This is evidence of a useful scaling benefit in the authors' reported video-generation setting. It is not evidence that every larger checkpoint is better for every downstream budget. These are also historical results, with a dated 14B snapshot and benchmark-specific scoring. Consistent video appearance or semantic alignment does not by itself measure action-conditioned counterfactual prediction, scene persistence, or robot task success.</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Table 4; percentage scores; 14B snapshot: 24 Feb 2025</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Wan2.2 is easiest to understand as two design directions. The A14B models add a pair of experts specialized for different noise regimes. This increases total denoising capacity while using one expert at a time. The separate TI2V-5B release instead targets a favorable operating point for resolution, speed and memory, with a dense transformer and a redesigned VAE representation. The official Wan2.2 repository's paper link still points to the earlier Wan report; the source of the new architecture details is the official release documentation, code and model cards. This source distinction is retained throughout the slides so that Wan2.1 experiments are not accidentally presented as Wan2.2 ablations.</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Wan2.2-TI2V-5B — official model card</a:t>
            </a:r>
          </a:p>
          <a:p>
            <a:pPr>
              <a:defRPr>
                <a:latin typeface="Microsoft YaHei"/>
                <a:ea typeface="Microsoft YaHei"/>
                <a:cs typeface="Microsoft YaHei"/>
              </a:defRPr>
            </a:pPr>
            <a:r>
              <a:t>https://huggingface.co/Wan-AI/Wan2.2-TI2V-5B</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original diagram illustrates a division of labor over the diffusion trajectory. When the latent is dominated by noise, the model must decide broad layout, motion and semantic structure. Later, the latent contains clearer structure and the remaining task emphasizes refinement. Wan2.2 assigns separate denoisers to these regimes. This differs from token-routed language-model MoE layers: the routing decision is global for a denoising step, and one complete expert handles the current latent sequence. The practical consequence is higher total parameter storage but approximately the same active expert size as a 14B dense denoiser. End-to-end latency still depends on sampling steps, memory placement and implementation.</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 — expert selection in the T2V sampler</a:t>
            </a:r>
          </a:p>
          <a:p>
            <a:pPr>
              <a:defRPr>
                <a:latin typeface="Microsoft YaHei"/>
                <a:ea typeface="Microsoft YaHei"/>
                <a:cs typeface="Microsoft YaHei"/>
              </a:defRPr>
            </a:pPr>
            <a:r>
              <a:t>https://github.com/Wan-Video/Wan2.2/blob/main/wan/text2video.py</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Official MoE architecture diagram</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official inference code multiplies the configured boundary by the number of training time steps, which is 1000. It uses the high-noise model when the sampler time is greater than or equal to that boundary and the low-noise model otherwise. The default boundary differs between the T2V and I2V A14B configurations: 0.875 and 0.900 respectively. The diagram expresses the direction from high noise to low noise and avoids identifying this code time directly with the previous paper equation's interpolation convention. The release motivates the split with a log-SNR trajectory. Because the sampling schedule is nonuniform and can be shifted, the numerical boundary is not a percentage of the number of inference iterations.</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 — expert selection in the T2V sampler</a:t>
            </a:r>
          </a:p>
          <a:p>
            <a:pPr>
              <a:defRPr>
                <a:latin typeface="Microsoft YaHei"/>
                <a:ea typeface="Microsoft YaHei"/>
                <a:cs typeface="Microsoft YaHei"/>
              </a:defRPr>
            </a:pPr>
            <a:r>
              <a:t>https://github.com/Wan-Video/Wan2.2/blob/main/wan/text2video.py</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Official T2V / I2V configs and sampler; time scale: 1,000</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figure provides the release's motivation and validation signal for the noise-specialized design. The signal-to-noise plot uses a logarithmic vertical axis, which is relevant when interpreting the threshold discussion. The release evaluates specialized experts and mixed-expert combinations, but does not disclose a complete expert-training recipe. The loss comparison supports the usefulness of this specialization in the authors' setup. However, the public release does not provide the same breadth of training details and controlled experiments as a full independent technical report. The correct claim is that the official evidence is consistent with the proposed mechanism, rather than that a universal optimal split or scaling law has been established.</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Official MoE analysis figure, validation-loss panel (cropped)</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Wan2.2 announcement describes richer aesthetic annotations and expanded training data, including relative increases of 65.6 percent for images and 83.2 percent for videos. These are author-reported relative quantities, not public absolute dataset sizes. The original chart compares several dimensions, namely aesthetic quality, dynamic degree, text rendering, camera control, video fidelity and object accuracy. The chart supports a system-level comparison under the release's evaluation protocol. It cannot attribute each gain to the two-expert design because the data distribution and training also changed. This distinction matters when proposing a follow-up: reproducing the same MoE architecture without similar data does not guarantee the reported improvement.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Official Wan-Bench 2.0 figure; relative data increases reported by the authors</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dense 5B model shares one transformer across text-to-video and image-to-video. Its released configuration has 30 blocks, hidden width 3072, 24 attention heads and 48 latent channels. For text-to-video, all video latents begin as noise. For image-to-video, the new VAE encodes the reference image into the first latent frame. The code holds this condition fixed, assigns it zero diffusion time, and restores it after each solver update. Other frames are denoised at the current solver time. This is a different conditioning interface from the Wan2.1 I2V example with 36 concatenated input channels. A downstream model that changes checkpoints must preserve the corresponding VAE, latent convention and conditioning mask rather than treating all Wan I2V models as interchangeable.</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Wan2.2-TI2V-5B — unified text/image conditioning implementation</a:t>
            </a:r>
          </a:p>
          <a:p>
            <a:pPr>
              <a:defRPr>
                <a:latin typeface="Microsoft YaHei"/>
                <a:ea typeface="Microsoft YaHei"/>
                <a:cs typeface="Microsoft YaHei"/>
              </a:defRPr>
            </a:pPr>
            <a:r>
              <a:t>https://github.com/Wan-Video/Wan2.2/blob/main/wan/textimage2video.py</a:t>
            </a:r>
          </a:p>
          <a:p>
            <a:pPr>
              <a:defRPr>
                <a:latin typeface="Microsoft YaHei"/>
                <a:ea typeface="Microsoft YaHei"/>
                <a:cs typeface="Microsoft YaHei"/>
              </a:defRPr>
            </a:pPr>
            <a:endParaRPr/>
          </a:p>
          <a:p>
            <a:pPr>
              <a:defRPr>
                <a:latin typeface="Microsoft YaHei"/>
                <a:ea typeface="Microsoft YaHei"/>
                <a:cs typeface="Microsoft YaHei"/>
              </a:defRPr>
            </a:pPr>
            <a:r>
              <a:t>Wan2.2-TI2V-5B — official model card</a:t>
            </a:r>
          </a:p>
          <a:p>
            <a:pPr>
              <a:defRPr>
                <a:latin typeface="Microsoft YaHei"/>
                <a:ea typeface="Microsoft YaHei"/>
                <a:cs typeface="Microsoft YaHei"/>
              </a:defRPr>
            </a:pPr>
            <a:r>
              <a:t>https://huggingface.co/Wan-AI/Wan2.2-TI2V-5B</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Official TI2V inference and checkpoint configuration</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important change is not simply increasing the compression ratio. Wan2.2's VAE divides the spatial dimensions by sixteen rather than eight, while increasing the latent channel count from 16 to 48. The official comparison table reports improved PSNR and lower LPIPS for the new VAE under its evaluation. These numbers are shown as an editable table and should be compared only within that table's protocol. They should not be combined with the earlier Wan2.1 Figure 7 values, which come from a different reported setup. The architecture is associated with the dense TI2V-5B release; it should not be described as a VAE upgrade applied uniformly to every Wan2.2 checkpoint.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Wan2.2-TI2V-5B — official model card</a:t>
            </a:r>
          </a:p>
          <a:p>
            <a:pPr>
              <a:defRPr>
                <a:latin typeface="Microsoft YaHei"/>
                <a:ea typeface="Microsoft YaHei"/>
                <a:cs typeface="Microsoft YaHei"/>
              </a:defRPr>
            </a:pPr>
            <a:r>
              <a:t>https://huggingface.co/Wan-AI/Wan2.2-TI2V-5B</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Selected rows from the official VAE comparison table; one shared protocol</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This example separates two quantities that are often conflated. We choose 704 by 1280 so that both spatial token grids divide exactly, and use 81 frames in both cases. Wan2.1 produces 21 by 88 by 160 latent cells with 16 channels. Wan2.2 produces 21 by 44 by 80 cells with 48 channels. Both then use one-by-two-by-two patchification, so token count falls from 73,920 to 18,480, a factor of four. However, each new latent cell has three times as many channels, so the total scalar count falls only to three quarters of the original. The new transformer can therefore process a much shorter sequence even though the latent tensor is not four times smaller in elements. This arithmetic is not an end-to-end speed prediction.</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Wan2.1 — official implementation and checkpoints</a:t>
            </a:r>
          </a:p>
          <a:p>
            <a:pPr>
              <a:defRPr>
                <a:latin typeface="Microsoft YaHei"/>
                <a:ea typeface="Microsoft YaHei"/>
                <a:cs typeface="Microsoft YaHei"/>
              </a:defRPr>
            </a:pPr>
            <a:r>
              <a:t>https://github.com/Wan-Video/Wan2.1</a:t>
            </a:r>
          </a:p>
          <a:p>
            <a:pPr>
              <a:defRPr>
                <a:latin typeface="Microsoft YaHei"/>
                <a:ea typeface="Microsoft YaHei"/>
                <a:cs typeface="Microsoft YaHei"/>
              </a:defRPr>
            </a:pPr>
            <a:endParaRP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Wan2.2-TI2V-5B — official model card</a:t>
            </a:r>
          </a:p>
          <a:p>
            <a:pPr>
              <a:defRPr>
                <a:latin typeface="Microsoft YaHei"/>
                <a:ea typeface="Microsoft YaHei"/>
                <a:cs typeface="Microsoft YaHei"/>
              </a:defRPr>
            </a:pPr>
            <a:r>
              <a:t>https://huggingface.co/Wan-AI/Wan2.2-TI2V-5B</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Derived illustration from released VAE strides and patch sizes; not a runtime benchmark</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dense 5B model is positioned as a more accessible high-resolution generator. The release describes 720p video at 24 frames per second and reports producing five seconds of video in under nine minutes on a single RTX 4090. The reference uses model offloading, dtype conversion and T5 on the CPU. The T2V row reports 534.7 seconds and 22.9 GB peak memory for 121 frames at 1280 by 704, with 24-FPS playback. This is a reference configuration, not a guarantee for arbitrary settings. Distinguish two uses of frames per second: 24 FPS describes playback of the generated clip, while generation throughput is the number of frames produced per wall-clock second. Later interactive world-model papers use additional distillation, quantization and system engineering to approach real-time generation.</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Wan2.2-TI2V-5B — official model card</a:t>
            </a:r>
          </a:p>
          <a:p>
            <a:pPr>
              <a:defRPr>
                <a:latin typeface="Microsoft YaHei"/>
                <a:ea typeface="Microsoft YaHei"/>
                <a:cs typeface="Microsoft YaHei"/>
              </a:defRPr>
            </a:pPr>
            <a:r>
              <a:t>https://huggingface.co/Wan-AI/Wan2.2-TI2V-5B</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Selected RTX 4090 rows from the official efficiency table; model-card setup</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This is a synthesis for experiment design rather than a new benchmark ranking. The 1.3B model is useful when frequent retraining and ablation matter more than maximum output quality. A 14B image-to-video checkpoint supplies a richer image-conditioned prior, but its memory and sequence cost can constrain rollout experiments. The dense 5B Wan2.2 model is attractive to several recent world models because it offers a compact-token representation without the complexity of storing and training two experts. A14B is a reasonable starting point for high-quality offline generation, but making it interactive requires additional work. A fair comparison should report exact checkpoint, resolution, frame count, precision, sampling steps and hardware.</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Wan2.1 — official implementation and checkpoints</a:t>
            </a:r>
          </a:p>
          <a:p>
            <a:pPr>
              <a:defRPr>
                <a:latin typeface="Microsoft YaHei"/>
                <a:ea typeface="Microsoft YaHei"/>
                <a:cs typeface="Microsoft YaHei"/>
              </a:defRPr>
            </a:pPr>
            <a:r>
              <a:t>https://github.com/Wan-Video/Wan2.1</a:t>
            </a:r>
          </a:p>
          <a:p>
            <a:pPr>
              <a:defRPr>
                <a:latin typeface="Microsoft YaHei"/>
                <a:ea typeface="Microsoft YaHei"/>
                <a:cs typeface="Microsoft YaHei"/>
              </a:defRPr>
            </a:pPr>
            <a:endParaRP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Wan2.2-TI2V-5B — official model card</a:t>
            </a:r>
          </a:p>
          <a:p>
            <a:pPr>
              <a:defRPr>
                <a:latin typeface="Microsoft YaHei"/>
                <a:ea typeface="Microsoft YaHei"/>
                <a:cs typeface="Microsoft YaHei"/>
              </a:defRPr>
            </a:pPr>
            <a:r>
              <a:t>https://huggingface.co/Wan-AI/Wan2.2-TI2V-5B</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section uses world model broadly enough to include interactive visual environments and goal-conditioned visual planning, while keeping their functions distinct. Wan supplies a strong prior over appearance and motion. Downstream work then adds an interface for control, a representation of past observations, and training that addresses sequential rollout or task-specific constraints. Some methods predict future views under camera actions; others generate robot visual plans that an inverse model converts to commands. These are not identical modeling problems. For each case we will name the exact checkpoint and the added mechanism. The four examples were selected for clear documented lineage and different research questions, not as evidence of overall usage frequency.</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Matrix-Game 3.0: Real-Time and Streaming Interactive World Model with Long-Horizon Memory</a:t>
            </a:r>
          </a:p>
          <a:p>
            <a:pPr>
              <a:defRPr>
                <a:latin typeface="Microsoft YaHei"/>
                <a:ea typeface="Microsoft YaHei"/>
                <a:cs typeface="Microsoft YaHei"/>
              </a:defRPr>
            </a:pPr>
            <a:r>
              <a:t>https://arxiv.org/abs/2604.08995</a:t>
            </a:r>
          </a:p>
          <a:p>
            <a:pPr>
              <a:defRPr>
                <a:latin typeface="Microsoft YaHei"/>
                <a:ea typeface="Microsoft YaHei"/>
                <a:cs typeface="Microsoft YaHei"/>
              </a:defRPr>
            </a:pPr>
            <a:endParaRPr/>
          </a:p>
          <a:p>
            <a:pPr>
              <a:defRPr>
                <a:latin typeface="Microsoft YaHei"/>
                <a:ea typeface="Microsoft YaHei"/>
                <a:cs typeface="Microsoft YaHei"/>
              </a:defRPr>
            </a:pPr>
            <a:r>
              <a:t>Yume-1.5: A Text-Controlled Interactive World Generation Model</a:t>
            </a:r>
          </a:p>
          <a:p>
            <a:pPr>
              <a:defRPr>
                <a:latin typeface="Microsoft YaHei"/>
                <a:ea typeface="Microsoft YaHei"/>
                <a:cs typeface="Microsoft YaHei"/>
              </a:defRPr>
            </a:pPr>
            <a:r>
              <a:t>https://arxiv.org/abs/2512.22096</a:t>
            </a:r>
          </a:p>
          <a:p>
            <a:pPr>
              <a:defRPr>
                <a:latin typeface="Microsoft YaHei"/>
                <a:ea typeface="Microsoft YaHei"/>
                <a:cs typeface="Microsoft YaHei"/>
              </a:defRPr>
            </a:pPr>
            <a:endParaRPr/>
          </a:p>
          <a:p>
            <a:pPr>
              <a:defRPr>
                <a:latin typeface="Microsoft YaHei"/>
                <a:ea typeface="Microsoft YaHei"/>
                <a:cs typeface="Microsoft YaHei"/>
              </a:defRPr>
            </a:pPr>
            <a:r>
              <a:t>EVA: Aligning Video World Models with Executable Robot Actions via Inverse Dynamics Rewards</a:t>
            </a:r>
          </a:p>
          <a:p>
            <a:pPr>
              <a:defRPr>
                <a:latin typeface="Microsoft YaHei"/>
                <a:ea typeface="Microsoft YaHei"/>
                <a:cs typeface="Microsoft YaHei"/>
              </a:defRPr>
            </a:pPr>
            <a:r>
              <a:t>https://arxiv.org/abs/2603.17808</a:t>
            </a:r>
          </a:p>
          <a:p>
            <a:pPr>
              <a:defRPr>
                <a:latin typeface="Microsoft YaHei"/>
                <a:ea typeface="Microsoft YaHei"/>
                <a:cs typeface="Microsoft YaHei"/>
              </a:defRPr>
            </a:pPr>
            <a:endParaRPr/>
          </a:p>
          <a:p>
            <a:pPr>
              <a:defRPr>
                <a:latin typeface="Microsoft YaHei"/>
                <a:ea typeface="Microsoft YaHei"/>
                <a:cs typeface="Microsoft YaHei"/>
              </a:defRPr>
            </a:pPr>
            <a:r>
              <a:t>BiWM: Advancing Open-Source Interactive Video World Models with Bidirectional Autoregression</a:t>
            </a:r>
          </a:p>
          <a:p>
            <a:pPr>
              <a:defRPr>
                <a:latin typeface="Microsoft YaHei"/>
                <a:ea typeface="Microsoft YaHei"/>
                <a:cs typeface="Microsoft YaHei"/>
              </a:defRPr>
            </a:pPr>
            <a:r>
              <a:t>https://arxiv.org/abs/2606.10135</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Matrix-Game3 initializes its video backbone from Wan2.2-TI2V-5B and inserts action modules into the first 15 transformer blocks. Its distinguishing idea is to retrieve memory relevant to the current view using camera pose and field-of-view overlap, rather than simply keeping the newest frames. Relative geometry is represented with Plücker cues. The model processes retrieved memory, recent context and the current noisy chunk, while an error buffer exposes training to prediction errors and multi-segment distribution matching reduces sampling steps. Return-view examples probe whether earlier structures reappear consistently. The approximately 40-FPS, 720p result uses eight GPUs for DiT and one for VAE, plus INT8, decoder pruning and GPU retrieval. The throughput should therefore be read as a complete system result.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Matrix-Game 3.0: Real-Time and Streaming Interactive World Model with Long-Horizon Memory</a:t>
            </a:r>
          </a:p>
          <a:p>
            <a:pPr>
              <a:defRPr>
                <a:latin typeface="Microsoft YaHei"/>
                <a:ea typeface="Microsoft YaHei"/>
                <a:cs typeface="Microsoft YaHei"/>
              </a:defRPr>
            </a:pPr>
            <a:r>
              <a:t>https://arxiv.org/abs/2604.08995</a:t>
            </a:r>
          </a:p>
          <a:p>
            <a:pPr>
              <a:defRPr>
                <a:latin typeface="Microsoft YaHei"/>
                <a:ea typeface="Microsoft YaHei"/>
                <a:cs typeface="Microsoft YaHei"/>
              </a:defRPr>
            </a:pPr>
            <a:endParaRPr/>
          </a:p>
          <a:p>
            <a:pPr>
              <a:defRPr>
                <a:latin typeface="Microsoft YaHei"/>
                <a:ea typeface="Microsoft YaHei"/>
                <a:cs typeface="Microsoft YaHei"/>
              </a:defRPr>
            </a:pPr>
            <a:r>
              <a:t>Matrix-Game 3.0 — released model and lineage</a:t>
            </a:r>
          </a:p>
          <a:p>
            <a:pPr>
              <a:defRPr>
                <a:latin typeface="Microsoft YaHei"/>
                <a:ea typeface="Microsoft YaHei"/>
                <a:cs typeface="Microsoft YaHei"/>
              </a:defRPr>
            </a:pPr>
            <a:r>
              <a:t>https://huggingface.co/Skywork/Matrix-Game-3.0</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4; Sections 3 and 5; official model card</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Yume1.5 uses the dense Wan2.2-TI2V-5B backbone. It separates event descriptions from user-control descriptions and encodes both with T5, then combines the embeddings for conditioning. A finite vocabulary of actions can be cached. Its Temporal-Spatial-Channel Modeling design compresses history through sparse and multiscale tokens together with a channel-compressed linear-attention path. Rollouts use the model's own compressed history, and self-rollout distribution-matching distillation supports four-step generation. The authors report about 12 generated frames per second at 540p on one A100. The design is an example of adapting the existing text interface rather than replacing the entire backbone. Reverse motion and dense crowds remain failure cases, and continuous generation does not establish persistent three-dimensional geometry.</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Yume-1.5: A Text-Controlled Interactive World Generation Model</a:t>
            </a:r>
          </a:p>
          <a:p>
            <a:pPr>
              <a:defRPr>
                <a:latin typeface="Microsoft YaHei"/>
                <a:ea typeface="Microsoft YaHei"/>
                <a:cs typeface="Microsoft YaHei"/>
              </a:defRPr>
            </a:pPr>
            <a:r>
              <a:t>https://arxiv.org/abs/2512.22096</a:t>
            </a:r>
          </a:p>
          <a:p>
            <a:pPr>
              <a:defRPr>
                <a:latin typeface="Microsoft YaHei"/>
                <a:ea typeface="Microsoft YaHei"/>
                <a:cs typeface="Microsoft YaHei"/>
              </a:defRPr>
            </a:pPr>
            <a:endParaRPr/>
          </a:p>
          <a:p>
            <a:pPr>
              <a:defRPr>
                <a:latin typeface="Microsoft YaHei"/>
                <a:ea typeface="Microsoft YaHei"/>
                <a:cs typeface="Microsoft YaHei"/>
              </a:defRPr>
            </a:pPr>
            <a:r>
              <a:t>YUME — official implementation and releases</a:t>
            </a:r>
          </a:p>
          <a:p>
            <a:pPr>
              <a:defRPr>
                <a:latin typeface="Microsoft YaHei"/>
                <a:ea typeface="Microsoft YaHei"/>
                <a:cs typeface="Microsoft YaHei"/>
              </a:defRPr>
            </a:pPr>
            <a:r>
              <a:t>https://github.com/stdstu12/YUME</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Figure 3(b), training panel (cropped); Sections 4–5 and 7</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EVA's experimental initialization is not untouched Wan. The chain runs from Wan2.1-I2V-14B-480P through a Large Video Planner checkpoint, then embodiment-specific supervised fine-tuning and reinforcement learning. A history-conditioned video generator uses diffusion forcing to produce a plan; a frozen inverse dynamics model decodes that plan into robot commands. The reward penalizes excessive acceleration, jerk, and violations of velocity or acceleration limits, and GRPO with LoRA updates the video generator. Human ratings on 210 RoboTwin prompts improve for kinematic plausibility and a criterion called Perfect. These percentages are not task-success rates from physical robot execution. The method aligns goal-conditioned visual plans; it is not a simulator of arbitrary prescribed actions. Forces, friction and torques remain outside the explicit reward.</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EVA: Aligning Video World Models with Executable Robot Actions via Inverse Dynamics Rewards</a:t>
            </a:r>
          </a:p>
          <a:p>
            <a:pPr>
              <a:defRPr>
                <a:latin typeface="Microsoft YaHei"/>
                <a:ea typeface="Microsoft YaHei"/>
                <a:cs typeface="Microsoft YaHei"/>
              </a:defRPr>
            </a:pPr>
            <a:r>
              <a:t>https://arxiv.org/abs/2603.17808</a:t>
            </a:r>
          </a:p>
          <a:p>
            <a:pPr>
              <a:defRPr>
                <a:latin typeface="Microsoft YaHei"/>
                <a:ea typeface="Microsoft YaHei"/>
                <a:cs typeface="Microsoft YaHei"/>
              </a:defRPr>
            </a:pPr>
            <a:endParaRPr/>
          </a:p>
          <a:p>
            <a:pPr>
              <a:defRPr>
                <a:latin typeface="Microsoft YaHei"/>
                <a:ea typeface="Microsoft YaHei"/>
                <a:cs typeface="Microsoft YaHei"/>
              </a:defRPr>
            </a:pPr>
            <a:r>
              <a:t>EVA — checkpoints and training instructions</a:t>
            </a:r>
          </a:p>
          <a:p>
            <a:pPr>
              <a:defRPr>
                <a:latin typeface="Microsoft YaHei"/>
                <a:ea typeface="Microsoft YaHei"/>
                <a:cs typeface="Microsoft YaHei"/>
              </a:defRPr>
            </a:pPr>
            <a:r>
              <a:t>https://github.com/RobbinW/EVA</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Sections 4–6; Table 1; initialization from LVP retained</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BiWM provides a common adaptation recipe across several pretrained video generators, including both Wan versions named on the slide. First, camera motions are represented as discrete action descriptions and injected through the existing text-conditioning path. Second, few-step distillation trains sequential chunk generation while preserving bidirectional attention within the current visible window. History is re-encoded together with the current chunk, rather than being read only from a fixed key-value cache. Sliding-window history bounds the retained context and its cost. The release demonstrates four-step generation and multiple backbones, but its paper explicitly states that the systematic quantitative cross-backbone study is ongoing. The contribution is therefore useful as a conversion framework and a hypothesis about attention structure, not as a proven universal winner.</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BiWM: Advancing Open-Source Interactive Video World Models with Bidirectional Autoregression</a:t>
            </a:r>
          </a:p>
          <a:p>
            <a:pPr>
              <a:defRPr>
                <a:latin typeface="Microsoft YaHei"/>
                <a:ea typeface="Microsoft YaHei"/>
                <a:cs typeface="Microsoft YaHei"/>
              </a:defRPr>
            </a:pPr>
            <a:r>
              <a:t>https://arxiv.org/abs/2606.10135</a:t>
            </a:r>
          </a:p>
          <a:p>
            <a:pPr>
              <a:defRPr>
                <a:latin typeface="Microsoft YaHei"/>
                <a:ea typeface="Microsoft YaHei"/>
                <a:cs typeface="Microsoft YaHei"/>
              </a:defRPr>
            </a:pPr>
            <a:endParaRPr/>
          </a:p>
          <a:p>
            <a:pPr>
              <a:defRPr>
                <a:latin typeface="Microsoft YaHei"/>
                <a:ea typeface="Microsoft YaHei"/>
                <a:cs typeface="Microsoft YaHei"/>
              </a:defRPr>
            </a:pPr>
            <a:r>
              <a:t>BiWM — cross-backbone conversion framework</a:t>
            </a:r>
          </a:p>
          <a:p>
            <a:pPr>
              <a:defRPr>
                <a:latin typeface="Microsoft YaHei"/>
                <a:ea typeface="Microsoft YaHei"/>
                <a:cs typeface="Microsoft YaHei"/>
              </a:defRPr>
            </a:pPr>
            <a:r>
              <a:t>https://github.com/LynnReal-AI/BiWM</a:t>
            </a:r>
          </a:p>
          <a:p>
            <a:pPr>
              <a:defRPr>
                <a:latin typeface="Microsoft YaHei"/>
                <a:ea typeface="Microsoft YaHei"/>
                <a:cs typeface="Microsoft YaHei"/>
              </a:defRPr>
            </a:pPr>
            <a:endParaRPr/>
          </a:p>
          <a:p>
            <a:pPr>
              <a:defRPr>
                <a:latin typeface="Microsoft YaHei"/>
                <a:ea typeface="Microsoft YaHei"/>
                <a:cs typeface="Microsoft YaHei"/>
              </a:defRPr>
            </a:pPr>
            <a:r>
              <a:t>FIGURE / DATA PROVENANCE</a:t>
            </a:r>
          </a:p>
          <a:p>
            <a:pPr>
              <a:defRPr>
                <a:latin typeface="Microsoft YaHei"/>
                <a:ea typeface="Microsoft YaHei"/>
                <a:cs typeface="Microsoft YaHei"/>
              </a:defRPr>
            </a:pPr>
            <a:r>
              <a:t>Sections 3 and 5; official training support for both Wan generations</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This table summarizes the common pattern without flattening different research problems into a single leaderboard. Matrix-Game3 emphasizes retrieving evidence for revisited views. Yume1.5 emphasizes controllable exploration and a compact representation of long history. EVA emphasizes whether a visual plan maps to plausible robot commands. BiWM emphasizes portability of a conversion recipe and bidirectional context processing. The two Wan2.2-based interactive examples use the dense 5B model, not A14B. EVA retains an intermediate LVP checkpoint in its lineage. A benchmark that compares these methods would need compatible control inputs, scene distributions, horizon and compute. Their published numbers are not directly interchangeable.</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Matrix-Game 3.0: Real-Time and Streaming Interactive World Model with Long-Horizon Memory</a:t>
            </a:r>
          </a:p>
          <a:p>
            <a:pPr>
              <a:defRPr>
                <a:latin typeface="Microsoft YaHei"/>
                <a:ea typeface="Microsoft YaHei"/>
                <a:cs typeface="Microsoft YaHei"/>
              </a:defRPr>
            </a:pPr>
            <a:r>
              <a:t>https://arxiv.org/abs/2604.08995</a:t>
            </a:r>
          </a:p>
          <a:p>
            <a:pPr>
              <a:defRPr>
                <a:latin typeface="Microsoft YaHei"/>
                <a:ea typeface="Microsoft YaHei"/>
                <a:cs typeface="Microsoft YaHei"/>
              </a:defRPr>
            </a:pPr>
            <a:endParaRPr/>
          </a:p>
          <a:p>
            <a:pPr>
              <a:defRPr>
                <a:latin typeface="Microsoft YaHei"/>
                <a:ea typeface="Microsoft YaHei"/>
                <a:cs typeface="Microsoft YaHei"/>
              </a:defRPr>
            </a:pPr>
            <a:r>
              <a:t>Yume-1.5: A Text-Controlled Interactive World Generation Model</a:t>
            </a:r>
          </a:p>
          <a:p>
            <a:pPr>
              <a:defRPr>
                <a:latin typeface="Microsoft YaHei"/>
                <a:ea typeface="Microsoft YaHei"/>
                <a:cs typeface="Microsoft YaHei"/>
              </a:defRPr>
            </a:pPr>
            <a:r>
              <a:t>https://arxiv.org/abs/2512.22096</a:t>
            </a:r>
          </a:p>
          <a:p>
            <a:pPr>
              <a:defRPr>
                <a:latin typeface="Microsoft YaHei"/>
                <a:ea typeface="Microsoft YaHei"/>
                <a:cs typeface="Microsoft YaHei"/>
              </a:defRPr>
            </a:pPr>
            <a:endParaRPr/>
          </a:p>
          <a:p>
            <a:pPr>
              <a:defRPr>
                <a:latin typeface="Microsoft YaHei"/>
                <a:ea typeface="Microsoft YaHei"/>
                <a:cs typeface="Microsoft YaHei"/>
              </a:defRPr>
            </a:pPr>
            <a:r>
              <a:t>EVA: Aligning Video World Models with Executable Robot Actions via Inverse Dynamics Rewards</a:t>
            </a:r>
          </a:p>
          <a:p>
            <a:pPr>
              <a:defRPr>
                <a:latin typeface="Microsoft YaHei"/>
                <a:ea typeface="Microsoft YaHei"/>
                <a:cs typeface="Microsoft YaHei"/>
              </a:defRPr>
            </a:pPr>
            <a:r>
              <a:t>https://arxiv.org/abs/2603.17808</a:t>
            </a:r>
          </a:p>
          <a:p>
            <a:pPr>
              <a:defRPr>
                <a:latin typeface="Microsoft YaHei"/>
                <a:ea typeface="Microsoft YaHei"/>
                <a:cs typeface="Microsoft YaHei"/>
              </a:defRPr>
            </a:pPr>
            <a:endParaRPr/>
          </a:p>
          <a:p>
            <a:pPr>
              <a:defRPr>
                <a:latin typeface="Microsoft YaHei"/>
                <a:ea typeface="Microsoft YaHei"/>
                <a:cs typeface="Microsoft YaHei"/>
              </a:defRPr>
            </a:pPr>
            <a:r>
              <a:t>BiWM: Advancing Open-Source Interactive Video World Models with Bidirectional Autoregression</a:t>
            </a:r>
          </a:p>
          <a:p>
            <a:pPr>
              <a:defRPr>
                <a:latin typeface="Microsoft YaHei"/>
                <a:ea typeface="Microsoft YaHei"/>
                <a:cs typeface="Microsoft YaHei"/>
              </a:defRPr>
            </a:pPr>
            <a:r>
              <a:t>https://arxiv.org/abs/2606.10135</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For a first reading, inspect the diagrams before attempting every implementation detail. The VAE and DiT figures establish the data representation and conditional generator; the I2V figure explains how observed frames enter. Next, read the ablations and benchmark protocols so that the architecture's evidence is clear. For Wan2.2, read the official MoE and VAE discussion together with the actual configurations and sampler branch, since there is no separate mainline Wan2.2 arXiv report linked by the repository. Finally, choose one downstream paper that matches the lab's interest. Memory-centric interactive generation, robot visual planning, and cross-backbone conversion lead to different experiments and should not be treated as the same project.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Matrix-Game 3.0: Real-Time and Streaming Interactive World Model with Long-Horizon Memory</a:t>
            </a:r>
          </a:p>
          <a:p>
            <a:pPr>
              <a:defRPr>
                <a:latin typeface="Microsoft YaHei"/>
                <a:ea typeface="Microsoft YaHei"/>
                <a:cs typeface="Microsoft YaHei"/>
              </a:defRPr>
            </a:pPr>
            <a:r>
              <a:t>https://arxiv.org/abs/2604.08995</a:t>
            </a:r>
          </a:p>
          <a:p>
            <a:pPr>
              <a:defRPr>
                <a:latin typeface="Microsoft YaHei"/>
                <a:ea typeface="Microsoft YaHei"/>
                <a:cs typeface="Microsoft YaHei"/>
              </a:defRPr>
            </a:pPr>
            <a:endParaRPr/>
          </a:p>
          <a:p>
            <a:pPr>
              <a:defRPr>
                <a:latin typeface="Microsoft YaHei"/>
                <a:ea typeface="Microsoft YaHei"/>
                <a:cs typeface="Microsoft YaHei"/>
              </a:defRPr>
            </a:pPr>
            <a:r>
              <a:t>EVA: Aligning Video World Models with Executable Robot Actions via Inverse Dynamics Rewards</a:t>
            </a:r>
          </a:p>
          <a:p>
            <a:pPr>
              <a:defRPr>
                <a:latin typeface="Microsoft YaHei"/>
                <a:ea typeface="Microsoft YaHei"/>
                <a:cs typeface="Microsoft YaHei"/>
              </a:defRPr>
            </a:pPr>
            <a:r>
              <a:t>https://arxiv.org/abs/2603.17808</a:t>
            </a:r>
          </a:p>
          <a:p>
            <a:pPr>
              <a:defRPr>
                <a:latin typeface="Microsoft YaHei"/>
                <a:ea typeface="Microsoft YaHei"/>
                <a:cs typeface="Microsoft YaHei"/>
              </a:defRPr>
            </a:pPr>
            <a:endParaRPr/>
          </a:p>
          <a:p>
            <a:pPr>
              <a:defRPr>
                <a:latin typeface="Microsoft YaHei"/>
                <a:ea typeface="Microsoft YaHei"/>
                <a:cs typeface="Microsoft YaHei"/>
              </a:defRPr>
            </a:pPr>
            <a:r>
              <a:t>BiWM: Advancing Open-Source Interactive Video World Models with Bidirectional Autoregression</a:t>
            </a:r>
          </a:p>
          <a:p>
            <a:pPr>
              <a:defRPr>
                <a:latin typeface="Microsoft YaHei"/>
                <a:ea typeface="Microsoft YaHei"/>
                <a:cs typeface="Microsoft YaHei"/>
              </a:defRPr>
            </a:pPr>
            <a:r>
              <a:t>https://arxiv.org/abs/2606.10135</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strongest common conclusion is that Wan offers a reusable video prior with enough architectural openness to support new research. It does not remove the need to define a downstream objective. For interactive environments, long-horizon drift and scene revisits need direct evaluation. For robot planning, visual plausibility should be linked to action validity and eventual task outcomes. For real-time systems, latency must be reported together with hardware and compression settings. A productive group discussion is to choose a single gap, such as memory retrieval or action fidelity, and define a falsifiable evaluation before adding architectural complexity. That makes a smaller, controlled experiment more informative than simply switching to the largest checkpoint.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Matrix-Game 3.0: Real-Time and Streaming Interactive World Model with Long-Horizon Memory</a:t>
            </a:r>
          </a:p>
          <a:p>
            <a:pPr>
              <a:defRPr>
                <a:latin typeface="Microsoft YaHei"/>
                <a:ea typeface="Microsoft YaHei"/>
                <a:cs typeface="Microsoft YaHei"/>
              </a:defRPr>
            </a:pPr>
            <a:r>
              <a:t>https://arxiv.org/abs/2604.08995</a:t>
            </a:r>
          </a:p>
          <a:p>
            <a:pPr>
              <a:defRPr>
                <a:latin typeface="Microsoft YaHei"/>
                <a:ea typeface="Microsoft YaHei"/>
                <a:cs typeface="Microsoft YaHei"/>
              </a:defRPr>
            </a:pPr>
            <a:endParaRPr/>
          </a:p>
          <a:p>
            <a:pPr>
              <a:defRPr>
                <a:latin typeface="Microsoft YaHei"/>
                <a:ea typeface="Microsoft YaHei"/>
                <a:cs typeface="Microsoft YaHei"/>
              </a:defRPr>
            </a:pPr>
            <a:r>
              <a:t>Yume-1.5: A Text-Controlled Interactive World Generation Model</a:t>
            </a:r>
          </a:p>
          <a:p>
            <a:pPr>
              <a:defRPr>
                <a:latin typeface="Microsoft YaHei"/>
                <a:ea typeface="Microsoft YaHei"/>
                <a:cs typeface="Microsoft YaHei"/>
              </a:defRPr>
            </a:pPr>
            <a:r>
              <a:t>https://arxiv.org/abs/2512.22096</a:t>
            </a:r>
          </a:p>
          <a:p>
            <a:pPr>
              <a:defRPr>
                <a:latin typeface="Microsoft YaHei"/>
                <a:ea typeface="Microsoft YaHei"/>
                <a:cs typeface="Microsoft YaHei"/>
              </a:defRPr>
            </a:pPr>
            <a:endParaRPr/>
          </a:p>
          <a:p>
            <a:pPr>
              <a:defRPr>
                <a:latin typeface="Microsoft YaHei"/>
                <a:ea typeface="Microsoft YaHei"/>
                <a:cs typeface="Microsoft YaHei"/>
              </a:defRPr>
            </a:pPr>
            <a:r>
              <a:t>EVA: Aligning Video World Models with Executable Robot Actions via Inverse Dynamics Rewards</a:t>
            </a:r>
          </a:p>
          <a:p>
            <a:pPr>
              <a:defRPr>
                <a:latin typeface="Microsoft YaHei"/>
                <a:ea typeface="Microsoft YaHei"/>
                <a:cs typeface="Microsoft YaHei"/>
              </a:defRPr>
            </a:pPr>
            <a:r>
              <a:t>https://arxiv.org/abs/2603.17808</a:t>
            </a:r>
          </a:p>
          <a:p>
            <a:pPr>
              <a:defRPr>
                <a:latin typeface="Microsoft YaHei"/>
                <a:ea typeface="Microsoft YaHei"/>
                <a:cs typeface="Microsoft YaHei"/>
              </a:defRPr>
            </a:pPr>
            <a:endParaRPr/>
          </a:p>
          <a:p>
            <a:pPr>
              <a:defRPr>
                <a:latin typeface="Microsoft YaHei"/>
                <a:ea typeface="Microsoft YaHei"/>
                <a:cs typeface="Microsoft YaHei"/>
              </a:defRPr>
            </a:pPr>
            <a:r>
              <a:t>BiWM: Advancing Open-Source Interactive Video World Models with Bidirectional Autoregression</a:t>
            </a:r>
          </a:p>
          <a:p>
            <a:pPr>
              <a:defRPr>
                <a:latin typeface="Microsoft YaHei"/>
                <a:ea typeface="Microsoft YaHei"/>
                <a:cs typeface="Microsoft YaHei"/>
              </a:defRPr>
            </a:pPr>
            <a:r>
              <a:t>https://arxiv.org/abs/2606.10135</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These links provide the primary technical sources for the core model section. The Wan report is arXiv 2503.20314; its second version was posted in April 2025. Wan2.2 was released in July 2025, so new Wan2.2 details are attributed to its official repository, code and model cards rather than retroactively attributed to the earlier report. The slides reproduce selected original figures with attribution and recreate selected numeric comparisons as editable tables or charts. Repository links may evolve; the factual snapshot used for this presentation was checked on 10 September 2026.</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Presentation framing and research synthesis.</a:t>
            </a:r>
          </a:p>
          <a:p>
            <a:pPr>
              <a:defRPr>
                <a:latin typeface="Microsoft YaHei"/>
                <a:ea typeface="Microsoft YaHei"/>
                <a:cs typeface="Microsoft YaHei"/>
              </a:defRPr>
            </a:pPr>
            <a:r>
              <a:t>Wan: Open and Advanced Large-Scale Video Generative Models</a:t>
            </a:r>
          </a:p>
          <a:p>
            <a:pPr>
              <a:defRPr>
                <a:latin typeface="Microsoft YaHei"/>
                <a:ea typeface="Microsoft YaHei"/>
                <a:cs typeface="Microsoft YaHei"/>
              </a:defRPr>
            </a:pPr>
            <a:r>
              <a:t>https://arxiv.org/abs/2503.20314</a:t>
            </a:r>
          </a:p>
          <a:p>
            <a:pPr>
              <a:defRPr>
                <a:latin typeface="Microsoft YaHei"/>
                <a:ea typeface="Microsoft YaHei"/>
                <a:cs typeface="Microsoft YaHei"/>
              </a:defRPr>
            </a:pPr>
            <a:endParaRPr/>
          </a:p>
          <a:p>
            <a:pPr>
              <a:defRPr>
                <a:latin typeface="Microsoft YaHei"/>
                <a:ea typeface="Microsoft YaHei"/>
                <a:cs typeface="Microsoft YaHei"/>
              </a:defRPr>
            </a:pPr>
            <a:r>
              <a:t>Wan2.1 — official implementation and checkpoints</a:t>
            </a:r>
          </a:p>
          <a:p>
            <a:pPr>
              <a:defRPr>
                <a:latin typeface="Microsoft YaHei"/>
                <a:ea typeface="Microsoft YaHei"/>
                <a:cs typeface="Microsoft YaHei"/>
              </a:defRPr>
            </a:pPr>
            <a:r>
              <a:t>https://github.com/Wan-Video/Wan2.1</a:t>
            </a:r>
          </a:p>
          <a:p>
            <a:pPr>
              <a:defRPr>
                <a:latin typeface="Microsoft YaHei"/>
                <a:ea typeface="Microsoft YaHei"/>
                <a:cs typeface="Microsoft YaHei"/>
              </a:defRPr>
            </a:pPr>
            <a:endParaRPr/>
          </a:p>
          <a:p>
            <a:pPr>
              <a:defRPr>
                <a:latin typeface="Microsoft YaHei"/>
                <a:ea typeface="Microsoft YaHei"/>
                <a:cs typeface="Microsoft YaHei"/>
              </a:defRPr>
            </a:pPr>
            <a:r>
              <a:t>Wan2.2 — architecture, evaluation and deployment</a:t>
            </a:r>
          </a:p>
          <a:p>
            <a:pPr>
              <a:defRPr>
                <a:latin typeface="Microsoft YaHei"/>
                <a:ea typeface="Microsoft YaHei"/>
                <a:cs typeface="Microsoft YaHei"/>
              </a:defRPr>
            </a:pPr>
            <a:r>
              <a:t>https://github.com/Wan-Video/Wan2.2</a:t>
            </a:r>
          </a:p>
          <a:p>
            <a:pPr>
              <a:defRPr>
                <a:latin typeface="Microsoft YaHei"/>
                <a:ea typeface="Microsoft YaHei"/>
                <a:cs typeface="Microsoft YaHei"/>
              </a:defRPr>
            </a:pPr>
            <a:endParaRPr/>
          </a:p>
          <a:p>
            <a:pPr>
              <a:defRPr>
                <a:latin typeface="Microsoft YaHei"/>
                <a:ea typeface="Microsoft YaHei"/>
                <a:cs typeface="Microsoft YaHei"/>
              </a:defRPr>
            </a:pPr>
            <a:r>
              <a:t>Wan2.2 — expert selection in the T2V sampler</a:t>
            </a:r>
          </a:p>
          <a:p>
            <a:pPr>
              <a:defRPr>
                <a:latin typeface="Microsoft YaHei"/>
                <a:ea typeface="Microsoft YaHei"/>
                <a:cs typeface="Microsoft YaHei"/>
              </a:defRPr>
            </a:pPr>
            <a:r>
              <a:t>https://github.com/Wan-Video/Wan2.2/blob/main/wan/text2video.py</a:t>
            </a:r>
          </a:p>
          <a:p>
            <a:pPr>
              <a:defRPr>
                <a:latin typeface="Microsoft YaHei"/>
                <a:ea typeface="Microsoft YaHei"/>
                <a:cs typeface="Microsoft YaHei"/>
              </a:defRPr>
            </a:pPr>
            <a:endParaRPr/>
          </a:p>
          <a:p>
            <a:pPr>
              <a:defRPr>
                <a:latin typeface="Microsoft YaHei"/>
                <a:ea typeface="Microsoft YaHei"/>
                <a:cs typeface="Microsoft YaHei"/>
              </a:defRPr>
            </a:pPr>
            <a:r>
              <a:t>Wan2.2-TI2V-5B — official model card</a:t>
            </a:r>
          </a:p>
          <a:p>
            <a:pPr>
              <a:defRPr>
                <a:latin typeface="Microsoft YaHei"/>
                <a:ea typeface="Microsoft YaHei"/>
                <a:cs typeface="Microsoft YaHei"/>
              </a:defRPr>
            </a:pPr>
            <a:r>
              <a:t>https://huggingface.co/Wan-AI/Wan2.2-TI2V-5B</a:t>
            </a:r>
          </a:p>
          <a:p>
            <a:pPr>
              <a:defRPr>
                <a:latin typeface="Microsoft YaHei"/>
                <a:ea typeface="Microsoft YaHei"/>
                <a:cs typeface="Microsoft YaHei"/>
              </a:defRPr>
            </a:pPr>
            <a:endParaRPr/>
          </a:p>
          <a:p>
            <a:pPr>
              <a:defRPr>
                <a:latin typeface="Microsoft YaHei"/>
                <a:ea typeface="Microsoft YaHei"/>
                <a:cs typeface="Microsoft YaHei"/>
              </a:defRPr>
            </a:pPr>
            <a:r>
              <a:t>Wan2.2-TI2V-5B — unified text/image conditioning implementation</a:t>
            </a:r>
          </a:p>
          <a:p>
            <a:pPr>
              <a:defRPr>
                <a:latin typeface="Microsoft YaHei"/>
                <a:ea typeface="Microsoft YaHei"/>
                <a:cs typeface="Microsoft YaHei"/>
              </a:defRPr>
            </a:pPr>
            <a:r>
              <a:t>https://github.com/Wan-Video/Wan2.2/blob/main/wan/textimage2video.py</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These are representative recent arXiv papers and official implementations with explicit Wan lineage. No conference acceptance is implied by their inclusion. Matrix-Game3 and Yume1.5 use Wan2.2-TI2V-5B, EVA uses Wan2.1-I2V-14B-480P through LVP, and BiWM includes instantiations on Wan2.1-T2V-1.3B and Wan2.2-TI2V-5B. The source papers and repositories provide the exact conditions behind the performance statements. Because the tasks and protocols differ, this section intentionally presents mechanisms and evidence rather than a combined numerical ranking.</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Presentation framing and research synthesis.</a:t>
            </a:r>
          </a:p>
          <a:p>
            <a:pPr>
              <a:defRPr>
                <a:latin typeface="Microsoft YaHei"/>
                <a:ea typeface="Microsoft YaHei"/>
                <a:cs typeface="Microsoft YaHei"/>
              </a:defRPr>
            </a:pPr>
            <a:r>
              <a:t>Matrix-Game 3.0: Real-Time and Streaming Interactive World Model with Long-Horizon Memory</a:t>
            </a:r>
          </a:p>
          <a:p>
            <a:pPr>
              <a:defRPr>
                <a:latin typeface="Microsoft YaHei"/>
                <a:ea typeface="Microsoft YaHei"/>
                <a:cs typeface="Microsoft YaHei"/>
              </a:defRPr>
            </a:pPr>
            <a:r>
              <a:t>https://arxiv.org/abs/2604.08995</a:t>
            </a:r>
          </a:p>
          <a:p>
            <a:pPr>
              <a:defRPr>
                <a:latin typeface="Microsoft YaHei"/>
                <a:ea typeface="Microsoft YaHei"/>
                <a:cs typeface="Microsoft YaHei"/>
              </a:defRPr>
            </a:pPr>
            <a:endParaRPr/>
          </a:p>
          <a:p>
            <a:pPr>
              <a:defRPr>
                <a:latin typeface="Microsoft YaHei"/>
                <a:ea typeface="Microsoft YaHei"/>
                <a:cs typeface="Microsoft YaHei"/>
              </a:defRPr>
            </a:pPr>
            <a:r>
              <a:t>Matrix-Game 3.0 — released model and lineage</a:t>
            </a:r>
          </a:p>
          <a:p>
            <a:pPr>
              <a:defRPr>
                <a:latin typeface="Microsoft YaHei"/>
                <a:ea typeface="Microsoft YaHei"/>
                <a:cs typeface="Microsoft YaHei"/>
              </a:defRPr>
            </a:pPr>
            <a:r>
              <a:t>https://huggingface.co/Skywork/Matrix-Game-3.0</a:t>
            </a:r>
          </a:p>
          <a:p>
            <a:pPr>
              <a:defRPr>
                <a:latin typeface="Microsoft YaHei"/>
                <a:ea typeface="Microsoft YaHei"/>
                <a:cs typeface="Microsoft YaHei"/>
              </a:defRPr>
            </a:pPr>
            <a:endParaRPr/>
          </a:p>
          <a:p>
            <a:pPr>
              <a:defRPr>
                <a:latin typeface="Microsoft YaHei"/>
                <a:ea typeface="Microsoft YaHei"/>
                <a:cs typeface="Microsoft YaHei"/>
              </a:defRPr>
            </a:pPr>
            <a:r>
              <a:t>Yume-1.5: A Text-Controlled Interactive World Generation Model</a:t>
            </a:r>
          </a:p>
          <a:p>
            <a:pPr>
              <a:defRPr>
                <a:latin typeface="Microsoft YaHei"/>
                <a:ea typeface="Microsoft YaHei"/>
                <a:cs typeface="Microsoft YaHei"/>
              </a:defRPr>
            </a:pPr>
            <a:r>
              <a:t>https://arxiv.org/abs/2512.22096</a:t>
            </a:r>
          </a:p>
          <a:p>
            <a:pPr>
              <a:defRPr>
                <a:latin typeface="Microsoft YaHei"/>
                <a:ea typeface="Microsoft YaHei"/>
                <a:cs typeface="Microsoft YaHei"/>
              </a:defRPr>
            </a:pPr>
            <a:endParaRPr/>
          </a:p>
          <a:p>
            <a:pPr>
              <a:defRPr>
                <a:latin typeface="Microsoft YaHei"/>
                <a:ea typeface="Microsoft YaHei"/>
                <a:cs typeface="Microsoft YaHei"/>
              </a:defRPr>
            </a:pPr>
            <a:r>
              <a:t>YUME — official implementation and releases</a:t>
            </a:r>
          </a:p>
          <a:p>
            <a:pPr>
              <a:defRPr>
                <a:latin typeface="Microsoft YaHei"/>
                <a:ea typeface="Microsoft YaHei"/>
                <a:cs typeface="Microsoft YaHei"/>
              </a:defRPr>
            </a:pPr>
            <a:r>
              <a:t>https://github.com/stdstu12/YUME</a:t>
            </a:r>
          </a:p>
          <a:p>
            <a:pPr>
              <a:defRPr>
                <a:latin typeface="Microsoft YaHei"/>
                <a:ea typeface="Microsoft YaHei"/>
                <a:cs typeface="Microsoft YaHei"/>
              </a:defRPr>
            </a:pPr>
            <a:endParaRPr/>
          </a:p>
          <a:p>
            <a:pPr>
              <a:defRPr>
                <a:latin typeface="Microsoft YaHei"/>
                <a:ea typeface="Microsoft YaHei"/>
                <a:cs typeface="Microsoft YaHei"/>
              </a:defRPr>
            </a:pPr>
            <a:r>
              <a:t>EVA: Aligning Video World Models with Executable Robot Actions via Inverse Dynamics Rewards</a:t>
            </a:r>
          </a:p>
          <a:p>
            <a:pPr>
              <a:defRPr>
                <a:latin typeface="Microsoft YaHei"/>
                <a:ea typeface="Microsoft YaHei"/>
                <a:cs typeface="Microsoft YaHei"/>
              </a:defRPr>
            </a:pPr>
            <a:r>
              <a:t>https://arxiv.org/abs/2603.17808</a:t>
            </a:r>
          </a:p>
          <a:p>
            <a:pPr>
              <a:defRPr>
                <a:latin typeface="Microsoft YaHei"/>
                <a:ea typeface="Microsoft YaHei"/>
                <a:cs typeface="Microsoft YaHei"/>
              </a:defRPr>
            </a:pPr>
            <a:endParaRPr/>
          </a:p>
          <a:p>
            <a:pPr>
              <a:defRPr>
                <a:latin typeface="Microsoft YaHei"/>
                <a:ea typeface="Microsoft YaHei"/>
                <a:cs typeface="Microsoft YaHei"/>
              </a:defRPr>
            </a:pPr>
            <a:r>
              <a:t>EVA — checkpoints and training instructions</a:t>
            </a:r>
          </a:p>
          <a:p>
            <a:pPr>
              <a:defRPr>
                <a:latin typeface="Microsoft YaHei"/>
                <a:ea typeface="Microsoft YaHei"/>
                <a:cs typeface="Microsoft YaHei"/>
              </a:defRPr>
            </a:pPr>
            <a:r>
              <a:t>https://github.com/RobbinW/EVA</a:t>
            </a:r>
          </a:p>
          <a:p>
            <a:pPr>
              <a:defRPr>
                <a:latin typeface="Microsoft YaHei"/>
                <a:ea typeface="Microsoft YaHei"/>
                <a:cs typeface="Microsoft YaHei"/>
              </a:defRPr>
            </a:pPr>
            <a:endParaRPr/>
          </a:p>
          <a:p>
            <a:pPr>
              <a:defRPr>
                <a:latin typeface="Microsoft YaHei"/>
                <a:ea typeface="Microsoft YaHei"/>
                <a:cs typeface="Microsoft YaHei"/>
              </a:defRPr>
            </a:pPr>
            <a:r>
              <a:t>BiWM: Advancing Open-Source Interactive Video World Models with Bidirectional Autoregression</a:t>
            </a:r>
          </a:p>
          <a:p>
            <a:pPr>
              <a:defRPr>
                <a:latin typeface="Microsoft YaHei"/>
                <a:ea typeface="Microsoft YaHei"/>
                <a:cs typeface="Microsoft YaHei"/>
              </a:defRPr>
            </a:pPr>
            <a:r>
              <a:t>https://arxiv.org/abs/2606.10135</a:t>
            </a:r>
          </a:p>
          <a:p>
            <a:pPr>
              <a:defRPr>
                <a:latin typeface="Microsoft YaHei"/>
                <a:ea typeface="Microsoft YaHei"/>
                <a:cs typeface="Microsoft YaHei"/>
              </a:defRPr>
            </a:pPr>
            <a:endParaRPr/>
          </a:p>
          <a:p>
            <a:pPr>
              <a:defRPr>
                <a:latin typeface="Microsoft YaHei"/>
                <a:ea typeface="Microsoft YaHei"/>
                <a:cs typeface="Microsoft YaHei"/>
              </a:defRPr>
            </a:pPr>
            <a:r>
              <a:t>BiWM — cross-backbone conversion framework</a:t>
            </a:r>
          </a:p>
          <a:p>
            <a:pPr>
              <a:defRPr>
                <a:latin typeface="Microsoft YaHei"/>
                <a:ea typeface="Microsoft YaHei"/>
                <a:cs typeface="Microsoft YaHei"/>
              </a:defRPr>
            </a:pPr>
            <a:r>
              <a:t>https://github.com/LynnReal-AI/BiWM</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latin typeface="Microsoft YaHei"/>
                <a:ea typeface="Microsoft YaHei"/>
                <a:cs typeface="Microsoft YaHei"/>
              </a:defRPr>
            </a:pPr>
            <a:r>
              <a:t>The closing question is intended to guide discussion toward an experiment. If the interest is interactive environments, the group can focus on scene memory or action response. If the interest is embodied planning, the group can focus on whether a generated future helps choose executable actions. In both settings, report the exact pretrained model and separate improvements in the backbone from improvements in the surrounding system. The preceding source links and per-slide speaker notes are intended to make the deck usable as a standalone technical report.</a:t>
            </a:r>
          </a:p>
          <a:p>
            <a:pPr>
              <a:defRPr>
                <a:latin typeface="Microsoft YaHei"/>
                <a:ea typeface="Microsoft YaHei"/>
                <a:cs typeface="Microsoft YaHei"/>
              </a:defRPr>
            </a:pPr>
            <a:endParaRPr/>
          </a:p>
          <a:p>
            <a:pPr>
              <a:defRPr>
                <a:latin typeface="Microsoft YaHei"/>
                <a:ea typeface="Microsoft YaHei"/>
                <a:cs typeface="Microsoft YaHei"/>
              </a:defRPr>
            </a:pPr>
            <a:r>
              <a:t>PRIMARY SOURCES</a:t>
            </a:r>
          </a:p>
          <a:p>
            <a:pPr>
              <a:defRPr>
                <a:latin typeface="Microsoft YaHei"/>
                <a:ea typeface="Microsoft YaHei"/>
                <a:cs typeface="Microsoft YaHei"/>
              </a:defRPr>
            </a:pPr>
            <a:r>
              <a:t>Presentation framing and research synthesis.</a:t>
            </a:r>
          </a:p>
          <a:p>
            <a:pPr>
              <a:defRPr>
                <a:latin typeface="Microsoft YaHei"/>
                <a:ea typeface="Microsoft YaHei"/>
                <a:cs typeface="Microsoft YaHei"/>
              </a:defRPr>
            </a:pPr>
            <a:endParaRPr/>
          </a:p>
          <a:p>
            <a:pPr>
              <a:defRPr>
                <a:latin typeface="Microsoft YaHei"/>
                <a:ea typeface="Microsoft YaHei"/>
                <a:cs typeface="Microsoft YaHei"/>
              </a:defRPr>
            </a:pPr>
            <a:r>
              <a:t>Checked on 10 September 2026. Original source figures retain their own typography. Editable slide text, tables, charts and speaker notes use Microsoft YaHei.</a:t>
            </a:r>
          </a:p>
        </p:txBody>
      </p:sp>
      <p:sp>
        <p:nvSpPr>
          <p:cNvPr id="4" name="Slide Number Placeholder 3"/>
          <p:cNvSpPr>
            <a:spLocks noGrp="1"/>
          </p:cNvSpPr>
          <p:nvPr>
            <p:ph type="sldNum" idx="5"/>
          </p:nvPr>
        </p:nvSpPr>
        <p:spPr/>
        <p:txBody>
          <a:bodyPr/>
          <a:lstStyle/>
          <a:p>
            <a:pPr>
              <a:defRPr>
                <a:latin typeface="Microsoft YaHei"/>
                <a:ea typeface="Microsoft YaHei"/>
                <a:cs typeface="Microsoft YaHei"/>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hyperlink" Target="https://huggingface.co/Wan-AI/Wan2.2-TI2V-5B" TargetMode="External"/><Relationship Id="rId3" Type="http://schemas.openxmlformats.org/officeDocument/2006/relationships/image" Target="../media/image2.png"/><Relationship Id="rId7" Type="http://schemas.openxmlformats.org/officeDocument/2006/relationships/hyperlink" Target="https://github.com/Wan-Video/Wan2.2/blob/main/wan/text2video.py"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hyperlink" Target="https://github.com/Wan-Video/Wan2.2" TargetMode="External"/><Relationship Id="rId5" Type="http://schemas.openxmlformats.org/officeDocument/2006/relationships/hyperlink" Target="https://github.com/Wan-Video/Wan2.1" TargetMode="External"/><Relationship Id="rId4" Type="http://schemas.openxmlformats.org/officeDocument/2006/relationships/hyperlink" Target="https://arxiv.org/abs/2503.20314" TargetMode="External"/><Relationship Id="rId9" Type="http://schemas.openxmlformats.org/officeDocument/2006/relationships/hyperlink" Target="https://github.com/Wan-Video/Wan2.2/blob/main/wan/textimage2video.py"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arxiv.org/abs/2603.17808" TargetMode="External"/><Relationship Id="rId3" Type="http://schemas.openxmlformats.org/officeDocument/2006/relationships/image" Target="../media/image2.png"/><Relationship Id="rId7" Type="http://schemas.openxmlformats.org/officeDocument/2006/relationships/hyperlink" Target="https://github.com/stdstu12/YUME"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hyperlink" Target="https://arxiv.org/abs/2512.22096" TargetMode="External"/><Relationship Id="rId11" Type="http://schemas.openxmlformats.org/officeDocument/2006/relationships/hyperlink" Target="https://github.com/LynnReal-AI/BiWM" TargetMode="External"/><Relationship Id="rId5" Type="http://schemas.openxmlformats.org/officeDocument/2006/relationships/hyperlink" Target="https://huggingface.co/Skywork/Matrix-Game-3.0" TargetMode="External"/><Relationship Id="rId10" Type="http://schemas.openxmlformats.org/officeDocument/2006/relationships/hyperlink" Target="https://arxiv.org/abs/2606.10135" TargetMode="External"/><Relationship Id="rId4" Type="http://schemas.openxmlformats.org/officeDocument/2006/relationships/hyperlink" Target="https://arxiv.org/abs/2604.08995" TargetMode="External"/><Relationship Id="rId9" Type="http://schemas.openxmlformats.org/officeDocument/2006/relationships/hyperlink" Target="https://github.com/RobbinW/EVA"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p:blipFill>
        <p:spPr>
          <a:xfrm>
            <a:off x="609600" y="355521"/>
            <a:ext cx="3143250" cy="927259"/>
          </a:xfrm>
          <a:prstGeom prst="rect">
            <a:avLst/>
          </a:prstGeom>
        </p:spPr>
      </p:pic>
      <p:pic>
        <p:nvPicPr>
          <p:cNvPr id="11" name="图片 10"/>
          <p:cNvPicPr>
            <a:picLocks noChangeAspect="1"/>
          </p:cNvPicPr>
          <p:nvPr/>
        </p:nvPicPr>
        <p:blipFill>
          <a:blip r:embed="rId4"/>
          <a:stretch/>
        </p:blipFill>
        <p:spPr>
          <a:xfrm>
            <a:off x="10001250" y="279631"/>
            <a:ext cx="1581150" cy="1059989"/>
          </a:xfrm>
          <a:prstGeom prst="rect">
            <a:avLst/>
          </a:prstGeom>
        </p:spPr>
      </p:pic>
      <p:sp>
        <p:nvSpPr>
          <p:cNvPr id="3" name="矩形 2">
            <a:extLst>
              <a:ext uri="{FF2B5EF4-FFF2-40B4-BE49-F238E27FC236}">
                <a16:creationId xmlns:a16="http://schemas.microsoft.com/office/drawing/2014/main" id="{8C598742-8B75-498D-9864-B3014980CC9D}"/>
              </a:ext>
            </a:extLst>
          </p:cNvPr>
          <p:cNvSpPr>
            <a:spLocks noGrp="1"/>
          </p:cNvSpPr>
          <p:nvPr/>
        </p:nvSpPr>
        <p:spPr>
          <a:xfrm>
            <a:off x="647700" y="1724025"/>
            <a:ext cx="10668000" cy="257175"/>
          </a:xfrm>
          <a:prstGeom prst="rect">
            <a:avLst/>
          </a:prstGeom>
          <a:noFill/>
          <a:ln w="0">
            <a:noFill/>
          </a:ln>
        </p:spPr>
        <p:txBody>
          <a:bodyPr wrap="square" lIns="0" tIns="0" rIns="0" bIns="0">
            <a:noAutofit/>
          </a:bodyPr>
          <a:lstStyle/>
          <a:p>
            <a:pPr algn="l">
              <a:defRPr sz="1200" b="1">
                <a:solidFill>
                  <a:srgbClr val="08559C"/>
                </a:solidFill>
                <a:latin typeface="Microsoft YaHei"/>
                <a:ea typeface="Microsoft YaHei"/>
                <a:cs typeface="Microsoft YaHei"/>
              </a:defRPr>
            </a:pPr>
            <a:r>
              <a:rPr sz="1200" b="1">
                <a:solidFill>
                  <a:srgbClr val="08559C"/>
                </a:solidFill>
                <a:latin typeface="Microsoft YaHei"/>
                <a:ea typeface="Microsoft YaHei"/>
                <a:cs typeface="Microsoft YaHei"/>
              </a:rPr>
              <a:t>AVC LAB  /  TECHNICAL SEMINAR</a:t>
            </a:r>
          </a:p>
        </p:txBody>
      </p:sp>
      <p:sp>
        <p:nvSpPr>
          <p:cNvPr id="4" name="矩形 3">
            <a:extLst>
              <a:ext uri="{FF2B5EF4-FFF2-40B4-BE49-F238E27FC236}">
                <a16:creationId xmlns:a16="http://schemas.microsoft.com/office/drawing/2014/main" id="{29AC430D-7570-4093-A9F7-93443FD69370}"/>
              </a:ext>
            </a:extLst>
          </p:cNvPr>
          <p:cNvSpPr>
            <a:spLocks noGrp="1"/>
          </p:cNvSpPr>
          <p:nvPr/>
        </p:nvSpPr>
        <p:spPr>
          <a:xfrm>
            <a:off x="609600" y="2238375"/>
            <a:ext cx="10972800" cy="1047750"/>
          </a:xfrm>
          <a:prstGeom prst="rect">
            <a:avLst/>
          </a:prstGeom>
          <a:noFill/>
          <a:ln w="0">
            <a:noFill/>
          </a:ln>
        </p:spPr>
        <p:txBody>
          <a:bodyPr wrap="square" lIns="0" tIns="0" rIns="0" bIns="0">
            <a:noAutofit/>
          </a:bodyPr>
          <a:lstStyle/>
          <a:p>
            <a:pPr algn="l">
              <a:defRPr sz="5400" b="1">
                <a:solidFill>
                  <a:srgbClr val="162A4A"/>
                </a:solidFill>
                <a:latin typeface="Microsoft YaHei"/>
                <a:ea typeface="Microsoft YaHei"/>
                <a:cs typeface="Microsoft YaHei"/>
              </a:defRPr>
            </a:pPr>
            <a:r>
              <a:rPr sz="5400" b="1">
                <a:solidFill>
                  <a:srgbClr val="162A4A"/>
                </a:solidFill>
                <a:latin typeface="Microsoft YaHei"/>
                <a:ea typeface="Microsoft YaHei"/>
                <a:cs typeface="Microsoft YaHei"/>
              </a:rPr>
              <a:t>Wan2.1 &amp; Wan2.2</a:t>
            </a:r>
          </a:p>
        </p:txBody>
      </p:sp>
      <p:sp>
        <p:nvSpPr>
          <p:cNvPr id="5" name="矩形 4">
            <a:extLst>
              <a:ext uri="{FF2B5EF4-FFF2-40B4-BE49-F238E27FC236}">
                <a16:creationId xmlns:a16="http://schemas.microsoft.com/office/drawing/2014/main" id="{DAF36756-8AB9-4D0A-8078-DA6CD0815AA4}"/>
              </a:ext>
            </a:extLst>
          </p:cNvPr>
          <p:cNvSpPr>
            <a:spLocks noGrp="1"/>
          </p:cNvSpPr>
          <p:nvPr/>
        </p:nvSpPr>
        <p:spPr>
          <a:xfrm>
            <a:off x="638175" y="3333750"/>
            <a:ext cx="10668000" cy="742950"/>
          </a:xfrm>
          <a:prstGeom prst="rect">
            <a:avLst/>
          </a:prstGeom>
          <a:noFill/>
          <a:ln w="0">
            <a:noFill/>
          </a:ln>
        </p:spPr>
        <p:txBody>
          <a:bodyPr wrap="square" lIns="0" tIns="0" rIns="0" bIns="0">
            <a:noAutofit/>
          </a:bodyPr>
          <a:lstStyle/>
          <a:p>
            <a:pPr algn="l">
              <a:defRPr sz="2175" b="0">
                <a:solidFill>
                  <a:srgbClr val="08559C"/>
                </a:solidFill>
                <a:latin typeface="Microsoft YaHei"/>
                <a:ea typeface="Microsoft YaHei"/>
                <a:cs typeface="Microsoft YaHei"/>
              </a:defRPr>
            </a:pPr>
            <a:r>
              <a:rPr sz="2175" b="0">
                <a:solidFill>
                  <a:srgbClr val="08559C"/>
                </a:solidFill>
                <a:latin typeface="Microsoft YaHei"/>
                <a:ea typeface="Microsoft YaHei"/>
                <a:cs typeface="Microsoft YaHei"/>
              </a:rPr>
              <a:t>Video generation foundations and world-model adaptations</a:t>
            </a:r>
          </a:p>
        </p:txBody>
      </p:sp>
      <p:sp>
        <p:nvSpPr>
          <p:cNvPr id="6" name="矩形 5">
            <a:extLst>
              <a:ext uri="{FF2B5EF4-FFF2-40B4-BE49-F238E27FC236}">
                <a16:creationId xmlns:a16="http://schemas.microsoft.com/office/drawing/2014/main" id="{C710E8EB-96E8-4A97-8360-3333972338F9}"/>
              </a:ext>
            </a:extLst>
          </p:cNvPr>
          <p:cNvSpPr>
            <a:spLocks noGrp="1"/>
          </p:cNvSpPr>
          <p:nvPr/>
        </p:nvSpPr>
        <p:spPr>
          <a:xfrm>
            <a:off x="647700" y="4248150"/>
            <a:ext cx="952500" cy="38100"/>
          </a:xfrm>
          <a:prstGeom prst="rect">
            <a:avLst/>
          </a:prstGeom>
          <a:solidFill>
            <a:srgbClr val="6A57B8"/>
          </a:solidFill>
          <a:ln w="0">
            <a:noFill/>
          </a:ln>
        </p:spPr>
      </p:sp>
      <p:sp>
        <p:nvSpPr>
          <p:cNvPr id="7" name="矩形 6">
            <a:extLst>
              <a:ext uri="{FF2B5EF4-FFF2-40B4-BE49-F238E27FC236}">
                <a16:creationId xmlns:a16="http://schemas.microsoft.com/office/drawing/2014/main" id="{3958A376-FE7E-4F14-8C71-4A3AA19A89EF}"/>
              </a:ext>
            </a:extLst>
          </p:cNvPr>
          <p:cNvSpPr>
            <a:spLocks noGrp="1"/>
          </p:cNvSpPr>
          <p:nvPr/>
        </p:nvSpPr>
        <p:spPr>
          <a:xfrm>
            <a:off x="647700" y="4543425"/>
            <a:ext cx="10668000" cy="381000"/>
          </a:xfrm>
          <a:prstGeom prst="rect">
            <a:avLst/>
          </a:prstGeom>
          <a:noFill/>
          <a:ln w="0">
            <a:noFill/>
          </a:ln>
        </p:spPr>
        <p:txBody>
          <a:bodyPr wrap="square" lIns="0" tIns="0" rIns="0" bIns="0">
            <a:noAutofit/>
          </a:bodyPr>
          <a:lstStyle/>
          <a:p>
            <a:pPr algn="l">
              <a:defRPr sz="1575" b="0">
                <a:solidFill>
                  <a:srgbClr val="536174"/>
                </a:solidFill>
                <a:latin typeface="Microsoft YaHei"/>
                <a:ea typeface="Microsoft YaHei"/>
                <a:cs typeface="Microsoft YaHei"/>
              </a:defRPr>
            </a:pPr>
            <a:r>
              <a:rPr sz="1575" b="0">
                <a:solidFill>
                  <a:srgbClr val="536174"/>
                </a:solidFill>
                <a:latin typeface="Microsoft YaHei"/>
                <a:ea typeface="Microsoft YaHei"/>
                <a:cs typeface="Microsoft YaHei"/>
              </a:rPr>
              <a:t>Architectures, training objectives, evidence, and recent research examples</a:t>
            </a:r>
          </a:p>
        </p:txBody>
      </p:sp>
      <p:pic>
        <p:nvPicPr>
          <p:cNvPr id="17" name="图片 16"/>
          <p:cNvPicPr>
            <a:picLocks noChangeAspect="1"/>
          </p:cNvPicPr>
          <p:nvPr/>
        </p:nvPicPr>
        <p:blipFill>
          <a:blip r:embed="rId5"/>
          <a:stretch/>
        </p:blipFill>
        <p:spPr>
          <a:xfrm>
            <a:off x="3325133" y="5238750"/>
            <a:ext cx="5541735" cy="1619250"/>
          </a:xfrm>
          <a:prstGeom prst="rect">
            <a:avLst/>
          </a:prstGeom>
        </p:spPr>
      </p:pic>
      <p:sp>
        <p:nvSpPr>
          <p:cNvPr id="9" name="矩形 8">
            <a:extLst>
              <a:ext uri="{FF2B5EF4-FFF2-40B4-BE49-F238E27FC236}">
                <a16:creationId xmlns:a16="http://schemas.microsoft.com/office/drawing/2014/main" id="{C3247391-9A65-4EAF-85AC-67455D402F65}"/>
              </a:ext>
            </a:extLst>
          </p:cNvPr>
          <p:cNvSpPr>
            <a:spLocks noGrp="1"/>
          </p:cNvSpPr>
          <p:nvPr/>
        </p:nvSpPr>
        <p:spPr>
          <a:xfrm>
            <a:off x="647700" y="4972050"/>
            <a:ext cx="10668000" cy="257175"/>
          </a:xfrm>
          <a:prstGeom prst="rect">
            <a:avLst/>
          </a:prstGeom>
          <a:noFill/>
          <a:ln w="0">
            <a:noFill/>
          </a:ln>
        </p:spPr>
        <p:txBody>
          <a:bodyPr wrap="square" lIns="0" tIns="0" rIns="0" bIns="0">
            <a:noAutofit/>
          </a:bodyPr>
          <a:lstStyle/>
          <a:p>
            <a:pPr algn="l">
              <a:defRPr sz="1200" b="1">
                <a:solidFill>
                  <a:srgbClr val="08559C"/>
                </a:solidFill>
                <a:latin typeface="Microsoft YaHei"/>
                <a:ea typeface="Microsoft YaHei"/>
                <a:cs typeface="Microsoft YaHei"/>
              </a:defRPr>
            </a:pPr>
            <a:r>
              <a:rPr sz="1200" b="1">
                <a:solidFill>
                  <a:srgbClr val="08559C"/>
                </a:solidFill>
                <a:latin typeface="Microsoft YaHei"/>
                <a:ea typeface="Microsoft YaHei"/>
                <a:cs typeface="Microsoft YaHei"/>
              </a:rPr>
              <a:t>10 September 2026</a:t>
            </a:r>
          </a:p>
        </p:txBody>
      </p:sp>
    </p:spTree>
    <p:extLst>
      <p:ext uri="{BB962C8B-B14F-4D97-AF65-F5344CB8AC3E}">
        <p14:creationId xmlns:p14="http://schemas.microsoft.com/office/powerpoint/2010/main" val="616373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F2F49F00-84BE-472A-8CF7-6A0A47DDFA11}"/>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01  /  PROBLEM AND MODEL FAMILY</a:t>
            </a:r>
          </a:p>
        </p:txBody>
      </p:sp>
      <p:pic>
        <p:nvPicPr>
          <p:cNvPr id="27" name="图片 2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2964CC3F-C592-47DD-A1F4-51381EBE0158}"/>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The problem: generate coherent change over time</a:t>
            </a:r>
          </a:p>
        </p:txBody>
      </p:sp>
      <p:sp>
        <p:nvSpPr>
          <p:cNvPr id="4" name="矩形 3">
            <a:extLst>
              <a:ext uri="{FF2B5EF4-FFF2-40B4-BE49-F238E27FC236}">
                <a16:creationId xmlns:a16="http://schemas.microsoft.com/office/drawing/2014/main" id="{93015865-BB94-4140-B562-D608869CC6AA}"/>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02ABABFF-AA1A-4683-B896-7F75D6F10815}"/>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0A6F1D60-7FEC-4C37-A315-A9CD0B7E64EE}"/>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A video generator must solve four coupled problems within a finite compute budget.</a:t>
            </a:r>
          </a:p>
        </p:txBody>
      </p:sp>
      <p:sp>
        <p:nvSpPr>
          <p:cNvPr id="7" name="矩形 6">
            <a:extLst>
              <a:ext uri="{FF2B5EF4-FFF2-40B4-BE49-F238E27FC236}">
                <a16:creationId xmlns:a16="http://schemas.microsoft.com/office/drawing/2014/main" id="{30B3211B-0585-40DA-B902-194687A21E25}"/>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F6C64EE3-ED30-4642-8A7B-F553B6D82D08}"/>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Wan combines compressed video latents, a video DiT, and large-scale data curation.</a:t>
            </a:r>
          </a:p>
        </p:txBody>
      </p:sp>
      <p:sp>
        <p:nvSpPr>
          <p:cNvPr id="9" name="矩形 8">
            <a:extLst>
              <a:ext uri="{FF2B5EF4-FFF2-40B4-BE49-F238E27FC236}">
                <a16:creationId xmlns:a16="http://schemas.microsoft.com/office/drawing/2014/main" id="{0B47E59F-955E-49B1-88F5-6E26A838B43B}"/>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Sections 3–4</a:t>
            </a:r>
          </a:p>
        </p:txBody>
      </p:sp>
      <p:sp>
        <p:nvSpPr>
          <p:cNvPr id="10" name="矩形 9">
            <a:extLst>
              <a:ext uri="{FF2B5EF4-FFF2-40B4-BE49-F238E27FC236}">
                <a16:creationId xmlns:a16="http://schemas.microsoft.com/office/drawing/2014/main" id="{765BF78B-5DE0-46F5-AB0B-F7E12973616A}"/>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02 / 38</a:t>
            </a:r>
          </a:p>
        </p:txBody>
      </p:sp>
      <p:sp>
        <p:nvSpPr>
          <p:cNvPr id="11" name="矩形 10">
            <a:extLst>
              <a:ext uri="{FF2B5EF4-FFF2-40B4-BE49-F238E27FC236}">
                <a16:creationId xmlns:a16="http://schemas.microsoft.com/office/drawing/2014/main" id="{DC08D029-8A57-4B97-AA5E-22A39FCED60C}"/>
              </a:ext>
            </a:extLst>
          </p:cNvPr>
          <p:cNvSpPr>
            <a:spLocks noGrp="1"/>
          </p:cNvSpPr>
          <p:nvPr/>
        </p:nvSpPr>
        <p:spPr>
          <a:xfrm>
            <a:off x="609600" y="22955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01</a:t>
            </a:r>
          </a:p>
        </p:txBody>
      </p:sp>
      <p:sp>
        <p:nvSpPr>
          <p:cNvPr id="12" name="矩形 11">
            <a:extLst>
              <a:ext uri="{FF2B5EF4-FFF2-40B4-BE49-F238E27FC236}">
                <a16:creationId xmlns:a16="http://schemas.microsoft.com/office/drawing/2014/main" id="{2D2C5128-2E9E-4781-93DE-B4AAD0928940}"/>
              </a:ext>
            </a:extLst>
          </p:cNvPr>
          <p:cNvSpPr>
            <a:spLocks noGrp="1"/>
          </p:cNvSpPr>
          <p:nvPr/>
        </p:nvSpPr>
        <p:spPr>
          <a:xfrm>
            <a:off x="1323975" y="23145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Appearance</a:t>
            </a:r>
          </a:p>
        </p:txBody>
      </p:sp>
      <p:sp>
        <p:nvSpPr>
          <p:cNvPr id="13" name="矩形 12">
            <a:extLst>
              <a:ext uri="{FF2B5EF4-FFF2-40B4-BE49-F238E27FC236}">
                <a16:creationId xmlns:a16="http://schemas.microsoft.com/office/drawing/2014/main" id="{A167E08F-3D5D-42B3-BC7C-553BFCD33B4A}"/>
              </a:ext>
            </a:extLst>
          </p:cNvPr>
          <p:cNvSpPr>
            <a:spLocks noGrp="1"/>
          </p:cNvSpPr>
          <p:nvPr/>
        </p:nvSpPr>
        <p:spPr>
          <a:xfrm>
            <a:off x="4095750" y="23145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Preserve objects, textures and identity across many frames.</a:t>
            </a:r>
          </a:p>
        </p:txBody>
      </p:sp>
      <p:sp>
        <p:nvSpPr>
          <p:cNvPr id="14" name="矩形 13">
            <a:extLst>
              <a:ext uri="{FF2B5EF4-FFF2-40B4-BE49-F238E27FC236}">
                <a16:creationId xmlns:a16="http://schemas.microsoft.com/office/drawing/2014/main" id="{0FAC14CF-3EDA-431E-8D18-6DD64BC0FAAB}"/>
              </a:ext>
            </a:extLst>
          </p:cNvPr>
          <p:cNvSpPr>
            <a:spLocks noGrp="1"/>
          </p:cNvSpPr>
          <p:nvPr/>
        </p:nvSpPr>
        <p:spPr>
          <a:xfrm>
            <a:off x="1323975" y="3009900"/>
            <a:ext cx="10258425" cy="9525"/>
          </a:xfrm>
          <a:prstGeom prst="rect">
            <a:avLst/>
          </a:prstGeom>
          <a:solidFill>
            <a:srgbClr val="D9E1ED"/>
          </a:solidFill>
          <a:ln w="0">
            <a:noFill/>
          </a:ln>
        </p:spPr>
      </p:sp>
      <p:sp>
        <p:nvSpPr>
          <p:cNvPr id="15" name="矩形 14">
            <a:extLst>
              <a:ext uri="{FF2B5EF4-FFF2-40B4-BE49-F238E27FC236}">
                <a16:creationId xmlns:a16="http://schemas.microsoft.com/office/drawing/2014/main" id="{29D372C1-41BB-4D4D-8556-73B09C150FA5}"/>
              </a:ext>
            </a:extLst>
          </p:cNvPr>
          <p:cNvSpPr>
            <a:spLocks noGrp="1"/>
          </p:cNvSpPr>
          <p:nvPr/>
        </p:nvSpPr>
        <p:spPr>
          <a:xfrm>
            <a:off x="609600" y="31527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02</a:t>
            </a:r>
          </a:p>
        </p:txBody>
      </p:sp>
      <p:sp>
        <p:nvSpPr>
          <p:cNvPr id="16" name="矩形 15">
            <a:extLst>
              <a:ext uri="{FF2B5EF4-FFF2-40B4-BE49-F238E27FC236}">
                <a16:creationId xmlns:a16="http://schemas.microsoft.com/office/drawing/2014/main" id="{75F2E584-A4DB-4FE4-907C-61FED3F73A11}"/>
              </a:ext>
            </a:extLst>
          </p:cNvPr>
          <p:cNvSpPr>
            <a:spLocks noGrp="1"/>
          </p:cNvSpPr>
          <p:nvPr/>
        </p:nvSpPr>
        <p:spPr>
          <a:xfrm>
            <a:off x="1323975" y="31718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Motion</a:t>
            </a:r>
          </a:p>
        </p:txBody>
      </p:sp>
      <p:sp>
        <p:nvSpPr>
          <p:cNvPr id="17" name="矩形 16">
            <a:extLst>
              <a:ext uri="{FF2B5EF4-FFF2-40B4-BE49-F238E27FC236}">
                <a16:creationId xmlns:a16="http://schemas.microsoft.com/office/drawing/2014/main" id="{4AFB31F3-46EF-41AD-BB73-7EA5CFFCA075}"/>
              </a:ext>
            </a:extLst>
          </p:cNvPr>
          <p:cNvSpPr>
            <a:spLocks noGrp="1"/>
          </p:cNvSpPr>
          <p:nvPr/>
        </p:nvSpPr>
        <p:spPr>
          <a:xfrm>
            <a:off x="4095750" y="31718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Represent temporal evolution, camera movement and interactions.</a:t>
            </a:r>
          </a:p>
        </p:txBody>
      </p:sp>
      <p:sp>
        <p:nvSpPr>
          <p:cNvPr id="18" name="矩形 17">
            <a:extLst>
              <a:ext uri="{FF2B5EF4-FFF2-40B4-BE49-F238E27FC236}">
                <a16:creationId xmlns:a16="http://schemas.microsoft.com/office/drawing/2014/main" id="{9C37AB46-BA81-491E-9F66-CF470CDE7102}"/>
              </a:ext>
            </a:extLst>
          </p:cNvPr>
          <p:cNvSpPr>
            <a:spLocks noGrp="1"/>
          </p:cNvSpPr>
          <p:nvPr/>
        </p:nvSpPr>
        <p:spPr>
          <a:xfrm>
            <a:off x="1323975" y="3867150"/>
            <a:ext cx="10258425" cy="9525"/>
          </a:xfrm>
          <a:prstGeom prst="rect">
            <a:avLst/>
          </a:prstGeom>
          <a:solidFill>
            <a:srgbClr val="D9E1ED"/>
          </a:solidFill>
          <a:ln w="0">
            <a:noFill/>
          </a:ln>
        </p:spPr>
      </p:sp>
      <p:sp>
        <p:nvSpPr>
          <p:cNvPr id="19" name="矩形 18">
            <a:extLst>
              <a:ext uri="{FF2B5EF4-FFF2-40B4-BE49-F238E27FC236}">
                <a16:creationId xmlns:a16="http://schemas.microsoft.com/office/drawing/2014/main" id="{65E3CE6E-06FA-4782-9EBD-2EC4018A1FB0}"/>
              </a:ext>
            </a:extLst>
          </p:cNvPr>
          <p:cNvSpPr>
            <a:spLocks noGrp="1"/>
          </p:cNvSpPr>
          <p:nvPr/>
        </p:nvSpPr>
        <p:spPr>
          <a:xfrm>
            <a:off x="609600" y="40100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03</a:t>
            </a:r>
          </a:p>
        </p:txBody>
      </p:sp>
      <p:sp>
        <p:nvSpPr>
          <p:cNvPr id="20" name="矩形 19">
            <a:extLst>
              <a:ext uri="{FF2B5EF4-FFF2-40B4-BE49-F238E27FC236}">
                <a16:creationId xmlns:a16="http://schemas.microsoft.com/office/drawing/2014/main" id="{ACDA6E42-C19E-4067-9855-91452CBD32B8}"/>
              </a:ext>
            </a:extLst>
          </p:cNvPr>
          <p:cNvSpPr>
            <a:spLocks noGrp="1"/>
          </p:cNvSpPr>
          <p:nvPr/>
        </p:nvSpPr>
        <p:spPr>
          <a:xfrm>
            <a:off x="1323975" y="40290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Conditioning</a:t>
            </a:r>
          </a:p>
        </p:txBody>
      </p:sp>
      <p:sp>
        <p:nvSpPr>
          <p:cNvPr id="21" name="矩形 20">
            <a:extLst>
              <a:ext uri="{FF2B5EF4-FFF2-40B4-BE49-F238E27FC236}">
                <a16:creationId xmlns:a16="http://schemas.microsoft.com/office/drawing/2014/main" id="{87F9D2D0-FFD8-47FF-A9B1-202CF9559036}"/>
              </a:ext>
            </a:extLst>
          </p:cNvPr>
          <p:cNvSpPr>
            <a:spLocks noGrp="1"/>
          </p:cNvSpPr>
          <p:nvPr/>
        </p:nvSpPr>
        <p:spPr>
          <a:xfrm>
            <a:off x="4095750" y="40290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Translate language and reference images into specific visual changes.</a:t>
            </a:r>
          </a:p>
        </p:txBody>
      </p:sp>
      <p:sp>
        <p:nvSpPr>
          <p:cNvPr id="22" name="矩形 21">
            <a:extLst>
              <a:ext uri="{FF2B5EF4-FFF2-40B4-BE49-F238E27FC236}">
                <a16:creationId xmlns:a16="http://schemas.microsoft.com/office/drawing/2014/main" id="{B4D0B60A-4D6C-42E8-A399-26203B989992}"/>
              </a:ext>
            </a:extLst>
          </p:cNvPr>
          <p:cNvSpPr>
            <a:spLocks noGrp="1"/>
          </p:cNvSpPr>
          <p:nvPr/>
        </p:nvSpPr>
        <p:spPr>
          <a:xfrm>
            <a:off x="1323975" y="4724400"/>
            <a:ext cx="10258425" cy="9525"/>
          </a:xfrm>
          <a:prstGeom prst="rect">
            <a:avLst/>
          </a:prstGeom>
          <a:solidFill>
            <a:srgbClr val="D9E1ED"/>
          </a:solidFill>
          <a:ln w="0">
            <a:noFill/>
          </a:ln>
        </p:spPr>
      </p:sp>
      <p:sp>
        <p:nvSpPr>
          <p:cNvPr id="23" name="矩形 22">
            <a:extLst>
              <a:ext uri="{FF2B5EF4-FFF2-40B4-BE49-F238E27FC236}">
                <a16:creationId xmlns:a16="http://schemas.microsoft.com/office/drawing/2014/main" id="{9FA1FCF8-40FD-46B5-B82A-E5F869127C37}"/>
              </a:ext>
            </a:extLst>
          </p:cNvPr>
          <p:cNvSpPr>
            <a:spLocks noGrp="1"/>
          </p:cNvSpPr>
          <p:nvPr/>
        </p:nvSpPr>
        <p:spPr>
          <a:xfrm>
            <a:off x="609600" y="48672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04</a:t>
            </a:r>
          </a:p>
        </p:txBody>
      </p:sp>
      <p:sp>
        <p:nvSpPr>
          <p:cNvPr id="24" name="矩形 23">
            <a:extLst>
              <a:ext uri="{FF2B5EF4-FFF2-40B4-BE49-F238E27FC236}">
                <a16:creationId xmlns:a16="http://schemas.microsoft.com/office/drawing/2014/main" id="{6F7E10AB-FC6F-46D2-AEC4-9BD53319C34F}"/>
              </a:ext>
            </a:extLst>
          </p:cNvPr>
          <p:cNvSpPr>
            <a:spLocks noGrp="1"/>
          </p:cNvSpPr>
          <p:nvPr/>
        </p:nvSpPr>
        <p:spPr>
          <a:xfrm>
            <a:off x="1323975" y="48863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Cost</a:t>
            </a:r>
          </a:p>
        </p:txBody>
      </p:sp>
      <p:sp>
        <p:nvSpPr>
          <p:cNvPr id="25" name="矩形 24">
            <a:extLst>
              <a:ext uri="{FF2B5EF4-FFF2-40B4-BE49-F238E27FC236}">
                <a16:creationId xmlns:a16="http://schemas.microsoft.com/office/drawing/2014/main" id="{7542CE11-AB72-46B3-B4B3-413E3CE9E3A6}"/>
              </a:ext>
            </a:extLst>
          </p:cNvPr>
          <p:cNvSpPr>
            <a:spLocks noGrp="1"/>
          </p:cNvSpPr>
          <p:nvPr/>
        </p:nvSpPr>
        <p:spPr>
          <a:xfrm>
            <a:off x="4095750" y="48863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Train and sample long sequences without exhausting memory or compute.</a:t>
            </a:r>
          </a:p>
        </p:txBody>
      </p:sp>
    </p:spTree>
    <p:extLst>
      <p:ext uri="{BB962C8B-B14F-4D97-AF65-F5344CB8AC3E}">
        <p14:creationId xmlns:p14="http://schemas.microsoft.com/office/powerpoint/2010/main" val="1291283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42E08736-BDE3-4D72-8224-7FFE973FB04E}"/>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01  /  PROBLEM AND MODEL FAMILY</a:t>
            </a:r>
          </a:p>
        </p:txBody>
      </p:sp>
      <p:pic>
        <p:nvPicPr>
          <p:cNvPr id="23" name="图片 22"/>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CF285142-4452-4C53-B153-1B79CEB01C94}"/>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Three questions organize this report</a:t>
            </a:r>
          </a:p>
        </p:txBody>
      </p:sp>
      <p:sp>
        <p:nvSpPr>
          <p:cNvPr id="4" name="矩形 3">
            <a:extLst>
              <a:ext uri="{FF2B5EF4-FFF2-40B4-BE49-F238E27FC236}">
                <a16:creationId xmlns:a16="http://schemas.microsoft.com/office/drawing/2014/main" id="{EBAAC2DD-4CA2-4B6E-B87D-94E0F1C18E1E}"/>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D7673E86-ACA6-4BEB-BF30-1C451716324A}"/>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871F6D7A-9D19-454C-8016-661696E9F573}"/>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Read the architecture through the problems each component is intended to solve.</a:t>
            </a:r>
          </a:p>
        </p:txBody>
      </p:sp>
      <p:sp>
        <p:nvSpPr>
          <p:cNvPr id="7" name="矩形 6">
            <a:extLst>
              <a:ext uri="{FF2B5EF4-FFF2-40B4-BE49-F238E27FC236}">
                <a16:creationId xmlns:a16="http://schemas.microsoft.com/office/drawing/2014/main" id="{908EE0AA-5762-4607-8C87-247471F63C40}"/>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37A33FF2-8132-41D7-B574-AFC399D2C3E5}"/>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central distinction is between a pretrained video prior and the system built around it.</a:t>
            </a:r>
          </a:p>
        </p:txBody>
      </p:sp>
      <p:sp>
        <p:nvSpPr>
          <p:cNvPr id="9" name="矩形 8">
            <a:extLst>
              <a:ext uri="{FF2B5EF4-FFF2-40B4-BE49-F238E27FC236}">
                <a16:creationId xmlns:a16="http://schemas.microsoft.com/office/drawing/2014/main" id="{01DA5252-E8AE-4DB7-8950-21858745A9F5}"/>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Wan2.2 official release</a:t>
            </a:r>
          </a:p>
        </p:txBody>
      </p:sp>
      <p:sp>
        <p:nvSpPr>
          <p:cNvPr id="10" name="矩形 9">
            <a:extLst>
              <a:ext uri="{FF2B5EF4-FFF2-40B4-BE49-F238E27FC236}">
                <a16:creationId xmlns:a16="http://schemas.microsoft.com/office/drawing/2014/main" id="{969DABB7-6BD1-4F90-99AC-DF82251A2FD7}"/>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03 / 38</a:t>
            </a:r>
          </a:p>
        </p:txBody>
      </p:sp>
      <p:sp>
        <p:nvSpPr>
          <p:cNvPr id="11" name="矩形 10">
            <a:extLst>
              <a:ext uri="{FF2B5EF4-FFF2-40B4-BE49-F238E27FC236}">
                <a16:creationId xmlns:a16="http://schemas.microsoft.com/office/drawing/2014/main" id="{8BD66C3C-E182-4129-A6D9-307A9769D06F}"/>
              </a:ext>
            </a:extLst>
          </p:cNvPr>
          <p:cNvSpPr>
            <a:spLocks noGrp="1"/>
          </p:cNvSpPr>
          <p:nvPr/>
        </p:nvSpPr>
        <p:spPr>
          <a:xfrm>
            <a:off x="609600" y="22955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01</a:t>
            </a:r>
          </a:p>
        </p:txBody>
      </p:sp>
      <p:sp>
        <p:nvSpPr>
          <p:cNvPr id="12" name="矩形 11">
            <a:extLst>
              <a:ext uri="{FF2B5EF4-FFF2-40B4-BE49-F238E27FC236}">
                <a16:creationId xmlns:a16="http://schemas.microsoft.com/office/drawing/2014/main" id="{0EB91008-4588-47D2-B3DD-F2709C16236E}"/>
              </a:ext>
            </a:extLst>
          </p:cNvPr>
          <p:cNvSpPr>
            <a:spLocks noGrp="1"/>
          </p:cNvSpPr>
          <p:nvPr/>
        </p:nvSpPr>
        <p:spPr>
          <a:xfrm>
            <a:off x="1323975" y="23145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Wan2.1</a:t>
            </a:r>
          </a:p>
        </p:txBody>
      </p:sp>
      <p:sp>
        <p:nvSpPr>
          <p:cNvPr id="13" name="矩形 12">
            <a:extLst>
              <a:ext uri="{FF2B5EF4-FFF2-40B4-BE49-F238E27FC236}">
                <a16:creationId xmlns:a16="http://schemas.microsoft.com/office/drawing/2014/main" id="{8A4F891D-79F2-49A5-AD62-B886C7D4733A}"/>
              </a:ext>
            </a:extLst>
          </p:cNvPr>
          <p:cNvSpPr>
            <a:spLocks noGrp="1"/>
          </p:cNvSpPr>
          <p:nvPr/>
        </p:nvSpPr>
        <p:spPr>
          <a:xfrm>
            <a:off x="4095750" y="2314575"/>
            <a:ext cx="7486650" cy="1009650"/>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How do the VAE, DiT, text encoder and flow objective work together?</a:t>
            </a:r>
          </a:p>
        </p:txBody>
      </p:sp>
      <p:sp>
        <p:nvSpPr>
          <p:cNvPr id="14" name="矩形 13">
            <a:extLst>
              <a:ext uri="{FF2B5EF4-FFF2-40B4-BE49-F238E27FC236}">
                <a16:creationId xmlns:a16="http://schemas.microsoft.com/office/drawing/2014/main" id="{E6AB238D-ACEB-422E-A86D-072C71F72EA0}"/>
              </a:ext>
            </a:extLst>
          </p:cNvPr>
          <p:cNvSpPr>
            <a:spLocks noGrp="1"/>
          </p:cNvSpPr>
          <p:nvPr/>
        </p:nvSpPr>
        <p:spPr>
          <a:xfrm>
            <a:off x="1323975" y="3267075"/>
            <a:ext cx="10258425" cy="9525"/>
          </a:xfrm>
          <a:prstGeom prst="rect">
            <a:avLst/>
          </a:prstGeom>
          <a:solidFill>
            <a:srgbClr val="D9E1ED"/>
          </a:solidFill>
          <a:ln w="0">
            <a:noFill/>
          </a:ln>
        </p:spPr>
      </p:sp>
      <p:sp>
        <p:nvSpPr>
          <p:cNvPr id="15" name="矩形 14">
            <a:extLst>
              <a:ext uri="{FF2B5EF4-FFF2-40B4-BE49-F238E27FC236}">
                <a16:creationId xmlns:a16="http://schemas.microsoft.com/office/drawing/2014/main" id="{65764FD7-EC24-4F81-AE41-54676E994F47}"/>
              </a:ext>
            </a:extLst>
          </p:cNvPr>
          <p:cNvSpPr>
            <a:spLocks noGrp="1"/>
          </p:cNvSpPr>
          <p:nvPr/>
        </p:nvSpPr>
        <p:spPr>
          <a:xfrm>
            <a:off x="609600" y="3409950"/>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02</a:t>
            </a:r>
          </a:p>
        </p:txBody>
      </p:sp>
      <p:sp>
        <p:nvSpPr>
          <p:cNvPr id="16" name="矩形 15">
            <a:extLst>
              <a:ext uri="{FF2B5EF4-FFF2-40B4-BE49-F238E27FC236}">
                <a16:creationId xmlns:a16="http://schemas.microsoft.com/office/drawing/2014/main" id="{C793EBCD-804D-4A9A-87B3-4A64609C0D2A}"/>
              </a:ext>
            </a:extLst>
          </p:cNvPr>
          <p:cNvSpPr>
            <a:spLocks noGrp="1"/>
          </p:cNvSpPr>
          <p:nvPr/>
        </p:nvSpPr>
        <p:spPr>
          <a:xfrm>
            <a:off x="1323975" y="3429000"/>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Wan2.2</a:t>
            </a:r>
          </a:p>
        </p:txBody>
      </p:sp>
      <p:sp>
        <p:nvSpPr>
          <p:cNvPr id="17" name="矩形 16">
            <a:extLst>
              <a:ext uri="{FF2B5EF4-FFF2-40B4-BE49-F238E27FC236}">
                <a16:creationId xmlns:a16="http://schemas.microsoft.com/office/drawing/2014/main" id="{C63D7556-C5A1-4BA2-A4B0-CABCB63B491F}"/>
              </a:ext>
            </a:extLst>
          </p:cNvPr>
          <p:cNvSpPr>
            <a:spLocks noGrp="1"/>
          </p:cNvSpPr>
          <p:nvPr/>
        </p:nvSpPr>
        <p:spPr>
          <a:xfrm>
            <a:off x="4095750" y="3429000"/>
            <a:ext cx="7486650" cy="1009650"/>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Why specialize denoisers by noise level, and why build a separate dense 5B model?</a:t>
            </a:r>
          </a:p>
        </p:txBody>
      </p:sp>
      <p:sp>
        <p:nvSpPr>
          <p:cNvPr id="18" name="矩形 17">
            <a:extLst>
              <a:ext uri="{FF2B5EF4-FFF2-40B4-BE49-F238E27FC236}">
                <a16:creationId xmlns:a16="http://schemas.microsoft.com/office/drawing/2014/main" id="{B6D01983-1E48-43DA-9409-9C4848B505B5}"/>
              </a:ext>
            </a:extLst>
          </p:cNvPr>
          <p:cNvSpPr>
            <a:spLocks noGrp="1"/>
          </p:cNvSpPr>
          <p:nvPr/>
        </p:nvSpPr>
        <p:spPr>
          <a:xfrm>
            <a:off x="1323975" y="4381500"/>
            <a:ext cx="10258425" cy="9525"/>
          </a:xfrm>
          <a:prstGeom prst="rect">
            <a:avLst/>
          </a:prstGeom>
          <a:solidFill>
            <a:srgbClr val="D9E1ED"/>
          </a:solidFill>
          <a:ln w="0">
            <a:noFill/>
          </a:ln>
        </p:spPr>
      </p:sp>
      <p:sp>
        <p:nvSpPr>
          <p:cNvPr id="19" name="矩形 18">
            <a:extLst>
              <a:ext uri="{FF2B5EF4-FFF2-40B4-BE49-F238E27FC236}">
                <a16:creationId xmlns:a16="http://schemas.microsoft.com/office/drawing/2014/main" id="{7291849A-CCA3-497A-8812-8F62A39E9734}"/>
              </a:ext>
            </a:extLst>
          </p:cNvPr>
          <p:cNvSpPr>
            <a:spLocks noGrp="1"/>
          </p:cNvSpPr>
          <p:nvPr/>
        </p:nvSpPr>
        <p:spPr>
          <a:xfrm>
            <a:off x="609600" y="45243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03</a:t>
            </a:r>
          </a:p>
        </p:txBody>
      </p:sp>
      <p:sp>
        <p:nvSpPr>
          <p:cNvPr id="20" name="矩形 19">
            <a:extLst>
              <a:ext uri="{FF2B5EF4-FFF2-40B4-BE49-F238E27FC236}">
                <a16:creationId xmlns:a16="http://schemas.microsoft.com/office/drawing/2014/main" id="{11A05B76-F693-4C59-B43D-5A6B7B2847DD}"/>
              </a:ext>
            </a:extLst>
          </p:cNvPr>
          <p:cNvSpPr>
            <a:spLocks noGrp="1"/>
          </p:cNvSpPr>
          <p:nvPr/>
        </p:nvSpPr>
        <p:spPr>
          <a:xfrm>
            <a:off x="1323975" y="45434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World models</a:t>
            </a:r>
          </a:p>
        </p:txBody>
      </p:sp>
      <p:sp>
        <p:nvSpPr>
          <p:cNvPr id="21" name="矩形 20">
            <a:extLst>
              <a:ext uri="{FF2B5EF4-FFF2-40B4-BE49-F238E27FC236}">
                <a16:creationId xmlns:a16="http://schemas.microsoft.com/office/drawing/2014/main" id="{4958263A-FAAC-4E35-9A70-29D2DED4DF3B}"/>
              </a:ext>
            </a:extLst>
          </p:cNvPr>
          <p:cNvSpPr>
            <a:spLocks noGrp="1"/>
          </p:cNvSpPr>
          <p:nvPr/>
        </p:nvSpPr>
        <p:spPr>
          <a:xfrm>
            <a:off x="4095750" y="4543425"/>
            <a:ext cx="7486650" cy="1009650"/>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What must be added to a video prior for control, memory and useful rollouts?</a:t>
            </a:r>
          </a:p>
        </p:txBody>
      </p:sp>
    </p:spTree>
    <p:extLst>
      <p:ext uri="{BB962C8B-B14F-4D97-AF65-F5344CB8AC3E}">
        <p14:creationId xmlns:p14="http://schemas.microsoft.com/office/powerpoint/2010/main" val="988740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1DDAFCFD-9795-458A-B573-EE97C65D1EB0}"/>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01  /  PROBLEM AND MODEL FAMILY</a:t>
            </a:r>
          </a:p>
        </p:txBody>
      </p:sp>
      <p:pic>
        <p:nvPicPr>
          <p:cNvPr id="13" name="图片 12"/>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8BF6CB13-33E6-4D1D-93BE-B8210ED13DA0}"/>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The core releases form two distinct branches</a:t>
            </a:r>
          </a:p>
        </p:txBody>
      </p:sp>
      <p:sp>
        <p:nvSpPr>
          <p:cNvPr id="4" name="矩形 3">
            <a:extLst>
              <a:ext uri="{FF2B5EF4-FFF2-40B4-BE49-F238E27FC236}">
                <a16:creationId xmlns:a16="http://schemas.microsoft.com/office/drawing/2014/main" id="{1DAD9060-2F3C-474D-9DAB-2BB555CCE9A6}"/>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FFA0804F-CECB-4016-A91E-749A54C8B9E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4D427EB0-77C0-4CFE-99F3-952DFC7E3BF4}"/>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Model names describe the generator; text encoders and VAEs add further parameters.</a:t>
            </a:r>
          </a:p>
        </p:txBody>
      </p:sp>
      <p:sp>
        <p:nvSpPr>
          <p:cNvPr id="7" name="矩形 6">
            <a:extLst>
              <a:ext uri="{FF2B5EF4-FFF2-40B4-BE49-F238E27FC236}">
                <a16:creationId xmlns:a16="http://schemas.microsoft.com/office/drawing/2014/main" id="{A47EC0A6-C3AE-496F-A02C-F53D8A33C670}"/>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A73313F2-BB37-48FC-B9EE-82C48FC96B79}"/>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Wan2.2-TI2V-5B is not a smaller A14B MoE.</a:t>
            </a:r>
          </a:p>
        </p:txBody>
      </p:sp>
      <p:sp>
        <p:nvSpPr>
          <p:cNvPr id="9" name="矩形 8">
            <a:extLst>
              <a:ext uri="{FF2B5EF4-FFF2-40B4-BE49-F238E27FC236}">
                <a16:creationId xmlns:a16="http://schemas.microsoft.com/office/drawing/2014/main" id="{ED601D81-D573-4F21-9B8D-FD986963D889}"/>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Wan2.1 official code; Wan2.2 official release | Core checkpoint families; Wan2.2 release: 28 Jul 2025</a:t>
            </a:r>
          </a:p>
        </p:txBody>
      </p:sp>
      <p:sp>
        <p:nvSpPr>
          <p:cNvPr id="10" name="矩形 9">
            <a:extLst>
              <a:ext uri="{FF2B5EF4-FFF2-40B4-BE49-F238E27FC236}">
                <a16:creationId xmlns:a16="http://schemas.microsoft.com/office/drawing/2014/main" id="{B69DE01A-9048-443A-B2A4-3B0B0060AE57}"/>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04 / 38</a:t>
            </a:r>
          </a:p>
        </p:txBody>
      </p:sp>
      <p:graphicFrame>
        <p:nvGraphicFramePr>
          <p:cNvPr id="22" name="表格 21"/>
          <p:cNvGraphicFramePr/>
          <p:nvPr/>
        </p:nvGraphicFramePr>
        <p:xfrm>
          <a:off x="609600" y="2305050"/>
          <a:ext cx="10972800" cy="3276600"/>
        </p:xfrm>
        <a:graphic>
          <a:graphicData uri="http://schemas.openxmlformats.org/drawingml/2006/table">
            <a:tbl>
              <a:tblPr/>
              <a:tblGrid>
                <a:gridCol w="37528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55320">
                <a:tc>
                  <a:txBody>
                    <a:bodyPr/>
                    <a:lstStyle/>
                    <a:p>
                      <a:r>
                        <a:rPr sz="1500" b="1">
                          <a:solidFill>
                            <a:srgbClr val="FFFFFF"/>
                          </a:solidFill>
                          <a:latin typeface="Microsoft YaHei"/>
                          <a:ea typeface="Microsoft YaHei"/>
                          <a:cs typeface="Microsoft YaHei"/>
                        </a:rPr>
                        <a:t>Release / model</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Generator</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Main role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extLst>
                  <a:ext uri="{0D108BD9-81ED-4DB2-BD59-A6C34878D82A}">
                    <a16:rowId xmlns:a16="http://schemas.microsoft.com/office/drawing/2014/main" val="10000"/>
                  </a:ext>
                </a:extLst>
              </a:tr>
              <a:tr h="655320">
                <a:tc>
                  <a:txBody>
                    <a:bodyPr/>
                    <a:lstStyle/>
                    <a:p>
                      <a:r>
                        <a:rPr sz="1575" b="1">
                          <a:solidFill>
                            <a:srgbClr val="162A4A"/>
                          </a:solidFill>
                          <a:latin typeface="Microsoft YaHei"/>
                          <a:ea typeface="Microsoft YaHei"/>
                          <a:cs typeface="Microsoft YaHei"/>
                        </a:rPr>
                        <a:t>Wan2.1 T2V-1.3B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Dense 1.3B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Accessible text-to-video baseline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1"/>
                  </a:ext>
                </a:extLst>
              </a:tr>
              <a:tr h="655320">
                <a:tc>
                  <a:txBody>
                    <a:bodyPr/>
                    <a:lstStyle/>
                    <a:p>
                      <a:r>
                        <a:rPr sz="1575" b="1">
                          <a:solidFill>
                            <a:srgbClr val="162A4A"/>
                          </a:solidFill>
                          <a:latin typeface="Microsoft YaHei"/>
                          <a:ea typeface="Microsoft YaHei"/>
                          <a:cs typeface="Microsoft YaHei"/>
                        </a:rPr>
                        <a:t>Wan2.1 14B family</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Dense 14B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T2V and separate I2V checkpoints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2"/>
                  </a:ext>
                </a:extLst>
              </a:tr>
              <a:tr h="655320">
                <a:tc>
                  <a:txBody>
                    <a:bodyPr/>
                    <a:lstStyle/>
                    <a:p>
                      <a:r>
                        <a:rPr sz="1575" b="1">
                          <a:solidFill>
                            <a:srgbClr val="162A4A"/>
                          </a:solidFill>
                          <a:latin typeface="Microsoft YaHei"/>
                          <a:ea typeface="Microsoft YaHei"/>
                          <a:cs typeface="Microsoft YaHei"/>
                        </a:rPr>
                        <a:t>Wan2.2 T2V / I2V-A14B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2 × ≈14B experts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14B active per denoising step</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3"/>
                  </a:ext>
                </a:extLst>
              </a:tr>
              <a:tr h="655320">
                <a:tc>
                  <a:txBody>
                    <a:bodyPr/>
                    <a:lstStyle/>
                    <a:p>
                      <a:r>
                        <a:rPr sz="1575" b="1">
                          <a:solidFill>
                            <a:srgbClr val="162A4A"/>
                          </a:solidFill>
                          <a:latin typeface="Microsoft YaHei"/>
                          <a:ea typeface="Microsoft YaHei"/>
                          <a:cs typeface="Microsoft YaHei"/>
                        </a:rPr>
                        <a:t>Wan2.2 TI2V-5B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Dense 5B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Unified T2V / I2V; new video VAE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13334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5AE97479-78CB-4E39-ADB0-D4565B824687}"/>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ARCHITECTURE</a:t>
            </a:r>
          </a:p>
        </p:txBody>
      </p:sp>
      <p:pic>
        <p:nvPicPr>
          <p:cNvPr id="17" name="图片 1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D8452FAF-D4DC-46DF-80A8-188F8B8A4465}"/>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A latent video pipeline separates three jobs</a:t>
            </a:r>
          </a:p>
        </p:txBody>
      </p:sp>
      <p:sp>
        <p:nvSpPr>
          <p:cNvPr id="4" name="矩形 3">
            <a:extLst>
              <a:ext uri="{FF2B5EF4-FFF2-40B4-BE49-F238E27FC236}">
                <a16:creationId xmlns:a16="http://schemas.microsoft.com/office/drawing/2014/main" id="{1C3A4F8C-2EDA-4BC1-AA78-C5B6102D52F0}"/>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1AA65772-5C9F-4A29-BDD5-07477031FA22}"/>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F83B7DC9-6782-412E-BA30-45108372FEFB}"/>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 VAE compresses pixels, UMT5 encodes text, and the DiT predicts latent flow velocity.</a:t>
            </a:r>
          </a:p>
        </p:txBody>
      </p:sp>
      <p:sp>
        <p:nvSpPr>
          <p:cNvPr id="7" name="矩形 6">
            <a:extLst>
              <a:ext uri="{FF2B5EF4-FFF2-40B4-BE49-F238E27FC236}">
                <a16:creationId xmlns:a16="http://schemas.microsoft.com/office/drawing/2014/main" id="{B973B566-2BB2-4750-AC08-812760918AE2}"/>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CB8C5F27-DC85-48B1-8AD6-632C127970BE}"/>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generation backbone is a video diffusion transformer; UMT5 supplies text conditions.</a:t>
            </a:r>
          </a:p>
        </p:txBody>
      </p:sp>
      <p:sp>
        <p:nvSpPr>
          <p:cNvPr id="9" name="矩形 8">
            <a:extLst>
              <a:ext uri="{FF2B5EF4-FFF2-40B4-BE49-F238E27FC236}">
                <a16:creationId xmlns:a16="http://schemas.microsoft.com/office/drawing/2014/main" id="{08DDFDF3-A9AC-456D-8D6E-09B9AA326243}"/>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Figure 9; Sections 4.1–4.2</a:t>
            </a:r>
          </a:p>
        </p:txBody>
      </p:sp>
      <p:sp>
        <p:nvSpPr>
          <p:cNvPr id="10" name="矩形 9">
            <a:extLst>
              <a:ext uri="{FF2B5EF4-FFF2-40B4-BE49-F238E27FC236}">
                <a16:creationId xmlns:a16="http://schemas.microsoft.com/office/drawing/2014/main" id="{85086560-7B91-4F0D-852F-74166E66C402}"/>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05 / 38</a:t>
            </a:r>
          </a:p>
        </p:txBody>
      </p:sp>
      <p:pic>
        <p:nvPicPr>
          <p:cNvPr id="26" name="图片 25"/>
          <p:cNvPicPr>
            <a:picLocks noChangeAspect="1"/>
          </p:cNvPicPr>
          <p:nvPr/>
        </p:nvPicPr>
        <p:blipFill>
          <a:blip r:embed="rId4"/>
          <a:stretch/>
        </p:blipFill>
        <p:spPr>
          <a:xfrm>
            <a:off x="1426973" y="2190750"/>
            <a:ext cx="9338054" cy="2762250"/>
          </a:xfrm>
          <a:prstGeom prst="rect">
            <a:avLst/>
          </a:prstGeom>
        </p:spPr>
      </p:pic>
      <p:sp>
        <p:nvSpPr>
          <p:cNvPr id="12" name="矩形 11">
            <a:extLst>
              <a:ext uri="{FF2B5EF4-FFF2-40B4-BE49-F238E27FC236}">
                <a16:creationId xmlns:a16="http://schemas.microsoft.com/office/drawing/2014/main" id="{DDBA89C1-F79E-4E97-9DED-52B6F111D956}"/>
              </a:ext>
            </a:extLst>
          </p:cNvPr>
          <p:cNvSpPr>
            <a:spLocks noGrp="1"/>
          </p:cNvSpPr>
          <p:nvPr/>
        </p:nvSpPr>
        <p:spPr>
          <a:xfrm>
            <a:off x="6096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Training</a:t>
            </a:r>
          </a:p>
        </p:txBody>
      </p:sp>
      <p:sp>
        <p:nvSpPr>
          <p:cNvPr id="13" name="矩形 12">
            <a:extLst>
              <a:ext uri="{FF2B5EF4-FFF2-40B4-BE49-F238E27FC236}">
                <a16:creationId xmlns:a16="http://schemas.microsoft.com/office/drawing/2014/main" id="{F66E5218-A59D-4771-881D-0EE9EDFF2B09}"/>
              </a:ext>
            </a:extLst>
          </p:cNvPr>
          <p:cNvSpPr>
            <a:spLocks noGrp="1"/>
          </p:cNvSpPr>
          <p:nvPr/>
        </p:nvSpPr>
        <p:spPr>
          <a:xfrm>
            <a:off x="6096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Encode real video, mix with noise, predict the flow velocity.</a:t>
            </a:r>
          </a:p>
        </p:txBody>
      </p:sp>
      <p:sp>
        <p:nvSpPr>
          <p:cNvPr id="14" name="矩形 13">
            <a:extLst>
              <a:ext uri="{FF2B5EF4-FFF2-40B4-BE49-F238E27FC236}">
                <a16:creationId xmlns:a16="http://schemas.microsoft.com/office/drawing/2014/main" id="{251F3063-A5D9-4521-A35B-EF7AA50986B6}"/>
              </a:ext>
            </a:extLst>
          </p:cNvPr>
          <p:cNvSpPr>
            <a:spLocks noGrp="1"/>
          </p:cNvSpPr>
          <p:nvPr/>
        </p:nvSpPr>
        <p:spPr>
          <a:xfrm>
            <a:off x="64770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Inference</a:t>
            </a:r>
          </a:p>
        </p:txBody>
      </p:sp>
      <p:sp>
        <p:nvSpPr>
          <p:cNvPr id="15" name="矩形 14">
            <a:extLst>
              <a:ext uri="{FF2B5EF4-FFF2-40B4-BE49-F238E27FC236}">
                <a16:creationId xmlns:a16="http://schemas.microsoft.com/office/drawing/2014/main" id="{BCB00475-F36F-4063-8D3E-AC1995B6CFE0}"/>
              </a:ext>
            </a:extLst>
          </p:cNvPr>
          <p:cNvSpPr>
            <a:spLocks noGrp="1"/>
          </p:cNvSpPr>
          <p:nvPr/>
        </p:nvSpPr>
        <p:spPr>
          <a:xfrm>
            <a:off x="64770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Start from noise, integrate the learned flow, decode the video.</a:t>
            </a:r>
          </a:p>
        </p:txBody>
      </p:sp>
    </p:spTree>
    <p:extLst>
      <p:ext uri="{BB962C8B-B14F-4D97-AF65-F5344CB8AC3E}">
        <p14:creationId xmlns:p14="http://schemas.microsoft.com/office/powerpoint/2010/main" val="660511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760B9AE0-9957-4345-AB6B-9699B99C4A24}"/>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ARCHITECTURE</a:t>
            </a:r>
          </a:p>
        </p:txBody>
      </p:sp>
      <p:pic>
        <p:nvPicPr>
          <p:cNvPr id="17" name="图片 1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CD6CF04E-8DC9-486F-A1AD-8E7967EA726C}"/>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Wan-VAE reduces the spatiotemporal grid</a:t>
            </a:r>
          </a:p>
        </p:txBody>
      </p:sp>
      <p:sp>
        <p:nvSpPr>
          <p:cNvPr id="4" name="矩形 3">
            <a:extLst>
              <a:ext uri="{FF2B5EF4-FFF2-40B4-BE49-F238E27FC236}">
                <a16:creationId xmlns:a16="http://schemas.microsoft.com/office/drawing/2014/main" id="{D755079A-CD93-4F4C-8846-850D1CCF6217}"/>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280BF4BC-95FA-4B9C-BF85-4D6C8E915B57}"/>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84053711-64B6-4EFF-8E28-1320AC3AF6F7}"/>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Causal 3D compression: 4 × 8 × 8, with 16 latent channels.</a:t>
            </a:r>
          </a:p>
        </p:txBody>
      </p:sp>
      <p:sp>
        <p:nvSpPr>
          <p:cNvPr id="7" name="矩形 6">
            <a:extLst>
              <a:ext uri="{FF2B5EF4-FFF2-40B4-BE49-F238E27FC236}">
                <a16:creationId xmlns:a16="http://schemas.microsoft.com/office/drawing/2014/main" id="{F246A0FB-77D8-4755-A3B6-E4F1BBB0EDE6}"/>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F6FE6E5C-E302-4240-9386-39428D9E065E}"/>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first frame is compressed only in space, so one architecture handles images and videos.</a:t>
            </a:r>
          </a:p>
        </p:txBody>
      </p:sp>
      <p:sp>
        <p:nvSpPr>
          <p:cNvPr id="9" name="矩形 8">
            <a:extLst>
              <a:ext uri="{FF2B5EF4-FFF2-40B4-BE49-F238E27FC236}">
                <a16:creationId xmlns:a16="http://schemas.microsoft.com/office/drawing/2014/main" id="{42168AA5-D086-4FB9-AAF5-FEA672256EFA}"/>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Figure 5; Section 4.1.1</a:t>
            </a:r>
          </a:p>
        </p:txBody>
      </p:sp>
      <p:sp>
        <p:nvSpPr>
          <p:cNvPr id="10" name="矩形 9">
            <a:extLst>
              <a:ext uri="{FF2B5EF4-FFF2-40B4-BE49-F238E27FC236}">
                <a16:creationId xmlns:a16="http://schemas.microsoft.com/office/drawing/2014/main" id="{59213068-AF44-4ED0-BBD6-9E2316F8531F}"/>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06 / 38</a:t>
            </a:r>
          </a:p>
        </p:txBody>
      </p:sp>
      <p:pic>
        <p:nvPicPr>
          <p:cNvPr id="26" name="图片 25"/>
          <p:cNvPicPr>
            <a:picLocks noChangeAspect="1"/>
          </p:cNvPicPr>
          <p:nvPr/>
        </p:nvPicPr>
        <p:blipFill>
          <a:blip r:embed="rId4"/>
          <a:stretch/>
        </p:blipFill>
        <p:spPr>
          <a:xfrm>
            <a:off x="1007095" y="2190750"/>
            <a:ext cx="10177811" cy="2476500"/>
          </a:xfrm>
          <a:prstGeom prst="rect">
            <a:avLst/>
          </a:prstGeom>
        </p:spPr>
      </p:pic>
      <p:sp>
        <p:nvSpPr>
          <p:cNvPr id="12" name="矩形 11">
            <a:extLst>
              <a:ext uri="{FF2B5EF4-FFF2-40B4-BE49-F238E27FC236}">
                <a16:creationId xmlns:a16="http://schemas.microsoft.com/office/drawing/2014/main" id="{B8E3DCC9-4A4F-420E-8EA2-4228FEFA65E6}"/>
              </a:ext>
            </a:extLst>
          </p:cNvPr>
          <p:cNvSpPr>
            <a:spLocks noGrp="1"/>
          </p:cNvSpPr>
          <p:nvPr/>
        </p:nvSpPr>
        <p:spPr>
          <a:xfrm>
            <a:off x="6096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Frame convention</a:t>
            </a:r>
          </a:p>
        </p:txBody>
      </p:sp>
      <p:sp>
        <p:nvSpPr>
          <p:cNvPr id="13" name="矩形 12">
            <a:extLst>
              <a:ext uri="{FF2B5EF4-FFF2-40B4-BE49-F238E27FC236}">
                <a16:creationId xmlns:a16="http://schemas.microsoft.com/office/drawing/2014/main" id="{2A93CDF5-2786-49BB-BF25-454E741AB24D}"/>
              </a:ext>
            </a:extLst>
          </p:cNvPr>
          <p:cNvSpPr>
            <a:spLocks noGrp="1"/>
          </p:cNvSpPr>
          <p:nvPr/>
        </p:nvSpPr>
        <p:spPr>
          <a:xfrm>
            <a:off x="6096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1 + T input frames become 1 + T/4 latent frames.</a:t>
            </a:r>
          </a:p>
        </p:txBody>
      </p:sp>
      <p:sp>
        <p:nvSpPr>
          <p:cNvPr id="14" name="矩形 13">
            <a:extLst>
              <a:ext uri="{FF2B5EF4-FFF2-40B4-BE49-F238E27FC236}">
                <a16:creationId xmlns:a16="http://schemas.microsoft.com/office/drawing/2014/main" id="{FFB3D141-C3B3-4E08-9C33-BDD593BBCCB9}"/>
              </a:ext>
            </a:extLst>
          </p:cNvPr>
          <p:cNvSpPr>
            <a:spLocks noGrp="1"/>
          </p:cNvSpPr>
          <p:nvPr/>
        </p:nvSpPr>
        <p:spPr>
          <a:xfrm>
            <a:off x="64770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Architecture</a:t>
            </a:r>
          </a:p>
        </p:txBody>
      </p:sp>
      <p:sp>
        <p:nvSpPr>
          <p:cNvPr id="15" name="矩形 14">
            <a:extLst>
              <a:ext uri="{FF2B5EF4-FFF2-40B4-BE49-F238E27FC236}">
                <a16:creationId xmlns:a16="http://schemas.microsoft.com/office/drawing/2014/main" id="{670BDD51-3F29-4A1E-A369-3281A6D05C09}"/>
              </a:ext>
            </a:extLst>
          </p:cNvPr>
          <p:cNvSpPr>
            <a:spLocks noGrp="1"/>
          </p:cNvSpPr>
          <p:nvPr/>
        </p:nvSpPr>
        <p:spPr>
          <a:xfrm>
            <a:off x="64770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RMSNorm preserves causality; the VAE has 127M parameters.</a:t>
            </a:r>
          </a:p>
        </p:txBody>
      </p:sp>
    </p:spTree>
    <p:extLst>
      <p:ext uri="{BB962C8B-B14F-4D97-AF65-F5344CB8AC3E}">
        <p14:creationId xmlns:p14="http://schemas.microsoft.com/office/powerpoint/2010/main" val="1964636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388DBF1-6B66-4E47-9FD4-ADC90D8A431E}"/>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ARCHITECTURE</a:t>
            </a:r>
          </a:p>
        </p:txBody>
      </p:sp>
      <p:pic>
        <p:nvPicPr>
          <p:cNvPr id="17" name="图片 1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D73A2021-75B4-4E05-B2BB-7824463B18BF}"/>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Feature caching makes VAE processing chunkable</a:t>
            </a:r>
          </a:p>
        </p:txBody>
      </p:sp>
      <p:sp>
        <p:nvSpPr>
          <p:cNvPr id="4" name="矩形 3">
            <a:extLst>
              <a:ext uri="{FF2B5EF4-FFF2-40B4-BE49-F238E27FC236}">
                <a16:creationId xmlns:a16="http://schemas.microsoft.com/office/drawing/2014/main" id="{FAE8D9A0-56A8-435A-B8FC-7924A39E63FF}"/>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E14099B1-A583-4288-8272-372F8D97890E}"/>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E0515809-2DEC-4D77-9C05-8FBF96B6A94C}"/>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Reuse boundary features so each chunk sees the required causal context.</a:t>
            </a:r>
          </a:p>
        </p:txBody>
      </p:sp>
      <p:sp>
        <p:nvSpPr>
          <p:cNvPr id="7" name="矩形 6">
            <a:extLst>
              <a:ext uri="{FF2B5EF4-FFF2-40B4-BE49-F238E27FC236}">
                <a16:creationId xmlns:a16="http://schemas.microsoft.com/office/drawing/2014/main" id="{B0773F3A-DBE1-4A31-9292-63D3487D8E29}"/>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660DB18A-9C97-4CB2-B148-A46D0DAC88A4}"/>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Streaming the VAE controls memory; it does not by itself make the DiT a streaming world model.</a:t>
            </a:r>
          </a:p>
        </p:txBody>
      </p:sp>
      <p:sp>
        <p:nvSpPr>
          <p:cNvPr id="9" name="矩形 8">
            <a:extLst>
              <a:ext uri="{FF2B5EF4-FFF2-40B4-BE49-F238E27FC236}">
                <a16:creationId xmlns:a16="http://schemas.microsoft.com/office/drawing/2014/main" id="{AD5823D2-4263-42C9-9A88-E0722E99C0F3}"/>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Figure 6; Section 4.1.3</a:t>
            </a:r>
          </a:p>
        </p:txBody>
      </p:sp>
      <p:sp>
        <p:nvSpPr>
          <p:cNvPr id="10" name="矩形 9">
            <a:extLst>
              <a:ext uri="{FF2B5EF4-FFF2-40B4-BE49-F238E27FC236}">
                <a16:creationId xmlns:a16="http://schemas.microsoft.com/office/drawing/2014/main" id="{9AF604B4-8C20-442D-8EB8-4F5497EB8E83}"/>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07 / 38</a:t>
            </a:r>
          </a:p>
        </p:txBody>
      </p:sp>
      <p:pic>
        <p:nvPicPr>
          <p:cNvPr id="26" name="图片 25"/>
          <p:cNvPicPr>
            <a:picLocks noChangeAspect="1"/>
          </p:cNvPicPr>
          <p:nvPr/>
        </p:nvPicPr>
        <p:blipFill>
          <a:blip r:embed="rId4"/>
          <a:stretch/>
        </p:blipFill>
        <p:spPr>
          <a:xfrm>
            <a:off x="1206001" y="2190750"/>
            <a:ext cx="9779998" cy="2571750"/>
          </a:xfrm>
          <a:prstGeom prst="rect">
            <a:avLst/>
          </a:prstGeom>
        </p:spPr>
      </p:pic>
      <p:sp>
        <p:nvSpPr>
          <p:cNvPr id="12" name="矩形 11">
            <a:extLst>
              <a:ext uri="{FF2B5EF4-FFF2-40B4-BE49-F238E27FC236}">
                <a16:creationId xmlns:a16="http://schemas.microsoft.com/office/drawing/2014/main" id="{0E92CDFE-7B9E-4970-82D9-363A56E0CF54}"/>
              </a:ext>
            </a:extLst>
          </p:cNvPr>
          <p:cNvSpPr>
            <a:spLocks noGrp="1"/>
          </p:cNvSpPr>
          <p:nvPr/>
        </p:nvSpPr>
        <p:spPr>
          <a:xfrm>
            <a:off x="6096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Regular causal convolution</a:t>
            </a:r>
          </a:p>
        </p:txBody>
      </p:sp>
      <p:sp>
        <p:nvSpPr>
          <p:cNvPr id="13" name="矩形 12">
            <a:extLst>
              <a:ext uri="{FF2B5EF4-FFF2-40B4-BE49-F238E27FC236}">
                <a16:creationId xmlns:a16="http://schemas.microsoft.com/office/drawing/2014/main" id="{90B6305C-9EC5-4ECC-80B0-56EE4EDA2B03}"/>
              </a:ext>
            </a:extLst>
          </p:cNvPr>
          <p:cNvSpPr>
            <a:spLocks noGrp="1"/>
          </p:cNvSpPr>
          <p:nvPr/>
        </p:nvSpPr>
        <p:spPr>
          <a:xfrm>
            <a:off x="6096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Reuse preceding features instead of re-encoding all history.</a:t>
            </a:r>
          </a:p>
        </p:txBody>
      </p:sp>
      <p:sp>
        <p:nvSpPr>
          <p:cNvPr id="14" name="矩形 13">
            <a:extLst>
              <a:ext uri="{FF2B5EF4-FFF2-40B4-BE49-F238E27FC236}">
                <a16:creationId xmlns:a16="http://schemas.microsoft.com/office/drawing/2014/main" id="{CA6E3CD2-BD99-4A14-88C5-D3ABDBCE06D6}"/>
              </a:ext>
            </a:extLst>
          </p:cNvPr>
          <p:cNvSpPr>
            <a:spLocks noGrp="1"/>
          </p:cNvSpPr>
          <p:nvPr/>
        </p:nvSpPr>
        <p:spPr>
          <a:xfrm>
            <a:off x="64770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Temporal downsampling</a:t>
            </a:r>
          </a:p>
        </p:txBody>
      </p:sp>
      <p:sp>
        <p:nvSpPr>
          <p:cNvPr id="15" name="矩形 14">
            <a:extLst>
              <a:ext uri="{FF2B5EF4-FFF2-40B4-BE49-F238E27FC236}">
                <a16:creationId xmlns:a16="http://schemas.microsoft.com/office/drawing/2014/main" id="{98CD7702-9335-4B30-A387-1E876C0C71C3}"/>
              </a:ext>
            </a:extLst>
          </p:cNvPr>
          <p:cNvSpPr>
            <a:spLocks noGrp="1"/>
          </p:cNvSpPr>
          <p:nvPr/>
        </p:nvSpPr>
        <p:spPr>
          <a:xfrm>
            <a:off x="64770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Adjust cache padding to preserve the intended output length.</a:t>
            </a:r>
          </a:p>
        </p:txBody>
      </p:sp>
    </p:spTree>
    <p:extLst>
      <p:ext uri="{BB962C8B-B14F-4D97-AF65-F5344CB8AC3E}">
        <p14:creationId xmlns:p14="http://schemas.microsoft.com/office/powerpoint/2010/main" val="5289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6CB332E-F62E-4CA8-8710-19C9B7EFADCC}"/>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EVIDENCE</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06D90360-9C40-429E-B187-3C8A23E15C77}"/>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VAE evidence: reconstruction quality versus speed</a:t>
            </a:r>
          </a:p>
        </p:txBody>
      </p:sp>
      <p:sp>
        <p:nvSpPr>
          <p:cNvPr id="4" name="矩形 3">
            <a:extLst>
              <a:ext uri="{FF2B5EF4-FFF2-40B4-BE49-F238E27FC236}">
                <a16:creationId xmlns:a16="http://schemas.microsoft.com/office/drawing/2014/main" id="{AD4E56DA-F964-4223-BEA5-CD05F7FF399E}"/>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B4AC11E1-A032-428F-B53B-63D530686E97}"/>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B227A383-AD3F-4D67-9386-40F501E1A673}"/>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 useful comparison is a quality–efficiency tradeoff, not PSNR alone.</a:t>
            </a:r>
          </a:p>
        </p:txBody>
      </p:sp>
      <p:sp>
        <p:nvSpPr>
          <p:cNvPr id="7" name="矩形 6">
            <a:extLst>
              <a:ext uri="{FF2B5EF4-FFF2-40B4-BE49-F238E27FC236}">
                <a16:creationId xmlns:a16="http://schemas.microsoft.com/office/drawing/2014/main" id="{A6C1D10C-DC13-441C-BA95-6B325E542902}"/>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0E5BBAF2-E806-4B78-A9E3-B13EBDF75E64}"/>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reported 2.5× reconstruction speedup is specific to the Hunyuan comparison and test setup.</a:t>
            </a:r>
          </a:p>
        </p:txBody>
      </p:sp>
      <p:sp>
        <p:nvSpPr>
          <p:cNvPr id="9" name="矩形 8">
            <a:extLst>
              <a:ext uri="{FF2B5EF4-FFF2-40B4-BE49-F238E27FC236}">
                <a16:creationId xmlns:a16="http://schemas.microsoft.com/office/drawing/2014/main" id="{A65EFC8D-B496-4FA7-8B83-7AA06C7DA0D9}"/>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Figure 7; Section 4.1.4</a:t>
            </a:r>
          </a:p>
        </p:txBody>
      </p:sp>
      <p:sp>
        <p:nvSpPr>
          <p:cNvPr id="10" name="矩形 9">
            <a:extLst>
              <a:ext uri="{FF2B5EF4-FFF2-40B4-BE49-F238E27FC236}">
                <a16:creationId xmlns:a16="http://schemas.microsoft.com/office/drawing/2014/main" id="{C0EB92C2-61D0-4E59-ABD3-AAC3F44BBD98}"/>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08 / 38</a:t>
            </a:r>
          </a:p>
        </p:txBody>
      </p:sp>
      <p:pic>
        <p:nvPicPr>
          <p:cNvPr id="28" name="图片 27"/>
          <p:cNvPicPr>
            <a:picLocks noChangeAspect="1"/>
          </p:cNvPicPr>
          <p:nvPr/>
        </p:nvPicPr>
        <p:blipFill>
          <a:blip r:embed="rId4"/>
          <a:stretch/>
        </p:blipFill>
        <p:spPr>
          <a:xfrm>
            <a:off x="1526047" y="2238375"/>
            <a:ext cx="5329905" cy="3476625"/>
          </a:xfrm>
          <a:prstGeom prst="rect">
            <a:avLst/>
          </a:prstGeom>
        </p:spPr>
      </p:pic>
      <p:sp>
        <p:nvSpPr>
          <p:cNvPr id="12" name="矩形 11">
            <a:extLst>
              <a:ext uri="{FF2B5EF4-FFF2-40B4-BE49-F238E27FC236}">
                <a16:creationId xmlns:a16="http://schemas.microsoft.com/office/drawing/2014/main" id="{0CBE8CCC-E6FF-4B0B-91A7-3AE52BD6E5B7}"/>
              </a:ext>
            </a:extLst>
          </p:cNvPr>
          <p:cNvSpPr>
            <a:spLocks noGrp="1"/>
          </p:cNvSpPr>
          <p:nvPr/>
        </p:nvSpPr>
        <p:spPr>
          <a:xfrm>
            <a:off x="8315325" y="230505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Protocol</a:t>
            </a:r>
          </a:p>
        </p:txBody>
      </p:sp>
      <p:sp>
        <p:nvSpPr>
          <p:cNvPr id="13" name="矩形 12">
            <a:extLst>
              <a:ext uri="{FF2B5EF4-FFF2-40B4-BE49-F238E27FC236}">
                <a16:creationId xmlns:a16="http://schemas.microsoft.com/office/drawing/2014/main" id="{CA1574DD-6307-40B4-B58F-DABBF6F20745}"/>
              </a:ext>
            </a:extLst>
          </p:cNvPr>
          <p:cNvSpPr>
            <a:spLocks noGrp="1"/>
          </p:cNvSpPr>
          <p:nvPr/>
        </p:nvSpPr>
        <p:spPr>
          <a:xfrm>
            <a:off x="8315325" y="274320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200 videos; 25 frames at 720 × 720.</a:t>
            </a:r>
          </a:p>
        </p:txBody>
      </p:sp>
      <p:sp>
        <p:nvSpPr>
          <p:cNvPr id="14" name="矩形 13">
            <a:extLst>
              <a:ext uri="{FF2B5EF4-FFF2-40B4-BE49-F238E27FC236}">
                <a16:creationId xmlns:a16="http://schemas.microsoft.com/office/drawing/2014/main" id="{884A3F6E-095A-4126-9370-74AC41F988A1}"/>
              </a:ext>
            </a:extLst>
          </p:cNvPr>
          <p:cNvSpPr>
            <a:spLocks noGrp="1"/>
          </p:cNvSpPr>
          <p:nvPr/>
        </p:nvSpPr>
        <p:spPr>
          <a:xfrm>
            <a:off x="8315325" y="3438525"/>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Observation</a:t>
            </a:r>
          </a:p>
        </p:txBody>
      </p:sp>
      <p:sp>
        <p:nvSpPr>
          <p:cNvPr id="15" name="矩形 14">
            <a:extLst>
              <a:ext uri="{FF2B5EF4-FFF2-40B4-BE49-F238E27FC236}">
                <a16:creationId xmlns:a16="http://schemas.microsoft.com/office/drawing/2014/main" id="{F7A48ECE-9CE3-48B2-8C6A-05C010BC72D5}"/>
              </a:ext>
            </a:extLst>
          </p:cNvPr>
          <p:cNvSpPr>
            <a:spLocks noGrp="1"/>
          </p:cNvSpPr>
          <p:nvPr/>
        </p:nvSpPr>
        <p:spPr>
          <a:xfrm>
            <a:off x="8315325" y="3876675"/>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Wan-VAE combines competitive PSNR with higher throughput.</a:t>
            </a:r>
          </a:p>
        </p:txBody>
      </p:sp>
      <p:sp>
        <p:nvSpPr>
          <p:cNvPr id="16" name="矩形 15">
            <a:extLst>
              <a:ext uri="{FF2B5EF4-FFF2-40B4-BE49-F238E27FC236}">
                <a16:creationId xmlns:a16="http://schemas.microsoft.com/office/drawing/2014/main" id="{96DAB1F2-B24F-4E98-ADEA-8E7E3E9FA03B}"/>
              </a:ext>
            </a:extLst>
          </p:cNvPr>
          <p:cNvSpPr>
            <a:spLocks noGrp="1"/>
          </p:cNvSpPr>
          <p:nvPr/>
        </p:nvSpPr>
        <p:spPr>
          <a:xfrm>
            <a:off x="8315325" y="457200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Boundary</a:t>
            </a:r>
          </a:p>
        </p:txBody>
      </p:sp>
      <p:sp>
        <p:nvSpPr>
          <p:cNvPr id="17" name="矩形 16">
            <a:extLst>
              <a:ext uri="{FF2B5EF4-FFF2-40B4-BE49-F238E27FC236}">
                <a16:creationId xmlns:a16="http://schemas.microsoft.com/office/drawing/2014/main" id="{B0DA14D5-DDC4-4828-AEFC-7A4BA70CE699}"/>
              </a:ext>
            </a:extLst>
          </p:cNvPr>
          <p:cNvSpPr>
            <a:spLocks noGrp="1"/>
          </p:cNvSpPr>
          <p:nvPr/>
        </p:nvSpPr>
        <p:spPr>
          <a:xfrm>
            <a:off x="8315325" y="501015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Compression ratios and latent channels differ for some baselines.</a:t>
            </a:r>
          </a:p>
        </p:txBody>
      </p:sp>
    </p:spTree>
    <p:extLst>
      <p:ext uri="{BB962C8B-B14F-4D97-AF65-F5344CB8AC3E}">
        <p14:creationId xmlns:p14="http://schemas.microsoft.com/office/powerpoint/2010/main" val="1980339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9DC1F7E8-ED3A-412D-8010-BF2AD0150EAE}"/>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ARCHITECTURE</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485FB97D-F525-4128-8A18-FE8D16750C87}"/>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Inside the DiT: space, time and language</a:t>
            </a:r>
          </a:p>
        </p:txBody>
      </p:sp>
      <p:sp>
        <p:nvSpPr>
          <p:cNvPr id="4" name="矩形 3">
            <a:extLst>
              <a:ext uri="{FF2B5EF4-FFF2-40B4-BE49-F238E27FC236}">
                <a16:creationId xmlns:a16="http://schemas.microsoft.com/office/drawing/2014/main" id="{E9F78E0F-3569-4FC6-B525-64B68241F967}"/>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64908A34-25D5-41A9-BB90-05BE7A9710B6}"/>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A071D33C-7CE7-437D-8BBA-0E008B563D75}"/>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Video tokens attend across the clip; language enters through cross-attention.</a:t>
            </a:r>
          </a:p>
        </p:txBody>
      </p:sp>
      <p:sp>
        <p:nvSpPr>
          <p:cNvPr id="7" name="矩形 6">
            <a:extLst>
              <a:ext uri="{FF2B5EF4-FFF2-40B4-BE49-F238E27FC236}">
                <a16:creationId xmlns:a16="http://schemas.microsoft.com/office/drawing/2014/main" id="{D199669B-1F45-4EE3-B6BC-F1ACA4CC65A1}"/>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CAB533B8-AAC5-4234-A48F-BE3E68678904}"/>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Wan2.1 keeps a familiar DiT structure and concentrates capacity in the video transformer.</a:t>
            </a:r>
          </a:p>
        </p:txBody>
      </p:sp>
      <p:sp>
        <p:nvSpPr>
          <p:cNvPr id="9" name="矩形 8">
            <a:extLst>
              <a:ext uri="{FF2B5EF4-FFF2-40B4-BE49-F238E27FC236}">
                <a16:creationId xmlns:a16="http://schemas.microsoft.com/office/drawing/2014/main" id="{5F1B9B07-7BF4-4C5D-86CC-611041F9D76D}"/>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Wan2.1 official code | Figure 10; Section 4.2.1</a:t>
            </a:r>
          </a:p>
        </p:txBody>
      </p:sp>
      <p:sp>
        <p:nvSpPr>
          <p:cNvPr id="10" name="矩形 9">
            <a:extLst>
              <a:ext uri="{FF2B5EF4-FFF2-40B4-BE49-F238E27FC236}">
                <a16:creationId xmlns:a16="http://schemas.microsoft.com/office/drawing/2014/main" id="{C67D8F31-618D-468E-8771-668F3C4A5944}"/>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09 / 38</a:t>
            </a:r>
          </a:p>
        </p:txBody>
      </p:sp>
      <p:pic>
        <p:nvPicPr>
          <p:cNvPr id="28" name="图片 27"/>
          <p:cNvPicPr>
            <a:picLocks noChangeAspect="1"/>
          </p:cNvPicPr>
          <p:nvPr/>
        </p:nvPicPr>
        <p:blipFill>
          <a:blip r:embed="rId4"/>
          <a:stretch/>
        </p:blipFill>
        <p:spPr>
          <a:xfrm>
            <a:off x="1866697" y="2238375"/>
            <a:ext cx="3105557" cy="3476625"/>
          </a:xfrm>
          <a:prstGeom prst="rect">
            <a:avLst/>
          </a:prstGeom>
        </p:spPr>
      </p:pic>
      <p:sp>
        <p:nvSpPr>
          <p:cNvPr id="12" name="矩形 11">
            <a:extLst>
              <a:ext uri="{FF2B5EF4-FFF2-40B4-BE49-F238E27FC236}">
                <a16:creationId xmlns:a16="http://schemas.microsoft.com/office/drawing/2014/main" id="{9731959D-4906-49B5-872A-7C259B5FD8FF}"/>
              </a:ext>
            </a:extLst>
          </p:cNvPr>
          <p:cNvSpPr>
            <a:spLocks noGrp="1"/>
          </p:cNvSpPr>
          <p:nvPr/>
        </p:nvSpPr>
        <p:spPr>
          <a:xfrm>
            <a:off x="6696075" y="2305050"/>
            <a:ext cx="488632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Video self-attention</a:t>
            </a:r>
          </a:p>
        </p:txBody>
      </p:sp>
      <p:sp>
        <p:nvSpPr>
          <p:cNvPr id="13" name="矩形 12">
            <a:extLst>
              <a:ext uri="{FF2B5EF4-FFF2-40B4-BE49-F238E27FC236}">
                <a16:creationId xmlns:a16="http://schemas.microsoft.com/office/drawing/2014/main" id="{E51F727B-31A4-4897-88CD-D6E9EC27A200}"/>
              </a:ext>
            </a:extLst>
          </p:cNvPr>
          <p:cNvSpPr>
            <a:spLocks noGrp="1"/>
          </p:cNvSpPr>
          <p:nvPr/>
        </p:nvSpPr>
        <p:spPr>
          <a:xfrm>
            <a:off x="6696075" y="2743200"/>
            <a:ext cx="488632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Model spatial and temporal relations with 3D positional encoding.</a:t>
            </a:r>
          </a:p>
        </p:txBody>
      </p:sp>
      <p:sp>
        <p:nvSpPr>
          <p:cNvPr id="14" name="矩形 13">
            <a:extLst>
              <a:ext uri="{FF2B5EF4-FFF2-40B4-BE49-F238E27FC236}">
                <a16:creationId xmlns:a16="http://schemas.microsoft.com/office/drawing/2014/main" id="{167668C4-06E6-47C5-BA8D-2AFAB303EEF9}"/>
              </a:ext>
            </a:extLst>
          </p:cNvPr>
          <p:cNvSpPr>
            <a:spLocks noGrp="1"/>
          </p:cNvSpPr>
          <p:nvPr/>
        </p:nvSpPr>
        <p:spPr>
          <a:xfrm>
            <a:off x="6696075" y="3438525"/>
            <a:ext cx="488632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Text cross-attention</a:t>
            </a:r>
          </a:p>
        </p:txBody>
      </p:sp>
      <p:sp>
        <p:nvSpPr>
          <p:cNvPr id="15" name="矩形 14">
            <a:extLst>
              <a:ext uri="{FF2B5EF4-FFF2-40B4-BE49-F238E27FC236}">
                <a16:creationId xmlns:a16="http://schemas.microsoft.com/office/drawing/2014/main" id="{8F9F3780-7EE8-4E57-A971-129AF9B7CCFA}"/>
              </a:ext>
            </a:extLst>
          </p:cNvPr>
          <p:cNvSpPr>
            <a:spLocks noGrp="1"/>
          </p:cNvSpPr>
          <p:nvPr/>
        </p:nvSpPr>
        <p:spPr>
          <a:xfrm>
            <a:off x="6696075" y="3876675"/>
            <a:ext cx="488632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Read up to 512 UMT5 condition tokens.</a:t>
            </a:r>
          </a:p>
        </p:txBody>
      </p:sp>
      <p:sp>
        <p:nvSpPr>
          <p:cNvPr id="16" name="矩形 15">
            <a:extLst>
              <a:ext uri="{FF2B5EF4-FFF2-40B4-BE49-F238E27FC236}">
                <a16:creationId xmlns:a16="http://schemas.microsoft.com/office/drawing/2014/main" id="{0ABE058D-7B46-47C7-9FB2-D0257FCE9E1B}"/>
              </a:ext>
            </a:extLst>
          </p:cNvPr>
          <p:cNvSpPr>
            <a:spLocks noGrp="1"/>
          </p:cNvSpPr>
          <p:nvPr/>
        </p:nvSpPr>
        <p:spPr>
          <a:xfrm>
            <a:off x="6696075" y="4572000"/>
            <a:ext cx="488632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Time modulation</a:t>
            </a:r>
          </a:p>
        </p:txBody>
      </p:sp>
      <p:sp>
        <p:nvSpPr>
          <p:cNvPr id="17" name="矩形 16">
            <a:extLst>
              <a:ext uri="{FF2B5EF4-FFF2-40B4-BE49-F238E27FC236}">
                <a16:creationId xmlns:a16="http://schemas.microsoft.com/office/drawing/2014/main" id="{F938E966-90FF-4BA0-BD37-1DCCEDF14B41}"/>
              </a:ext>
            </a:extLst>
          </p:cNvPr>
          <p:cNvSpPr>
            <a:spLocks noGrp="1"/>
          </p:cNvSpPr>
          <p:nvPr/>
        </p:nvSpPr>
        <p:spPr>
          <a:xfrm>
            <a:off x="6696075" y="5010150"/>
            <a:ext cx="488632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Share the modulation MLP, with learned biases for individual blocks.</a:t>
            </a:r>
          </a:p>
        </p:txBody>
      </p:sp>
    </p:spTree>
    <p:extLst>
      <p:ext uri="{BB962C8B-B14F-4D97-AF65-F5344CB8AC3E}">
        <p14:creationId xmlns:p14="http://schemas.microsoft.com/office/powerpoint/2010/main" val="1075125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9B1D9219-6F3D-4463-A342-0B6A826BEE40}"/>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ARCHITECTURE</a:t>
            </a:r>
          </a:p>
        </p:txBody>
      </p:sp>
      <p:pic>
        <p:nvPicPr>
          <p:cNvPr id="13" name="图片 12"/>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A0C3D7BC-06BF-4547-8F5E-BD53FD8DCABB}"/>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Patchification still leaves a long token sequence</a:t>
            </a:r>
          </a:p>
        </p:txBody>
      </p:sp>
      <p:sp>
        <p:nvSpPr>
          <p:cNvPr id="4" name="矩形 3">
            <a:extLst>
              <a:ext uri="{FF2B5EF4-FFF2-40B4-BE49-F238E27FC236}">
                <a16:creationId xmlns:a16="http://schemas.microsoft.com/office/drawing/2014/main" id="{8E5D1A17-1F5F-42BB-8C23-92A7FDBE6572}"/>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955CD39B-EB1E-4BC8-B384-A4736C87C0D1}"/>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37FF7473-2B37-4818-9DEF-29F194F68CF8}"/>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A 1 × 2 × 2 latent patch corresponds to a 16 × 16 pixel region in Wan2.1.</a:t>
            </a:r>
          </a:p>
        </p:txBody>
      </p:sp>
      <p:sp>
        <p:nvSpPr>
          <p:cNvPr id="7" name="矩形 6">
            <a:extLst>
              <a:ext uri="{FF2B5EF4-FFF2-40B4-BE49-F238E27FC236}">
                <a16:creationId xmlns:a16="http://schemas.microsoft.com/office/drawing/2014/main" id="{A2D48960-7B9B-49B3-AEDA-8BF011A30DC0}"/>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FAE28A74-F036-4081-A20B-10C20873D4CA}"/>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Resolution and duration drive token count; parameter size does not change this tokenization.</a:t>
            </a:r>
          </a:p>
        </p:txBody>
      </p:sp>
      <p:sp>
        <p:nvSpPr>
          <p:cNvPr id="9" name="矩形 8">
            <a:extLst>
              <a:ext uri="{FF2B5EF4-FFF2-40B4-BE49-F238E27FC236}">
                <a16:creationId xmlns:a16="http://schemas.microsoft.com/office/drawing/2014/main" id="{D54D4BE8-ECBC-48EE-835B-729D717012A6}"/>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Wan2.1 official code; Wan Team, 2025 | Official model configs; sequence length derived from Section 4.2.1</a:t>
            </a:r>
          </a:p>
        </p:txBody>
      </p:sp>
      <p:sp>
        <p:nvSpPr>
          <p:cNvPr id="10" name="矩形 9">
            <a:extLst>
              <a:ext uri="{FF2B5EF4-FFF2-40B4-BE49-F238E27FC236}">
                <a16:creationId xmlns:a16="http://schemas.microsoft.com/office/drawing/2014/main" id="{A456B31C-7089-49AF-BA36-13C72D4450B8}"/>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10 / 38</a:t>
            </a:r>
          </a:p>
        </p:txBody>
      </p:sp>
      <p:graphicFrame>
        <p:nvGraphicFramePr>
          <p:cNvPr id="22" name="表格 21"/>
          <p:cNvGraphicFramePr/>
          <p:nvPr/>
        </p:nvGraphicFramePr>
        <p:xfrm>
          <a:off x="609600" y="2305050"/>
          <a:ext cx="10972800" cy="3390900"/>
        </p:xfrm>
        <a:graphic>
          <a:graphicData uri="http://schemas.openxmlformats.org/drawingml/2006/table">
            <a:tbl>
              <a:tblPr/>
              <a:tblGrid>
                <a:gridCol w="50673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565150">
                <a:tc>
                  <a:txBody>
                    <a:bodyPr/>
                    <a:lstStyle/>
                    <a:p>
                      <a:r>
                        <a:rPr sz="1500" b="1">
                          <a:solidFill>
                            <a:srgbClr val="FFFFFF"/>
                          </a:solidFill>
                          <a:latin typeface="Microsoft YaHei"/>
                          <a:ea typeface="Microsoft YaHei"/>
                          <a:cs typeface="Microsoft YaHei"/>
                        </a:rPr>
                        <a:t>Configuration</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T2V-1.3B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T2V-14B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extLst>
                  <a:ext uri="{0D108BD9-81ED-4DB2-BD59-A6C34878D82A}">
                    <a16:rowId xmlns:a16="http://schemas.microsoft.com/office/drawing/2014/main" val="10000"/>
                  </a:ext>
                </a:extLst>
              </a:tr>
              <a:tr h="565150">
                <a:tc>
                  <a:txBody>
                    <a:bodyPr/>
                    <a:lstStyle/>
                    <a:p>
                      <a:r>
                        <a:rPr sz="1500" b="1">
                          <a:solidFill>
                            <a:srgbClr val="162A4A"/>
                          </a:solidFill>
                          <a:latin typeface="Microsoft YaHei"/>
                          <a:ea typeface="Microsoft YaHei"/>
                          <a:cs typeface="Microsoft YaHei"/>
                        </a:rPr>
                        <a:t>Transformer blocks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00" b="0">
                          <a:solidFill>
                            <a:srgbClr val="162A4A"/>
                          </a:solidFill>
                          <a:latin typeface="Microsoft YaHei"/>
                          <a:ea typeface="Microsoft YaHei"/>
                          <a:cs typeface="Microsoft YaHei"/>
                        </a:rPr>
                        <a:t>30</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00" b="0">
                          <a:solidFill>
                            <a:srgbClr val="162A4A"/>
                          </a:solidFill>
                          <a:latin typeface="Microsoft YaHei"/>
                          <a:ea typeface="Microsoft YaHei"/>
                          <a:cs typeface="Microsoft YaHei"/>
                        </a:rPr>
                        <a:t>40</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1"/>
                  </a:ext>
                </a:extLst>
              </a:tr>
              <a:tr h="565150">
                <a:tc>
                  <a:txBody>
                    <a:bodyPr/>
                    <a:lstStyle/>
                    <a:p>
                      <a:r>
                        <a:rPr sz="1500" b="1">
                          <a:solidFill>
                            <a:srgbClr val="162A4A"/>
                          </a:solidFill>
                          <a:latin typeface="Microsoft YaHei"/>
                          <a:ea typeface="Microsoft YaHei"/>
                          <a:cs typeface="Microsoft YaHei"/>
                        </a:rPr>
                        <a:t>Hidden width</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00" b="0">
                          <a:solidFill>
                            <a:srgbClr val="162A4A"/>
                          </a:solidFill>
                          <a:latin typeface="Microsoft YaHei"/>
                          <a:ea typeface="Microsoft YaHei"/>
                          <a:cs typeface="Microsoft YaHei"/>
                        </a:rPr>
                        <a:t>1,536</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00" b="0">
                          <a:solidFill>
                            <a:srgbClr val="162A4A"/>
                          </a:solidFill>
                          <a:latin typeface="Microsoft YaHei"/>
                          <a:ea typeface="Microsoft YaHei"/>
                          <a:cs typeface="Microsoft YaHei"/>
                        </a:rPr>
                        <a:t>5,120</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2"/>
                  </a:ext>
                </a:extLst>
              </a:tr>
              <a:tr h="565150">
                <a:tc>
                  <a:txBody>
                    <a:bodyPr/>
                    <a:lstStyle/>
                    <a:p>
                      <a:r>
                        <a:rPr sz="1500" b="1">
                          <a:solidFill>
                            <a:srgbClr val="162A4A"/>
                          </a:solidFill>
                          <a:latin typeface="Microsoft YaHei"/>
                          <a:ea typeface="Microsoft YaHei"/>
                          <a:cs typeface="Microsoft YaHei"/>
                        </a:rPr>
                        <a:t>Attention heads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00" b="0">
                          <a:solidFill>
                            <a:srgbClr val="162A4A"/>
                          </a:solidFill>
                          <a:latin typeface="Microsoft YaHei"/>
                          <a:ea typeface="Microsoft YaHei"/>
                          <a:cs typeface="Microsoft YaHei"/>
                        </a:rPr>
                        <a:t>12</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00" b="0">
                          <a:solidFill>
                            <a:srgbClr val="162A4A"/>
                          </a:solidFill>
                          <a:latin typeface="Microsoft YaHei"/>
                          <a:ea typeface="Microsoft YaHei"/>
                          <a:cs typeface="Microsoft YaHei"/>
                        </a:rPr>
                        <a:t>40</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3"/>
                  </a:ext>
                </a:extLst>
              </a:tr>
              <a:tr h="565150">
                <a:tc>
                  <a:txBody>
                    <a:bodyPr/>
                    <a:lstStyle/>
                    <a:p>
                      <a:r>
                        <a:rPr sz="1500" b="1">
                          <a:solidFill>
                            <a:srgbClr val="162A4A"/>
                          </a:solidFill>
                          <a:latin typeface="Microsoft YaHei"/>
                          <a:ea typeface="Microsoft YaHei"/>
                          <a:cs typeface="Microsoft YaHei"/>
                        </a:rPr>
                        <a:t>Feed-forward width</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00" b="0">
                          <a:solidFill>
                            <a:srgbClr val="162A4A"/>
                          </a:solidFill>
                          <a:latin typeface="Microsoft YaHei"/>
                          <a:ea typeface="Microsoft YaHei"/>
                          <a:cs typeface="Microsoft YaHei"/>
                        </a:rPr>
                        <a:t>8,960</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00" b="0">
                          <a:solidFill>
                            <a:srgbClr val="162A4A"/>
                          </a:solidFill>
                          <a:latin typeface="Microsoft YaHei"/>
                          <a:ea typeface="Microsoft YaHei"/>
                          <a:cs typeface="Microsoft YaHei"/>
                        </a:rPr>
                        <a:t>13,824</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4"/>
                  </a:ext>
                </a:extLst>
              </a:tr>
              <a:tr h="565150">
                <a:tc>
                  <a:txBody>
                    <a:bodyPr/>
                    <a:lstStyle/>
                    <a:p>
                      <a:r>
                        <a:rPr sz="1500" b="1">
                          <a:solidFill>
                            <a:srgbClr val="162A4A"/>
                          </a:solidFill>
                          <a:latin typeface="Microsoft YaHei"/>
                          <a:ea typeface="Microsoft YaHei"/>
                          <a:cs typeface="Microsoft YaHei"/>
                        </a:rPr>
                        <a:t>81 frames at 720 × 1,280</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00" b="0">
                          <a:solidFill>
                            <a:srgbClr val="162A4A"/>
                          </a:solidFill>
                          <a:latin typeface="Microsoft YaHei"/>
                          <a:ea typeface="Microsoft YaHei"/>
                          <a:cs typeface="Microsoft YaHei"/>
                        </a:rPr>
                        <a:t>75,600 tokens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00" b="0">
                          <a:solidFill>
                            <a:srgbClr val="162A4A"/>
                          </a:solidFill>
                          <a:latin typeface="Microsoft YaHei"/>
                          <a:ea typeface="Microsoft YaHei"/>
                          <a:cs typeface="Microsoft YaHei"/>
                        </a:rPr>
                        <a:t>75,600 tokens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3574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7A66F13B-0058-49C6-A69B-57678CF2DAB8}"/>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TRAINING</a:t>
            </a:r>
          </a:p>
        </p:txBody>
      </p:sp>
      <p:pic>
        <p:nvPicPr>
          <p:cNvPr id="23" name="图片 22"/>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D070C94B-F185-473F-BBFC-FB3FEE5A7089}"/>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Flow matching learns a direction from noise to data</a:t>
            </a:r>
          </a:p>
        </p:txBody>
      </p:sp>
      <p:sp>
        <p:nvSpPr>
          <p:cNvPr id="4" name="矩形 3">
            <a:extLst>
              <a:ext uri="{FF2B5EF4-FFF2-40B4-BE49-F238E27FC236}">
                <a16:creationId xmlns:a16="http://schemas.microsoft.com/office/drawing/2014/main" id="{3FEB9A41-3E94-4443-9E99-224286062895}"/>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699C95E8-F548-494D-9963-7D17184BA9F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32E4F0A5-C4DE-4999-9B08-3D06CA0AFD88}"/>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Use the paper's convention: x₀ is noise, x₁ is a clean video latent.</a:t>
            </a:r>
          </a:p>
        </p:txBody>
      </p:sp>
      <p:sp>
        <p:nvSpPr>
          <p:cNvPr id="7" name="矩形 6">
            <a:extLst>
              <a:ext uri="{FF2B5EF4-FFF2-40B4-BE49-F238E27FC236}">
                <a16:creationId xmlns:a16="http://schemas.microsoft.com/office/drawing/2014/main" id="{CB344C8C-8A20-4ADF-AC25-0F24A5E432AF}"/>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8DE4A109-E4D6-4199-81B1-47C91FA09B16}"/>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Training fits a velocity field; inference numerically integrates it to synthesize a video.</a:t>
            </a:r>
          </a:p>
        </p:txBody>
      </p:sp>
      <p:sp>
        <p:nvSpPr>
          <p:cNvPr id="9" name="矩形 8">
            <a:extLst>
              <a:ext uri="{FF2B5EF4-FFF2-40B4-BE49-F238E27FC236}">
                <a16:creationId xmlns:a16="http://schemas.microsoft.com/office/drawing/2014/main" id="{1AB85471-0B6A-40C2-8DD9-95EE4A38C6DF}"/>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Equations 1–3; c abbreviates the text-embedding sequence</a:t>
            </a:r>
          </a:p>
        </p:txBody>
      </p:sp>
      <p:sp>
        <p:nvSpPr>
          <p:cNvPr id="10" name="矩形 9">
            <a:extLst>
              <a:ext uri="{FF2B5EF4-FFF2-40B4-BE49-F238E27FC236}">
                <a16:creationId xmlns:a16="http://schemas.microsoft.com/office/drawing/2014/main" id="{76839810-80E7-4C30-BAFE-44EA79F6A956}"/>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11 / 38</a:t>
            </a:r>
          </a:p>
        </p:txBody>
      </p:sp>
      <p:sp>
        <p:nvSpPr>
          <p:cNvPr id="11" name="矩形 10">
            <a:extLst>
              <a:ext uri="{FF2B5EF4-FFF2-40B4-BE49-F238E27FC236}">
                <a16:creationId xmlns:a16="http://schemas.microsoft.com/office/drawing/2014/main" id="{00E8E594-B552-40A7-8212-AFD6ADB0DBD2}"/>
              </a:ext>
            </a:extLst>
          </p:cNvPr>
          <p:cNvSpPr>
            <a:spLocks noGrp="1"/>
          </p:cNvSpPr>
          <p:nvPr/>
        </p:nvSpPr>
        <p:spPr>
          <a:xfrm>
            <a:off x="609600" y="2400300"/>
            <a:ext cx="2552700" cy="4572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Interpolation</a:t>
            </a:r>
          </a:p>
        </p:txBody>
      </p:sp>
      <p:sp>
        <p:nvSpPr>
          <p:cNvPr id="12" name="矩形 11">
            <a:extLst>
              <a:ext uri="{FF2B5EF4-FFF2-40B4-BE49-F238E27FC236}">
                <a16:creationId xmlns:a16="http://schemas.microsoft.com/office/drawing/2014/main" id="{76FF3F89-7CFA-4DE8-95DB-872E36198C6F}"/>
              </a:ext>
            </a:extLst>
          </p:cNvPr>
          <p:cNvSpPr>
            <a:spLocks noGrp="1"/>
          </p:cNvSpPr>
          <p:nvPr/>
        </p:nvSpPr>
        <p:spPr>
          <a:xfrm>
            <a:off x="3314700" y="2324100"/>
            <a:ext cx="8267700" cy="495300"/>
          </a:xfrm>
          <a:prstGeom prst="rect">
            <a:avLst/>
          </a:prstGeom>
          <a:noFill/>
          <a:ln w="0">
            <a:noFill/>
          </a:ln>
        </p:spPr>
        <p:txBody>
          <a:bodyPr wrap="square" lIns="0" tIns="0" rIns="0" bIns="0">
            <a:noAutofit/>
          </a:bodyPr>
          <a:lstStyle/>
          <a:p>
            <a:pPr algn="l">
              <a:defRPr sz="2400" b="0">
                <a:solidFill>
                  <a:srgbClr val="162A4A"/>
                </a:solidFill>
                <a:latin typeface="Microsoft YaHei"/>
                <a:ea typeface="Microsoft YaHei"/>
                <a:cs typeface="Microsoft YaHei"/>
              </a:defRPr>
            </a:pPr>
            <a:r>
              <a:rPr sz="2400" b="0">
                <a:solidFill>
                  <a:srgbClr val="162A4A"/>
                </a:solidFill>
                <a:latin typeface="Microsoft YaHei"/>
                <a:ea typeface="Microsoft YaHei"/>
                <a:cs typeface="Microsoft YaHei"/>
              </a:rPr>
              <a:t>xₜ = t x₁ + (1 − t) x₀</a:t>
            </a:r>
          </a:p>
        </p:txBody>
      </p:sp>
      <p:sp>
        <p:nvSpPr>
          <p:cNvPr id="13" name="矩形 12">
            <a:extLst>
              <a:ext uri="{FF2B5EF4-FFF2-40B4-BE49-F238E27FC236}">
                <a16:creationId xmlns:a16="http://schemas.microsoft.com/office/drawing/2014/main" id="{01C6E2A1-18D1-4498-B0A5-586B76EB88DC}"/>
              </a:ext>
            </a:extLst>
          </p:cNvPr>
          <p:cNvSpPr>
            <a:spLocks noGrp="1"/>
          </p:cNvSpPr>
          <p:nvPr/>
        </p:nvSpPr>
        <p:spPr>
          <a:xfrm>
            <a:off x="3314700" y="2905125"/>
            <a:ext cx="8267700" cy="419100"/>
          </a:xfrm>
          <a:prstGeom prst="rect">
            <a:avLst/>
          </a:prstGeom>
          <a:noFill/>
          <a:ln w="0">
            <a:noFill/>
          </a:ln>
        </p:spPr>
        <p:txBody>
          <a:bodyPr wrap="square" lIns="0" tIns="0" rIns="0" bIns="0">
            <a:noAutofit/>
          </a:bodyPr>
          <a:lstStyle/>
          <a:p>
            <a:pPr algn="l">
              <a:defRPr sz="1575" b="0">
                <a:solidFill>
                  <a:srgbClr val="536174"/>
                </a:solidFill>
                <a:latin typeface="Microsoft YaHei"/>
                <a:ea typeface="Microsoft YaHei"/>
                <a:cs typeface="Microsoft YaHei"/>
              </a:defRPr>
            </a:pPr>
            <a:r>
              <a:rPr sz="1575" b="0">
                <a:solidFill>
                  <a:srgbClr val="536174"/>
                </a:solidFill>
                <a:latin typeface="Microsoft YaHei"/>
                <a:ea typeface="Microsoft YaHei"/>
                <a:cs typeface="Microsoft YaHei"/>
              </a:rPr>
              <a:t>Construct a training input at a sampled time t.</a:t>
            </a:r>
          </a:p>
        </p:txBody>
      </p:sp>
      <p:sp>
        <p:nvSpPr>
          <p:cNvPr id="14" name="矩形 13">
            <a:extLst>
              <a:ext uri="{FF2B5EF4-FFF2-40B4-BE49-F238E27FC236}">
                <a16:creationId xmlns:a16="http://schemas.microsoft.com/office/drawing/2014/main" id="{6A97E4B5-B998-40D6-ABBC-0D516821F61F}"/>
              </a:ext>
            </a:extLst>
          </p:cNvPr>
          <p:cNvSpPr>
            <a:spLocks noGrp="1"/>
          </p:cNvSpPr>
          <p:nvPr/>
        </p:nvSpPr>
        <p:spPr>
          <a:xfrm>
            <a:off x="3314700" y="3343275"/>
            <a:ext cx="8267700" cy="9525"/>
          </a:xfrm>
          <a:prstGeom prst="rect">
            <a:avLst/>
          </a:prstGeom>
          <a:solidFill>
            <a:srgbClr val="D9E1ED"/>
          </a:solidFill>
          <a:ln w="0">
            <a:noFill/>
          </a:ln>
        </p:spPr>
      </p:sp>
      <p:sp>
        <p:nvSpPr>
          <p:cNvPr id="15" name="矩形 14">
            <a:extLst>
              <a:ext uri="{FF2B5EF4-FFF2-40B4-BE49-F238E27FC236}">
                <a16:creationId xmlns:a16="http://schemas.microsoft.com/office/drawing/2014/main" id="{B0EA152B-E4A0-4C20-9A0D-10568F504315}"/>
              </a:ext>
            </a:extLst>
          </p:cNvPr>
          <p:cNvSpPr>
            <a:spLocks noGrp="1"/>
          </p:cNvSpPr>
          <p:nvPr/>
        </p:nvSpPr>
        <p:spPr>
          <a:xfrm>
            <a:off x="609600" y="3533775"/>
            <a:ext cx="2552700" cy="4572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Target velocity</a:t>
            </a:r>
          </a:p>
        </p:txBody>
      </p:sp>
      <p:sp>
        <p:nvSpPr>
          <p:cNvPr id="16" name="矩形 15">
            <a:extLst>
              <a:ext uri="{FF2B5EF4-FFF2-40B4-BE49-F238E27FC236}">
                <a16:creationId xmlns:a16="http://schemas.microsoft.com/office/drawing/2014/main" id="{5080F839-6D9B-4F3C-A31E-E11D11A86D1C}"/>
              </a:ext>
            </a:extLst>
          </p:cNvPr>
          <p:cNvSpPr>
            <a:spLocks noGrp="1"/>
          </p:cNvSpPr>
          <p:nvPr/>
        </p:nvSpPr>
        <p:spPr>
          <a:xfrm>
            <a:off x="3314700" y="3457575"/>
            <a:ext cx="8267700" cy="495300"/>
          </a:xfrm>
          <a:prstGeom prst="rect">
            <a:avLst/>
          </a:prstGeom>
          <a:noFill/>
          <a:ln w="0">
            <a:noFill/>
          </a:ln>
        </p:spPr>
        <p:txBody>
          <a:bodyPr wrap="square" lIns="0" tIns="0" rIns="0" bIns="0">
            <a:noAutofit/>
          </a:bodyPr>
          <a:lstStyle/>
          <a:p>
            <a:pPr algn="l">
              <a:defRPr sz="2400" b="0">
                <a:solidFill>
                  <a:srgbClr val="162A4A"/>
                </a:solidFill>
                <a:latin typeface="Microsoft YaHei"/>
                <a:ea typeface="Microsoft YaHei"/>
                <a:cs typeface="Microsoft YaHei"/>
              </a:defRPr>
            </a:pPr>
            <a:r>
              <a:rPr sz="2400" b="0">
                <a:solidFill>
                  <a:srgbClr val="162A4A"/>
                </a:solidFill>
                <a:latin typeface="Microsoft YaHei"/>
                <a:ea typeface="Microsoft YaHei"/>
                <a:cs typeface="Microsoft YaHei"/>
              </a:rPr>
              <a:t>vₜ = x₁ − x₀</a:t>
            </a:r>
          </a:p>
        </p:txBody>
      </p:sp>
      <p:sp>
        <p:nvSpPr>
          <p:cNvPr id="17" name="矩形 16">
            <a:extLst>
              <a:ext uri="{FF2B5EF4-FFF2-40B4-BE49-F238E27FC236}">
                <a16:creationId xmlns:a16="http://schemas.microsoft.com/office/drawing/2014/main" id="{E941DFC0-E577-4F28-AA33-13939FAF5C21}"/>
              </a:ext>
            </a:extLst>
          </p:cNvPr>
          <p:cNvSpPr>
            <a:spLocks noGrp="1"/>
          </p:cNvSpPr>
          <p:nvPr/>
        </p:nvSpPr>
        <p:spPr>
          <a:xfrm>
            <a:off x="3314700" y="4038600"/>
            <a:ext cx="8267700" cy="419100"/>
          </a:xfrm>
          <a:prstGeom prst="rect">
            <a:avLst/>
          </a:prstGeom>
          <a:noFill/>
          <a:ln w="0">
            <a:noFill/>
          </a:ln>
        </p:spPr>
        <p:txBody>
          <a:bodyPr wrap="square" lIns="0" tIns="0" rIns="0" bIns="0">
            <a:noAutofit/>
          </a:bodyPr>
          <a:lstStyle/>
          <a:p>
            <a:pPr algn="l">
              <a:defRPr sz="1575" b="0">
                <a:solidFill>
                  <a:srgbClr val="536174"/>
                </a:solidFill>
                <a:latin typeface="Microsoft YaHei"/>
                <a:ea typeface="Microsoft YaHei"/>
                <a:cs typeface="Microsoft YaHei"/>
              </a:defRPr>
            </a:pPr>
            <a:r>
              <a:rPr sz="1575" b="0">
                <a:solidFill>
                  <a:srgbClr val="536174"/>
                </a:solidFill>
                <a:latin typeface="Microsoft YaHei"/>
                <a:ea typeface="Microsoft YaHei"/>
                <a:cs typeface="Microsoft YaHei"/>
              </a:rPr>
              <a:t>The straight path has a constant target direction.</a:t>
            </a:r>
          </a:p>
        </p:txBody>
      </p:sp>
      <p:sp>
        <p:nvSpPr>
          <p:cNvPr id="18" name="矩形 17">
            <a:extLst>
              <a:ext uri="{FF2B5EF4-FFF2-40B4-BE49-F238E27FC236}">
                <a16:creationId xmlns:a16="http://schemas.microsoft.com/office/drawing/2014/main" id="{AD5E6FBC-9070-416D-A071-15E4C7CB9D34}"/>
              </a:ext>
            </a:extLst>
          </p:cNvPr>
          <p:cNvSpPr>
            <a:spLocks noGrp="1"/>
          </p:cNvSpPr>
          <p:nvPr/>
        </p:nvSpPr>
        <p:spPr>
          <a:xfrm>
            <a:off x="3314700" y="4476750"/>
            <a:ext cx="8267700" cy="9525"/>
          </a:xfrm>
          <a:prstGeom prst="rect">
            <a:avLst/>
          </a:prstGeom>
          <a:solidFill>
            <a:srgbClr val="D9E1ED"/>
          </a:solidFill>
          <a:ln w="0">
            <a:noFill/>
          </a:ln>
        </p:spPr>
      </p:sp>
      <p:sp>
        <p:nvSpPr>
          <p:cNvPr id="19" name="矩形 18">
            <a:extLst>
              <a:ext uri="{FF2B5EF4-FFF2-40B4-BE49-F238E27FC236}">
                <a16:creationId xmlns:a16="http://schemas.microsoft.com/office/drawing/2014/main" id="{E3D500D9-9253-439D-AF91-67952C91DCCF}"/>
              </a:ext>
            </a:extLst>
          </p:cNvPr>
          <p:cNvSpPr>
            <a:spLocks noGrp="1"/>
          </p:cNvSpPr>
          <p:nvPr/>
        </p:nvSpPr>
        <p:spPr>
          <a:xfrm>
            <a:off x="609600" y="4667250"/>
            <a:ext cx="2552700" cy="4572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Training loss</a:t>
            </a:r>
          </a:p>
        </p:txBody>
      </p:sp>
      <p:sp>
        <p:nvSpPr>
          <p:cNvPr id="20" name="矩形 19">
            <a:extLst>
              <a:ext uri="{FF2B5EF4-FFF2-40B4-BE49-F238E27FC236}">
                <a16:creationId xmlns:a16="http://schemas.microsoft.com/office/drawing/2014/main" id="{E71A09CA-699A-470E-B5BA-2B2D37F06E53}"/>
              </a:ext>
            </a:extLst>
          </p:cNvPr>
          <p:cNvSpPr>
            <a:spLocks noGrp="1"/>
          </p:cNvSpPr>
          <p:nvPr/>
        </p:nvSpPr>
        <p:spPr>
          <a:xfrm>
            <a:off x="3314700" y="4591050"/>
            <a:ext cx="8267700" cy="495300"/>
          </a:xfrm>
          <a:prstGeom prst="rect">
            <a:avLst/>
          </a:prstGeom>
          <a:noFill/>
          <a:ln w="0">
            <a:noFill/>
          </a:ln>
        </p:spPr>
        <p:txBody>
          <a:bodyPr wrap="square" lIns="0" tIns="0" rIns="0" bIns="0">
            <a:noAutofit/>
          </a:bodyPr>
          <a:lstStyle/>
          <a:p>
            <a:pPr algn="l">
              <a:defRPr sz="2400" b="0">
                <a:solidFill>
                  <a:srgbClr val="162A4A"/>
                </a:solidFill>
                <a:latin typeface="Microsoft YaHei"/>
                <a:ea typeface="Microsoft YaHei"/>
                <a:cs typeface="Microsoft YaHei"/>
              </a:defRPr>
            </a:pPr>
            <a:r>
              <a:rPr sz="2400" b="0">
                <a:solidFill>
                  <a:srgbClr val="162A4A"/>
                </a:solidFill>
                <a:latin typeface="Microsoft YaHei"/>
                <a:ea typeface="Microsoft YaHei"/>
                <a:cs typeface="Microsoft YaHei"/>
              </a:rPr>
              <a:t>L = E[‖u(xₜ, c, t; θ) − vₜ‖²]</a:t>
            </a:r>
          </a:p>
        </p:txBody>
      </p:sp>
      <p:sp>
        <p:nvSpPr>
          <p:cNvPr id="21" name="矩形 20">
            <a:extLst>
              <a:ext uri="{FF2B5EF4-FFF2-40B4-BE49-F238E27FC236}">
                <a16:creationId xmlns:a16="http://schemas.microsoft.com/office/drawing/2014/main" id="{331AE491-0476-431E-8DE5-2E52A6D23FFC}"/>
              </a:ext>
            </a:extLst>
          </p:cNvPr>
          <p:cNvSpPr>
            <a:spLocks noGrp="1"/>
          </p:cNvSpPr>
          <p:nvPr/>
        </p:nvSpPr>
        <p:spPr>
          <a:xfrm>
            <a:off x="3314700" y="5172075"/>
            <a:ext cx="8267700" cy="419100"/>
          </a:xfrm>
          <a:prstGeom prst="rect">
            <a:avLst/>
          </a:prstGeom>
          <a:noFill/>
          <a:ln w="0">
            <a:noFill/>
          </a:ln>
        </p:spPr>
        <p:txBody>
          <a:bodyPr wrap="square" lIns="0" tIns="0" rIns="0" bIns="0">
            <a:noAutofit/>
          </a:bodyPr>
          <a:lstStyle/>
          <a:p>
            <a:pPr algn="l">
              <a:defRPr sz="1575" b="0">
                <a:solidFill>
                  <a:srgbClr val="536174"/>
                </a:solidFill>
                <a:latin typeface="Microsoft YaHei"/>
                <a:ea typeface="Microsoft YaHei"/>
                <a:cs typeface="Microsoft YaHei"/>
              </a:defRPr>
            </a:pPr>
            <a:r>
              <a:rPr sz="1575" b="0">
                <a:solidFill>
                  <a:srgbClr val="536174"/>
                </a:solidFill>
                <a:latin typeface="Microsoft YaHei"/>
                <a:ea typeface="Microsoft YaHei"/>
                <a:cs typeface="Microsoft YaHei"/>
              </a:rPr>
              <a:t>Predict velocity from the noisy latent, text condition and time.</a:t>
            </a:r>
          </a:p>
        </p:txBody>
      </p:sp>
    </p:spTree>
    <p:extLst>
      <p:ext uri="{BB962C8B-B14F-4D97-AF65-F5344CB8AC3E}">
        <p14:creationId xmlns:p14="http://schemas.microsoft.com/office/powerpoint/2010/main" val="153102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72C2F79D-FF89-4DE8-82F4-115315202750}"/>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TRAINING</a:t>
            </a:r>
          </a:p>
        </p:txBody>
      </p:sp>
      <p:pic>
        <p:nvPicPr>
          <p:cNvPr id="27" name="图片 2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179FCE12-63CB-4083-8703-B07938D7B027}"/>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A curriculum builds semantics before expensive video</a:t>
            </a:r>
          </a:p>
        </p:txBody>
      </p:sp>
      <p:sp>
        <p:nvSpPr>
          <p:cNvPr id="4" name="矩形 3">
            <a:extLst>
              <a:ext uri="{FF2B5EF4-FFF2-40B4-BE49-F238E27FC236}">
                <a16:creationId xmlns:a16="http://schemas.microsoft.com/office/drawing/2014/main" id="{4E789080-F2AD-41C4-B247-1EC3FC60F340}"/>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33787976-7B83-49BE-803F-AEA3410B91C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E7F124D4-0419-4E70-BA94-76AEE2F7C5E9}"/>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 14B training recipe progressively raises spatial and temporal complexity.</a:t>
            </a:r>
          </a:p>
        </p:txBody>
      </p:sp>
      <p:sp>
        <p:nvSpPr>
          <p:cNvPr id="7" name="矩形 6">
            <a:extLst>
              <a:ext uri="{FF2B5EF4-FFF2-40B4-BE49-F238E27FC236}">
                <a16:creationId xmlns:a16="http://schemas.microsoft.com/office/drawing/2014/main" id="{21F6A203-831F-451E-9684-AE6973618112}"/>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0291A1F1-458F-4381-93EC-AB28BC935E5E}"/>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curriculum increases data throughput early and spends high-resolution compute later.</a:t>
            </a:r>
          </a:p>
        </p:txBody>
      </p:sp>
      <p:sp>
        <p:nvSpPr>
          <p:cNvPr id="9" name="矩形 8">
            <a:extLst>
              <a:ext uri="{FF2B5EF4-FFF2-40B4-BE49-F238E27FC236}">
                <a16:creationId xmlns:a16="http://schemas.microsoft.com/office/drawing/2014/main" id="{F0D428A0-1D94-4FDA-BFC2-8DB77AC0C84E}"/>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Sections 4.2.2–4.2.3; resolution labels follow the report</a:t>
            </a:r>
          </a:p>
        </p:txBody>
      </p:sp>
      <p:sp>
        <p:nvSpPr>
          <p:cNvPr id="10" name="矩形 9">
            <a:extLst>
              <a:ext uri="{FF2B5EF4-FFF2-40B4-BE49-F238E27FC236}">
                <a16:creationId xmlns:a16="http://schemas.microsoft.com/office/drawing/2014/main" id="{4380A4BD-90BE-4A94-B7D8-610D88FC72EB}"/>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12 / 38</a:t>
            </a:r>
          </a:p>
        </p:txBody>
      </p:sp>
      <p:sp>
        <p:nvSpPr>
          <p:cNvPr id="11" name="矩形 10">
            <a:extLst>
              <a:ext uri="{FF2B5EF4-FFF2-40B4-BE49-F238E27FC236}">
                <a16:creationId xmlns:a16="http://schemas.microsoft.com/office/drawing/2014/main" id="{671C0F38-A419-4CB3-A794-6B59353F46DA}"/>
              </a:ext>
            </a:extLst>
          </p:cNvPr>
          <p:cNvSpPr>
            <a:spLocks noGrp="1"/>
          </p:cNvSpPr>
          <p:nvPr/>
        </p:nvSpPr>
        <p:spPr>
          <a:xfrm>
            <a:off x="609600" y="22955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01</a:t>
            </a:r>
          </a:p>
        </p:txBody>
      </p:sp>
      <p:sp>
        <p:nvSpPr>
          <p:cNvPr id="12" name="矩形 11">
            <a:extLst>
              <a:ext uri="{FF2B5EF4-FFF2-40B4-BE49-F238E27FC236}">
                <a16:creationId xmlns:a16="http://schemas.microsoft.com/office/drawing/2014/main" id="{D5EDFABC-2600-4076-A163-05E92315E453}"/>
              </a:ext>
            </a:extLst>
          </p:cNvPr>
          <p:cNvSpPr>
            <a:spLocks noGrp="1"/>
          </p:cNvSpPr>
          <p:nvPr/>
        </p:nvSpPr>
        <p:spPr>
          <a:xfrm>
            <a:off x="1323975" y="23145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Image stage</a:t>
            </a:r>
          </a:p>
        </p:txBody>
      </p:sp>
      <p:sp>
        <p:nvSpPr>
          <p:cNvPr id="13" name="矩形 12">
            <a:extLst>
              <a:ext uri="{FF2B5EF4-FFF2-40B4-BE49-F238E27FC236}">
                <a16:creationId xmlns:a16="http://schemas.microsoft.com/office/drawing/2014/main" id="{7234A1AC-A67F-4C86-9BC7-497748520989}"/>
              </a:ext>
            </a:extLst>
          </p:cNvPr>
          <p:cNvSpPr>
            <a:spLocks noGrp="1"/>
          </p:cNvSpPr>
          <p:nvPr/>
        </p:nvSpPr>
        <p:spPr>
          <a:xfrm>
            <a:off x="4095750" y="23145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Start with 256-pixel image pretraining to learn semantic and spatial structure.</a:t>
            </a:r>
          </a:p>
        </p:txBody>
      </p:sp>
      <p:sp>
        <p:nvSpPr>
          <p:cNvPr id="14" name="矩形 13">
            <a:extLst>
              <a:ext uri="{FF2B5EF4-FFF2-40B4-BE49-F238E27FC236}">
                <a16:creationId xmlns:a16="http://schemas.microsoft.com/office/drawing/2014/main" id="{B04A2555-64B5-4C6D-B15B-9B4065B5C68E}"/>
              </a:ext>
            </a:extLst>
          </p:cNvPr>
          <p:cNvSpPr>
            <a:spLocks noGrp="1"/>
          </p:cNvSpPr>
          <p:nvPr/>
        </p:nvSpPr>
        <p:spPr>
          <a:xfrm>
            <a:off x="1323975" y="3009900"/>
            <a:ext cx="10258425" cy="9525"/>
          </a:xfrm>
          <a:prstGeom prst="rect">
            <a:avLst/>
          </a:prstGeom>
          <a:solidFill>
            <a:srgbClr val="D9E1ED"/>
          </a:solidFill>
          <a:ln w="0">
            <a:noFill/>
          </a:ln>
        </p:spPr>
      </p:sp>
      <p:sp>
        <p:nvSpPr>
          <p:cNvPr id="15" name="矩形 14">
            <a:extLst>
              <a:ext uri="{FF2B5EF4-FFF2-40B4-BE49-F238E27FC236}">
                <a16:creationId xmlns:a16="http://schemas.microsoft.com/office/drawing/2014/main" id="{4D19DB6F-11EB-4953-A5D2-8032AFD65FED}"/>
              </a:ext>
            </a:extLst>
          </p:cNvPr>
          <p:cNvSpPr>
            <a:spLocks noGrp="1"/>
          </p:cNvSpPr>
          <p:nvPr/>
        </p:nvSpPr>
        <p:spPr>
          <a:xfrm>
            <a:off x="609600" y="31527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02</a:t>
            </a:r>
          </a:p>
        </p:txBody>
      </p:sp>
      <p:sp>
        <p:nvSpPr>
          <p:cNvPr id="16" name="矩形 15">
            <a:extLst>
              <a:ext uri="{FF2B5EF4-FFF2-40B4-BE49-F238E27FC236}">
                <a16:creationId xmlns:a16="http://schemas.microsoft.com/office/drawing/2014/main" id="{7E8AA999-0323-4727-AD69-48F357492D0F}"/>
              </a:ext>
            </a:extLst>
          </p:cNvPr>
          <p:cNvSpPr>
            <a:spLocks noGrp="1"/>
          </p:cNvSpPr>
          <p:nvPr/>
        </p:nvSpPr>
        <p:spPr>
          <a:xfrm>
            <a:off x="1323975" y="31718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Joint stage 1</a:t>
            </a:r>
          </a:p>
        </p:txBody>
      </p:sp>
      <p:sp>
        <p:nvSpPr>
          <p:cNvPr id="17" name="矩形 16">
            <a:extLst>
              <a:ext uri="{FF2B5EF4-FFF2-40B4-BE49-F238E27FC236}">
                <a16:creationId xmlns:a16="http://schemas.microsoft.com/office/drawing/2014/main" id="{43181C28-C8D6-4BD6-A5EE-5DF1E446155C}"/>
              </a:ext>
            </a:extLst>
          </p:cNvPr>
          <p:cNvSpPr>
            <a:spLocks noGrp="1"/>
          </p:cNvSpPr>
          <p:nvPr/>
        </p:nvSpPr>
        <p:spPr>
          <a:xfrm>
            <a:off x="4095750" y="31718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Mix images with 5-second videos at low resolution: 192-pixel video, 16 FPS.</a:t>
            </a:r>
          </a:p>
        </p:txBody>
      </p:sp>
      <p:sp>
        <p:nvSpPr>
          <p:cNvPr id="18" name="矩形 17">
            <a:extLst>
              <a:ext uri="{FF2B5EF4-FFF2-40B4-BE49-F238E27FC236}">
                <a16:creationId xmlns:a16="http://schemas.microsoft.com/office/drawing/2014/main" id="{E81496D1-DB0C-4F11-AF00-047E3E7A1EF4}"/>
              </a:ext>
            </a:extLst>
          </p:cNvPr>
          <p:cNvSpPr>
            <a:spLocks noGrp="1"/>
          </p:cNvSpPr>
          <p:nvPr/>
        </p:nvSpPr>
        <p:spPr>
          <a:xfrm>
            <a:off x="1323975" y="3867150"/>
            <a:ext cx="10258425" cy="9525"/>
          </a:xfrm>
          <a:prstGeom prst="rect">
            <a:avLst/>
          </a:prstGeom>
          <a:solidFill>
            <a:srgbClr val="D9E1ED"/>
          </a:solidFill>
          <a:ln w="0">
            <a:noFill/>
          </a:ln>
        </p:spPr>
      </p:sp>
      <p:sp>
        <p:nvSpPr>
          <p:cNvPr id="19" name="矩形 18">
            <a:extLst>
              <a:ext uri="{FF2B5EF4-FFF2-40B4-BE49-F238E27FC236}">
                <a16:creationId xmlns:a16="http://schemas.microsoft.com/office/drawing/2014/main" id="{03CF6451-424B-408D-8B06-0B38D0135C53}"/>
              </a:ext>
            </a:extLst>
          </p:cNvPr>
          <p:cNvSpPr>
            <a:spLocks noGrp="1"/>
          </p:cNvSpPr>
          <p:nvPr/>
        </p:nvSpPr>
        <p:spPr>
          <a:xfrm>
            <a:off x="609600" y="40100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03</a:t>
            </a:r>
          </a:p>
        </p:txBody>
      </p:sp>
      <p:sp>
        <p:nvSpPr>
          <p:cNvPr id="20" name="矩形 19">
            <a:extLst>
              <a:ext uri="{FF2B5EF4-FFF2-40B4-BE49-F238E27FC236}">
                <a16:creationId xmlns:a16="http://schemas.microsoft.com/office/drawing/2014/main" id="{C204C40B-B9A5-47A5-B2B4-18584EE330DD}"/>
              </a:ext>
            </a:extLst>
          </p:cNvPr>
          <p:cNvSpPr>
            <a:spLocks noGrp="1"/>
          </p:cNvSpPr>
          <p:nvPr/>
        </p:nvSpPr>
        <p:spPr>
          <a:xfrm>
            <a:off x="1323975" y="40290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Joint stages 2–3</a:t>
            </a:r>
          </a:p>
        </p:txBody>
      </p:sp>
      <p:sp>
        <p:nvSpPr>
          <p:cNvPr id="21" name="矩形 20">
            <a:extLst>
              <a:ext uri="{FF2B5EF4-FFF2-40B4-BE49-F238E27FC236}">
                <a16:creationId xmlns:a16="http://schemas.microsoft.com/office/drawing/2014/main" id="{DFB8A8D8-1F3F-4AC4-9C09-DD73F4D2A9E8}"/>
              </a:ext>
            </a:extLst>
          </p:cNvPr>
          <p:cNvSpPr>
            <a:spLocks noGrp="1"/>
          </p:cNvSpPr>
          <p:nvPr/>
        </p:nvSpPr>
        <p:spPr>
          <a:xfrm>
            <a:off x="4095750" y="40290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Raise image/video resolution to 480 pixels, then 720 pixels.</a:t>
            </a:r>
          </a:p>
        </p:txBody>
      </p:sp>
      <p:sp>
        <p:nvSpPr>
          <p:cNvPr id="22" name="矩形 21">
            <a:extLst>
              <a:ext uri="{FF2B5EF4-FFF2-40B4-BE49-F238E27FC236}">
                <a16:creationId xmlns:a16="http://schemas.microsoft.com/office/drawing/2014/main" id="{383D8B87-9442-424C-9321-8F4B15F3AEDB}"/>
              </a:ext>
            </a:extLst>
          </p:cNvPr>
          <p:cNvSpPr>
            <a:spLocks noGrp="1"/>
          </p:cNvSpPr>
          <p:nvPr/>
        </p:nvSpPr>
        <p:spPr>
          <a:xfrm>
            <a:off x="1323975" y="4724400"/>
            <a:ext cx="10258425" cy="9525"/>
          </a:xfrm>
          <a:prstGeom prst="rect">
            <a:avLst/>
          </a:prstGeom>
          <a:solidFill>
            <a:srgbClr val="D9E1ED"/>
          </a:solidFill>
          <a:ln w="0">
            <a:noFill/>
          </a:ln>
        </p:spPr>
      </p:sp>
      <p:sp>
        <p:nvSpPr>
          <p:cNvPr id="23" name="矩形 22">
            <a:extLst>
              <a:ext uri="{FF2B5EF4-FFF2-40B4-BE49-F238E27FC236}">
                <a16:creationId xmlns:a16="http://schemas.microsoft.com/office/drawing/2014/main" id="{E84B2C95-FDD1-404E-95F8-3B27203A89A8}"/>
              </a:ext>
            </a:extLst>
          </p:cNvPr>
          <p:cNvSpPr>
            <a:spLocks noGrp="1"/>
          </p:cNvSpPr>
          <p:nvPr/>
        </p:nvSpPr>
        <p:spPr>
          <a:xfrm>
            <a:off x="609600" y="48672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04</a:t>
            </a:r>
          </a:p>
        </p:txBody>
      </p:sp>
      <p:sp>
        <p:nvSpPr>
          <p:cNvPr id="24" name="矩形 23">
            <a:extLst>
              <a:ext uri="{FF2B5EF4-FFF2-40B4-BE49-F238E27FC236}">
                <a16:creationId xmlns:a16="http://schemas.microsoft.com/office/drawing/2014/main" id="{0BAB5DD8-5A57-4800-BA93-DBEAC32A3138}"/>
              </a:ext>
            </a:extLst>
          </p:cNvPr>
          <p:cNvSpPr>
            <a:spLocks noGrp="1"/>
          </p:cNvSpPr>
          <p:nvPr/>
        </p:nvSpPr>
        <p:spPr>
          <a:xfrm>
            <a:off x="1323975" y="48863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Post-training</a:t>
            </a:r>
          </a:p>
        </p:txBody>
      </p:sp>
      <p:sp>
        <p:nvSpPr>
          <p:cNvPr id="25" name="矩形 24">
            <a:extLst>
              <a:ext uri="{FF2B5EF4-FFF2-40B4-BE49-F238E27FC236}">
                <a16:creationId xmlns:a16="http://schemas.microsoft.com/office/drawing/2014/main" id="{C0472AB3-7189-4E16-A149-E7F9F66AA63B}"/>
              </a:ext>
            </a:extLst>
          </p:cNvPr>
          <p:cNvSpPr>
            <a:spLocks noGrp="1"/>
          </p:cNvSpPr>
          <p:nvPr/>
        </p:nvSpPr>
        <p:spPr>
          <a:xfrm>
            <a:off x="4095750" y="48863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Continue with curated high-quality video at 480 and 720 pixels.</a:t>
            </a:r>
          </a:p>
        </p:txBody>
      </p:sp>
    </p:spTree>
    <p:extLst>
      <p:ext uri="{BB962C8B-B14F-4D97-AF65-F5344CB8AC3E}">
        <p14:creationId xmlns:p14="http://schemas.microsoft.com/office/powerpoint/2010/main" val="554647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F7376139-C9BA-4DE2-B0F6-C716136DE91E}"/>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DATA</a:t>
            </a:r>
          </a:p>
        </p:txBody>
      </p:sp>
      <p:pic>
        <p:nvPicPr>
          <p:cNvPr id="27" name="图片 2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936E7845-0CF2-4E2B-8CA3-C3F2045B4765}"/>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The data pipeline teaches more than visual quality</a:t>
            </a:r>
          </a:p>
        </p:txBody>
      </p:sp>
      <p:sp>
        <p:nvSpPr>
          <p:cNvPr id="4" name="矩形 3">
            <a:extLst>
              <a:ext uri="{FF2B5EF4-FFF2-40B4-BE49-F238E27FC236}">
                <a16:creationId xmlns:a16="http://schemas.microsoft.com/office/drawing/2014/main" id="{8DB41882-AE78-48D3-A7D8-9B21C0DEBEAF}"/>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5796D7EA-9D6F-413D-AFE9-2FD00716E12C}"/>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0CE9A09D-F0E9-4B86-8CEA-83F5CB126C37}"/>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Coverage, motion filtering and dense descriptions determine what the generator can learn.</a:t>
            </a:r>
          </a:p>
        </p:txBody>
      </p:sp>
      <p:sp>
        <p:nvSpPr>
          <p:cNvPr id="7" name="矩形 6">
            <a:extLst>
              <a:ext uri="{FF2B5EF4-FFF2-40B4-BE49-F238E27FC236}">
                <a16:creationId xmlns:a16="http://schemas.microsoft.com/office/drawing/2014/main" id="{1D7106F9-6407-49E5-AA88-FED30D112534}"/>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74DDCCCD-5749-4718-BC1F-B9B85C56805E}"/>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Qwen appears in the captioning pipeline; UMT5 remains the generator's text encoder.</a:t>
            </a:r>
          </a:p>
        </p:txBody>
      </p:sp>
      <p:sp>
        <p:nvSpPr>
          <p:cNvPr id="9" name="矩形 8">
            <a:extLst>
              <a:ext uri="{FF2B5EF4-FFF2-40B4-BE49-F238E27FC236}">
                <a16:creationId xmlns:a16="http://schemas.microsoft.com/office/drawing/2014/main" id="{BB117D28-57D4-44EC-BC0F-9B2C9284C5AB}"/>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Sections 3.1–3.3; Figure 3</a:t>
            </a:r>
          </a:p>
        </p:txBody>
      </p:sp>
      <p:sp>
        <p:nvSpPr>
          <p:cNvPr id="10" name="矩形 9">
            <a:extLst>
              <a:ext uri="{FF2B5EF4-FFF2-40B4-BE49-F238E27FC236}">
                <a16:creationId xmlns:a16="http://schemas.microsoft.com/office/drawing/2014/main" id="{5AF24AA6-5908-42C9-B5A2-9184389C3169}"/>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13 / 38</a:t>
            </a:r>
          </a:p>
        </p:txBody>
      </p:sp>
      <p:sp>
        <p:nvSpPr>
          <p:cNvPr id="11" name="矩形 10">
            <a:extLst>
              <a:ext uri="{FF2B5EF4-FFF2-40B4-BE49-F238E27FC236}">
                <a16:creationId xmlns:a16="http://schemas.microsoft.com/office/drawing/2014/main" id="{23598EEE-86A4-4923-BA07-D6600C3F329B}"/>
              </a:ext>
            </a:extLst>
          </p:cNvPr>
          <p:cNvSpPr>
            <a:spLocks noGrp="1"/>
          </p:cNvSpPr>
          <p:nvPr/>
        </p:nvSpPr>
        <p:spPr>
          <a:xfrm>
            <a:off x="609600" y="22955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01</a:t>
            </a:r>
          </a:p>
        </p:txBody>
      </p:sp>
      <p:sp>
        <p:nvSpPr>
          <p:cNvPr id="12" name="矩形 11">
            <a:extLst>
              <a:ext uri="{FF2B5EF4-FFF2-40B4-BE49-F238E27FC236}">
                <a16:creationId xmlns:a16="http://schemas.microsoft.com/office/drawing/2014/main" id="{780AC7CA-145B-404F-8A6D-1D9FF048CCBA}"/>
              </a:ext>
            </a:extLst>
          </p:cNvPr>
          <p:cNvSpPr>
            <a:spLocks noGrp="1"/>
          </p:cNvSpPr>
          <p:nvPr/>
        </p:nvSpPr>
        <p:spPr>
          <a:xfrm>
            <a:off x="1323975" y="23145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Filter</a:t>
            </a:r>
          </a:p>
        </p:txBody>
      </p:sp>
      <p:sp>
        <p:nvSpPr>
          <p:cNvPr id="13" name="矩形 12">
            <a:extLst>
              <a:ext uri="{FF2B5EF4-FFF2-40B4-BE49-F238E27FC236}">
                <a16:creationId xmlns:a16="http://schemas.microsoft.com/office/drawing/2014/main" id="{0415ACE0-3795-44C2-9EEF-B1F896DA3115}"/>
              </a:ext>
            </a:extLst>
          </p:cNvPr>
          <p:cNvSpPr>
            <a:spLocks noGrp="1"/>
          </p:cNvSpPr>
          <p:nvPr/>
        </p:nvSpPr>
        <p:spPr>
          <a:xfrm>
            <a:off x="4095750" y="23145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Remove poor technical quality, weak aesthetics, unwanted text and unsuitable motion.</a:t>
            </a:r>
          </a:p>
        </p:txBody>
      </p:sp>
      <p:sp>
        <p:nvSpPr>
          <p:cNvPr id="14" name="矩形 13">
            <a:extLst>
              <a:ext uri="{FF2B5EF4-FFF2-40B4-BE49-F238E27FC236}">
                <a16:creationId xmlns:a16="http://schemas.microsoft.com/office/drawing/2014/main" id="{033D0893-9951-4461-809A-C01EE198AD56}"/>
              </a:ext>
            </a:extLst>
          </p:cNvPr>
          <p:cNvSpPr>
            <a:spLocks noGrp="1"/>
          </p:cNvSpPr>
          <p:nvPr/>
        </p:nvSpPr>
        <p:spPr>
          <a:xfrm>
            <a:off x="1323975" y="3009900"/>
            <a:ext cx="10258425" cy="9525"/>
          </a:xfrm>
          <a:prstGeom prst="rect">
            <a:avLst/>
          </a:prstGeom>
          <a:solidFill>
            <a:srgbClr val="D9E1ED"/>
          </a:solidFill>
          <a:ln w="0">
            <a:noFill/>
          </a:ln>
        </p:spPr>
      </p:sp>
      <p:sp>
        <p:nvSpPr>
          <p:cNvPr id="15" name="矩形 14">
            <a:extLst>
              <a:ext uri="{FF2B5EF4-FFF2-40B4-BE49-F238E27FC236}">
                <a16:creationId xmlns:a16="http://schemas.microsoft.com/office/drawing/2014/main" id="{2DAA4D7A-87B2-49B5-BC98-075EBD6B0538}"/>
              </a:ext>
            </a:extLst>
          </p:cNvPr>
          <p:cNvSpPr>
            <a:spLocks noGrp="1"/>
          </p:cNvSpPr>
          <p:nvPr/>
        </p:nvSpPr>
        <p:spPr>
          <a:xfrm>
            <a:off x="609600" y="31527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02</a:t>
            </a:r>
          </a:p>
        </p:txBody>
      </p:sp>
      <p:sp>
        <p:nvSpPr>
          <p:cNvPr id="16" name="矩形 15">
            <a:extLst>
              <a:ext uri="{FF2B5EF4-FFF2-40B4-BE49-F238E27FC236}">
                <a16:creationId xmlns:a16="http://schemas.microsoft.com/office/drawing/2014/main" id="{6152F261-FFA6-4110-A209-52980A99686E}"/>
              </a:ext>
            </a:extLst>
          </p:cNvPr>
          <p:cNvSpPr>
            <a:spLocks noGrp="1"/>
          </p:cNvSpPr>
          <p:nvPr/>
        </p:nvSpPr>
        <p:spPr>
          <a:xfrm>
            <a:off x="1323975" y="31718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Balance</a:t>
            </a:r>
          </a:p>
        </p:txBody>
      </p:sp>
      <p:sp>
        <p:nvSpPr>
          <p:cNvPr id="17" name="矩形 16">
            <a:extLst>
              <a:ext uri="{FF2B5EF4-FFF2-40B4-BE49-F238E27FC236}">
                <a16:creationId xmlns:a16="http://schemas.microsoft.com/office/drawing/2014/main" id="{0B1DB7BB-73FA-47FC-86B5-9BAA80C4F9F7}"/>
              </a:ext>
            </a:extLst>
          </p:cNvPr>
          <p:cNvSpPr>
            <a:spLocks noGrp="1"/>
          </p:cNvSpPr>
          <p:nvPr/>
        </p:nvSpPr>
        <p:spPr>
          <a:xfrm>
            <a:off x="4095750" y="31718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Adjust motion, quality and category proportions across training phases.</a:t>
            </a:r>
          </a:p>
        </p:txBody>
      </p:sp>
      <p:sp>
        <p:nvSpPr>
          <p:cNvPr id="18" name="矩形 17">
            <a:extLst>
              <a:ext uri="{FF2B5EF4-FFF2-40B4-BE49-F238E27FC236}">
                <a16:creationId xmlns:a16="http://schemas.microsoft.com/office/drawing/2014/main" id="{C7005693-9822-4293-B536-5A4AD68CC093}"/>
              </a:ext>
            </a:extLst>
          </p:cNvPr>
          <p:cNvSpPr>
            <a:spLocks noGrp="1"/>
          </p:cNvSpPr>
          <p:nvPr/>
        </p:nvSpPr>
        <p:spPr>
          <a:xfrm>
            <a:off x="1323975" y="3867150"/>
            <a:ext cx="10258425" cy="9525"/>
          </a:xfrm>
          <a:prstGeom prst="rect">
            <a:avLst/>
          </a:prstGeom>
          <a:solidFill>
            <a:srgbClr val="D9E1ED"/>
          </a:solidFill>
          <a:ln w="0">
            <a:noFill/>
          </a:ln>
        </p:spPr>
      </p:sp>
      <p:sp>
        <p:nvSpPr>
          <p:cNvPr id="19" name="矩形 18">
            <a:extLst>
              <a:ext uri="{FF2B5EF4-FFF2-40B4-BE49-F238E27FC236}">
                <a16:creationId xmlns:a16="http://schemas.microsoft.com/office/drawing/2014/main" id="{C6A5FFF9-3636-4CF0-9C55-63CD528C6441}"/>
              </a:ext>
            </a:extLst>
          </p:cNvPr>
          <p:cNvSpPr>
            <a:spLocks noGrp="1"/>
          </p:cNvSpPr>
          <p:nvPr/>
        </p:nvSpPr>
        <p:spPr>
          <a:xfrm>
            <a:off x="609600" y="40100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03</a:t>
            </a:r>
          </a:p>
        </p:txBody>
      </p:sp>
      <p:sp>
        <p:nvSpPr>
          <p:cNvPr id="20" name="矩形 19">
            <a:extLst>
              <a:ext uri="{FF2B5EF4-FFF2-40B4-BE49-F238E27FC236}">
                <a16:creationId xmlns:a16="http://schemas.microsoft.com/office/drawing/2014/main" id="{2260E23A-D792-44D3-9C5C-0BE54F298307}"/>
              </a:ext>
            </a:extLst>
          </p:cNvPr>
          <p:cNvSpPr>
            <a:spLocks noGrp="1"/>
          </p:cNvSpPr>
          <p:nvPr/>
        </p:nvSpPr>
        <p:spPr>
          <a:xfrm>
            <a:off x="1323975" y="40290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Describe</a:t>
            </a:r>
          </a:p>
        </p:txBody>
      </p:sp>
      <p:sp>
        <p:nvSpPr>
          <p:cNvPr id="21" name="矩形 20">
            <a:extLst>
              <a:ext uri="{FF2B5EF4-FFF2-40B4-BE49-F238E27FC236}">
                <a16:creationId xmlns:a16="http://schemas.microsoft.com/office/drawing/2014/main" id="{468415C2-08C6-4396-A9FE-5C480C17A331}"/>
              </a:ext>
            </a:extLst>
          </p:cNvPr>
          <p:cNvSpPr>
            <a:spLocks noGrp="1"/>
          </p:cNvSpPr>
          <p:nvPr/>
        </p:nvSpPr>
        <p:spPr>
          <a:xfrm>
            <a:off x="4095750" y="40290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Produce dense captions covering events, objects, camera motion and relationships.</a:t>
            </a:r>
          </a:p>
        </p:txBody>
      </p:sp>
      <p:sp>
        <p:nvSpPr>
          <p:cNvPr id="22" name="矩形 21">
            <a:extLst>
              <a:ext uri="{FF2B5EF4-FFF2-40B4-BE49-F238E27FC236}">
                <a16:creationId xmlns:a16="http://schemas.microsoft.com/office/drawing/2014/main" id="{D1082586-CAC8-48C2-BDE9-71BB674BDE80}"/>
              </a:ext>
            </a:extLst>
          </p:cNvPr>
          <p:cNvSpPr>
            <a:spLocks noGrp="1"/>
          </p:cNvSpPr>
          <p:nvPr/>
        </p:nvSpPr>
        <p:spPr>
          <a:xfrm>
            <a:off x="1323975" y="4724400"/>
            <a:ext cx="10258425" cy="9525"/>
          </a:xfrm>
          <a:prstGeom prst="rect">
            <a:avLst/>
          </a:prstGeom>
          <a:solidFill>
            <a:srgbClr val="D9E1ED"/>
          </a:solidFill>
          <a:ln w="0">
            <a:noFill/>
          </a:ln>
        </p:spPr>
      </p:sp>
      <p:sp>
        <p:nvSpPr>
          <p:cNvPr id="23" name="矩形 22">
            <a:extLst>
              <a:ext uri="{FF2B5EF4-FFF2-40B4-BE49-F238E27FC236}">
                <a16:creationId xmlns:a16="http://schemas.microsoft.com/office/drawing/2014/main" id="{19E7F7BA-F71F-4292-947E-DB136CCD4CB4}"/>
              </a:ext>
            </a:extLst>
          </p:cNvPr>
          <p:cNvSpPr>
            <a:spLocks noGrp="1"/>
          </p:cNvSpPr>
          <p:nvPr/>
        </p:nvSpPr>
        <p:spPr>
          <a:xfrm>
            <a:off x="609600" y="48672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04</a:t>
            </a:r>
          </a:p>
        </p:txBody>
      </p:sp>
      <p:sp>
        <p:nvSpPr>
          <p:cNvPr id="24" name="矩形 23">
            <a:extLst>
              <a:ext uri="{FF2B5EF4-FFF2-40B4-BE49-F238E27FC236}">
                <a16:creationId xmlns:a16="http://schemas.microsoft.com/office/drawing/2014/main" id="{ADD34572-2467-4482-8ABE-5D844D69597C}"/>
              </a:ext>
            </a:extLst>
          </p:cNvPr>
          <p:cNvSpPr>
            <a:spLocks noGrp="1"/>
          </p:cNvSpPr>
          <p:nvPr/>
        </p:nvSpPr>
        <p:spPr>
          <a:xfrm>
            <a:off x="1323975" y="48863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Refine</a:t>
            </a:r>
          </a:p>
        </p:txBody>
      </p:sp>
      <p:sp>
        <p:nvSpPr>
          <p:cNvPr id="25" name="矩形 24">
            <a:extLst>
              <a:ext uri="{FF2B5EF4-FFF2-40B4-BE49-F238E27FC236}">
                <a16:creationId xmlns:a16="http://schemas.microsoft.com/office/drawing/2014/main" id="{8CBBB55E-5A05-4941-AE7D-AA747921A3E7}"/>
              </a:ext>
            </a:extLst>
          </p:cNvPr>
          <p:cNvSpPr>
            <a:spLocks noGrp="1"/>
          </p:cNvSpPr>
          <p:nvPr/>
        </p:nvSpPr>
        <p:spPr>
          <a:xfrm>
            <a:off x="4095750" y="48863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Curate high-quality images/videos; refine captions with human annotations.</a:t>
            </a:r>
          </a:p>
        </p:txBody>
      </p:sp>
    </p:spTree>
    <p:extLst>
      <p:ext uri="{BB962C8B-B14F-4D97-AF65-F5344CB8AC3E}">
        <p14:creationId xmlns:p14="http://schemas.microsoft.com/office/powerpoint/2010/main" val="1265057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51676543-428A-4B64-BEB5-11F66781DC19}"/>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IMAGE CONDITIONING</a:t>
            </a:r>
          </a:p>
        </p:txBody>
      </p:sp>
      <p:pic>
        <p:nvPicPr>
          <p:cNvPr id="17" name="图片 1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AACEB23D-54AD-4D88-B163-33D9EA883D82}"/>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I2V anchors the rollout to an observed image</a:t>
            </a:r>
          </a:p>
        </p:txBody>
      </p:sp>
      <p:sp>
        <p:nvSpPr>
          <p:cNvPr id="4" name="矩形 3">
            <a:extLst>
              <a:ext uri="{FF2B5EF4-FFF2-40B4-BE49-F238E27FC236}">
                <a16:creationId xmlns:a16="http://schemas.microsoft.com/office/drawing/2014/main" id="{9D727136-2682-4AC6-89CF-2DC904D897AA}"/>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A6167542-E3E6-4DA9-AEC0-E945B97CA57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2C32F661-A04B-4321-B5AA-31672F503A45}"/>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A reference image provides spatial evidence that text alone cannot specify.</a:t>
            </a:r>
          </a:p>
        </p:txBody>
      </p:sp>
      <p:sp>
        <p:nvSpPr>
          <p:cNvPr id="7" name="矩形 6">
            <a:extLst>
              <a:ext uri="{FF2B5EF4-FFF2-40B4-BE49-F238E27FC236}">
                <a16:creationId xmlns:a16="http://schemas.microsoft.com/office/drawing/2014/main" id="{7AE1761B-5710-4A3A-ADF4-E333B3B745F0}"/>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D8B01B5A-A834-4D90-961A-A90BBC4A7979}"/>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I2V input has 36 channels: 16 noisy + 16 condition + 4 mask channels.</a:t>
            </a:r>
          </a:p>
        </p:txBody>
      </p:sp>
      <p:sp>
        <p:nvSpPr>
          <p:cNvPr id="9" name="矩形 8">
            <a:extLst>
              <a:ext uri="{FF2B5EF4-FFF2-40B4-BE49-F238E27FC236}">
                <a16:creationId xmlns:a16="http://schemas.microsoft.com/office/drawing/2014/main" id="{2A9E11D2-0D94-48A1-80C8-18D01C77669D}"/>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Wan2.1 official code | Figure 18; Section 5.1; official I2V implementation</a:t>
            </a:r>
          </a:p>
        </p:txBody>
      </p:sp>
      <p:sp>
        <p:nvSpPr>
          <p:cNvPr id="10" name="矩形 9">
            <a:extLst>
              <a:ext uri="{FF2B5EF4-FFF2-40B4-BE49-F238E27FC236}">
                <a16:creationId xmlns:a16="http://schemas.microsoft.com/office/drawing/2014/main" id="{1C9D04F7-3CB0-406F-B4A3-02CEE0042A80}"/>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14 / 38</a:t>
            </a:r>
          </a:p>
        </p:txBody>
      </p:sp>
      <p:pic>
        <p:nvPicPr>
          <p:cNvPr id="26" name="图片 25"/>
          <p:cNvPicPr>
            <a:picLocks noChangeAspect="1"/>
          </p:cNvPicPr>
          <p:nvPr/>
        </p:nvPicPr>
        <p:blipFill>
          <a:blip r:embed="rId4"/>
          <a:stretch/>
        </p:blipFill>
        <p:spPr>
          <a:xfrm>
            <a:off x="1645158" y="2190750"/>
            <a:ext cx="8901684" cy="2809875"/>
          </a:xfrm>
          <a:prstGeom prst="rect">
            <a:avLst/>
          </a:prstGeom>
        </p:spPr>
      </p:pic>
      <p:sp>
        <p:nvSpPr>
          <p:cNvPr id="12" name="矩形 11">
            <a:extLst>
              <a:ext uri="{FF2B5EF4-FFF2-40B4-BE49-F238E27FC236}">
                <a16:creationId xmlns:a16="http://schemas.microsoft.com/office/drawing/2014/main" id="{A0615E2E-602E-4A02-A024-8E90C9C06DD4}"/>
              </a:ext>
            </a:extLst>
          </p:cNvPr>
          <p:cNvSpPr>
            <a:spLocks noGrp="1"/>
          </p:cNvSpPr>
          <p:nvPr/>
        </p:nvSpPr>
        <p:spPr>
          <a:xfrm>
            <a:off x="6096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Local condition</a:t>
            </a:r>
          </a:p>
        </p:txBody>
      </p:sp>
      <p:sp>
        <p:nvSpPr>
          <p:cNvPr id="13" name="矩形 12">
            <a:extLst>
              <a:ext uri="{FF2B5EF4-FFF2-40B4-BE49-F238E27FC236}">
                <a16:creationId xmlns:a16="http://schemas.microsoft.com/office/drawing/2014/main" id="{D715DEF2-7B18-4485-9D90-8409609470DB}"/>
              </a:ext>
            </a:extLst>
          </p:cNvPr>
          <p:cNvSpPr>
            <a:spLocks noGrp="1"/>
          </p:cNvSpPr>
          <p:nvPr/>
        </p:nvSpPr>
        <p:spPr>
          <a:xfrm>
            <a:off x="6096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Concatenate noisy latents, condition latents and a mask.</a:t>
            </a:r>
          </a:p>
        </p:txBody>
      </p:sp>
      <p:sp>
        <p:nvSpPr>
          <p:cNvPr id="14" name="矩形 13">
            <a:extLst>
              <a:ext uri="{FF2B5EF4-FFF2-40B4-BE49-F238E27FC236}">
                <a16:creationId xmlns:a16="http://schemas.microsoft.com/office/drawing/2014/main" id="{C0C757E7-5665-4334-894E-6058E05EA3D7}"/>
              </a:ext>
            </a:extLst>
          </p:cNvPr>
          <p:cNvSpPr>
            <a:spLocks noGrp="1"/>
          </p:cNvSpPr>
          <p:nvPr/>
        </p:nvSpPr>
        <p:spPr>
          <a:xfrm>
            <a:off x="64770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Global condition</a:t>
            </a:r>
          </a:p>
        </p:txBody>
      </p:sp>
      <p:sp>
        <p:nvSpPr>
          <p:cNvPr id="15" name="矩形 14">
            <a:extLst>
              <a:ext uri="{FF2B5EF4-FFF2-40B4-BE49-F238E27FC236}">
                <a16:creationId xmlns:a16="http://schemas.microsoft.com/office/drawing/2014/main" id="{2585F48A-6EBD-43E4-A5B5-2854EAC06891}"/>
              </a:ext>
            </a:extLst>
          </p:cNvPr>
          <p:cNvSpPr>
            <a:spLocks noGrp="1"/>
          </p:cNvSpPr>
          <p:nvPr/>
        </p:nvSpPr>
        <p:spPr>
          <a:xfrm>
            <a:off x="64770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CLIP image features add semantic guidance through attention.</a:t>
            </a:r>
          </a:p>
        </p:txBody>
      </p:sp>
    </p:spTree>
    <p:extLst>
      <p:ext uri="{BB962C8B-B14F-4D97-AF65-F5344CB8AC3E}">
        <p14:creationId xmlns:p14="http://schemas.microsoft.com/office/powerpoint/2010/main" val="508984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046524E4-D189-4164-AAA2-07264181089E}"/>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EVIDENCE</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2C79A05C-4D65-463F-A41F-FE012A8BF120}"/>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Ablation: allocate parameters to depth or modulation?</a:t>
            </a:r>
          </a:p>
        </p:txBody>
      </p:sp>
      <p:sp>
        <p:nvSpPr>
          <p:cNvPr id="4" name="矩形 3">
            <a:extLst>
              <a:ext uri="{FF2B5EF4-FFF2-40B4-BE49-F238E27FC236}">
                <a16:creationId xmlns:a16="http://schemas.microsoft.com/office/drawing/2014/main" id="{19E6BF8C-DB44-42A0-B5BF-680F1A375378}"/>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C3C3713D-F940-4ADB-9C8F-C47530D2279F}"/>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D2299D76-8895-4E2F-8096-99C6B505A2A7}"/>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 same-parameter comparison favors additional transformer depth.</a:t>
            </a:r>
          </a:p>
        </p:txBody>
      </p:sp>
      <p:sp>
        <p:nvSpPr>
          <p:cNvPr id="7" name="矩形 6">
            <a:extLst>
              <a:ext uri="{FF2B5EF4-FFF2-40B4-BE49-F238E27FC236}">
                <a16:creationId xmlns:a16="http://schemas.microsoft.com/office/drawing/2014/main" id="{82968DDD-93E1-44CD-B69E-21B4067E99B1}"/>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3BF050D6-6F56-4D3C-ADC7-6FD9B518371A}"/>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This is a text-to-image training-loss ablation, not a direct video-quality or speed benchmark.</a:t>
            </a:r>
          </a:p>
        </p:txBody>
      </p:sp>
      <p:sp>
        <p:nvSpPr>
          <p:cNvPr id="9" name="矩形 8">
            <a:extLst>
              <a:ext uri="{FF2B5EF4-FFF2-40B4-BE49-F238E27FC236}">
                <a16:creationId xmlns:a16="http://schemas.microsoft.com/office/drawing/2014/main" id="{326E938C-6083-454A-9959-18E67C07EBF6}"/>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Figure 16; Section 4.7.2; 200k image-training steps</a:t>
            </a:r>
          </a:p>
        </p:txBody>
      </p:sp>
      <p:sp>
        <p:nvSpPr>
          <p:cNvPr id="10" name="矩形 9">
            <a:extLst>
              <a:ext uri="{FF2B5EF4-FFF2-40B4-BE49-F238E27FC236}">
                <a16:creationId xmlns:a16="http://schemas.microsoft.com/office/drawing/2014/main" id="{BD60AC01-7ABA-49C0-AE7D-CA233C6DFDD6}"/>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15 / 38</a:t>
            </a:r>
          </a:p>
        </p:txBody>
      </p:sp>
      <p:pic>
        <p:nvPicPr>
          <p:cNvPr id="28" name="图片 27"/>
          <p:cNvPicPr>
            <a:picLocks noChangeAspect="1"/>
          </p:cNvPicPr>
          <p:nvPr/>
        </p:nvPicPr>
        <p:blipFill>
          <a:blip r:embed="rId4"/>
          <a:stretch/>
        </p:blipFill>
        <p:spPr>
          <a:xfrm>
            <a:off x="1275644" y="2238375"/>
            <a:ext cx="5830713" cy="3476625"/>
          </a:xfrm>
          <a:prstGeom prst="rect">
            <a:avLst/>
          </a:prstGeom>
        </p:spPr>
      </p:pic>
      <p:sp>
        <p:nvSpPr>
          <p:cNvPr id="12" name="矩形 11">
            <a:extLst>
              <a:ext uri="{FF2B5EF4-FFF2-40B4-BE49-F238E27FC236}">
                <a16:creationId xmlns:a16="http://schemas.microsoft.com/office/drawing/2014/main" id="{82BF76B0-6966-4D72-AF15-E6B436C8DEA1}"/>
              </a:ext>
            </a:extLst>
          </p:cNvPr>
          <p:cNvSpPr>
            <a:spLocks noGrp="1"/>
          </p:cNvSpPr>
          <p:nvPr/>
        </p:nvSpPr>
        <p:spPr>
          <a:xfrm>
            <a:off x="8315325" y="230505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Controlled comparison</a:t>
            </a:r>
          </a:p>
        </p:txBody>
      </p:sp>
      <p:sp>
        <p:nvSpPr>
          <p:cNvPr id="13" name="矩形 12">
            <a:extLst>
              <a:ext uri="{FF2B5EF4-FFF2-40B4-BE49-F238E27FC236}">
                <a16:creationId xmlns:a16="http://schemas.microsoft.com/office/drawing/2014/main" id="{8B5CA625-BAC5-4325-9E32-2E76D6799411}"/>
              </a:ext>
            </a:extLst>
          </p:cNvPr>
          <p:cNvSpPr>
            <a:spLocks noGrp="1"/>
          </p:cNvSpPr>
          <p:nvPr/>
        </p:nvSpPr>
        <p:spPr>
          <a:xfrm>
            <a:off x="8315325" y="274320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Shared 35-layer 1.5B versus partly shared 30-layer 1.5B.</a:t>
            </a:r>
          </a:p>
        </p:txBody>
      </p:sp>
      <p:sp>
        <p:nvSpPr>
          <p:cNvPr id="14" name="矩形 13">
            <a:extLst>
              <a:ext uri="{FF2B5EF4-FFF2-40B4-BE49-F238E27FC236}">
                <a16:creationId xmlns:a16="http://schemas.microsoft.com/office/drawing/2014/main" id="{E7936A65-0C0B-4F5B-B3F4-DEF893421369}"/>
              </a:ext>
            </a:extLst>
          </p:cNvPr>
          <p:cNvSpPr>
            <a:spLocks noGrp="1"/>
          </p:cNvSpPr>
          <p:nvPr/>
        </p:nvSpPr>
        <p:spPr>
          <a:xfrm>
            <a:off x="8315325" y="3438525"/>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Observation</a:t>
            </a:r>
          </a:p>
        </p:txBody>
      </p:sp>
      <p:sp>
        <p:nvSpPr>
          <p:cNvPr id="15" name="矩形 14">
            <a:extLst>
              <a:ext uri="{FF2B5EF4-FFF2-40B4-BE49-F238E27FC236}">
                <a16:creationId xmlns:a16="http://schemas.microsoft.com/office/drawing/2014/main" id="{6EA85714-6747-4CC2-A046-5AFD7AAEF6F4}"/>
              </a:ext>
            </a:extLst>
          </p:cNvPr>
          <p:cNvSpPr>
            <a:spLocks noGrp="1"/>
          </p:cNvSpPr>
          <p:nvPr/>
        </p:nvSpPr>
        <p:spPr>
          <a:xfrm>
            <a:off x="8315325" y="3876675"/>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The deeper, fully shared model reaches lower training loss.</a:t>
            </a:r>
          </a:p>
        </p:txBody>
      </p:sp>
      <p:sp>
        <p:nvSpPr>
          <p:cNvPr id="16" name="矩形 15">
            <a:extLst>
              <a:ext uri="{FF2B5EF4-FFF2-40B4-BE49-F238E27FC236}">
                <a16:creationId xmlns:a16="http://schemas.microsoft.com/office/drawing/2014/main" id="{4CA99CC7-FD4C-4E78-9551-235CC916D140}"/>
              </a:ext>
            </a:extLst>
          </p:cNvPr>
          <p:cNvSpPr>
            <a:spLocks noGrp="1"/>
          </p:cNvSpPr>
          <p:nvPr/>
        </p:nvSpPr>
        <p:spPr>
          <a:xfrm>
            <a:off x="8315325" y="457200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What it supports</a:t>
            </a:r>
          </a:p>
        </p:txBody>
      </p:sp>
      <p:sp>
        <p:nvSpPr>
          <p:cNvPr id="17" name="矩形 16">
            <a:extLst>
              <a:ext uri="{FF2B5EF4-FFF2-40B4-BE49-F238E27FC236}">
                <a16:creationId xmlns:a16="http://schemas.microsoft.com/office/drawing/2014/main" id="{9955CD03-2DBA-4328-A55C-6977883A21BA}"/>
              </a:ext>
            </a:extLst>
          </p:cNvPr>
          <p:cNvSpPr>
            <a:spLocks noGrp="1"/>
          </p:cNvSpPr>
          <p:nvPr/>
        </p:nvSpPr>
        <p:spPr>
          <a:xfrm>
            <a:off x="8315325" y="501015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Shared modulation is a useful capacity-allocation choice.</a:t>
            </a:r>
          </a:p>
        </p:txBody>
      </p:sp>
    </p:spTree>
    <p:extLst>
      <p:ext uri="{BB962C8B-B14F-4D97-AF65-F5344CB8AC3E}">
        <p14:creationId xmlns:p14="http://schemas.microsoft.com/office/powerpoint/2010/main" val="620402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A3B6B135-B897-491F-B263-3C9859B3F8C0}"/>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EVIDENCE</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95420072-F559-489D-8C2C-93A98D5B6D4A}"/>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700" b="1">
                <a:solidFill>
                  <a:srgbClr val="162A4A"/>
                </a:solidFill>
                <a:latin typeface="Microsoft YaHei"/>
                <a:ea typeface="Microsoft YaHei"/>
                <a:cs typeface="Microsoft YaHei"/>
              </a:defRPr>
            </a:pPr>
            <a:r>
              <a:rPr sz="2700" b="1">
                <a:solidFill>
                  <a:srgbClr val="162A4A"/>
                </a:solidFill>
                <a:latin typeface="Microsoft YaHei"/>
                <a:ea typeface="Microsoft YaHei"/>
                <a:cs typeface="Microsoft YaHei"/>
              </a:rPr>
              <a:t>Ablation: a stronger chat model is not always a better encoder</a:t>
            </a:r>
          </a:p>
        </p:txBody>
      </p:sp>
      <p:sp>
        <p:nvSpPr>
          <p:cNvPr id="4" name="矩形 3">
            <a:extLst>
              <a:ext uri="{FF2B5EF4-FFF2-40B4-BE49-F238E27FC236}">
                <a16:creationId xmlns:a16="http://schemas.microsoft.com/office/drawing/2014/main" id="{39264A50-3837-47CD-B185-19701E781E7E}"/>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88D40DC9-BF34-497F-9715-201BEC8B1B6A}"/>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244FDAE9-C963-40B6-9E2E-4D043FDC2294}"/>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UMT5 provides a well-matched condition representation for this diffusion model.</a:t>
            </a:r>
          </a:p>
        </p:txBody>
      </p:sp>
      <p:sp>
        <p:nvSpPr>
          <p:cNvPr id="7" name="矩形 6">
            <a:extLst>
              <a:ext uri="{FF2B5EF4-FFF2-40B4-BE49-F238E27FC236}">
                <a16:creationId xmlns:a16="http://schemas.microsoft.com/office/drawing/2014/main" id="{1833B727-E85E-4D7D-8CC2-5C677784A233}"/>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220F4E27-0A3D-4AF6-819F-68561FC2068F}"/>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result supports Wan's encoder choice; it does not rank the models' general language ability.</a:t>
            </a:r>
          </a:p>
        </p:txBody>
      </p:sp>
      <p:sp>
        <p:nvSpPr>
          <p:cNvPr id="9" name="矩形 8">
            <a:extLst>
              <a:ext uri="{FF2B5EF4-FFF2-40B4-BE49-F238E27FC236}">
                <a16:creationId xmlns:a16="http://schemas.microsoft.com/office/drawing/2014/main" id="{760010E1-E903-40BD-A25C-B92722604B21}"/>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Figure 17; Section 4.7.2</a:t>
            </a:r>
          </a:p>
        </p:txBody>
      </p:sp>
      <p:sp>
        <p:nvSpPr>
          <p:cNvPr id="10" name="矩形 9">
            <a:extLst>
              <a:ext uri="{FF2B5EF4-FFF2-40B4-BE49-F238E27FC236}">
                <a16:creationId xmlns:a16="http://schemas.microsoft.com/office/drawing/2014/main" id="{23729746-E842-446D-9D43-EF637A2EF11D}"/>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16 / 38</a:t>
            </a:r>
          </a:p>
        </p:txBody>
      </p:sp>
      <p:pic>
        <p:nvPicPr>
          <p:cNvPr id="28" name="图片 27"/>
          <p:cNvPicPr>
            <a:picLocks noChangeAspect="1"/>
          </p:cNvPicPr>
          <p:nvPr/>
        </p:nvPicPr>
        <p:blipFill>
          <a:blip r:embed="rId4"/>
          <a:stretch/>
        </p:blipFill>
        <p:spPr>
          <a:xfrm>
            <a:off x="1274487" y="2238375"/>
            <a:ext cx="5833026" cy="3476625"/>
          </a:xfrm>
          <a:prstGeom prst="rect">
            <a:avLst/>
          </a:prstGeom>
        </p:spPr>
      </p:pic>
      <p:sp>
        <p:nvSpPr>
          <p:cNvPr id="12" name="矩形 11">
            <a:extLst>
              <a:ext uri="{FF2B5EF4-FFF2-40B4-BE49-F238E27FC236}">
                <a16:creationId xmlns:a16="http://schemas.microsoft.com/office/drawing/2014/main" id="{CD572723-F2EF-41EA-9302-57A23D64A0E5}"/>
              </a:ext>
            </a:extLst>
          </p:cNvPr>
          <p:cNvSpPr>
            <a:spLocks noGrp="1"/>
          </p:cNvSpPr>
          <p:nvPr/>
        </p:nvSpPr>
        <p:spPr>
          <a:xfrm>
            <a:off x="8315325" y="230505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Comparison</a:t>
            </a:r>
          </a:p>
        </p:txBody>
      </p:sp>
      <p:sp>
        <p:nvSpPr>
          <p:cNvPr id="13" name="矩形 12">
            <a:extLst>
              <a:ext uri="{FF2B5EF4-FFF2-40B4-BE49-F238E27FC236}">
                <a16:creationId xmlns:a16="http://schemas.microsoft.com/office/drawing/2014/main" id="{0DD63FB1-BE6D-4712-8501-D5416DC161DF}"/>
              </a:ext>
            </a:extLst>
          </p:cNvPr>
          <p:cNvSpPr>
            <a:spLocks noGrp="1"/>
          </p:cNvSpPr>
          <p:nvPr/>
        </p:nvSpPr>
        <p:spPr>
          <a:xfrm>
            <a:off x="8315325" y="274320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UMT5, Qwen2.5-7B-Instruct and GLM-4-9B.</a:t>
            </a:r>
          </a:p>
        </p:txBody>
      </p:sp>
      <p:sp>
        <p:nvSpPr>
          <p:cNvPr id="14" name="矩形 13">
            <a:extLst>
              <a:ext uri="{FF2B5EF4-FFF2-40B4-BE49-F238E27FC236}">
                <a16:creationId xmlns:a16="http://schemas.microsoft.com/office/drawing/2014/main" id="{5DDC9627-6AC4-4F8E-B203-D95C2D9E6F90}"/>
              </a:ext>
            </a:extLst>
          </p:cNvPr>
          <p:cNvSpPr>
            <a:spLocks noGrp="1"/>
          </p:cNvSpPr>
          <p:nvPr/>
        </p:nvSpPr>
        <p:spPr>
          <a:xfrm>
            <a:off x="8315325" y="3438525"/>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Observation</a:t>
            </a:r>
          </a:p>
        </p:txBody>
      </p:sp>
      <p:sp>
        <p:nvSpPr>
          <p:cNvPr id="15" name="矩形 14">
            <a:extLst>
              <a:ext uri="{FF2B5EF4-FFF2-40B4-BE49-F238E27FC236}">
                <a16:creationId xmlns:a16="http://schemas.microsoft.com/office/drawing/2014/main" id="{2D1D59E4-9AED-4416-ABA3-83D2D69D8154}"/>
              </a:ext>
            </a:extLst>
          </p:cNvPr>
          <p:cNvSpPr>
            <a:spLocks noGrp="1"/>
          </p:cNvSpPr>
          <p:nvPr/>
        </p:nvSpPr>
        <p:spPr>
          <a:xfrm>
            <a:off x="8315325" y="3876675"/>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UMT5 converges favorably in this setting.</a:t>
            </a:r>
          </a:p>
        </p:txBody>
      </p:sp>
      <p:sp>
        <p:nvSpPr>
          <p:cNvPr id="16" name="矩形 15">
            <a:extLst>
              <a:ext uri="{FF2B5EF4-FFF2-40B4-BE49-F238E27FC236}">
                <a16:creationId xmlns:a16="http://schemas.microsoft.com/office/drawing/2014/main" id="{78E24536-9C01-4CBF-A20A-8E23D7F39D92}"/>
              </a:ext>
            </a:extLst>
          </p:cNvPr>
          <p:cNvSpPr>
            <a:spLocks noGrp="1"/>
          </p:cNvSpPr>
          <p:nvPr/>
        </p:nvSpPr>
        <p:spPr>
          <a:xfrm>
            <a:off x="8315325" y="457200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Interpretation</a:t>
            </a:r>
          </a:p>
        </p:txBody>
      </p:sp>
      <p:sp>
        <p:nvSpPr>
          <p:cNvPr id="17" name="矩形 16">
            <a:extLst>
              <a:ext uri="{FF2B5EF4-FFF2-40B4-BE49-F238E27FC236}">
                <a16:creationId xmlns:a16="http://schemas.microsoft.com/office/drawing/2014/main" id="{BA57C997-F0CA-4A70-978F-A5CACCC06DD5}"/>
              </a:ext>
            </a:extLst>
          </p:cNvPr>
          <p:cNvSpPr>
            <a:spLocks noGrp="1"/>
          </p:cNvSpPr>
          <p:nvPr/>
        </p:nvSpPr>
        <p:spPr>
          <a:xfrm>
            <a:off x="8315325" y="501015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Encoder choice is a representation and training-interface decision.</a:t>
            </a:r>
          </a:p>
        </p:txBody>
      </p:sp>
    </p:spTree>
    <p:extLst>
      <p:ext uri="{BB962C8B-B14F-4D97-AF65-F5344CB8AC3E}">
        <p14:creationId xmlns:p14="http://schemas.microsoft.com/office/powerpoint/2010/main" val="9263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90368659-9D01-4620-BB59-0CD64E3FB600}"/>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02  /  WAN2.1: EVIDENCE</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B305169C-710B-44F1-8635-AEDF7398FE01}"/>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Generation evidence: the 14B model improves both axes</a:t>
            </a:r>
          </a:p>
        </p:txBody>
      </p:sp>
      <p:sp>
        <p:nvSpPr>
          <p:cNvPr id="4" name="矩形 3">
            <a:extLst>
              <a:ext uri="{FF2B5EF4-FFF2-40B4-BE49-F238E27FC236}">
                <a16:creationId xmlns:a16="http://schemas.microsoft.com/office/drawing/2014/main" id="{0987B9C3-6F4C-40E6-BA6A-2AE26161695A}"/>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F090A63F-6921-4566-B808-662E9A42134B}"/>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221343E9-3C82-4272-A4BA-0614DEA14500}"/>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Historical VBench results reported in the Wan paper, not a current leaderboard.</a:t>
            </a:r>
          </a:p>
        </p:txBody>
      </p:sp>
      <p:sp>
        <p:nvSpPr>
          <p:cNvPr id="7" name="矩形 6">
            <a:extLst>
              <a:ext uri="{FF2B5EF4-FFF2-40B4-BE49-F238E27FC236}">
                <a16:creationId xmlns:a16="http://schemas.microsoft.com/office/drawing/2014/main" id="{F0630FA3-5BE1-43BC-8C9D-E959DD034CF1}"/>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58BEDEFD-DCB4-41FB-B61A-C92E7EC4A2CA}"/>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reported scaling benefit is measurable, but task-specific world-model evaluation is still needed.</a:t>
            </a:r>
          </a:p>
        </p:txBody>
      </p:sp>
      <p:sp>
        <p:nvSpPr>
          <p:cNvPr id="9" name="矩形 8">
            <a:extLst>
              <a:ext uri="{FF2B5EF4-FFF2-40B4-BE49-F238E27FC236}">
                <a16:creationId xmlns:a16="http://schemas.microsoft.com/office/drawing/2014/main" id="{68B4508D-A1AF-444B-8E84-0373DFF88548}"/>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 Table 4; percentage scores; 14B snapshot: 24 Feb 2025</a:t>
            </a:r>
          </a:p>
        </p:txBody>
      </p:sp>
      <p:sp>
        <p:nvSpPr>
          <p:cNvPr id="10" name="矩形 9">
            <a:extLst>
              <a:ext uri="{FF2B5EF4-FFF2-40B4-BE49-F238E27FC236}">
                <a16:creationId xmlns:a16="http://schemas.microsoft.com/office/drawing/2014/main" id="{621BE815-6077-457D-A4DA-FB065A4532F6}"/>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17 / 38</a:t>
            </a:r>
          </a:p>
        </p:txBody>
      </p:sp>
      <p:graphicFrame>
        <p:nvGraphicFramePr>
          <p:cNvPr id="28" name="Chart"/>
          <p:cNvGraphicFramePr/>
          <p:nvPr/>
        </p:nvGraphicFramePr>
        <p:xfrm>
          <a:off x="609600" y="2324100"/>
          <a:ext cx="7362825" cy="3371850"/>
        </p:xfrm>
        <a:graphic>
          <a:graphicData uri="http://schemas.openxmlformats.org/drawingml/2006/chart">
            <c:chart xmlns:c="http://schemas.openxmlformats.org/drawingml/2006/chart" xmlns:r="http://schemas.openxmlformats.org/officeDocument/2006/relationships" r:id="rId4"/>
          </a:graphicData>
        </a:graphic>
      </p:graphicFrame>
      <p:sp>
        <p:nvSpPr>
          <p:cNvPr id="12" name="矩形 11">
            <a:extLst>
              <a:ext uri="{FF2B5EF4-FFF2-40B4-BE49-F238E27FC236}">
                <a16:creationId xmlns:a16="http://schemas.microsoft.com/office/drawing/2014/main" id="{FCDDDE25-120A-4915-AAFD-6F63F6D8A6F2}"/>
              </a:ext>
            </a:extLst>
          </p:cNvPr>
          <p:cNvSpPr>
            <a:spLocks noGrp="1"/>
          </p:cNvSpPr>
          <p:nvPr/>
        </p:nvSpPr>
        <p:spPr>
          <a:xfrm>
            <a:off x="8391525" y="2400300"/>
            <a:ext cx="31908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Larger gain</a:t>
            </a:r>
          </a:p>
        </p:txBody>
      </p:sp>
      <p:sp>
        <p:nvSpPr>
          <p:cNvPr id="13" name="矩形 12">
            <a:extLst>
              <a:ext uri="{FF2B5EF4-FFF2-40B4-BE49-F238E27FC236}">
                <a16:creationId xmlns:a16="http://schemas.microsoft.com/office/drawing/2014/main" id="{4F4FFD39-820B-4D74-A24A-0DA15740F2F3}"/>
              </a:ext>
            </a:extLst>
          </p:cNvPr>
          <p:cNvSpPr>
            <a:spLocks noGrp="1"/>
          </p:cNvSpPr>
          <p:nvPr/>
        </p:nvSpPr>
        <p:spPr>
          <a:xfrm>
            <a:off x="8391525" y="2838450"/>
            <a:ext cx="3190875" cy="628650"/>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Semantic score: +4.34 percentage points.</a:t>
            </a:r>
          </a:p>
        </p:txBody>
      </p:sp>
      <p:sp>
        <p:nvSpPr>
          <p:cNvPr id="14" name="矩形 13">
            <a:extLst>
              <a:ext uri="{FF2B5EF4-FFF2-40B4-BE49-F238E27FC236}">
                <a16:creationId xmlns:a16="http://schemas.microsoft.com/office/drawing/2014/main" id="{44D571C1-0504-4E60-9308-2B553F6A0E79}"/>
              </a:ext>
            </a:extLst>
          </p:cNvPr>
          <p:cNvSpPr>
            <a:spLocks noGrp="1"/>
          </p:cNvSpPr>
          <p:nvPr/>
        </p:nvSpPr>
        <p:spPr>
          <a:xfrm>
            <a:off x="8391525" y="3448050"/>
            <a:ext cx="31908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Overall</a:t>
            </a:r>
          </a:p>
        </p:txBody>
      </p:sp>
      <p:sp>
        <p:nvSpPr>
          <p:cNvPr id="15" name="矩形 14">
            <a:extLst>
              <a:ext uri="{FF2B5EF4-FFF2-40B4-BE49-F238E27FC236}">
                <a16:creationId xmlns:a16="http://schemas.microsoft.com/office/drawing/2014/main" id="{2004B7C2-34DD-4F23-9DD4-EDD4E512A829}"/>
              </a:ext>
            </a:extLst>
          </p:cNvPr>
          <p:cNvSpPr>
            <a:spLocks noGrp="1"/>
          </p:cNvSpPr>
          <p:nvPr/>
        </p:nvSpPr>
        <p:spPr>
          <a:xfrm>
            <a:off x="8391525" y="3886200"/>
            <a:ext cx="3190875" cy="628650"/>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Total: 83.96 → 86.22.</a:t>
            </a:r>
          </a:p>
        </p:txBody>
      </p:sp>
      <p:sp>
        <p:nvSpPr>
          <p:cNvPr id="16" name="矩形 15">
            <a:extLst>
              <a:ext uri="{FF2B5EF4-FFF2-40B4-BE49-F238E27FC236}">
                <a16:creationId xmlns:a16="http://schemas.microsoft.com/office/drawing/2014/main" id="{CF6B14EC-8244-415D-9A30-6E9A26F00C47}"/>
              </a:ext>
            </a:extLst>
          </p:cNvPr>
          <p:cNvSpPr>
            <a:spLocks noGrp="1"/>
          </p:cNvSpPr>
          <p:nvPr/>
        </p:nvSpPr>
        <p:spPr>
          <a:xfrm>
            <a:off x="8391525" y="4495800"/>
            <a:ext cx="31908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Scope</a:t>
            </a:r>
          </a:p>
        </p:txBody>
      </p:sp>
      <p:sp>
        <p:nvSpPr>
          <p:cNvPr id="17" name="矩形 16">
            <a:extLst>
              <a:ext uri="{FF2B5EF4-FFF2-40B4-BE49-F238E27FC236}">
                <a16:creationId xmlns:a16="http://schemas.microsoft.com/office/drawing/2014/main" id="{21F09A5C-159B-490E-86C1-0848A1802CD3}"/>
              </a:ext>
            </a:extLst>
          </p:cNvPr>
          <p:cNvSpPr>
            <a:spLocks noGrp="1"/>
          </p:cNvSpPr>
          <p:nvPr/>
        </p:nvSpPr>
        <p:spPr>
          <a:xfrm>
            <a:off x="8391525" y="4933950"/>
            <a:ext cx="3190875" cy="628650"/>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Benchmark scores do not establish physical simulation accuracy.</a:t>
            </a:r>
          </a:p>
        </p:txBody>
      </p:sp>
    </p:spTree>
    <p:extLst>
      <p:ext uri="{BB962C8B-B14F-4D97-AF65-F5344CB8AC3E}">
        <p14:creationId xmlns:p14="http://schemas.microsoft.com/office/powerpoint/2010/main" val="1158236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E54CFED-DB29-4AE5-9E5D-454CE3375E5B}"/>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TWO DESIGN DIRECTIONS</a:t>
            </a:r>
          </a:p>
        </p:txBody>
      </p:sp>
      <p:pic>
        <p:nvPicPr>
          <p:cNvPr id="24" name="图片 23"/>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291B4C40-7AFD-4820-98FC-5579424F76C6}"/>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Wan2.2 develops quality and efficiency separately</a:t>
            </a:r>
          </a:p>
        </p:txBody>
      </p:sp>
      <p:sp>
        <p:nvSpPr>
          <p:cNvPr id="4" name="矩形 3">
            <a:extLst>
              <a:ext uri="{FF2B5EF4-FFF2-40B4-BE49-F238E27FC236}">
                <a16:creationId xmlns:a16="http://schemas.microsoft.com/office/drawing/2014/main" id="{3C9C264B-7B6D-40E3-AF6F-AD86E3CE5D60}"/>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38C83AAA-9893-4423-BF2D-A1C8A39D50BD}"/>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B343BCA0-0B08-470D-A4F9-02FE225E4ADE}"/>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A14B and TI2V-5B solve different bottlenecks.</a:t>
            </a:r>
          </a:p>
        </p:txBody>
      </p:sp>
      <p:sp>
        <p:nvSpPr>
          <p:cNvPr id="7" name="矩形 6">
            <a:extLst>
              <a:ext uri="{FF2B5EF4-FFF2-40B4-BE49-F238E27FC236}">
                <a16:creationId xmlns:a16="http://schemas.microsoft.com/office/drawing/2014/main" id="{2339C7E6-A46C-48AE-B307-690C6A209615}"/>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3C876156-A737-4935-92E2-61F13A67532B}"/>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World-model papers often choose TI2V-5B; their backbone does not inherit A14B's two-expert design.</a:t>
            </a:r>
          </a:p>
        </p:txBody>
      </p:sp>
      <p:sp>
        <p:nvSpPr>
          <p:cNvPr id="9" name="矩形 8">
            <a:extLst>
              <a:ext uri="{FF2B5EF4-FFF2-40B4-BE49-F238E27FC236}">
                <a16:creationId xmlns:a16="http://schemas.microsoft.com/office/drawing/2014/main" id="{747DC974-5436-454E-9927-FD2AACB2D4B6}"/>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Wan2.2-TI2V-5B model card</a:t>
            </a:r>
          </a:p>
        </p:txBody>
      </p:sp>
      <p:sp>
        <p:nvSpPr>
          <p:cNvPr id="10" name="矩形 9">
            <a:extLst>
              <a:ext uri="{FF2B5EF4-FFF2-40B4-BE49-F238E27FC236}">
                <a16:creationId xmlns:a16="http://schemas.microsoft.com/office/drawing/2014/main" id="{433B3080-D73E-4542-B107-11B5EE651E37}"/>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18 / 38</a:t>
            </a:r>
          </a:p>
        </p:txBody>
      </p:sp>
      <p:sp>
        <p:nvSpPr>
          <p:cNvPr id="11" name="矩形 10">
            <a:extLst>
              <a:ext uri="{FF2B5EF4-FFF2-40B4-BE49-F238E27FC236}">
                <a16:creationId xmlns:a16="http://schemas.microsoft.com/office/drawing/2014/main" id="{5B592806-E623-46A1-9BEF-86E8CB3D83C5}"/>
              </a:ext>
            </a:extLst>
          </p:cNvPr>
          <p:cNvSpPr>
            <a:spLocks noGrp="1"/>
          </p:cNvSpPr>
          <p:nvPr/>
        </p:nvSpPr>
        <p:spPr>
          <a:xfrm>
            <a:off x="609600" y="2314575"/>
            <a:ext cx="5105400" cy="409575"/>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A14B: specialize denoising</a:t>
            </a:r>
          </a:p>
        </p:txBody>
      </p:sp>
      <p:sp>
        <p:nvSpPr>
          <p:cNvPr id="12" name="矩形 11">
            <a:extLst>
              <a:ext uri="{FF2B5EF4-FFF2-40B4-BE49-F238E27FC236}">
                <a16:creationId xmlns:a16="http://schemas.microsoft.com/office/drawing/2014/main" id="{1A9BAB53-01E4-4895-B57B-1CC72BDE0C6E}"/>
              </a:ext>
            </a:extLst>
          </p:cNvPr>
          <p:cNvSpPr>
            <a:spLocks noGrp="1"/>
          </p:cNvSpPr>
          <p:nvPr/>
        </p:nvSpPr>
        <p:spPr>
          <a:xfrm>
            <a:off x="609600" y="2819400"/>
            <a:ext cx="5105400" cy="9525"/>
          </a:xfrm>
          <a:prstGeom prst="rect">
            <a:avLst/>
          </a:prstGeom>
          <a:solidFill>
            <a:srgbClr val="D9E1ED"/>
          </a:solidFill>
          <a:ln w="0">
            <a:noFill/>
          </a:ln>
        </p:spPr>
      </p:sp>
      <p:sp>
        <p:nvSpPr>
          <p:cNvPr id="13" name="矩形 12">
            <a:extLst>
              <a:ext uri="{FF2B5EF4-FFF2-40B4-BE49-F238E27FC236}">
                <a16:creationId xmlns:a16="http://schemas.microsoft.com/office/drawing/2014/main" id="{07C27D98-2A2C-48EF-8594-0F508679CCE0}"/>
              </a:ext>
            </a:extLst>
          </p:cNvPr>
          <p:cNvSpPr>
            <a:spLocks noGrp="1"/>
          </p:cNvSpPr>
          <p:nvPr/>
        </p:nvSpPr>
        <p:spPr>
          <a:xfrm>
            <a:off x="609600" y="302895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Two experts</a:t>
            </a:r>
          </a:p>
        </p:txBody>
      </p:sp>
      <p:sp>
        <p:nvSpPr>
          <p:cNvPr id="14" name="矩形 13">
            <a:extLst>
              <a:ext uri="{FF2B5EF4-FFF2-40B4-BE49-F238E27FC236}">
                <a16:creationId xmlns:a16="http://schemas.microsoft.com/office/drawing/2014/main" id="{D7949CBD-DD91-4A71-8795-F46AD8EA759F}"/>
              </a:ext>
            </a:extLst>
          </p:cNvPr>
          <p:cNvSpPr>
            <a:spLocks noGrp="1"/>
          </p:cNvSpPr>
          <p:nvPr/>
        </p:nvSpPr>
        <p:spPr>
          <a:xfrm>
            <a:off x="609600" y="346710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Assign high-noise and low-noise stages to separate 14B denoisers.</a:t>
            </a:r>
          </a:p>
        </p:txBody>
      </p:sp>
      <p:sp>
        <p:nvSpPr>
          <p:cNvPr id="15" name="矩形 14">
            <a:extLst>
              <a:ext uri="{FF2B5EF4-FFF2-40B4-BE49-F238E27FC236}">
                <a16:creationId xmlns:a16="http://schemas.microsoft.com/office/drawing/2014/main" id="{13EA3372-CF2A-42FF-B5AB-477D04AD15B9}"/>
              </a:ext>
            </a:extLst>
          </p:cNvPr>
          <p:cNvSpPr>
            <a:spLocks noGrp="1"/>
          </p:cNvSpPr>
          <p:nvPr/>
        </p:nvSpPr>
        <p:spPr>
          <a:xfrm>
            <a:off x="609600" y="438150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Capacity</a:t>
            </a:r>
          </a:p>
        </p:txBody>
      </p:sp>
      <p:sp>
        <p:nvSpPr>
          <p:cNvPr id="16" name="矩形 15">
            <a:extLst>
              <a:ext uri="{FF2B5EF4-FFF2-40B4-BE49-F238E27FC236}">
                <a16:creationId xmlns:a16="http://schemas.microsoft.com/office/drawing/2014/main" id="{10933471-54F1-48CB-B8CC-4833D8AD1A07}"/>
              </a:ext>
            </a:extLst>
          </p:cNvPr>
          <p:cNvSpPr>
            <a:spLocks noGrp="1"/>
          </p:cNvSpPr>
          <p:nvPr/>
        </p:nvSpPr>
        <p:spPr>
          <a:xfrm>
            <a:off x="609600" y="481965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27B expert parameters in total; 14B active at each step.</a:t>
            </a:r>
          </a:p>
        </p:txBody>
      </p:sp>
      <p:sp>
        <p:nvSpPr>
          <p:cNvPr id="17" name="矩形 16">
            <a:extLst>
              <a:ext uri="{FF2B5EF4-FFF2-40B4-BE49-F238E27FC236}">
                <a16:creationId xmlns:a16="http://schemas.microsoft.com/office/drawing/2014/main" id="{89ECCAAD-C96C-466C-BC97-E623CFE3E24E}"/>
              </a:ext>
            </a:extLst>
          </p:cNvPr>
          <p:cNvSpPr>
            <a:spLocks noGrp="1"/>
          </p:cNvSpPr>
          <p:nvPr/>
        </p:nvSpPr>
        <p:spPr>
          <a:xfrm>
            <a:off x="6477000" y="2314575"/>
            <a:ext cx="5105400" cy="409575"/>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TI2V-5B: reduce token cost</a:t>
            </a:r>
          </a:p>
        </p:txBody>
      </p:sp>
      <p:sp>
        <p:nvSpPr>
          <p:cNvPr id="18" name="矩形 17">
            <a:extLst>
              <a:ext uri="{FF2B5EF4-FFF2-40B4-BE49-F238E27FC236}">
                <a16:creationId xmlns:a16="http://schemas.microsoft.com/office/drawing/2014/main" id="{1BAB8794-C570-416C-BE4F-619098F57114}"/>
              </a:ext>
            </a:extLst>
          </p:cNvPr>
          <p:cNvSpPr>
            <a:spLocks noGrp="1"/>
          </p:cNvSpPr>
          <p:nvPr/>
        </p:nvSpPr>
        <p:spPr>
          <a:xfrm>
            <a:off x="6477000" y="2819400"/>
            <a:ext cx="5105400" cy="9525"/>
          </a:xfrm>
          <a:prstGeom prst="rect">
            <a:avLst/>
          </a:prstGeom>
          <a:solidFill>
            <a:srgbClr val="D9E1ED"/>
          </a:solidFill>
          <a:ln w="0">
            <a:noFill/>
          </a:ln>
        </p:spPr>
      </p:sp>
      <p:sp>
        <p:nvSpPr>
          <p:cNvPr id="19" name="矩形 18">
            <a:extLst>
              <a:ext uri="{FF2B5EF4-FFF2-40B4-BE49-F238E27FC236}">
                <a16:creationId xmlns:a16="http://schemas.microsoft.com/office/drawing/2014/main" id="{165FE5EF-AF94-46F6-936C-05832EF21681}"/>
              </a:ext>
            </a:extLst>
          </p:cNvPr>
          <p:cNvSpPr>
            <a:spLocks noGrp="1"/>
          </p:cNvSpPr>
          <p:nvPr/>
        </p:nvSpPr>
        <p:spPr>
          <a:xfrm>
            <a:off x="6477000" y="302895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Dense transformer</a:t>
            </a:r>
          </a:p>
        </p:txBody>
      </p:sp>
      <p:sp>
        <p:nvSpPr>
          <p:cNvPr id="20" name="矩形 19">
            <a:extLst>
              <a:ext uri="{FF2B5EF4-FFF2-40B4-BE49-F238E27FC236}">
                <a16:creationId xmlns:a16="http://schemas.microsoft.com/office/drawing/2014/main" id="{9BF5370C-D8C1-41E6-B6D1-F10F6D1EE758}"/>
              </a:ext>
            </a:extLst>
          </p:cNvPr>
          <p:cNvSpPr>
            <a:spLocks noGrp="1"/>
          </p:cNvSpPr>
          <p:nvPr/>
        </p:nvSpPr>
        <p:spPr>
          <a:xfrm>
            <a:off x="6477000" y="346710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Use one 5B generator for text-to-video and image-to-video.</a:t>
            </a:r>
          </a:p>
        </p:txBody>
      </p:sp>
      <p:sp>
        <p:nvSpPr>
          <p:cNvPr id="21" name="矩形 20">
            <a:extLst>
              <a:ext uri="{FF2B5EF4-FFF2-40B4-BE49-F238E27FC236}">
                <a16:creationId xmlns:a16="http://schemas.microsoft.com/office/drawing/2014/main" id="{3FED986C-07B9-45B4-B41E-2DB8A38AE5FA}"/>
              </a:ext>
            </a:extLst>
          </p:cNvPr>
          <p:cNvSpPr>
            <a:spLocks noGrp="1"/>
          </p:cNvSpPr>
          <p:nvPr/>
        </p:nvSpPr>
        <p:spPr>
          <a:xfrm>
            <a:off x="6477000" y="438150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New VAE</a:t>
            </a:r>
          </a:p>
        </p:txBody>
      </p:sp>
      <p:sp>
        <p:nvSpPr>
          <p:cNvPr id="22" name="矩形 21">
            <a:extLst>
              <a:ext uri="{FF2B5EF4-FFF2-40B4-BE49-F238E27FC236}">
                <a16:creationId xmlns:a16="http://schemas.microsoft.com/office/drawing/2014/main" id="{0C076CB7-1BD0-469D-B066-D936406AD390}"/>
              </a:ext>
            </a:extLst>
          </p:cNvPr>
          <p:cNvSpPr>
            <a:spLocks noGrp="1"/>
          </p:cNvSpPr>
          <p:nvPr/>
        </p:nvSpPr>
        <p:spPr>
          <a:xfrm>
            <a:off x="6477000" y="481965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Increase spatial compression and retain more channels per latent cell.</a:t>
            </a:r>
          </a:p>
        </p:txBody>
      </p:sp>
    </p:spTree>
    <p:extLst>
      <p:ext uri="{BB962C8B-B14F-4D97-AF65-F5344CB8AC3E}">
        <p14:creationId xmlns:p14="http://schemas.microsoft.com/office/powerpoint/2010/main" val="2122750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9D4DF5E1-4E30-4661-AE96-D3895CE4BE83}"/>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NOISE-SPECIALIZED EXPERTS</a:t>
            </a:r>
          </a:p>
        </p:txBody>
      </p:sp>
      <p:pic>
        <p:nvPicPr>
          <p:cNvPr id="17" name="图片 1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75C16D9B-CB19-450D-B4AA-578AE6E86973}"/>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A14B divides the denoising trajectory into two regimes</a:t>
            </a:r>
          </a:p>
        </p:txBody>
      </p:sp>
      <p:sp>
        <p:nvSpPr>
          <p:cNvPr id="4" name="矩形 3">
            <a:extLst>
              <a:ext uri="{FF2B5EF4-FFF2-40B4-BE49-F238E27FC236}">
                <a16:creationId xmlns:a16="http://schemas.microsoft.com/office/drawing/2014/main" id="{F98DA569-080B-4015-ABC8-7AA7B7A60CFF}"/>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EBD5243B-DE0D-46FA-959E-9D73345BAFB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0036F3EB-2022-4759-AF32-6FBF1DFD8265}"/>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Early steps form the global scene; later steps refine visual details.</a:t>
            </a:r>
          </a:p>
        </p:txBody>
      </p:sp>
      <p:sp>
        <p:nvSpPr>
          <p:cNvPr id="7" name="矩形 6">
            <a:extLst>
              <a:ext uri="{FF2B5EF4-FFF2-40B4-BE49-F238E27FC236}">
                <a16:creationId xmlns:a16="http://schemas.microsoft.com/office/drawing/2014/main" id="{E4441532-091D-4B19-B392-9319B387456C}"/>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210D5675-7B64-4E06-A656-CC20A719AD04}"/>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Routing selects an entire denoiser by noise level, not different experts for individual tokens.</a:t>
            </a:r>
          </a:p>
        </p:txBody>
      </p:sp>
      <p:sp>
        <p:nvSpPr>
          <p:cNvPr id="9" name="矩形 8">
            <a:extLst>
              <a:ext uri="{FF2B5EF4-FFF2-40B4-BE49-F238E27FC236}">
                <a16:creationId xmlns:a16="http://schemas.microsoft.com/office/drawing/2014/main" id="{8B13152A-3917-4D2F-BE81-895C3EC9D7C3}"/>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Wan2.2 official inference code | Official MoE architecture diagram</a:t>
            </a:r>
          </a:p>
        </p:txBody>
      </p:sp>
      <p:sp>
        <p:nvSpPr>
          <p:cNvPr id="10" name="矩形 9">
            <a:extLst>
              <a:ext uri="{FF2B5EF4-FFF2-40B4-BE49-F238E27FC236}">
                <a16:creationId xmlns:a16="http://schemas.microsoft.com/office/drawing/2014/main" id="{A7C126CE-B3EB-4858-AA5A-F2B0286D4585}"/>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19 / 38</a:t>
            </a:r>
          </a:p>
        </p:txBody>
      </p:sp>
      <p:pic>
        <p:nvPicPr>
          <p:cNvPr id="26" name="图片 25"/>
          <p:cNvPicPr>
            <a:picLocks noChangeAspect="1"/>
          </p:cNvPicPr>
          <p:nvPr/>
        </p:nvPicPr>
        <p:blipFill>
          <a:blip r:embed="rId4"/>
          <a:stretch/>
        </p:blipFill>
        <p:spPr>
          <a:xfrm>
            <a:off x="609600" y="2328863"/>
            <a:ext cx="10972800" cy="2057400"/>
          </a:xfrm>
          <a:prstGeom prst="rect">
            <a:avLst/>
          </a:prstGeom>
        </p:spPr>
      </p:pic>
      <p:sp>
        <p:nvSpPr>
          <p:cNvPr id="12" name="矩形 11">
            <a:extLst>
              <a:ext uri="{FF2B5EF4-FFF2-40B4-BE49-F238E27FC236}">
                <a16:creationId xmlns:a16="http://schemas.microsoft.com/office/drawing/2014/main" id="{1724F901-17BD-4C01-B01F-B73DF093E22F}"/>
              </a:ext>
            </a:extLst>
          </p:cNvPr>
          <p:cNvSpPr>
            <a:spLocks noGrp="1"/>
          </p:cNvSpPr>
          <p:nvPr/>
        </p:nvSpPr>
        <p:spPr>
          <a:xfrm>
            <a:off x="6096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High-noise expert</a:t>
            </a:r>
          </a:p>
        </p:txBody>
      </p:sp>
      <p:sp>
        <p:nvSpPr>
          <p:cNvPr id="13" name="矩形 12">
            <a:extLst>
              <a:ext uri="{FF2B5EF4-FFF2-40B4-BE49-F238E27FC236}">
                <a16:creationId xmlns:a16="http://schemas.microsoft.com/office/drawing/2014/main" id="{BF52CD53-7C05-44F6-892F-0835984562A7}"/>
              </a:ext>
            </a:extLst>
          </p:cNvPr>
          <p:cNvSpPr>
            <a:spLocks noGrp="1"/>
          </p:cNvSpPr>
          <p:nvPr/>
        </p:nvSpPr>
        <p:spPr>
          <a:xfrm>
            <a:off x="6096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Handles the early, ambiguous part of generation.</a:t>
            </a:r>
          </a:p>
        </p:txBody>
      </p:sp>
      <p:sp>
        <p:nvSpPr>
          <p:cNvPr id="14" name="矩形 13">
            <a:extLst>
              <a:ext uri="{FF2B5EF4-FFF2-40B4-BE49-F238E27FC236}">
                <a16:creationId xmlns:a16="http://schemas.microsoft.com/office/drawing/2014/main" id="{A3D6B9B1-0AE8-482B-AE1E-C996D1C71DF2}"/>
              </a:ext>
            </a:extLst>
          </p:cNvPr>
          <p:cNvSpPr>
            <a:spLocks noGrp="1"/>
          </p:cNvSpPr>
          <p:nvPr/>
        </p:nvSpPr>
        <p:spPr>
          <a:xfrm>
            <a:off x="6477000" y="5057775"/>
            <a:ext cx="5105400" cy="3048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Low-noise expert</a:t>
            </a:r>
          </a:p>
        </p:txBody>
      </p:sp>
      <p:sp>
        <p:nvSpPr>
          <p:cNvPr id="15" name="矩形 14">
            <a:extLst>
              <a:ext uri="{FF2B5EF4-FFF2-40B4-BE49-F238E27FC236}">
                <a16:creationId xmlns:a16="http://schemas.microsoft.com/office/drawing/2014/main" id="{806CA308-A7FB-49A6-8714-4515EF1C99E8}"/>
              </a:ext>
            </a:extLst>
          </p:cNvPr>
          <p:cNvSpPr>
            <a:spLocks noGrp="1"/>
          </p:cNvSpPr>
          <p:nvPr/>
        </p:nvSpPr>
        <p:spPr>
          <a:xfrm>
            <a:off x="6477000" y="5381625"/>
            <a:ext cx="5105400" cy="4095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Handles later refinement after structure has emerged.</a:t>
            </a:r>
          </a:p>
        </p:txBody>
      </p:sp>
    </p:spTree>
    <p:extLst>
      <p:ext uri="{BB962C8B-B14F-4D97-AF65-F5344CB8AC3E}">
        <p14:creationId xmlns:p14="http://schemas.microsoft.com/office/powerpoint/2010/main" val="506872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0BC3622A-159A-4162-AC5E-9CD1D93BB44D}"/>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NOISE-SPECIALIZED EXPERTS</a:t>
            </a:r>
          </a:p>
        </p:txBody>
      </p:sp>
      <p:pic>
        <p:nvPicPr>
          <p:cNvPr id="27" name="图片 2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7903FB57-64ED-4223-809D-68EA30035278}"/>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Expert selection follows diffusion time</a:t>
            </a:r>
          </a:p>
        </p:txBody>
      </p:sp>
      <p:sp>
        <p:nvSpPr>
          <p:cNvPr id="4" name="矩形 3">
            <a:extLst>
              <a:ext uri="{FF2B5EF4-FFF2-40B4-BE49-F238E27FC236}">
                <a16:creationId xmlns:a16="http://schemas.microsoft.com/office/drawing/2014/main" id="{EBE06DCA-E642-4512-93DA-6E41EAE8BE3E}"/>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D9A12EFB-3DFC-4822-81D0-CC6B210F5BE5}"/>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BF6225D0-3310-418B-A049-46D9FD930AC1}"/>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 official sampler implements a threshold on normalized noise time.</a:t>
            </a:r>
          </a:p>
        </p:txBody>
      </p:sp>
      <p:sp>
        <p:nvSpPr>
          <p:cNvPr id="7" name="矩形 6">
            <a:extLst>
              <a:ext uri="{FF2B5EF4-FFF2-40B4-BE49-F238E27FC236}">
                <a16:creationId xmlns:a16="http://schemas.microsoft.com/office/drawing/2014/main" id="{5471C7CD-19CA-4926-A4CA-6C0EC9C2D55A}"/>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7082637B-1660-4445-AD8A-F30F212C32FD}"/>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A boundary of 0.875 is a noise-time threshold, not "87.5% of the sampling steps."</a:t>
            </a:r>
          </a:p>
        </p:txBody>
      </p:sp>
      <p:sp>
        <p:nvSpPr>
          <p:cNvPr id="9" name="矩形 8">
            <a:extLst>
              <a:ext uri="{FF2B5EF4-FFF2-40B4-BE49-F238E27FC236}">
                <a16:creationId xmlns:a16="http://schemas.microsoft.com/office/drawing/2014/main" id="{85A26E69-1420-4612-B94D-1F9B6B4ED945}"/>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Wan2.2 official inference code | Official T2V / I2V configs and sampler; time scale: 1,000</a:t>
            </a:r>
          </a:p>
        </p:txBody>
      </p:sp>
      <p:sp>
        <p:nvSpPr>
          <p:cNvPr id="10" name="矩形 9">
            <a:extLst>
              <a:ext uri="{FF2B5EF4-FFF2-40B4-BE49-F238E27FC236}">
                <a16:creationId xmlns:a16="http://schemas.microsoft.com/office/drawing/2014/main" id="{9714B2A0-7E1E-4237-84D6-698F28448BC8}"/>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20 / 38</a:t>
            </a:r>
          </a:p>
        </p:txBody>
      </p:sp>
      <p:sp>
        <p:nvSpPr>
          <p:cNvPr id="11" name="矩形 10">
            <a:extLst>
              <a:ext uri="{FF2B5EF4-FFF2-40B4-BE49-F238E27FC236}">
                <a16:creationId xmlns:a16="http://schemas.microsoft.com/office/drawing/2014/main" id="{02296BCC-3D92-41F1-B62A-2762D724F84B}"/>
              </a:ext>
            </a:extLst>
          </p:cNvPr>
          <p:cNvSpPr>
            <a:spLocks noGrp="1"/>
          </p:cNvSpPr>
          <p:nvPr/>
        </p:nvSpPr>
        <p:spPr>
          <a:xfrm>
            <a:off x="609600" y="2600325"/>
            <a:ext cx="3409950" cy="2171700"/>
          </a:xfrm>
          <a:prstGeom prst="rect">
            <a:avLst/>
          </a:prstGeom>
          <a:solidFill>
            <a:srgbClr val="F1F5FA"/>
          </a:solidFill>
          <a:ln w="0">
            <a:noFill/>
          </a:ln>
        </p:spPr>
      </p:sp>
      <p:sp>
        <p:nvSpPr>
          <p:cNvPr id="12" name="矩形 11">
            <a:extLst>
              <a:ext uri="{FF2B5EF4-FFF2-40B4-BE49-F238E27FC236}">
                <a16:creationId xmlns:a16="http://schemas.microsoft.com/office/drawing/2014/main" id="{88A44ED7-78E2-4BDC-85F8-6818C6E41AE9}"/>
              </a:ext>
            </a:extLst>
          </p:cNvPr>
          <p:cNvSpPr>
            <a:spLocks noGrp="1"/>
          </p:cNvSpPr>
          <p:nvPr/>
        </p:nvSpPr>
        <p:spPr>
          <a:xfrm>
            <a:off x="847725" y="2838450"/>
            <a:ext cx="2933700" cy="381000"/>
          </a:xfrm>
          <a:prstGeom prst="rect">
            <a:avLst/>
          </a:prstGeom>
          <a:noFill/>
          <a:ln w="0">
            <a:noFill/>
          </a:ln>
        </p:spPr>
        <p:txBody>
          <a:bodyPr wrap="square" lIns="0" tIns="0" rIns="0" bIns="0">
            <a:noAutofit/>
          </a:bodyPr>
          <a:lstStyle/>
          <a:p>
            <a:pPr algn="l">
              <a:defRPr sz="1800" b="1">
                <a:solidFill>
                  <a:srgbClr val="08559C"/>
                </a:solidFill>
                <a:latin typeface="Microsoft YaHei"/>
                <a:ea typeface="Microsoft YaHei"/>
                <a:cs typeface="Microsoft YaHei"/>
              </a:defRPr>
            </a:pPr>
            <a:r>
              <a:rPr sz="1800" b="1">
                <a:solidFill>
                  <a:srgbClr val="08559C"/>
                </a:solidFill>
                <a:latin typeface="Microsoft YaHei"/>
                <a:ea typeface="Microsoft YaHei"/>
                <a:cs typeface="Microsoft YaHei"/>
              </a:rPr>
              <a:t>High noise</a:t>
            </a:r>
          </a:p>
        </p:txBody>
      </p:sp>
      <p:sp>
        <p:nvSpPr>
          <p:cNvPr id="13" name="矩形 12">
            <a:extLst>
              <a:ext uri="{FF2B5EF4-FFF2-40B4-BE49-F238E27FC236}">
                <a16:creationId xmlns:a16="http://schemas.microsoft.com/office/drawing/2014/main" id="{9E0988A4-3546-4BD8-AEDC-A0A8FB4801DE}"/>
              </a:ext>
            </a:extLst>
          </p:cNvPr>
          <p:cNvSpPr>
            <a:spLocks noGrp="1"/>
          </p:cNvSpPr>
          <p:nvPr/>
        </p:nvSpPr>
        <p:spPr>
          <a:xfrm>
            <a:off x="847725" y="3390900"/>
            <a:ext cx="2933700" cy="590550"/>
          </a:xfrm>
          <a:prstGeom prst="rect">
            <a:avLst/>
          </a:prstGeom>
          <a:noFill/>
          <a:ln w="0">
            <a:noFill/>
          </a:ln>
        </p:spPr>
        <p:txBody>
          <a:bodyPr wrap="square" lIns="0" tIns="0" rIns="0" bIns="0">
            <a:noAutofit/>
          </a:bodyPr>
          <a:lstStyle/>
          <a:p>
            <a:pPr algn="l">
              <a:defRPr sz="2175" b="1">
                <a:solidFill>
                  <a:srgbClr val="162A4A"/>
                </a:solidFill>
                <a:latin typeface="Microsoft YaHei"/>
                <a:ea typeface="Microsoft YaHei"/>
                <a:cs typeface="Microsoft YaHei"/>
              </a:defRPr>
            </a:pPr>
            <a:r>
              <a:rPr sz="2175" b="1">
                <a:solidFill>
                  <a:srgbClr val="162A4A"/>
                </a:solidFill>
                <a:latin typeface="Microsoft YaHei"/>
                <a:ea typeface="Microsoft YaHei"/>
                <a:cs typeface="Microsoft YaHei"/>
              </a:rPr>
              <a:t>High-noise expert</a:t>
            </a:r>
          </a:p>
        </p:txBody>
      </p:sp>
      <p:sp>
        <p:nvSpPr>
          <p:cNvPr id="14" name="矩形 13">
            <a:extLst>
              <a:ext uri="{FF2B5EF4-FFF2-40B4-BE49-F238E27FC236}">
                <a16:creationId xmlns:a16="http://schemas.microsoft.com/office/drawing/2014/main" id="{E1F1C3C0-A7FB-4553-AEB0-2FB22CB8D889}"/>
              </a:ext>
            </a:extLst>
          </p:cNvPr>
          <p:cNvSpPr>
            <a:spLocks noGrp="1"/>
          </p:cNvSpPr>
          <p:nvPr/>
        </p:nvSpPr>
        <p:spPr>
          <a:xfrm>
            <a:off x="847725" y="4171950"/>
            <a:ext cx="2933700" cy="533400"/>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Global structure</a:t>
            </a:r>
          </a:p>
        </p:txBody>
      </p:sp>
      <p:sp>
        <p:nvSpPr>
          <p:cNvPr id="15" name="矩形 14">
            <a:extLst>
              <a:ext uri="{FF2B5EF4-FFF2-40B4-BE49-F238E27FC236}">
                <a16:creationId xmlns:a16="http://schemas.microsoft.com/office/drawing/2014/main" id="{2CD05105-52A9-4B15-A938-36944FE493FE}"/>
              </a:ext>
            </a:extLst>
          </p:cNvPr>
          <p:cNvSpPr>
            <a:spLocks noGrp="1"/>
          </p:cNvSpPr>
          <p:nvPr/>
        </p:nvSpPr>
        <p:spPr>
          <a:xfrm>
            <a:off x="4067175" y="3409950"/>
            <a:ext cx="304800" cy="485775"/>
          </a:xfrm>
          <a:prstGeom prst="rect">
            <a:avLst/>
          </a:prstGeom>
          <a:noFill/>
          <a:ln w="0">
            <a:noFill/>
          </a:ln>
        </p:spPr>
        <p:txBody>
          <a:bodyPr wrap="square" lIns="0" tIns="0" rIns="0" bIns="0">
            <a:noAutofit/>
          </a:bodyPr>
          <a:lstStyle/>
          <a:p>
            <a:pPr algn="l">
              <a:defRPr sz="2250" b="1">
                <a:solidFill>
                  <a:srgbClr val="6A57B8"/>
                </a:solidFill>
                <a:latin typeface="Microsoft YaHei"/>
                <a:ea typeface="Microsoft YaHei"/>
                <a:cs typeface="Microsoft YaHei"/>
              </a:defRPr>
            </a:pPr>
            <a:r>
              <a:rPr sz="2250" b="1">
                <a:solidFill>
                  <a:srgbClr val="6A57B8"/>
                </a:solidFill>
                <a:latin typeface="Microsoft YaHei"/>
                <a:ea typeface="Microsoft YaHei"/>
                <a:cs typeface="Microsoft YaHei"/>
              </a:rPr>
              <a:t>→</a:t>
            </a:r>
          </a:p>
        </p:txBody>
      </p:sp>
      <p:sp>
        <p:nvSpPr>
          <p:cNvPr id="16" name="矩形 15">
            <a:extLst>
              <a:ext uri="{FF2B5EF4-FFF2-40B4-BE49-F238E27FC236}">
                <a16:creationId xmlns:a16="http://schemas.microsoft.com/office/drawing/2014/main" id="{C8667631-BA44-4B3A-B5B5-1C8B71E35CCE}"/>
              </a:ext>
            </a:extLst>
          </p:cNvPr>
          <p:cNvSpPr>
            <a:spLocks noGrp="1"/>
          </p:cNvSpPr>
          <p:nvPr/>
        </p:nvSpPr>
        <p:spPr>
          <a:xfrm>
            <a:off x="4391025" y="2600325"/>
            <a:ext cx="3409950" cy="2171700"/>
          </a:xfrm>
          <a:prstGeom prst="rect">
            <a:avLst/>
          </a:prstGeom>
          <a:solidFill>
            <a:srgbClr val="F4F0FA"/>
          </a:solidFill>
          <a:ln w="0">
            <a:noFill/>
          </a:ln>
        </p:spPr>
      </p:sp>
      <p:sp>
        <p:nvSpPr>
          <p:cNvPr id="17" name="矩形 16">
            <a:extLst>
              <a:ext uri="{FF2B5EF4-FFF2-40B4-BE49-F238E27FC236}">
                <a16:creationId xmlns:a16="http://schemas.microsoft.com/office/drawing/2014/main" id="{50A2AD8E-0204-4713-ABB5-D0C01A3CE2A8}"/>
              </a:ext>
            </a:extLst>
          </p:cNvPr>
          <p:cNvSpPr>
            <a:spLocks noGrp="1"/>
          </p:cNvSpPr>
          <p:nvPr/>
        </p:nvSpPr>
        <p:spPr>
          <a:xfrm>
            <a:off x="4629150" y="2838450"/>
            <a:ext cx="2933700" cy="381000"/>
          </a:xfrm>
          <a:prstGeom prst="rect">
            <a:avLst/>
          </a:prstGeom>
          <a:noFill/>
          <a:ln w="0">
            <a:noFill/>
          </a:ln>
        </p:spPr>
        <p:txBody>
          <a:bodyPr wrap="square" lIns="0" tIns="0" rIns="0" bIns="0">
            <a:noAutofit/>
          </a:bodyPr>
          <a:lstStyle/>
          <a:p>
            <a:pPr algn="l">
              <a:defRPr sz="1800" b="1">
                <a:solidFill>
                  <a:srgbClr val="6A57B8"/>
                </a:solidFill>
                <a:latin typeface="Microsoft YaHei"/>
                <a:ea typeface="Microsoft YaHei"/>
                <a:cs typeface="Microsoft YaHei"/>
              </a:defRPr>
            </a:pPr>
            <a:r>
              <a:rPr sz="1800" b="1">
                <a:solidFill>
                  <a:srgbClr val="6A57B8"/>
                </a:solidFill>
                <a:latin typeface="Microsoft YaHei"/>
                <a:ea typeface="Microsoft YaHei"/>
                <a:cs typeface="Microsoft YaHei"/>
              </a:rPr>
              <a:t>Boundary</a:t>
            </a:r>
          </a:p>
        </p:txBody>
      </p:sp>
      <p:sp>
        <p:nvSpPr>
          <p:cNvPr id="18" name="矩形 17">
            <a:extLst>
              <a:ext uri="{FF2B5EF4-FFF2-40B4-BE49-F238E27FC236}">
                <a16:creationId xmlns:a16="http://schemas.microsoft.com/office/drawing/2014/main" id="{C2A5C81A-D673-4BE6-AC11-F538D49CADAA}"/>
              </a:ext>
            </a:extLst>
          </p:cNvPr>
          <p:cNvSpPr>
            <a:spLocks noGrp="1"/>
          </p:cNvSpPr>
          <p:nvPr/>
        </p:nvSpPr>
        <p:spPr>
          <a:xfrm>
            <a:off x="4629150" y="3390900"/>
            <a:ext cx="2933700" cy="590550"/>
          </a:xfrm>
          <a:prstGeom prst="rect">
            <a:avLst/>
          </a:prstGeom>
          <a:noFill/>
          <a:ln w="0">
            <a:noFill/>
          </a:ln>
        </p:spPr>
        <p:txBody>
          <a:bodyPr wrap="square" lIns="0" tIns="0" rIns="0" bIns="0">
            <a:noAutofit/>
          </a:bodyPr>
          <a:lstStyle/>
          <a:p>
            <a:pPr algn="l">
              <a:defRPr sz="2175" b="1">
                <a:solidFill>
                  <a:srgbClr val="162A4A"/>
                </a:solidFill>
                <a:latin typeface="Microsoft YaHei"/>
                <a:ea typeface="Microsoft YaHei"/>
                <a:cs typeface="Microsoft YaHei"/>
              </a:defRPr>
            </a:pPr>
            <a:r>
              <a:rPr sz="2175" b="1">
                <a:solidFill>
                  <a:srgbClr val="162A4A"/>
                </a:solidFill>
                <a:latin typeface="Microsoft YaHei"/>
                <a:ea typeface="Microsoft YaHei"/>
                <a:cs typeface="Microsoft YaHei"/>
              </a:rPr>
              <a:t>Switch expert</a:t>
            </a:r>
          </a:p>
        </p:txBody>
      </p:sp>
      <p:sp>
        <p:nvSpPr>
          <p:cNvPr id="19" name="矩形 18">
            <a:extLst>
              <a:ext uri="{FF2B5EF4-FFF2-40B4-BE49-F238E27FC236}">
                <a16:creationId xmlns:a16="http://schemas.microsoft.com/office/drawing/2014/main" id="{ACC55E7A-D9C5-4A09-8DE4-0C7D8AC3EEDC}"/>
              </a:ext>
            </a:extLst>
          </p:cNvPr>
          <p:cNvSpPr>
            <a:spLocks noGrp="1"/>
          </p:cNvSpPr>
          <p:nvPr/>
        </p:nvSpPr>
        <p:spPr>
          <a:xfrm>
            <a:off x="4629150" y="4171950"/>
            <a:ext cx="2933700" cy="533400"/>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T2V: 0.875  /  I2V: 0.900</a:t>
            </a:r>
          </a:p>
        </p:txBody>
      </p:sp>
      <p:sp>
        <p:nvSpPr>
          <p:cNvPr id="20" name="矩形 19">
            <a:extLst>
              <a:ext uri="{FF2B5EF4-FFF2-40B4-BE49-F238E27FC236}">
                <a16:creationId xmlns:a16="http://schemas.microsoft.com/office/drawing/2014/main" id="{D0CE05D6-FFCC-456D-806A-FDB9F2568F9A}"/>
              </a:ext>
            </a:extLst>
          </p:cNvPr>
          <p:cNvSpPr>
            <a:spLocks noGrp="1"/>
          </p:cNvSpPr>
          <p:nvPr/>
        </p:nvSpPr>
        <p:spPr>
          <a:xfrm>
            <a:off x="7848600" y="3409950"/>
            <a:ext cx="304800" cy="485775"/>
          </a:xfrm>
          <a:prstGeom prst="rect">
            <a:avLst/>
          </a:prstGeom>
          <a:noFill/>
          <a:ln w="0">
            <a:noFill/>
          </a:ln>
        </p:spPr>
        <p:txBody>
          <a:bodyPr wrap="square" lIns="0" tIns="0" rIns="0" bIns="0">
            <a:noAutofit/>
          </a:bodyPr>
          <a:lstStyle/>
          <a:p>
            <a:pPr algn="l">
              <a:defRPr sz="2250" b="1">
                <a:solidFill>
                  <a:srgbClr val="6A57B8"/>
                </a:solidFill>
                <a:latin typeface="Microsoft YaHei"/>
                <a:ea typeface="Microsoft YaHei"/>
                <a:cs typeface="Microsoft YaHei"/>
              </a:defRPr>
            </a:pPr>
            <a:r>
              <a:rPr sz="2250" b="1">
                <a:solidFill>
                  <a:srgbClr val="6A57B8"/>
                </a:solidFill>
                <a:latin typeface="Microsoft YaHei"/>
                <a:ea typeface="Microsoft YaHei"/>
                <a:cs typeface="Microsoft YaHei"/>
              </a:rPr>
              <a:t>→</a:t>
            </a:r>
          </a:p>
        </p:txBody>
      </p:sp>
      <p:sp>
        <p:nvSpPr>
          <p:cNvPr id="21" name="矩形 20">
            <a:extLst>
              <a:ext uri="{FF2B5EF4-FFF2-40B4-BE49-F238E27FC236}">
                <a16:creationId xmlns:a16="http://schemas.microsoft.com/office/drawing/2014/main" id="{D3C2ADD0-7BE4-4B1C-8D8B-00D1FCE55C06}"/>
              </a:ext>
            </a:extLst>
          </p:cNvPr>
          <p:cNvSpPr>
            <a:spLocks noGrp="1"/>
          </p:cNvSpPr>
          <p:nvPr/>
        </p:nvSpPr>
        <p:spPr>
          <a:xfrm>
            <a:off x="8172450" y="2600325"/>
            <a:ext cx="3409950" cy="2171700"/>
          </a:xfrm>
          <a:prstGeom prst="rect">
            <a:avLst/>
          </a:prstGeom>
          <a:solidFill>
            <a:srgbClr val="F1F5FA"/>
          </a:solidFill>
          <a:ln w="0">
            <a:noFill/>
          </a:ln>
        </p:spPr>
      </p:sp>
      <p:sp>
        <p:nvSpPr>
          <p:cNvPr id="22" name="矩形 21">
            <a:extLst>
              <a:ext uri="{FF2B5EF4-FFF2-40B4-BE49-F238E27FC236}">
                <a16:creationId xmlns:a16="http://schemas.microsoft.com/office/drawing/2014/main" id="{4B905FED-8CA2-4532-BA91-6E047840B947}"/>
              </a:ext>
            </a:extLst>
          </p:cNvPr>
          <p:cNvSpPr>
            <a:spLocks noGrp="1"/>
          </p:cNvSpPr>
          <p:nvPr/>
        </p:nvSpPr>
        <p:spPr>
          <a:xfrm>
            <a:off x="8410575" y="2838450"/>
            <a:ext cx="2933700" cy="381000"/>
          </a:xfrm>
          <a:prstGeom prst="rect">
            <a:avLst/>
          </a:prstGeom>
          <a:noFill/>
          <a:ln w="0">
            <a:noFill/>
          </a:ln>
        </p:spPr>
        <p:txBody>
          <a:bodyPr wrap="square" lIns="0" tIns="0" rIns="0" bIns="0">
            <a:noAutofit/>
          </a:bodyPr>
          <a:lstStyle/>
          <a:p>
            <a:pPr algn="l">
              <a:defRPr sz="1800" b="1">
                <a:solidFill>
                  <a:srgbClr val="08559C"/>
                </a:solidFill>
                <a:latin typeface="Microsoft YaHei"/>
                <a:ea typeface="Microsoft YaHei"/>
                <a:cs typeface="Microsoft YaHei"/>
              </a:defRPr>
            </a:pPr>
            <a:r>
              <a:rPr sz="1800" b="1">
                <a:solidFill>
                  <a:srgbClr val="08559C"/>
                </a:solidFill>
                <a:latin typeface="Microsoft YaHei"/>
                <a:ea typeface="Microsoft YaHei"/>
                <a:cs typeface="Microsoft YaHei"/>
              </a:rPr>
              <a:t>Low noise</a:t>
            </a:r>
          </a:p>
        </p:txBody>
      </p:sp>
      <p:sp>
        <p:nvSpPr>
          <p:cNvPr id="23" name="矩形 22">
            <a:extLst>
              <a:ext uri="{FF2B5EF4-FFF2-40B4-BE49-F238E27FC236}">
                <a16:creationId xmlns:a16="http://schemas.microsoft.com/office/drawing/2014/main" id="{13085961-FC0D-4A3C-9271-53F4A38DDE25}"/>
              </a:ext>
            </a:extLst>
          </p:cNvPr>
          <p:cNvSpPr>
            <a:spLocks noGrp="1"/>
          </p:cNvSpPr>
          <p:nvPr/>
        </p:nvSpPr>
        <p:spPr>
          <a:xfrm>
            <a:off x="8410575" y="3390900"/>
            <a:ext cx="2933700" cy="590550"/>
          </a:xfrm>
          <a:prstGeom prst="rect">
            <a:avLst/>
          </a:prstGeom>
          <a:noFill/>
          <a:ln w="0">
            <a:noFill/>
          </a:ln>
        </p:spPr>
        <p:txBody>
          <a:bodyPr wrap="square" lIns="0" tIns="0" rIns="0" bIns="0">
            <a:noAutofit/>
          </a:bodyPr>
          <a:lstStyle/>
          <a:p>
            <a:pPr algn="l">
              <a:defRPr sz="2175" b="1">
                <a:solidFill>
                  <a:srgbClr val="162A4A"/>
                </a:solidFill>
                <a:latin typeface="Microsoft YaHei"/>
                <a:ea typeface="Microsoft YaHei"/>
                <a:cs typeface="Microsoft YaHei"/>
              </a:defRPr>
            </a:pPr>
            <a:r>
              <a:rPr sz="2175" b="1">
                <a:solidFill>
                  <a:srgbClr val="162A4A"/>
                </a:solidFill>
                <a:latin typeface="Microsoft YaHei"/>
                <a:ea typeface="Microsoft YaHei"/>
                <a:cs typeface="Microsoft YaHei"/>
              </a:rPr>
              <a:t>Low-noise expert</a:t>
            </a:r>
          </a:p>
        </p:txBody>
      </p:sp>
      <p:sp>
        <p:nvSpPr>
          <p:cNvPr id="24" name="矩形 23">
            <a:extLst>
              <a:ext uri="{FF2B5EF4-FFF2-40B4-BE49-F238E27FC236}">
                <a16:creationId xmlns:a16="http://schemas.microsoft.com/office/drawing/2014/main" id="{1BB09957-F54A-46A7-8542-B7EF996B71A5}"/>
              </a:ext>
            </a:extLst>
          </p:cNvPr>
          <p:cNvSpPr>
            <a:spLocks noGrp="1"/>
          </p:cNvSpPr>
          <p:nvPr/>
        </p:nvSpPr>
        <p:spPr>
          <a:xfrm>
            <a:off x="8410575" y="4171950"/>
            <a:ext cx="2933700" cy="533400"/>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Visual refinement</a:t>
            </a:r>
          </a:p>
        </p:txBody>
      </p:sp>
      <p:sp>
        <p:nvSpPr>
          <p:cNvPr id="25" name="矩形 24">
            <a:extLst>
              <a:ext uri="{FF2B5EF4-FFF2-40B4-BE49-F238E27FC236}">
                <a16:creationId xmlns:a16="http://schemas.microsoft.com/office/drawing/2014/main" id="{CBE6F54C-FAB3-4909-886F-47F3BB30AAEB}"/>
              </a:ext>
            </a:extLst>
          </p:cNvPr>
          <p:cNvSpPr>
            <a:spLocks noGrp="1"/>
          </p:cNvSpPr>
          <p:nvPr/>
        </p:nvSpPr>
        <p:spPr>
          <a:xfrm>
            <a:off x="609600" y="5181600"/>
            <a:ext cx="10972800" cy="409575"/>
          </a:xfrm>
          <a:prstGeom prst="rect">
            <a:avLst/>
          </a:prstGeom>
          <a:noFill/>
          <a:ln w="0">
            <a:noFill/>
          </a:ln>
        </p:spPr>
        <p:txBody>
          <a:bodyPr wrap="square" lIns="0" tIns="0" rIns="0" bIns="0">
            <a:noAutofit/>
          </a:bodyPr>
          <a:lstStyle/>
          <a:p>
            <a:pPr algn="l">
              <a:defRPr sz="1800" b="0">
                <a:solidFill>
                  <a:srgbClr val="162A4A"/>
                </a:solidFill>
                <a:latin typeface="Microsoft YaHei"/>
                <a:ea typeface="Microsoft YaHei"/>
                <a:cs typeface="Microsoft YaHei"/>
              </a:defRPr>
            </a:pPr>
            <a:r>
              <a:rPr sz="1800" b="0">
                <a:solidFill>
                  <a:srgbClr val="162A4A"/>
                </a:solidFill>
                <a:latin typeface="Microsoft YaHei"/>
                <a:ea typeface="Microsoft YaHei"/>
                <a:cs typeface="Microsoft YaHei"/>
              </a:rPr>
              <a:t>No token-level router  •  One complete expert runs at each denoising step</a:t>
            </a:r>
          </a:p>
        </p:txBody>
      </p:sp>
    </p:spTree>
    <p:extLst>
      <p:ext uri="{BB962C8B-B14F-4D97-AF65-F5344CB8AC3E}">
        <p14:creationId xmlns:p14="http://schemas.microsoft.com/office/powerpoint/2010/main" val="2367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EFD79D86-1B10-480A-A1BF-D928E357B23D}"/>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EVIDENCE</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09D357BF-9EB4-4F25-9281-B428E09F7A36}"/>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Why specialize? Different noise regimes learn differently</a:t>
            </a:r>
          </a:p>
        </p:txBody>
      </p:sp>
      <p:sp>
        <p:nvSpPr>
          <p:cNvPr id="4" name="矩形 3">
            <a:extLst>
              <a:ext uri="{FF2B5EF4-FFF2-40B4-BE49-F238E27FC236}">
                <a16:creationId xmlns:a16="http://schemas.microsoft.com/office/drawing/2014/main" id="{9817CA13-E42A-4F53-8221-6A05E40EDF1E}"/>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8654BA45-CE09-4897-961B-50A52825015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41E71E07-FBC3-4186-8CEC-1F34375F5CB5}"/>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 release links the split to log-SNR and reports lower validation loss.</a:t>
            </a:r>
          </a:p>
        </p:txBody>
      </p:sp>
      <p:sp>
        <p:nvSpPr>
          <p:cNvPr id="7" name="矩形 6">
            <a:extLst>
              <a:ext uri="{FF2B5EF4-FFF2-40B4-BE49-F238E27FC236}">
                <a16:creationId xmlns:a16="http://schemas.microsoft.com/office/drawing/2014/main" id="{5318F109-2885-4324-9D9D-A8A481EAF18C}"/>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2C295115-2C7A-4079-84B1-183BAE616B72}"/>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Treat the two-expert result as release evidence with limited disclosed experimental detail.</a:t>
            </a:r>
          </a:p>
        </p:txBody>
      </p:sp>
      <p:sp>
        <p:nvSpPr>
          <p:cNvPr id="9" name="矩形 8">
            <a:extLst>
              <a:ext uri="{FF2B5EF4-FFF2-40B4-BE49-F238E27FC236}">
                <a16:creationId xmlns:a16="http://schemas.microsoft.com/office/drawing/2014/main" id="{2D93C696-529C-48E8-A9AF-81B74933A63C}"/>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 Official MoE analysis figure, validation-loss panel (cropped)</a:t>
            </a:r>
          </a:p>
        </p:txBody>
      </p:sp>
      <p:sp>
        <p:nvSpPr>
          <p:cNvPr id="10" name="矩形 9">
            <a:extLst>
              <a:ext uri="{FF2B5EF4-FFF2-40B4-BE49-F238E27FC236}">
                <a16:creationId xmlns:a16="http://schemas.microsoft.com/office/drawing/2014/main" id="{69E80A18-F565-468D-AB61-1391FDF79F81}"/>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21 / 38</a:t>
            </a:r>
          </a:p>
        </p:txBody>
      </p:sp>
      <p:pic>
        <p:nvPicPr>
          <p:cNvPr id="28" name="图片 27"/>
          <p:cNvPicPr>
            <a:picLocks noChangeAspect="1"/>
          </p:cNvPicPr>
          <p:nvPr/>
        </p:nvPicPr>
        <p:blipFill>
          <a:blip r:embed="rId4"/>
          <a:stretch/>
        </p:blipFill>
        <p:spPr>
          <a:xfrm>
            <a:off x="1414889" y="2238375"/>
            <a:ext cx="5552222" cy="3476625"/>
          </a:xfrm>
          <a:prstGeom prst="rect">
            <a:avLst/>
          </a:prstGeom>
        </p:spPr>
      </p:pic>
      <p:sp>
        <p:nvSpPr>
          <p:cNvPr id="12" name="矩形 11">
            <a:extLst>
              <a:ext uri="{FF2B5EF4-FFF2-40B4-BE49-F238E27FC236}">
                <a16:creationId xmlns:a16="http://schemas.microsoft.com/office/drawing/2014/main" id="{22E69053-6B4D-4915-B909-B38E037C9072}"/>
              </a:ext>
            </a:extLst>
          </p:cNvPr>
          <p:cNvSpPr>
            <a:spLocks noGrp="1"/>
          </p:cNvSpPr>
          <p:nvPr/>
        </p:nvSpPr>
        <p:spPr>
          <a:xfrm>
            <a:off x="8315325" y="230505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Motivation</a:t>
            </a:r>
          </a:p>
        </p:txBody>
      </p:sp>
      <p:sp>
        <p:nvSpPr>
          <p:cNvPr id="13" name="矩形 12">
            <a:extLst>
              <a:ext uri="{FF2B5EF4-FFF2-40B4-BE49-F238E27FC236}">
                <a16:creationId xmlns:a16="http://schemas.microsoft.com/office/drawing/2014/main" id="{AD56E12F-F8C0-4CA5-8B35-CBC092CF5095}"/>
              </a:ext>
            </a:extLst>
          </p:cNvPr>
          <p:cNvSpPr>
            <a:spLocks noGrp="1"/>
          </p:cNvSpPr>
          <p:nvPr/>
        </p:nvSpPr>
        <p:spPr>
          <a:xfrm>
            <a:off x="8315325" y="274320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Noisy and clean latents pose different denoising tasks.</a:t>
            </a:r>
          </a:p>
        </p:txBody>
      </p:sp>
      <p:sp>
        <p:nvSpPr>
          <p:cNvPr id="14" name="矩形 13">
            <a:extLst>
              <a:ext uri="{FF2B5EF4-FFF2-40B4-BE49-F238E27FC236}">
                <a16:creationId xmlns:a16="http://schemas.microsoft.com/office/drawing/2014/main" id="{4047DFCB-B551-4A15-8236-052FFFA24D33}"/>
              </a:ext>
            </a:extLst>
          </p:cNvPr>
          <p:cNvSpPr>
            <a:spLocks noGrp="1"/>
          </p:cNvSpPr>
          <p:nvPr/>
        </p:nvSpPr>
        <p:spPr>
          <a:xfrm>
            <a:off x="8315325" y="3438525"/>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Training</a:t>
            </a:r>
          </a:p>
        </p:txBody>
      </p:sp>
      <p:sp>
        <p:nvSpPr>
          <p:cNvPr id="15" name="矩形 14">
            <a:extLst>
              <a:ext uri="{FF2B5EF4-FFF2-40B4-BE49-F238E27FC236}">
                <a16:creationId xmlns:a16="http://schemas.microsoft.com/office/drawing/2014/main" id="{72FA6950-D2A2-487B-84A9-DCB48A793DE1}"/>
              </a:ext>
            </a:extLst>
          </p:cNvPr>
          <p:cNvSpPr>
            <a:spLocks noGrp="1"/>
          </p:cNvSpPr>
          <p:nvPr/>
        </p:nvSpPr>
        <p:spPr>
          <a:xfrm>
            <a:off x="8315325" y="3876675"/>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Specialize full denoisers for high- and low-noise regimes.</a:t>
            </a:r>
          </a:p>
        </p:txBody>
      </p:sp>
      <p:sp>
        <p:nvSpPr>
          <p:cNvPr id="16" name="矩形 15">
            <a:extLst>
              <a:ext uri="{FF2B5EF4-FFF2-40B4-BE49-F238E27FC236}">
                <a16:creationId xmlns:a16="http://schemas.microsoft.com/office/drawing/2014/main" id="{3CC83A5B-7CE3-433A-B2FC-D72A00F2816A}"/>
              </a:ext>
            </a:extLst>
          </p:cNvPr>
          <p:cNvSpPr>
            <a:spLocks noGrp="1"/>
          </p:cNvSpPr>
          <p:nvPr/>
        </p:nvSpPr>
        <p:spPr>
          <a:xfrm>
            <a:off x="8315325" y="457200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Evidence limit</a:t>
            </a:r>
          </a:p>
        </p:txBody>
      </p:sp>
      <p:sp>
        <p:nvSpPr>
          <p:cNvPr id="17" name="矩形 16">
            <a:extLst>
              <a:ext uri="{FF2B5EF4-FFF2-40B4-BE49-F238E27FC236}">
                <a16:creationId xmlns:a16="http://schemas.microsoft.com/office/drawing/2014/main" id="{961B0570-4C0F-48B8-85B1-2DC74D0EE292}"/>
              </a:ext>
            </a:extLst>
          </p:cNvPr>
          <p:cNvSpPr>
            <a:spLocks noGrp="1"/>
          </p:cNvSpPr>
          <p:nvPr/>
        </p:nvSpPr>
        <p:spPr>
          <a:xfrm>
            <a:off x="8315325" y="501015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The release plot is supportive; it is not a full controlled scaling study.</a:t>
            </a:r>
          </a:p>
        </p:txBody>
      </p:sp>
    </p:spTree>
    <p:extLst>
      <p:ext uri="{BB962C8B-B14F-4D97-AF65-F5344CB8AC3E}">
        <p14:creationId xmlns:p14="http://schemas.microsoft.com/office/powerpoint/2010/main" val="860154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DF8ADDD-62EE-490D-8272-93195C07BAA0}"/>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DATA AND GENERATION QUALITY</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E2C7ACA8-854C-4696-B80F-2AD5F661FD3E}"/>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Quality gains also come from broader and richer data</a:t>
            </a:r>
          </a:p>
        </p:txBody>
      </p:sp>
      <p:sp>
        <p:nvSpPr>
          <p:cNvPr id="4" name="矩形 3">
            <a:extLst>
              <a:ext uri="{FF2B5EF4-FFF2-40B4-BE49-F238E27FC236}">
                <a16:creationId xmlns:a16="http://schemas.microsoft.com/office/drawing/2014/main" id="{78025245-9798-4AA0-8807-CDE81B82A27F}"/>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0C18EFDF-7CD8-4C3D-BEF3-83D718DDD36B}"/>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47AF002C-D0B0-4ED4-BAFC-1777EBA7BD03}"/>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More data: +65.6% images and +83.2% videos. Scores below compare Wan2.1 → Wan2.2.</a:t>
            </a:r>
          </a:p>
        </p:txBody>
      </p:sp>
      <p:sp>
        <p:nvSpPr>
          <p:cNvPr id="7" name="矩形 6">
            <a:extLst>
              <a:ext uri="{FF2B5EF4-FFF2-40B4-BE49-F238E27FC236}">
                <a16:creationId xmlns:a16="http://schemas.microsoft.com/office/drawing/2014/main" id="{814BFCA5-45D8-43BA-A5BF-35955436DB0D}"/>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4040A162-B8F8-4A62-8B58-E43E4536CFFD}"/>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released benchmark comparison does not isolate the causal effect of MoE alone.</a:t>
            </a:r>
          </a:p>
        </p:txBody>
      </p:sp>
      <p:sp>
        <p:nvSpPr>
          <p:cNvPr id="9" name="矩形 8">
            <a:extLst>
              <a:ext uri="{FF2B5EF4-FFF2-40B4-BE49-F238E27FC236}">
                <a16:creationId xmlns:a16="http://schemas.microsoft.com/office/drawing/2014/main" id="{ADC3E7A1-CF8E-41A8-B85C-B49773AF2B6A}"/>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 Official Wan-Bench 2.0 figure; relative data increases reported by the authors</a:t>
            </a:r>
          </a:p>
        </p:txBody>
      </p:sp>
      <p:sp>
        <p:nvSpPr>
          <p:cNvPr id="10" name="矩形 9">
            <a:extLst>
              <a:ext uri="{FF2B5EF4-FFF2-40B4-BE49-F238E27FC236}">
                <a16:creationId xmlns:a16="http://schemas.microsoft.com/office/drawing/2014/main" id="{F2503952-1333-436C-A6F3-86CF8D30BFDB}"/>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22 / 38</a:t>
            </a:r>
          </a:p>
        </p:txBody>
      </p:sp>
      <p:pic>
        <p:nvPicPr>
          <p:cNvPr id="28" name="图片 27"/>
          <p:cNvPicPr>
            <a:picLocks noChangeAspect="1"/>
          </p:cNvPicPr>
          <p:nvPr/>
        </p:nvPicPr>
        <p:blipFill>
          <a:blip r:embed="rId4"/>
          <a:stretch/>
        </p:blipFill>
        <p:spPr>
          <a:xfrm>
            <a:off x="1211036" y="2238375"/>
            <a:ext cx="5959929" cy="3476625"/>
          </a:xfrm>
          <a:prstGeom prst="rect">
            <a:avLst/>
          </a:prstGeom>
        </p:spPr>
      </p:pic>
      <p:sp>
        <p:nvSpPr>
          <p:cNvPr id="12" name="矩形 11">
            <a:extLst>
              <a:ext uri="{FF2B5EF4-FFF2-40B4-BE49-F238E27FC236}">
                <a16:creationId xmlns:a16="http://schemas.microsoft.com/office/drawing/2014/main" id="{0E93E084-B1D6-4B9D-BFCA-D0F945B54E61}"/>
              </a:ext>
            </a:extLst>
          </p:cNvPr>
          <p:cNvSpPr>
            <a:spLocks noGrp="1"/>
          </p:cNvSpPr>
          <p:nvPr/>
        </p:nvSpPr>
        <p:spPr>
          <a:xfrm>
            <a:off x="8315325" y="230505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Aesthetic quality</a:t>
            </a:r>
          </a:p>
        </p:txBody>
      </p:sp>
      <p:sp>
        <p:nvSpPr>
          <p:cNvPr id="13" name="矩形 12">
            <a:extLst>
              <a:ext uri="{FF2B5EF4-FFF2-40B4-BE49-F238E27FC236}">
                <a16:creationId xmlns:a16="http://schemas.microsoft.com/office/drawing/2014/main" id="{B4D30A2F-D5F2-48AE-AC3B-16E9F207C975}"/>
              </a:ext>
            </a:extLst>
          </p:cNvPr>
          <p:cNvSpPr>
            <a:spLocks noGrp="1"/>
          </p:cNvSpPr>
          <p:nvPr/>
        </p:nvSpPr>
        <p:spPr>
          <a:xfrm>
            <a:off x="8315325" y="2743200"/>
            <a:ext cx="3267075" cy="714375"/>
          </a:xfrm>
          <a:prstGeom prst="rect">
            <a:avLst/>
          </a:prstGeom>
          <a:noFill/>
          <a:ln w="0">
            <a:noFill/>
          </a:ln>
        </p:spPr>
        <p:txBody>
          <a:bodyPr wrap="square" lIns="0" tIns="0" rIns="0" bIns="0">
            <a:noAutofit/>
          </a:bodyPr>
          <a:lstStyle/>
          <a:p>
            <a:pPr algn="l">
              <a:defRPr sz="2250" b="0">
                <a:solidFill>
                  <a:srgbClr val="162A4A"/>
                </a:solidFill>
                <a:latin typeface="Microsoft YaHei"/>
                <a:ea typeface="Microsoft YaHei"/>
                <a:cs typeface="Microsoft YaHei"/>
              </a:defRPr>
            </a:pPr>
            <a:r>
              <a:rPr sz="2250" b="0">
                <a:solidFill>
                  <a:srgbClr val="162A4A"/>
                </a:solidFill>
                <a:latin typeface="Microsoft YaHei"/>
                <a:ea typeface="Microsoft YaHei"/>
                <a:cs typeface="Microsoft YaHei"/>
              </a:rPr>
              <a:t>75.9 → 85.3</a:t>
            </a:r>
          </a:p>
        </p:txBody>
      </p:sp>
      <p:sp>
        <p:nvSpPr>
          <p:cNvPr id="14" name="矩形 13">
            <a:extLst>
              <a:ext uri="{FF2B5EF4-FFF2-40B4-BE49-F238E27FC236}">
                <a16:creationId xmlns:a16="http://schemas.microsoft.com/office/drawing/2014/main" id="{6D7CF109-84E0-494D-AE91-A30006665BFA}"/>
              </a:ext>
            </a:extLst>
          </p:cNvPr>
          <p:cNvSpPr>
            <a:spLocks noGrp="1"/>
          </p:cNvSpPr>
          <p:nvPr/>
        </p:nvSpPr>
        <p:spPr>
          <a:xfrm>
            <a:off x="8315325" y="3438525"/>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Camera control</a:t>
            </a:r>
          </a:p>
        </p:txBody>
      </p:sp>
      <p:sp>
        <p:nvSpPr>
          <p:cNvPr id="15" name="矩形 14">
            <a:extLst>
              <a:ext uri="{FF2B5EF4-FFF2-40B4-BE49-F238E27FC236}">
                <a16:creationId xmlns:a16="http://schemas.microsoft.com/office/drawing/2014/main" id="{FFC98175-72D4-4EEB-824D-228F22378207}"/>
              </a:ext>
            </a:extLst>
          </p:cNvPr>
          <p:cNvSpPr>
            <a:spLocks noGrp="1"/>
          </p:cNvSpPr>
          <p:nvPr/>
        </p:nvSpPr>
        <p:spPr>
          <a:xfrm>
            <a:off x="8315325" y="3876675"/>
            <a:ext cx="3267075" cy="714375"/>
          </a:xfrm>
          <a:prstGeom prst="rect">
            <a:avLst/>
          </a:prstGeom>
          <a:noFill/>
          <a:ln w="0">
            <a:noFill/>
          </a:ln>
        </p:spPr>
        <p:txBody>
          <a:bodyPr wrap="square" lIns="0" tIns="0" rIns="0" bIns="0">
            <a:noAutofit/>
          </a:bodyPr>
          <a:lstStyle/>
          <a:p>
            <a:pPr algn="l">
              <a:defRPr sz="2250" b="0">
                <a:solidFill>
                  <a:srgbClr val="162A4A"/>
                </a:solidFill>
                <a:latin typeface="Microsoft YaHei"/>
                <a:ea typeface="Microsoft YaHei"/>
                <a:cs typeface="Microsoft YaHei"/>
              </a:defRPr>
            </a:pPr>
            <a:r>
              <a:rPr sz="2250" b="0">
                <a:solidFill>
                  <a:srgbClr val="162A4A"/>
                </a:solidFill>
                <a:latin typeface="Microsoft YaHei"/>
                <a:ea typeface="Microsoft YaHei"/>
                <a:cs typeface="Microsoft YaHei"/>
              </a:rPr>
              <a:t>27.9 → 39.6</a:t>
            </a:r>
          </a:p>
        </p:txBody>
      </p:sp>
      <p:sp>
        <p:nvSpPr>
          <p:cNvPr id="16" name="矩形 15">
            <a:extLst>
              <a:ext uri="{FF2B5EF4-FFF2-40B4-BE49-F238E27FC236}">
                <a16:creationId xmlns:a16="http://schemas.microsoft.com/office/drawing/2014/main" id="{916F7DEF-6BD7-45E5-8194-5065AAD430AA}"/>
              </a:ext>
            </a:extLst>
          </p:cNvPr>
          <p:cNvSpPr>
            <a:spLocks noGrp="1"/>
          </p:cNvSpPr>
          <p:nvPr/>
        </p:nvSpPr>
        <p:spPr>
          <a:xfrm>
            <a:off x="8315325" y="457200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Video fidelity</a:t>
            </a:r>
          </a:p>
        </p:txBody>
      </p:sp>
      <p:sp>
        <p:nvSpPr>
          <p:cNvPr id="17" name="矩形 16">
            <a:extLst>
              <a:ext uri="{FF2B5EF4-FFF2-40B4-BE49-F238E27FC236}">
                <a16:creationId xmlns:a16="http://schemas.microsoft.com/office/drawing/2014/main" id="{1D63EA4E-E72E-4E56-8A74-179D14E3D3F5}"/>
              </a:ext>
            </a:extLst>
          </p:cNvPr>
          <p:cNvSpPr>
            <a:spLocks noGrp="1"/>
          </p:cNvSpPr>
          <p:nvPr/>
        </p:nvSpPr>
        <p:spPr>
          <a:xfrm>
            <a:off x="8315325" y="5010150"/>
            <a:ext cx="3267075" cy="714375"/>
          </a:xfrm>
          <a:prstGeom prst="rect">
            <a:avLst/>
          </a:prstGeom>
          <a:noFill/>
          <a:ln w="0">
            <a:noFill/>
          </a:ln>
        </p:spPr>
        <p:txBody>
          <a:bodyPr wrap="square" lIns="0" tIns="0" rIns="0" bIns="0">
            <a:noAutofit/>
          </a:bodyPr>
          <a:lstStyle/>
          <a:p>
            <a:pPr algn="l">
              <a:defRPr sz="2250" b="0">
                <a:solidFill>
                  <a:srgbClr val="162A4A"/>
                </a:solidFill>
                <a:latin typeface="Microsoft YaHei"/>
                <a:ea typeface="Microsoft YaHei"/>
                <a:cs typeface="Microsoft YaHei"/>
              </a:defRPr>
            </a:pPr>
            <a:r>
              <a:rPr sz="2250" b="0">
                <a:solidFill>
                  <a:srgbClr val="162A4A"/>
                </a:solidFill>
                <a:latin typeface="Microsoft YaHei"/>
                <a:ea typeface="Microsoft YaHei"/>
                <a:cs typeface="Microsoft YaHei"/>
              </a:rPr>
              <a:t>63.6 → 73.7</a:t>
            </a:r>
          </a:p>
        </p:txBody>
      </p:sp>
    </p:spTree>
    <p:extLst>
      <p:ext uri="{BB962C8B-B14F-4D97-AF65-F5344CB8AC3E}">
        <p14:creationId xmlns:p14="http://schemas.microsoft.com/office/powerpoint/2010/main" val="1814427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D3BF77D0-1247-4E3F-8599-73E9F16736C6}"/>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DENSE TI2V-5B</a:t>
            </a:r>
          </a:p>
        </p:txBody>
      </p:sp>
      <p:pic>
        <p:nvPicPr>
          <p:cNvPr id="24" name="图片 23"/>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385E0544-9E57-40D5-8AD4-381F12B69BCA}"/>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One 5B model handles both text and image inputs</a:t>
            </a:r>
          </a:p>
        </p:txBody>
      </p:sp>
      <p:sp>
        <p:nvSpPr>
          <p:cNvPr id="4" name="矩形 3">
            <a:extLst>
              <a:ext uri="{FF2B5EF4-FFF2-40B4-BE49-F238E27FC236}">
                <a16:creationId xmlns:a16="http://schemas.microsoft.com/office/drawing/2014/main" id="{0604A312-7BED-435C-9FA6-7B355787F3E8}"/>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F750228A-D00C-43C2-9BF2-CDE570E6B6D2}"/>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7A2715F3-59D0-4261-9DF8-EEA5AAB59468}"/>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Dense DiT: 30 blocks, width 3,072, 24 heads, and 48 latent input channels.</a:t>
            </a:r>
          </a:p>
        </p:txBody>
      </p:sp>
      <p:sp>
        <p:nvSpPr>
          <p:cNvPr id="7" name="矩形 6">
            <a:extLst>
              <a:ext uri="{FF2B5EF4-FFF2-40B4-BE49-F238E27FC236}">
                <a16:creationId xmlns:a16="http://schemas.microsoft.com/office/drawing/2014/main" id="{1B3AD5D3-B52B-4F95-AAFF-A083A3CD6683}"/>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73550DA6-52A8-4419-A545-900C16653AED}"/>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same dense DiT changes task through its latent condition and timestep mask.</a:t>
            </a:r>
          </a:p>
        </p:txBody>
      </p:sp>
      <p:sp>
        <p:nvSpPr>
          <p:cNvPr id="9" name="矩形 8">
            <a:extLst>
              <a:ext uri="{FF2B5EF4-FFF2-40B4-BE49-F238E27FC236}">
                <a16:creationId xmlns:a16="http://schemas.microsoft.com/office/drawing/2014/main" id="{193C9D11-C7C5-4295-88D7-AEA9564E7FBA}"/>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Wan2.2 TI2V inference code; Wan2.2-TI2V-5B model card | Official TI2V inference and checkpoint configuration</a:t>
            </a:r>
          </a:p>
        </p:txBody>
      </p:sp>
      <p:sp>
        <p:nvSpPr>
          <p:cNvPr id="10" name="矩形 9">
            <a:extLst>
              <a:ext uri="{FF2B5EF4-FFF2-40B4-BE49-F238E27FC236}">
                <a16:creationId xmlns:a16="http://schemas.microsoft.com/office/drawing/2014/main" id="{55B8CF36-1EA0-41E0-AC75-663F00E5716A}"/>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23 / 38</a:t>
            </a:r>
          </a:p>
        </p:txBody>
      </p:sp>
      <p:sp>
        <p:nvSpPr>
          <p:cNvPr id="11" name="矩形 10">
            <a:extLst>
              <a:ext uri="{FF2B5EF4-FFF2-40B4-BE49-F238E27FC236}">
                <a16:creationId xmlns:a16="http://schemas.microsoft.com/office/drawing/2014/main" id="{D422B948-2424-407A-A0A8-A1C8AA9DA00C}"/>
              </a:ext>
            </a:extLst>
          </p:cNvPr>
          <p:cNvSpPr>
            <a:spLocks noGrp="1"/>
          </p:cNvSpPr>
          <p:nvPr/>
        </p:nvSpPr>
        <p:spPr>
          <a:xfrm>
            <a:off x="609600" y="2314575"/>
            <a:ext cx="5105400" cy="409575"/>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Text-to-video</a:t>
            </a:r>
          </a:p>
        </p:txBody>
      </p:sp>
      <p:sp>
        <p:nvSpPr>
          <p:cNvPr id="12" name="矩形 11">
            <a:extLst>
              <a:ext uri="{FF2B5EF4-FFF2-40B4-BE49-F238E27FC236}">
                <a16:creationId xmlns:a16="http://schemas.microsoft.com/office/drawing/2014/main" id="{808B7C41-895F-4238-AD4F-5CB8AAFF58FF}"/>
              </a:ext>
            </a:extLst>
          </p:cNvPr>
          <p:cNvSpPr>
            <a:spLocks noGrp="1"/>
          </p:cNvSpPr>
          <p:nvPr/>
        </p:nvSpPr>
        <p:spPr>
          <a:xfrm>
            <a:off x="609600" y="2819400"/>
            <a:ext cx="5105400" cy="9525"/>
          </a:xfrm>
          <a:prstGeom prst="rect">
            <a:avLst/>
          </a:prstGeom>
          <a:solidFill>
            <a:srgbClr val="D9E1ED"/>
          </a:solidFill>
          <a:ln w="0">
            <a:noFill/>
          </a:ln>
        </p:spPr>
      </p:sp>
      <p:sp>
        <p:nvSpPr>
          <p:cNvPr id="13" name="矩形 12">
            <a:extLst>
              <a:ext uri="{FF2B5EF4-FFF2-40B4-BE49-F238E27FC236}">
                <a16:creationId xmlns:a16="http://schemas.microsoft.com/office/drawing/2014/main" id="{9721FA51-9BB8-418C-8ABA-6D062788AB51}"/>
              </a:ext>
            </a:extLst>
          </p:cNvPr>
          <p:cNvSpPr>
            <a:spLocks noGrp="1"/>
          </p:cNvSpPr>
          <p:nvPr/>
        </p:nvSpPr>
        <p:spPr>
          <a:xfrm>
            <a:off x="609600" y="302895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Initial condition</a:t>
            </a:r>
          </a:p>
        </p:txBody>
      </p:sp>
      <p:sp>
        <p:nvSpPr>
          <p:cNvPr id="14" name="矩形 13">
            <a:extLst>
              <a:ext uri="{FF2B5EF4-FFF2-40B4-BE49-F238E27FC236}">
                <a16:creationId xmlns:a16="http://schemas.microsoft.com/office/drawing/2014/main" id="{D1EC8026-E836-415F-BDA4-5C1CD9B7D02C}"/>
              </a:ext>
            </a:extLst>
          </p:cNvPr>
          <p:cNvSpPr>
            <a:spLocks noGrp="1"/>
          </p:cNvSpPr>
          <p:nvPr/>
        </p:nvSpPr>
        <p:spPr>
          <a:xfrm>
            <a:off x="609600" y="346710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Begin with a complete sequence of random video latents.</a:t>
            </a:r>
          </a:p>
        </p:txBody>
      </p:sp>
      <p:sp>
        <p:nvSpPr>
          <p:cNvPr id="15" name="矩形 14">
            <a:extLst>
              <a:ext uri="{FF2B5EF4-FFF2-40B4-BE49-F238E27FC236}">
                <a16:creationId xmlns:a16="http://schemas.microsoft.com/office/drawing/2014/main" id="{3043B296-F861-4585-93EA-C75A09BEA9EA}"/>
              </a:ext>
            </a:extLst>
          </p:cNvPr>
          <p:cNvSpPr>
            <a:spLocks noGrp="1"/>
          </p:cNvSpPr>
          <p:nvPr/>
        </p:nvSpPr>
        <p:spPr>
          <a:xfrm>
            <a:off x="609600" y="438150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Denoising</a:t>
            </a:r>
          </a:p>
        </p:txBody>
      </p:sp>
      <p:sp>
        <p:nvSpPr>
          <p:cNvPr id="16" name="矩形 15">
            <a:extLst>
              <a:ext uri="{FF2B5EF4-FFF2-40B4-BE49-F238E27FC236}">
                <a16:creationId xmlns:a16="http://schemas.microsoft.com/office/drawing/2014/main" id="{B20E2F3A-3A79-4E98-BEEB-D2406E7E4D5C}"/>
              </a:ext>
            </a:extLst>
          </p:cNvPr>
          <p:cNvSpPr>
            <a:spLocks noGrp="1"/>
          </p:cNvSpPr>
          <p:nvPr/>
        </p:nvSpPr>
        <p:spPr>
          <a:xfrm>
            <a:off x="609600" y="481965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Use the prompt through T5 cross-attention and update the latent sequence.</a:t>
            </a:r>
          </a:p>
        </p:txBody>
      </p:sp>
      <p:sp>
        <p:nvSpPr>
          <p:cNvPr id="17" name="矩形 16">
            <a:extLst>
              <a:ext uri="{FF2B5EF4-FFF2-40B4-BE49-F238E27FC236}">
                <a16:creationId xmlns:a16="http://schemas.microsoft.com/office/drawing/2014/main" id="{172A02F1-3823-456C-882F-4281755204CD}"/>
              </a:ext>
            </a:extLst>
          </p:cNvPr>
          <p:cNvSpPr>
            <a:spLocks noGrp="1"/>
          </p:cNvSpPr>
          <p:nvPr/>
        </p:nvSpPr>
        <p:spPr>
          <a:xfrm>
            <a:off x="6477000" y="2314575"/>
            <a:ext cx="5105400" cy="409575"/>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Image-to-video</a:t>
            </a:r>
          </a:p>
        </p:txBody>
      </p:sp>
      <p:sp>
        <p:nvSpPr>
          <p:cNvPr id="18" name="矩形 17">
            <a:extLst>
              <a:ext uri="{FF2B5EF4-FFF2-40B4-BE49-F238E27FC236}">
                <a16:creationId xmlns:a16="http://schemas.microsoft.com/office/drawing/2014/main" id="{4A670F64-1AEB-4CC2-A2DB-20C10C2027A5}"/>
              </a:ext>
            </a:extLst>
          </p:cNvPr>
          <p:cNvSpPr>
            <a:spLocks noGrp="1"/>
          </p:cNvSpPr>
          <p:nvPr/>
        </p:nvSpPr>
        <p:spPr>
          <a:xfrm>
            <a:off x="6477000" y="2819400"/>
            <a:ext cx="5105400" cy="9525"/>
          </a:xfrm>
          <a:prstGeom prst="rect">
            <a:avLst/>
          </a:prstGeom>
          <a:solidFill>
            <a:srgbClr val="D9E1ED"/>
          </a:solidFill>
          <a:ln w="0">
            <a:noFill/>
          </a:ln>
        </p:spPr>
      </p:sp>
      <p:sp>
        <p:nvSpPr>
          <p:cNvPr id="19" name="矩形 18">
            <a:extLst>
              <a:ext uri="{FF2B5EF4-FFF2-40B4-BE49-F238E27FC236}">
                <a16:creationId xmlns:a16="http://schemas.microsoft.com/office/drawing/2014/main" id="{F6F22500-6EBF-4335-A545-BBF344B2412F}"/>
              </a:ext>
            </a:extLst>
          </p:cNvPr>
          <p:cNvSpPr>
            <a:spLocks noGrp="1"/>
          </p:cNvSpPr>
          <p:nvPr/>
        </p:nvSpPr>
        <p:spPr>
          <a:xfrm>
            <a:off x="6477000" y="302895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Initial condition</a:t>
            </a:r>
          </a:p>
        </p:txBody>
      </p:sp>
      <p:sp>
        <p:nvSpPr>
          <p:cNvPr id="20" name="矩形 19">
            <a:extLst>
              <a:ext uri="{FF2B5EF4-FFF2-40B4-BE49-F238E27FC236}">
                <a16:creationId xmlns:a16="http://schemas.microsoft.com/office/drawing/2014/main" id="{614DE938-E4E9-4E00-832E-3297D8292AE5}"/>
              </a:ext>
            </a:extLst>
          </p:cNvPr>
          <p:cNvSpPr>
            <a:spLocks noGrp="1"/>
          </p:cNvSpPr>
          <p:nvPr/>
        </p:nvSpPr>
        <p:spPr>
          <a:xfrm>
            <a:off x="6477000" y="346710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Encode the image into the first latent frame with the new VAE.</a:t>
            </a:r>
          </a:p>
        </p:txBody>
      </p:sp>
      <p:sp>
        <p:nvSpPr>
          <p:cNvPr id="21" name="矩形 20">
            <a:extLst>
              <a:ext uri="{FF2B5EF4-FFF2-40B4-BE49-F238E27FC236}">
                <a16:creationId xmlns:a16="http://schemas.microsoft.com/office/drawing/2014/main" id="{5CA6C61F-68A0-4833-ADDC-D2E72D079ECD}"/>
              </a:ext>
            </a:extLst>
          </p:cNvPr>
          <p:cNvSpPr>
            <a:spLocks noGrp="1"/>
          </p:cNvSpPr>
          <p:nvPr/>
        </p:nvSpPr>
        <p:spPr>
          <a:xfrm>
            <a:off x="6477000" y="438150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Denoising</a:t>
            </a:r>
          </a:p>
        </p:txBody>
      </p:sp>
      <p:sp>
        <p:nvSpPr>
          <p:cNvPr id="22" name="矩形 21">
            <a:extLst>
              <a:ext uri="{FF2B5EF4-FFF2-40B4-BE49-F238E27FC236}">
                <a16:creationId xmlns:a16="http://schemas.microsoft.com/office/drawing/2014/main" id="{91EAE4AF-CCCB-424D-A0AF-6EB5FF277C86}"/>
              </a:ext>
            </a:extLst>
          </p:cNvPr>
          <p:cNvSpPr>
            <a:spLocks noGrp="1"/>
          </p:cNvSpPr>
          <p:nvPr/>
        </p:nvSpPr>
        <p:spPr>
          <a:xfrm>
            <a:off x="6477000" y="481965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Set that frame's time to zero and restore its latent after each solver step.</a:t>
            </a:r>
          </a:p>
        </p:txBody>
      </p:sp>
    </p:spTree>
    <p:extLst>
      <p:ext uri="{BB962C8B-B14F-4D97-AF65-F5344CB8AC3E}">
        <p14:creationId xmlns:p14="http://schemas.microsoft.com/office/powerpoint/2010/main" val="1438564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59F2F93F-6B37-4C0A-8B70-849FE40EA3F0}"/>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DENSE TI2V-5B</a:t>
            </a:r>
          </a:p>
        </p:txBody>
      </p:sp>
      <p:pic>
        <p:nvPicPr>
          <p:cNvPr id="13" name="图片 12"/>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F3A3CB8C-BDE4-437D-9543-F8C27005D82B}"/>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The new VAE compresses space more aggressively</a:t>
            </a:r>
          </a:p>
        </p:txBody>
      </p:sp>
      <p:sp>
        <p:nvSpPr>
          <p:cNvPr id="4" name="矩形 3">
            <a:extLst>
              <a:ext uri="{FF2B5EF4-FFF2-40B4-BE49-F238E27FC236}">
                <a16:creationId xmlns:a16="http://schemas.microsoft.com/office/drawing/2014/main" id="{8817145D-E8F7-4817-8D60-2B90032B5230}"/>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490559F4-616F-4A91-93BD-12BC5163845D}"/>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46689CB4-1747-4B77-A63D-6CA20CAE8F65}"/>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TI2V-5B uses the Wan2.2 VAE; the A14B models retain the Wan2.1-style VAE.</a:t>
            </a:r>
          </a:p>
        </p:txBody>
      </p:sp>
      <p:sp>
        <p:nvSpPr>
          <p:cNvPr id="7" name="矩形 6">
            <a:extLst>
              <a:ext uri="{FF2B5EF4-FFF2-40B4-BE49-F238E27FC236}">
                <a16:creationId xmlns:a16="http://schemas.microsoft.com/office/drawing/2014/main" id="{92FE588D-E08E-4F72-ACB0-B448BE7BEE40}"/>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BA4BBDCC-1B2F-4776-95FE-0ADD28CE2313}"/>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More latent channels compensate for a smaller spatial grid in the reported reconstruction comparison.</a:t>
            </a:r>
          </a:p>
        </p:txBody>
      </p:sp>
      <p:sp>
        <p:nvSpPr>
          <p:cNvPr id="9" name="矩形 8">
            <a:extLst>
              <a:ext uri="{FF2B5EF4-FFF2-40B4-BE49-F238E27FC236}">
                <a16:creationId xmlns:a16="http://schemas.microsoft.com/office/drawing/2014/main" id="{49D2A740-E2BB-43B9-98B9-28ABD63D5C83}"/>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Wan2.2-TI2V-5B model card | Selected rows from the official VAE comparison table; one shared protocol</a:t>
            </a:r>
          </a:p>
        </p:txBody>
      </p:sp>
      <p:sp>
        <p:nvSpPr>
          <p:cNvPr id="10" name="矩形 9">
            <a:extLst>
              <a:ext uri="{FF2B5EF4-FFF2-40B4-BE49-F238E27FC236}">
                <a16:creationId xmlns:a16="http://schemas.microsoft.com/office/drawing/2014/main" id="{1E3F3880-1303-4BA4-9FCE-5DE4157B688B}"/>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24 / 38</a:t>
            </a:r>
          </a:p>
        </p:txBody>
      </p:sp>
      <p:graphicFrame>
        <p:nvGraphicFramePr>
          <p:cNvPr id="22" name="表格 21"/>
          <p:cNvGraphicFramePr/>
          <p:nvPr/>
        </p:nvGraphicFramePr>
        <p:xfrm>
          <a:off x="609600" y="2657475"/>
          <a:ext cx="10972800" cy="2419350"/>
        </p:xfrm>
        <a:graphic>
          <a:graphicData uri="http://schemas.openxmlformats.org/drawingml/2006/table">
            <a:tbl>
              <a:tblPr/>
              <a:tblGrid>
                <a:gridCol w="2695575">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971675">
                  <a:extLst>
                    <a:ext uri="{9D8B030D-6E8A-4147-A177-3AD203B41FA5}">
                      <a16:colId xmlns:a16="http://schemas.microsoft.com/office/drawing/2014/main" val="20003"/>
                    </a:ext>
                  </a:extLst>
                </a:gridCol>
                <a:gridCol w="1971675">
                  <a:extLst>
                    <a:ext uri="{9D8B030D-6E8A-4147-A177-3AD203B41FA5}">
                      <a16:colId xmlns:a16="http://schemas.microsoft.com/office/drawing/2014/main" val="20004"/>
                    </a:ext>
                  </a:extLst>
                </a:gridCol>
              </a:tblGrid>
              <a:tr h="806450">
                <a:tc>
                  <a:txBody>
                    <a:bodyPr/>
                    <a:lstStyle/>
                    <a:p>
                      <a:r>
                        <a:rPr sz="1500" b="1">
                          <a:solidFill>
                            <a:srgbClr val="FFFFFF"/>
                          </a:solidFill>
                          <a:latin typeface="Microsoft YaHei"/>
                          <a:ea typeface="Microsoft YaHei"/>
                          <a:cs typeface="Microsoft YaHei"/>
                        </a:rPr>
                        <a:t>VAE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Grid compression</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Channels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PSNR ↑</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LPIPS ↓</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extLst>
                  <a:ext uri="{0D108BD9-81ED-4DB2-BD59-A6C34878D82A}">
                    <a16:rowId xmlns:a16="http://schemas.microsoft.com/office/drawing/2014/main" val="10000"/>
                  </a:ext>
                </a:extLst>
              </a:tr>
              <a:tr h="806450">
                <a:tc>
                  <a:txBody>
                    <a:bodyPr/>
                    <a:lstStyle/>
                    <a:p>
                      <a:r>
                        <a:rPr sz="1575" b="1">
                          <a:solidFill>
                            <a:srgbClr val="162A4A"/>
                          </a:solidFill>
                          <a:latin typeface="Microsoft YaHei"/>
                          <a:ea typeface="Microsoft YaHei"/>
                          <a:cs typeface="Microsoft YaHei"/>
                        </a:rPr>
                        <a:t>Wan2.1-VAE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4 × 8 × 8</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16</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32.222</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0.026</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1"/>
                  </a:ext>
                </a:extLst>
              </a:tr>
              <a:tr h="806450">
                <a:tc>
                  <a:txBody>
                    <a:bodyPr/>
                    <a:lstStyle/>
                    <a:p>
                      <a:r>
                        <a:rPr sz="1575" b="1">
                          <a:solidFill>
                            <a:srgbClr val="162A4A"/>
                          </a:solidFill>
                          <a:latin typeface="Microsoft YaHei"/>
                          <a:ea typeface="Microsoft YaHei"/>
                          <a:cs typeface="Microsoft YaHei"/>
                        </a:rPr>
                        <a:t>Wan2.2-VAE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4 × 16 × 16</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48</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33.223</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0.022</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62224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CAE1E3B0-FA45-43BF-A192-59495C915282}"/>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DENSE TI2V-5B</a:t>
            </a:r>
          </a:p>
        </p:txBody>
      </p:sp>
      <p:pic>
        <p:nvPicPr>
          <p:cNvPr id="26" name="图片 25"/>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0AD9F973-37CC-43DC-B554-BD5FB60F011E}"/>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Compression changes both token count and channel count</a:t>
            </a:r>
          </a:p>
        </p:txBody>
      </p:sp>
      <p:sp>
        <p:nvSpPr>
          <p:cNvPr id="4" name="矩形 3">
            <a:extLst>
              <a:ext uri="{FF2B5EF4-FFF2-40B4-BE49-F238E27FC236}">
                <a16:creationId xmlns:a16="http://schemas.microsoft.com/office/drawing/2014/main" id="{4FED1222-7CF8-43E8-B375-8BFB52AB44FE}"/>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726180D2-A7F6-44DC-84F6-1FA8235A96EB}"/>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8BD4E12A-31A6-4D43-B649-C4B341BB3543}"/>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Illustrative calculation: 81 frames at 704 × 1,280, aligned to both tokenizers.</a:t>
            </a:r>
          </a:p>
        </p:txBody>
      </p:sp>
      <p:sp>
        <p:nvSpPr>
          <p:cNvPr id="7" name="矩形 6">
            <a:extLst>
              <a:ext uri="{FF2B5EF4-FFF2-40B4-BE49-F238E27FC236}">
                <a16:creationId xmlns:a16="http://schemas.microsoft.com/office/drawing/2014/main" id="{C6DCB035-D266-46B5-9102-BE55A2EB564E}"/>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6CAA7A9B-A046-4EA3-94ED-1E203B920E10}"/>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4× fewer tokens, but only 25% fewer latent scalars; these are different notions of compression.</a:t>
            </a:r>
          </a:p>
        </p:txBody>
      </p:sp>
      <p:sp>
        <p:nvSpPr>
          <p:cNvPr id="9" name="矩形 8">
            <a:extLst>
              <a:ext uri="{FF2B5EF4-FFF2-40B4-BE49-F238E27FC236}">
                <a16:creationId xmlns:a16="http://schemas.microsoft.com/office/drawing/2014/main" id="{58A7EFA4-3EAF-469A-80BB-B57FD794070B}"/>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Wan2.1 official code; Wan2.2 official release; Wan2.2-TI2V-5B model card</a:t>
            </a:r>
          </a:p>
        </p:txBody>
      </p:sp>
      <p:sp>
        <p:nvSpPr>
          <p:cNvPr id="10" name="矩形 9">
            <a:extLst>
              <a:ext uri="{FF2B5EF4-FFF2-40B4-BE49-F238E27FC236}">
                <a16:creationId xmlns:a16="http://schemas.microsoft.com/office/drawing/2014/main" id="{51A3849C-89CD-4750-8451-3475677616AF}"/>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25 / 38</a:t>
            </a:r>
          </a:p>
        </p:txBody>
      </p:sp>
      <p:sp>
        <p:nvSpPr>
          <p:cNvPr id="11" name="矩形 10">
            <a:extLst>
              <a:ext uri="{FF2B5EF4-FFF2-40B4-BE49-F238E27FC236}">
                <a16:creationId xmlns:a16="http://schemas.microsoft.com/office/drawing/2014/main" id="{B51595D6-7657-4E27-BC82-1C888D0AB76D}"/>
              </a:ext>
            </a:extLst>
          </p:cNvPr>
          <p:cNvSpPr>
            <a:spLocks noGrp="1"/>
          </p:cNvSpPr>
          <p:nvPr/>
        </p:nvSpPr>
        <p:spPr>
          <a:xfrm>
            <a:off x="609600" y="2295525"/>
            <a:ext cx="5105400" cy="3333750"/>
          </a:xfrm>
          <a:prstGeom prst="rect">
            <a:avLst/>
          </a:prstGeom>
          <a:solidFill>
            <a:srgbClr val="F1F5FA"/>
          </a:solidFill>
          <a:ln w="0">
            <a:noFill/>
          </a:ln>
        </p:spPr>
      </p:sp>
      <p:sp>
        <p:nvSpPr>
          <p:cNvPr id="12" name="矩形 11">
            <a:extLst>
              <a:ext uri="{FF2B5EF4-FFF2-40B4-BE49-F238E27FC236}">
                <a16:creationId xmlns:a16="http://schemas.microsoft.com/office/drawing/2014/main" id="{FB1F1273-ED78-431E-B3BA-4E1013DCFFBF}"/>
              </a:ext>
            </a:extLst>
          </p:cNvPr>
          <p:cNvSpPr>
            <a:spLocks noGrp="1"/>
          </p:cNvSpPr>
          <p:nvPr/>
        </p:nvSpPr>
        <p:spPr>
          <a:xfrm>
            <a:off x="838200" y="2486025"/>
            <a:ext cx="4648200" cy="438150"/>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Wan2.1 representation</a:t>
            </a:r>
          </a:p>
        </p:txBody>
      </p:sp>
      <p:sp>
        <p:nvSpPr>
          <p:cNvPr id="13" name="矩形 12">
            <a:extLst>
              <a:ext uri="{FF2B5EF4-FFF2-40B4-BE49-F238E27FC236}">
                <a16:creationId xmlns:a16="http://schemas.microsoft.com/office/drawing/2014/main" id="{63D51F51-18E1-4D6F-9B05-434133D0751F}"/>
              </a:ext>
            </a:extLst>
          </p:cNvPr>
          <p:cNvSpPr>
            <a:spLocks noGrp="1"/>
          </p:cNvSpPr>
          <p:nvPr/>
        </p:nvSpPr>
        <p:spPr>
          <a:xfrm>
            <a:off x="838200" y="3067050"/>
            <a:ext cx="4648200" cy="266700"/>
          </a:xfrm>
          <a:prstGeom prst="rect">
            <a:avLst/>
          </a:prstGeom>
          <a:noFill/>
          <a:ln w="0">
            <a:noFill/>
          </a:ln>
        </p:spPr>
        <p:txBody>
          <a:bodyPr wrap="square" lIns="0" tIns="0" rIns="0" bIns="0">
            <a:noAutofit/>
          </a:bodyPr>
          <a:lstStyle/>
          <a:p>
            <a:pPr algn="l">
              <a:defRPr sz="1350" b="0">
                <a:solidFill>
                  <a:srgbClr val="536174"/>
                </a:solidFill>
                <a:latin typeface="Microsoft YaHei"/>
                <a:ea typeface="Microsoft YaHei"/>
                <a:cs typeface="Microsoft YaHei"/>
              </a:defRPr>
            </a:pPr>
            <a:r>
              <a:rPr sz="1350" b="0">
                <a:solidFill>
                  <a:srgbClr val="536174"/>
                </a:solidFill>
                <a:latin typeface="Microsoft YaHei"/>
                <a:ea typeface="Microsoft YaHei"/>
                <a:cs typeface="Microsoft YaHei"/>
              </a:rPr>
              <a:t>Latent tensor</a:t>
            </a:r>
          </a:p>
        </p:txBody>
      </p:sp>
      <p:sp>
        <p:nvSpPr>
          <p:cNvPr id="14" name="矩形 13">
            <a:extLst>
              <a:ext uri="{FF2B5EF4-FFF2-40B4-BE49-F238E27FC236}">
                <a16:creationId xmlns:a16="http://schemas.microsoft.com/office/drawing/2014/main" id="{50110088-ACEC-4617-BF1F-9E7479341687}"/>
              </a:ext>
            </a:extLst>
          </p:cNvPr>
          <p:cNvSpPr>
            <a:spLocks noGrp="1"/>
          </p:cNvSpPr>
          <p:nvPr/>
        </p:nvSpPr>
        <p:spPr>
          <a:xfrm>
            <a:off x="838200" y="3381375"/>
            <a:ext cx="4648200" cy="438150"/>
          </a:xfrm>
          <a:prstGeom prst="rect">
            <a:avLst/>
          </a:prstGeom>
          <a:noFill/>
          <a:ln w="0">
            <a:noFill/>
          </a:ln>
        </p:spPr>
        <p:txBody>
          <a:bodyPr wrap="square" lIns="0" tIns="0" rIns="0" bIns="0">
            <a:noAutofit/>
          </a:bodyPr>
          <a:lstStyle/>
          <a:p>
            <a:pPr algn="l">
              <a:defRPr sz="2250" b="0">
                <a:solidFill>
                  <a:srgbClr val="162A4A"/>
                </a:solidFill>
                <a:latin typeface="Microsoft YaHei"/>
                <a:ea typeface="Microsoft YaHei"/>
                <a:cs typeface="Microsoft YaHei"/>
              </a:defRPr>
            </a:pPr>
            <a:r>
              <a:rPr sz="2250" b="0">
                <a:solidFill>
                  <a:srgbClr val="162A4A"/>
                </a:solidFill>
                <a:latin typeface="Microsoft YaHei"/>
                <a:ea typeface="Microsoft YaHei"/>
                <a:cs typeface="Microsoft YaHei"/>
              </a:rPr>
              <a:t>21 × 88 × 160 × 16</a:t>
            </a:r>
          </a:p>
        </p:txBody>
      </p:sp>
      <p:sp>
        <p:nvSpPr>
          <p:cNvPr id="15" name="矩形 14">
            <a:extLst>
              <a:ext uri="{FF2B5EF4-FFF2-40B4-BE49-F238E27FC236}">
                <a16:creationId xmlns:a16="http://schemas.microsoft.com/office/drawing/2014/main" id="{39FF3368-055E-4CC8-BA7A-BB2EE2D67E44}"/>
              </a:ext>
            </a:extLst>
          </p:cNvPr>
          <p:cNvSpPr>
            <a:spLocks noGrp="1"/>
          </p:cNvSpPr>
          <p:nvPr/>
        </p:nvSpPr>
        <p:spPr>
          <a:xfrm>
            <a:off x="838200" y="4019550"/>
            <a:ext cx="4648200" cy="657225"/>
          </a:xfrm>
          <a:prstGeom prst="rect">
            <a:avLst/>
          </a:prstGeom>
          <a:noFill/>
          <a:ln w="0">
            <a:noFill/>
          </a:ln>
        </p:spPr>
        <p:txBody>
          <a:bodyPr wrap="square" lIns="0" tIns="0" rIns="0" bIns="0">
            <a:noAutofit/>
          </a:bodyPr>
          <a:lstStyle/>
          <a:p>
            <a:pPr algn="l">
              <a:defRPr sz="4275" b="1">
                <a:solidFill>
                  <a:srgbClr val="08559C"/>
                </a:solidFill>
                <a:latin typeface="Microsoft YaHei"/>
                <a:ea typeface="Microsoft YaHei"/>
                <a:cs typeface="Microsoft YaHei"/>
              </a:defRPr>
            </a:pPr>
            <a:r>
              <a:rPr sz="4275" b="1">
                <a:solidFill>
                  <a:srgbClr val="08559C"/>
                </a:solidFill>
                <a:latin typeface="Microsoft YaHei"/>
                <a:ea typeface="Microsoft YaHei"/>
                <a:cs typeface="Microsoft YaHei"/>
              </a:rPr>
              <a:t>73,920</a:t>
            </a:r>
          </a:p>
        </p:txBody>
      </p:sp>
      <p:sp>
        <p:nvSpPr>
          <p:cNvPr id="16" name="矩形 15">
            <a:extLst>
              <a:ext uri="{FF2B5EF4-FFF2-40B4-BE49-F238E27FC236}">
                <a16:creationId xmlns:a16="http://schemas.microsoft.com/office/drawing/2014/main" id="{115E0169-8C4D-4F08-9F7F-4336FFF30BA2}"/>
              </a:ext>
            </a:extLst>
          </p:cNvPr>
          <p:cNvSpPr>
            <a:spLocks noGrp="1"/>
          </p:cNvSpPr>
          <p:nvPr/>
        </p:nvSpPr>
        <p:spPr>
          <a:xfrm>
            <a:off x="838200" y="4657725"/>
            <a:ext cx="4648200" cy="276225"/>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video tokens</a:t>
            </a:r>
          </a:p>
        </p:txBody>
      </p:sp>
      <p:sp>
        <p:nvSpPr>
          <p:cNvPr id="17" name="矩形 16">
            <a:extLst>
              <a:ext uri="{FF2B5EF4-FFF2-40B4-BE49-F238E27FC236}">
                <a16:creationId xmlns:a16="http://schemas.microsoft.com/office/drawing/2014/main" id="{79730BB8-A8DC-4508-BF34-0D30A860953C}"/>
              </a:ext>
            </a:extLst>
          </p:cNvPr>
          <p:cNvSpPr>
            <a:spLocks noGrp="1"/>
          </p:cNvSpPr>
          <p:nvPr/>
        </p:nvSpPr>
        <p:spPr>
          <a:xfrm>
            <a:off x="838200" y="5124450"/>
            <a:ext cx="4648200" cy="4857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21 × 44 × 80 tokens after 1 × 2 × 2 patchification</a:t>
            </a:r>
          </a:p>
        </p:txBody>
      </p:sp>
      <p:sp>
        <p:nvSpPr>
          <p:cNvPr id="18" name="矩形 17">
            <a:extLst>
              <a:ext uri="{FF2B5EF4-FFF2-40B4-BE49-F238E27FC236}">
                <a16:creationId xmlns:a16="http://schemas.microsoft.com/office/drawing/2014/main" id="{802D2AEF-384F-4D64-A3C9-901D172C0A36}"/>
              </a:ext>
            </a:extLst>
          </p:cNvPr>
          <p:cNvSpPr>
            <a:spLocks noGrp="1"/>
          </p:cNvSpPr>
          <p:nvPr/>
        </p:nvSpPr>
        <p:spPr>
          <a:xfrm>
            <a:off x="6477000" y="2295525"/>
            <a:ext cx="5105400" cy="3333750"/>
          </a:xfrm>
          <a:prstGeom prst="rect">
            <a:avLst/>
          </a:prstGeom>
          <a:solidFill>
            <a:srgbClr val="F4F0FA"/>
          </a:solidFill>
          <a:ln w="0">
            <a:noFill/>
          </a:ln>
        </p:spPr>
      </p:sp>
      <p:sp>
        <p:nvSpPr>
          <p:cNvPr id="19" name="矩形 18">
            <a:extLst>
              <a:ext uri="{FF2B5EF4-FFF2-40B4-BE49-F238E27FC236}">
                <a16:creationId xmlns:a16="http://schemas.microsoft.com/office/drawing/2014/main" id="{217035C7-9615-4F9D-891D-4A52EFDCD7C2}"/>
              </a:ext>
            </a:extLst>
          </p:cNvPr>
          <p:cNvSpPr>
            <a:spLocks noGrp="1"/>
          </p:cNvSpPr>
          <p:nvPr/>
        </p:nvSpPr>
        <p:spPr>
          <a:xfrm>
            <a:off x="6705600" y="2486025"/>
            <a:ext cx="4648200" cy="438150"/>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Wan2.2 TI2V-5B representation</a:t>
            </a:r>
          </a:p>
        </p:txBody>
      </p:sp>
      <p:sp>
        <p:nvSpPr>
          <p:cNvPr id="20" name="矩形 19">
            <a:extLst>
              <a:ext uri="{FF2B5EF4-FFF2-40B4-BE49-F238E27FC236}">
                <a16:creationId xmlns:a16="http://schemas.microsoft.com/office/drawing/2014/main" id="{CA5F274E-0C12-4E02-8631-D90F0B708737}"/>
              </a:ext>
            </a:extLst>
          </p:cNvPr>
          <p:cNvSpPr>
            <a:spLocks noGrp="1"/>
          </p:cNvSpPr>
          <p:nvPr/>
        </p:nvSpPr>
        <p:spPr>
          <a:xfrm>
            <a:off x="6705600" y="3067050"/>
            <a:ext cx="4648200" cy="266700"/>
          </a:xfrm>
          <a:prstGeom prst="rect">
            <a:avLst/>
          </a:prstGeom>
          <a:noFill/>
          <a:ln w="0">
            <a:noFill/>
          </a:ln>
        </p:spPr>
        <p:txBody>
          <a:bodyPr wrap="square" lIns="0" tIns="0" rIns="0" bIns="0">
            <a:noAutofit/>
          </a:bodyPr>
          <a:lstStyle/>
          <a:p>
            <a:pPr algn="l">
              <a:defRPr sz="1350" b="0">
                <a:solidFill>
                  <a:srgbClr val="536174"/>
                </a:solidFill>
                <a:latin typeface="Microsoft YaHei"/>
                <a:ea typeface="Microsoft YaHei"/>
                <a:cs typeface="Microsoft YaHei"/>
              </a:defRPr>
            </a:pPr>
            <a:r>
              <a:rPr sz="1350" b="0">
                <a:solidFill>
                  <a:srgbClr val="536174"/>
                </a:solidFill>
                <a:latin typeface="Microsoft YaHei"/>
                <a:ea typeface="Microsoft YaHei"/>
                <a:cs typeface="Microsoft YaHei"/>
              </a:rPr>
              <a:t>Latent tensor</a:t>
            </a:r>
          </a:p>
        </p:txBody>
      </p:sp>
      <p:sp>
        <p:nvSpPr>
          <p:cNvPr id="21" name="矩形 20">
            <a:extLst>
              <a:ext uri="{FF2B5EF4-FFF2-40B4-BE49-F238E27FC236}">
                <a16:creationId xmlns:a16="http://schemas.microsoft.com/office/drawing/2014/main" id="{31C98C98-F402-4E70-874F-1EF79FCAB66F}"/>
              </a:ext>
            </a:extLst>
          </p:cNvPr>
          <p:cNvSpPr>
            <a:spLocks noGrp="1"/>
          </p:cNvSpPr>
          <p:nvPr/>
        </p:nvSpPr>
        <p:spPr>
          <a:xfrm>
            <a:off x="6705600" y="3381375"/>
            <a:ext cx="4648200" cy="438150"/>
          </a:xfrm>
          <a:prstGeom prst="rect">
            <a:avLst/>
          </a:prstGeom>
          <a:noFill/>
          <a:ln w="0">
            <a:noFill/>
          </a:ln>
        </p:spPr>
        <p:txBody>
          <a:bodyPr wrap="square" lIns="0" tIns="0" rIns="0" bIns="0">
            <a:noAutofit/>
          </a:bodyPr>
          <a:lstStyle/>
          <a:p>
            <a:pPr algn="l">
              <a:defRPr sz="2250" b="0">
                <a:solidFill>
                  <a:srgbClr val="162A4A"/>
                </a:solidFill>
                <a:latin typeface="Microsoft YaHei"/>
                <a:ea typeface="Microsoft YaHei"/>
                <a:cs typeface="Microsoft YaHei"/>
              </a:defRPr>
            </a:pPr>
            <a:r>
              <a:rPr sz="2250" b="0">
                <a:solidFill>
                  <a:srgbClr val="162A4A"/>
                </a:solidFill>
                <a:latin typeface="Microsoft YaHei"/>
                <a:ea typeface="Microsoft YaHei"/>
                <a:cs typeface="Microsoft YaHei"/>
              </a:rPr>
              <a:t>21 × 44 × 80 × 48</a:t>
            </a:r>
          </a:p>
        </p:txBody>
      </p:sp>
      <p:sp>
        <p:nvSpPr>
          <p:cNvPr id="22" name="矩形 21">
            <a:extLst>
              <a:ext uri="{FF2B5EF4-FFF2-40B4-BE49-F238E27FC236}">
                <a16:creationId xmlns:a16="http://schemas.microsoft.com/office/drawing/2014/main" id="{C170E72C-7442-4FA1-B304-DDB12811573F}"/>
              </a:ext>
            </a:extLst>
          </p:cNvPr>
          <p:cNvSpPr>
            <a:spLocks noGrp="1"/>
          </p:cNvSpPr>
          <p:nvPr/>
        </p:nvSpPr>
        <p:spPr>
          <a:xfrm>
            <a:off x="6705600" y="4019550"/>
            <a:ext cx="4648200" cy="657225"/>
          </a:xfrm>
          <a:prstGeom prst="rect">
            <a:avLst/>
          </a:prstGeom>
          <a:noFill/>
          <a:ln w="0">
            <a:noFill/>
          </a:ln>
        </p:spPr>
        <p:txBody>
          <a:bodyPr wrap="square" lIns="0" tIns="0" rIns="0" bIns="0">
            <a:noAutofit/>
          </a:bodyPr>
          <a:lstStyle/>
          <a:p>
            <a:pPr algn="l">
              <a:defRPr sz="4275" b="1">
                <a:solidFill>
                  <a:srgbClr val="6A57B8"/>
                </a:solidFill>
                <a:latin typeface="Microsoft YaHei"/>
                <a:ea typeface="Microsoft YaHei"/>
                <a:cs typeface="Microsoft YaHei"/>
              </a:defRPr>
            </a:pPr>
            <a:r>
              <a:rPr sz="4275" b="1">
                <a:solidFill>
                  <a:srgbClr val="6A57B8"/>
                </a:solidFill>
                <a:latin typeface="Microsoft YaHei"/>
                <a:ea typeface="Microsoft YaHei"/>
                <a:cs typeface="Microsoft YaHei"/>
              </a:rPr>
              <a:t>18,480</a:t>
            </a:r>
          </a:p>
        </p:txBody>
      </p:sp>
      <p:sp>
        <p:nvSpPr>
          <p:cNvPr id="23" name="矩形 22">
            <a:extLst>
              <a:ext uri="{FF2B5EF4-FFF2-40B4-BE49-F238E27FC236}">
                <a16:creationId xmlns:a16="http://schemas.microsoft.com/office/drawing/2014/main" id="{7F0F7412-93A9-47F8-8080-559AA61EDEE1}"/>
              </a:ext>
            </a:extLst>
          </p:cNvPr>
          <p:cNvSpPr>
            <a:spLocks noGrp="1"/>
          </p:cNvSpPr>
          <p:nvPr/>
        </p:nvSpPr>
        <p:spPr>
          <a:xfrm>
            <a:off x="6705600" y="4657725"/>
            <a:ext cx="4648200" cy="276225"/>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video tokens</a:t>
            </a:r>
          </a:p>
        </p:txBody>
      </p:sp>
      <p:sp>
        <p:nvSpPr>
          <p:cNvPr id="24" name="矩形 23">
            <a:extLst>
              <a:ext uri="{FF2B5EF4-FFF2-40B4-BE49-F238E27FC236}">
                <a16:creationId xmlns:a16="http://schemas.microsoft.com/office/drawing/2014/main" id="{003DBEB8-C44E-4A1C-BFEE-39E113C4052E}"/>
              </a:ext>
            </a:extLst>
          </p:cNvPr>
          <p:cNvSpPr>
            <a:spLocks noGrp="1"/>
          </p:cNvSpPr>
          <p:nvPr/>
        </p:nvSpPr>
        <p:spPr>
          <a:xfrm>
            <a:off x="6705600" y="5124450"/>
            <a:ext cx="4648200" cy="485775"/>
          </a:xfrm>
          <a:prstGeom prst="rect">
            <a:avLst/>
          </a:prstGeom>
          <a:noFill/>
          <a:ln w="0">
            <a:noFill/>
          </a:ln>
        </p:spPr>
        <p:txBody>
          <a:bodyPr wrap="square" lIns="0" tIns="0" rIns="0" bIns="0">
            <a:noAutofit/>
          </a:bodyPr>
          <a:lstStyle/>
          <a:p>
            <a:pPr algn="l">
              <a:defRPr sz="1500" b="0">
                <a:solidFill>
                  <a:srgbClr val="162A4A"/>
                </a:solidFill>
                <a:latin typeface="Microsoft YaHei"/>
                <a:ea typeface="Microsoft YaHei"/>
                <a:cs typeface="Microsoft YaHei"/>
              </a:defRPr>
            </a:pPr>
            <a:r>
              <a:rPr sz="1500" b="0">
                <a:solidFill>
                  <a:srgbClr val="162A4A"/>
                </a:solidFill>
                <a:latin typeface="Microsoft YaHei"/>
                <a:ea typeface="Microsoft YaHei"/>
                <a:cs typeface="Microsoft YaHei"/>
              </a:rPr>
              <a:t>21 × 22 × 40 tokens after 1 × 2 × 2 patchification</a:t>
            </a:r>
          </a:p>
        </p:txBody>
      </p:sp>
    </p:spTree>
    <p:extLst>
      <p:ext uri="{BB962C8B-B14F-4D97-AF65-F5344CB8AC3E}">
        <p14:creationId xmlns:p14="http://schemas.microsoft.com/office/powerpoint/2010/main" val="1703276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3FC63E5A-3611-4B90-826B-9F7CCAA9A7D6}"/>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EFFICIENCY</a:t>
            </a:r>
          </a:p>
        </p:txBody>
      </p:sp>
      <p:pic>
        <p:nvPicPr>
          <p:cNvPr id="14" name="图片 13"/>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0CDC4E9F-304E-4978-801F-427B21D82E4B}"/>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TI2V-5B: one-GPU generation time and memory</a:t>
            </a:r>
          </a:p>
        </p:txBody>
      </p:sp>
      <p:sp>
        <p:nvSpPr>
          <p:cNvPr id="4" name="矩形 3">
            <a:extLst>
              <a:ext uri="{FF2B5EF4-FFF2-40B4-BE49-F238E27FC236}">
                <a16:creationId xmlns:a16="http://schemas.microsoft.com/office/drawing/2014/main" id="{1B2A14D4-D480-4810-8288-DBD182455DAD}"/>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F1BBD5BA-8255-4753-97EC-D42910F10BDA}"/>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1BDCFC79-A4DB-47B3-884B-51FB4A023D7B}"/>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Reference setup: 1 × RTX 4090; 121 frames at 1,280 × 704; 24-FPS playback.</a:t>
            </a:r>
          </a:p>
        </p:txBody>
      </p:sp>
      <p:sp>
        <p:nvSpPr>
          <p:cNvPr id="7" name="矩形 6">
            <a:extLst>
              <a:ext uri="{FF2B5EF4-FFF2-40B4-BE49-F238E27FC236}">
                <a16:creationId xmlns:a16="http://schemas.microsoft.com/office/drawing/2014/main" id="{3AAB551C-D03F-470B-9A4A-98CD9A481E3D}"/>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9CC6AE4C-5117-480F-AD80-C512C5101390}"/>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Generated video FPS describes playback; it is not the model's generation throughput.</a:t>
            </a:r>
          </a:p>
        </p:txBody>
      </p:sp>
      <p:sp>
        <p:nvSpPr>
          <p:cNvPr id="9" name="矩形 8">
            <a:extLst>
              <a:ext uri="{FF2B5EF4-FFF2-40B4-BE49-F238E27FC236}">
                <a16:creationId xmlns:a16="http://schemas.microsoft.com/office/drawing/2014/main" id="{1A7624AF-5921-47DC-B91F-F7AAA781BA0B}"/>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Wan2.2 official release; Wan2.2-TI2V-5B model card | Selected RTX 4090 rows from the official efficiency table; model-card setup</a:t>
            </a:r>
          </a:p>
        </p:txBody>
      </p:sp>
      <p:sp>
        <p:nvSpPr>
          <p:cNvPr id="10" name="矩形 9">
            <a:extLst>
              <a:ext uri="{FF2B5EF4-FFF2-40B4-BE49-F238E27FC236}">
                <a16:creationId xmlns:a16="http://schemas.microsoft.com/office/drawing/2014/main" id="{6BE60F34-6490-497D-8F2E-D513AEBC0C02}"/>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26 / 38</a:t>
            </a:r>
          </a:p>
        </p:txBody>
      </p:sp>
      <p:graphicFrame>
        <p:nvGraphicFramePr>
          <p:cNvPr id="23" name="表格 22"/>
          <p:cNvGraphicFramePr/>
          <p:nvPr/>
        </p:nvGraphicFramePr>
        <p:xfrm>
          <a:off x="609600" y="2657475"/>
          <a:ext cx="10972800" cy="24193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06450">
                <a:tc>
                  <a:txBody>
                    <a:bodyPr/>
                    <a:lstStyle/>
                    <a:p>
                      <a:r>
                        <a:rPr sz="1500" b="1">
                          <a:solidFill>
                            <a:srgbClr val="FFFFFF"/>
                          </a:solidFill>
                          <a:latin typeface="Microsoft YaHei"/>
                          <a:ea typeface="Microsoft YaHei"/>
                          <a:cs typeface="Microsoft YaHei"/>
                        </a:rPr>
                        <a:t>Task</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Generation time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Peak VRAM</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extLst>
                  <a:ext uri="{0D108BD9-81ED-4DB2-BD59-A6C34878D82A}">
                    <a16:rowId xmlns:a16="http://schemas.microsoft.com/office/drawing/2014/main" val="10000"/>
                  </a:ext>
                </a:extLst>
              </a:tr>
              <a:tr h="806450">
                <a:tc>
                  <a:txBody>
                    <a:bodyPr/>
                    <a:lstStyle/>
                    <a:p>
                      <a:r>
                        <a:rPr sz="1575" b="1">
                          <a:solidFill>
                            <a:srgbClr val="162A4A"/>
                          </a:solidFill>
                          <a:latin typeface="Microsoft YaHei"/>
                          <a:ea typeface="Microsoft YaHei"/>
                          <a:cs typeface="Microsoft YaHei"/>
                        </a:rPr>
                        <a:t>Text-to-video</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534.7 seconds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22.9 GB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1"/>
                  </a:ext>
                </a:extLst>
              </a:tr>
              <a:tr h="806450">
                <a:tc>
                  <a:txBody>
                    <a:bodyPr/>
                    <a:lstStyle/>
                    <a:p>
                      <a:r>
                        <a:rPr sz="1575" b="1">
                          <a:solidFill>
                            <a:srgbClr val="162A4A"/>
                          </a:solidFill>
                          <a:latin typeface="Microsoft YaHei"/>
                          <a:ea typeface="Microsoft YaHei"/>
                          <a:cs typeface="Microsoft YaHei"/>
                        </a:rPr>
                        <a:t>Image-to-video</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524.8 seconds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22.8 GB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2" name="矩形 11">
            <a:extLst>
              <a:ext uri="{FF2B5EF4-FFF2-40B4-BE49-F238E27FC236}">
                <a16:creationId xmlns:a16="http://schemas.microsoft.com/office/drawing/2014/main" id="{60D5CCFB-DB2B-4F3A-9000-5D558110394F}"/>
              </a:ext>
            </a:extLst>
          </p:cNvPr>
          <p:cNvSpPr>
            <a:spLocks noGrp="1"/>
          </p:cNvSpPr>
          <p:nvPr/>
        </p:nvSpPr>
        <p:spPr>
          <a:xfrm>
            <a:off x="609600" y="5295900"/>
            <a:ext cx="10972800" cy="466725"/>
          </a:xfrm>
          <a:prstGeom prst="rect">
            <a:avLst/>
          </a:prstGeom>
          <a:noFill/>
          <a:ln w="0">
            <a:noFill/>
          </a:ln>
        </p:spPr>
        <p:txBody>
          <a:bodyPr wrap="square" lIns="0" tIns="0" rIns="0" bIns="0">
            <a:noAutofit/>
          </a:bodyPr>
          <a:lstStyle/>
          <a:p>
            <a:pPr algn="l">
              <a:defRPr sz="1575" b="0">
                <a:solidFill>
                  <a:srgbClr val="536174"/>
                </a:solidFill>
                <a:latin typeface="Microsoft YaHei"/>
                <a:ea typeface="Microsoft YaHei"/>
                <a:cs typeface="Microsoft YaHei"/>
              </a:defRPr>
            </a:pPr>
            <a:r>
              <a:rPr sz="1575" b="0">
                <a:solidFill>
                  <a:srgbClr val="536174"/>
                </a:solidFill>
                <a:latin typeface="Microsoft YaHei"/>
                <a:ea typeface="Microsoft YaHei"/>
                <a:cs typeface="Microsoft YaHei"/>
              </a:rPr>
              <a:t>Model offload and dtype conversion enabled; the T5 text encoder runs on the CPU.</a:t>
            </a:r>
          </a:p>
        </p:txBody>
      </p:sp>
    </p:spTree>
    <p:extLst>
      <p:ext uri="{BB962C8B-B14F-4D97-AF65-F5344CB8AC3E}">
        <p14:creationId xmlns:p14="http://schemas.microsoft.com/office/powerpoint/2010/main" val="346958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824F891E-590D-47FF-8DA7-5D7A4B4BF0CA}"/>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03  /  WAN2.2: COMPARISON</a:t>
            </a:r>
          </a:p>
        </p:txBody>
      </p:sp>
      <p:pic>
        <p:nvPicPr>
          <p:cNvPr id="13" name="图片 12"/>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E1B5B45F-12DB-45B6-9DC5-D4A1C6B662D0}"/>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Choose the checkpoint around the research bottleneck</a:t>
            </a:r>
          </a:p>
        </p:txBody>
      </p:sp>
      <p:sp>
        <p:nvSpPr>
          <p:cNvPr id="4" name="矩形 3">
            <a:extLst>
              <a:ext uri="{FF2B5EF4-FFF2-40B4-BE49-F238E27FC236}">
                <a16:creationId xmlns:a16="http://schemas.microsoft.com/office/drawing/2014/main" id="{90F9DAB9-EB4E-4CA7-AF96-4E25C3C10BC8}"/>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E9CD379F-5112-4916-BD2E-EEFD3D7A330B}"/>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F047954A-80A4-4992-8C8B-1F9C21F8CB5E}"/>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 largest model is not automatically the most useful experimental backbone.</a:t>
            </a:r>
          </a:p>
        </p:txBody>
      </p:sp>
      <p:sp>
        <p:nvSpPr>
          <p:cNvPr id="7" name="矩形 6">
            <a:extLst>
              <a:ext uri="{FF2B5EF4-FFF2-40B4-BE49-F238E27FC236}">
                <a16:creationId xmlns:a16="http://schemas.microsoft.com/office/drawing/2014/main" id="{0D51BE6B-E451-46D2-9BEB-EDF77731D535}"/>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B160E247-0074-4258-8995-E5617E3D4CBB}"/>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Match checkpoint, VAE, conditioning interface and latency target before comparing downstream methods.</a:t>
            </a:r>
          </a:p>
        </p:txBody>
      </p:sp>
      <p:sp>
        <p:nvSpPr>
          <p:cNvPr id="9" name="矩形 8">
            <a:extLst>
              <a:ext uri="{FF2B5EF4-FFF2-40B4-BE49-F238E27FC236}">
                <a16:creationId xmlns:a16="http://schemas.microsoft.com/office/drawing/2014/main" id="{CAE55C1E-0DD1-4CC6-B6B8-9C722CBC993E}"/>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Wan2.1 official code; Wan2.2 official release; Wan2.2-TI2V-5B model card</a:t>
            </a:r>
          </a:p>
        </p:txBody>
      </p:sp>
      <p:sp>
        <p:nvSpPr>
          <p:cNvPr id="10" name="矩形 9">
            <a:extLst>
              <a:ext uri="{FF2B5EF4-FFF2-40B4-BE49-F238E27FC236}">
                <a16:creationId xmlns:a16="http://schemas.microsoft.com/office/drawing/2014/main" id="{3F220F8A-627F-4AA0-B70F-3D960E7FDC9A}"/>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27 / 38</a:t>
            </a:r>
          </a:p>
        </p:txBody>
      </p:sp>
      <p:graphicFrame>
        <p:nvGraphicFramePr>
          <p:cNvPr id="22" name="表格 21"/>
          <p:cNvGraphicFramePr/>
          <p:nvPr/>
        </p:nvGraphicFramePr>
        <p:xfrm>
          <a:off x="609600" y="2305050"/>
          <a:ext cx="10972800" cy="3326130"/>
        </p:xfrm>
        <a:graphic>
          <a:graphicData uri="http://schemas.openxmlformats.org/drawingml/2006/table">
            <a:tbl>
              <a:tblPr/>
              <a:tblGrid>
                <a:gridCol w="323850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3867150">
                  <a:extLst>
                    <a:ext uri="{9D8B030D-6E8A-4147-A177-3AD203B41FA5}">
                      <a16:colId xmlns:a16="http://schemas.microsoft.com/office/drawing/2014/main" val="20002"/>
                    </a:ext>
                  </a:extLst>
                </a:gridCol>
              </a:tblGrid>
              <a:tr h="655320">
                <a:tc>
                  <a:txBody>
                    <a:bodyPr/>
                    <a:lstStyle/>
                    <a:p>
                      <a:r>
                        <a:rPr sz="1500" b="1">
                          <a:solidFill>
                            <a:srgbClr val="FFFFFF"/>
                          </a:solidFill>
                          <a:latin typeface="Microsoft YaHei"/>
                          <a:ea typeface="Microsoft YaHei"/>
                          <a:cs typeface="Microsoft YaHei"/>
                        </a:rPr>
                        <a:t>Starting point</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Why choose it?</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What to budget for</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extLst>
                  <a:ext uri="{0D108BD9-81ED-4DB2-BD59-A6C34878D82A}">
                    <a16:rowId xmlns:a16="http://schemas.microsoft.com/office/drawing/2014/main" val="10000"/>
                  </a:ext>
                </a:extLst>
              </a:tr>
              <a:tr h="655320">
                <a:tc>
                  <a:txBody>
                    <a:bodyPr/>
                    <a:lstStyle/>
                    <a:p>
                      <a:r>
                        <a:rPr sz="1575" b="1">
                          <a:solidFill>
                            <a:srgbClr val="162A4A"/>
                          </a:solidFill>
                          <a:latin typeface="Microsoft YaHei"/>
                          <a:ea typeface="Microsoft YaHei"/>
                          <a:cs typeface="Microsoft YaHei"/>
                        </a:rPr>
                        <a:t>Wan2.1-T2V-1.3B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Rapid architectural iteration</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Lower base visual capacity</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1"/>
                  </a:ext>
                </a:extLst>
              </a:tr>
              <a:tr h="655320">
                <a:tc>
                  <a:txBody>
                    <a:bodyPr/>
                    <a:lstStyle/>
                    <a:p>
                      <a:r>
                        <a:rPr sz="1575" b="1">
                          <a:solidFill>
                            <a:srgbClr val="162A4A"/>
                          </a:solidFill>
                          <a:latin typeface="Microsoft YaHei"/>
                          <a:ea typeface="Microsoft YaHei"/>
                          <a:cs typeface="Microsoft YaHei"/>
                        </a:rPr>
                        <a:t>Wan2.1-I2V-14B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Strong image-conditioned prior</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Large model and long sequences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2"/>
                  </a:ext>
                </a:extLst>
              </a:tr>
              <a:tr h="655320">
                <a:tc>
                  <a:txBody>
                    <a:bodyPr/>
                    <a:lstStyle/>
                    <a:p>
                      <a:r>
                        <a:rPr sz="1575" b="1">
                          <a:solidFill>
                            <a:srgbClr val="162A4A"/>
                          </a:solidFill>
                          <a:latin typeface="Microsoft YaHei"/>
                          <a:ea typeface="Microsoft YaHei"/>
                          <a:cs typeface="Microsoft YaHei"/>
                        </a:rPr>
                        <a:t>Wan2.2-TI2V-5B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Dense, compact-token foundation</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Different VAE and checkpoint interface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3"/>
                  </a:ext>
                </a:extLst>
              </a:tr>
              <a:tr h="655320">
                <a:tc>
                  <a:txBody>
                    <a:bodyPr/>
                    <a:lstStyle/>
                    <a:p>
                      <a:r>
                        <a:rPr sz="1575" b="1">
                          <a:solidFill>
                            <a:srgbClr val="162A4A"/>
                          </a:solidFill>
                          <a:latin typeface="Microsoft YaHei"/>
                          <a:ea typeface="Microsoft YaHei"/>
                          <a:cs typeface="Microsoft YaHei"/>
                        </a:rPr>
                        <a:t>Wan2.2-A14B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High-quality offline generation</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Two expert weight sets and sampling cost</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76875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AF487605-9EE2-45FF-A771-8E9CF65F7E6E}"/>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04  /  WAN IN RECENT WORLD MODELS</a:t>
            </a:r>
          </a:p>
        </p:txBody>
      </p:sp>
      <p:pic>
        <p:nvPicPr>
          <p:cNvPr id="32" name="图片 31"/>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E5595699-C5AF-419A-9868-3B5CAAFB93C6}"/>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A video prior needs control, state and rollout training</a:t>
            </a:r>
          </a:p>
        </p:txBody>
      </p:sp>
      <p:sp>
        <p:nvSpPr>
          <p:cNvPr id="4" name="矩形 3">
            <a:extLst>
              <a:ext uri="{FF2B5EF4-FFF2-40B4-BE49-F238E27FC236}">
                <a16:creationId xmlns:a16="http://schemas.microsoft.com/office/drawing/2014/main" id="{B2C4ED46-F006-4D82-91AF-6AD6D7B2A438}"/>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F0403712-EA4A-42F9-8F5B-12445F4ADAE3}"/>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DF08CB7E-55B0-4FB7-91D5-0EA1FB905CF4}"/>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These examples adapt Wan to specific world-model functions.</a:t>
            </a:r>
          </a:p>
        </p:txBody>
      </p:sp>
      <p:sp>
        <p:nvSpPr>
          <p:cNvPr id="7" name="矩形 6">
            <a:extLst>
              <a:ext uri="{FF2B5EF4-FFF2-40B4-BE49-F238E27FC236}">
                <a16:creationId xmlns:a16="http://schemas.microsoft.com/office/drawing/2014/main" id="{81E6AA34-0607-4C8E-8578-0CB6173B2E1D}"/>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0117A130-5FC6-4F03-8D0A-836DE5DBB91C}"/>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Visual plausibility is only one requirement; action response and long-horizon consistency need separate tests.</a:t>
            </a:r>
          </a:p>
        </p:txBody>
      </p:sp>
      <p:sp>
        <p:nvSpPr>
          <p:cNvPr id="9" name="矩形 8">
            <a:extLst>
              <a:ext uri="{FF2B5EF4-FFF2-40B4-BE49-F238E27FC236}">
                <a16:creationId xmlns:a16="http://schemas.microsoft.com/office/drawing/2014/main" id="{4E6BDDED-5181-4AD7-B3B6-1504F8D299A9}"/>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Wang et al., Matrix-Game 3.0, 2026; Mao et al., Yume1.5, 2025; Wang et al., EVA, 2026; Rui et al., BiWM, 2026</a:t>
            </a:r>
          </a:p>
        </p:txBody>
      </p:sp>
      <p:sp>
        <p:nvSpPr>
          <p:cNvPr id="10" name="矩形 9">
            <a:extLst>
              <a:ext uri="{FF2B5EF4-FFF2-40B4-BE49-F238E27FC236}">
                <a16:creationId xmlns:a16="http://schemas.microsoft.com/office/drawing/2014/main" id="{F4410E3D-0F2A-4FEB-925C-9716F4BBCA5D}"/>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28 / 38</a:t>
            </a:r>
          </a:p>
        </p:txBody>
      </p:sp>
      <p:sp>
        <p:nvSpPr>
          <p:cNvPr id="11" name="矩形 10">
            <a:extLst>
              <a:ext uri="{FF2B5EF4-FFF2-40B4-BE49-F238E27FC236}">
                <a16:creationId xmlns:a16="http://schemas.microsoft.com/office/drawing/2014/main" id="{06A7C27A-8164-4526-A328-470253C5F206}"/>
              </a:ext>
            </a:extLst>
          </p:cNvPr>
          <p:cNvSpPr>
            <a:spLocks noGrp="1"/>
          </p:cNvSpPr>
          <p:nvPr/>
        </p:nvSpPr>
        <p:spPr>
          <a:xfrm>
            <a:off x="609600" y="2457450"/>
            <a:ext cx="2457450" cy="447675"/>
          </a:xfrm>
          <a:prstGeom prst="rect">
            <a:avLst/>
          </a:prstGeom>
          <a:noFill/>
          <a:ln w="0">
            <a:noFill/>
          </a:ln>
        </p:spPr>
        <p:txBody>
          <a:bodyPr wrap="square" lIns="0" tIns="0" rIns="0" bIns="0">
            <a:noAutofit/>
          </a:bodyPr>
          <a:lstStyle/>
          <a:p>
            <a:pPr algn="l">
              <a:defRPr sz="2550" b="1">
                <a:solidFill>
                  <a:srgbClr val="6A57B8"/>
                </a:solidFill>
                <a:latin typeface="Microsoft YaHei"/>
                <a:ea typeface="Microsoft YaHei"/>
                <a:cs typeface="Microsoft YaHei"/>
              </a:defRPr>
            </a:pPr>
            <a:r>
              <a:rPr sz="2550" b="1">
                <a:solidFill>
                  <a:srgbClr val="6A57B8"/>
                </a:solidFill>
                <a:latin typeface="Microsoft YaHei"/>
                <a:ea typeface="Microsoft YaHei"/>
                <a:cs typeface="Microsoft YaHei"/>
              </a:rPr>
              <a:t>01</a:t>
            </a:r>
          </a:p>
        </p:txBody>
      </p:sp>
      <p:sp>
        <p:nvSpPr>
          <p:cNvPr id="12" name="矩形 11">
            <a:extLst>
              <a:ext uri="{FF2B5EF4-FFF2-40B4-BE49-F238E27FC236}">
                <a16:creationId xmlns:a16="http://schemas.microsoft.com/office/drawing/2014/main" id="{9BD93052-282F-4770-8346-4A0FE4462710}"/>
              </a:ext>
            </a:extLst>
          </p:cNvPr>
          <p:cNvSpPr>
            <a:spLocks noGrp="1"/>
          </p:cNvSpPr>
          <p:nvPr/>
        </p:nvSpPr>
        <p:spPr>
          <a:xfrm>
            <a:off x="609600" y="3028950"/>
            <a:ext cx="2457450" cy="9525"/>
          </a:xfrm>
          <a:prstGeom prst="rect">
            <a:avLst/>
          </a:prstGeom>
          <a:solidFill>
            <a:srgbClr val="D9E1ED"/>
          </a:solidFill>
          <a:ln w="0">
            <a:noFill/>
          </a:ln>
        </p:spPr>
      </p:sp>
      <p:sp>
        <p:nvSpPr>
          <p:cNvPr id="13" name="矩形 12">
            <a:extLst>
              <a:ext uri="{FF2B5EF4-FFF2-40B4-BE49-F238E27FC236}">
                <a16:creationId xmlns:a16="http://schemas.microsoft.com/office/drawing/2014/main" id="{BA64BD63-D03C-4C09-8EBA-09FB29EC6F82}"/>
              </a:ext>
            </a:extLst>
          </p:cNvPr>
          <p:cNvSpPr>
            <a:spLocks noGrp="1"/>
          </p:cNvSpPr>
          <p:nvPr/>
        </p:nvSpPr>
        <p:spPr>
          <a:xfrm>
            <a:off x="609600" y="3305175"/>
            <a:ext cx="2457450" cy="457200"/>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Video prior</a:t>
            </a:r>
          </a:p>
        </p:txBody>
      </p:sp>
      <p:sp>
        <p:nvSpPr>
          <p:cNvPr id="14" name="矩形 13">
            <a:extLst>
              <a:ext uri="{FF2B5EF4-FFF2-40B4-BE49-F238E27FC236}">
                <a16:creationId xmlns:a16="http://schemas.microsoft.com/office/drawing/2014/main" id="{EEB42D7A-BB96-4CEC-993E-D17910A5149F}"/>
              </a:ext>
            </a:extLst>
          </p:cNvPr>
          <p:cNvSpPr>
            <a:spLocks noGrp="1"/>
          </p:cNvSpPr>
          <p:nvPr/>
        </p:nvSpPr>
        <p:spPr>
          <a:xfrm>
            <a:off x="609600" y="4010025"/>
            <a:ext cx="2457450" cy="876300"/>
          </a:xfrm>
          <a:prstGeom prst="rect">
            <a:avLst/>
          </a:prstGeom>
          <a:noFill/>
          <a:ln w="0">
            <a:noFill/>
          </a:ln>
        </p:spPr>
        <p:txBody>
          <a:bodyPr wrap="square" lIns="0" tIns="0" rIns="0" bIns="0">
            <a:noAutofit/>
          </a:bodyPr>
          <a:lstStyle/>
          <a:p>
            <a:pPr algn="l">
              <a:defRPr sz="1875" b="0">
                <a:solidFill>
                  <a:srgbClr val="536174"/>
                </a:solidFill>
                <a:latin typeface="Microsoft YaHei"/>
                <a:ea typeface="Microsoft YaHei"/>
                <a:cs typeface="Microsoft YaHei"/>
              </a:defRPr>
            </a:pPr>
            <a:r>
              <a:rPr sz="1875" b="0">
                <a:solidFill>
                  <a:srgbClr val="536174"/>
                </a:solidFill>
                <a:latin typeface="Microsoft YaHei"/>
                <a:ea typeface="Microsoft YaHei"/>
                <a:cs typeface="Microsoft YaHei"/>
              </a:rPr>
              <a:t>Appearance + short-term motion</a:t>
            </a:r>
          </a:p>
        </p:txBody>
      </p:sp>
      <p:sp>
        <p:nvSpPr>
          <p:cNvPr id="15" name="矩形 14">
            <a:extLst>
              <a:ext uri="{FF2B5EF4-FFF2-40B4-BE49-F238E27FC236}">
                <a16:creationId xmlns:a16="http://schemas.microsoft.com/office/drawing/2014/main" id="{516A0A78-3B5A-4AF4-8B07-10AEB39F043D}"/>
              </a:ext>
            </a:extLst>
          </p:cNvPr>
          <p:cNvSpPr>
            <a:spLocks noGrp="1"/>
          </p:cNvSpPr>
          <p:nvPr/>
        </p:nvSpPr>
        <p:spPr>
          <a:xfrm>
            <a:off x="3095625" y="3409950"/>
            <a:ext cx="323850" cy="428625"/>
          </a:xfrm>
          <a:prstGeom prst="rect">
            <a:avLst/>
          </a:prstGeom>
          <a:noFill/>
          <a:ln w="0">
            <a:noFill/>
          </a:ln>
        </p:spPr>
        <p:txBody>
          <a:bodyPr wrap="square" lIns="0" tIns="0" rIns="0" bIns="0">
            <a:noAutofit/>
          </a:bodyPr>
          <a:lstStyle/>
          <a:p>
            <a:pPr algn="l">
              <a:defRPr sz="2250" b="1">
                <a:solidFill>
                  <a:srgbClr val="08559C"/>
                </a:solidFill>
                <a:latin typeface="Microsoft YaHei"/>
                <a:ea typeface="Microsoft YaHei"/>
                <a:cs typeface="Microsoft YaHei"/>
              </a:defRPr>
            </a:pPr>
            <a:r>
              <a:rPr sz="2250" b="1">
                <a:solidFill>
                  <a:srgbClr val="08559C"/>
                </a:solidFill>
                <a:latin typeface="Microsoft YaHei"/>
                <a:ea typeface="Microsoft YaHei"/>
                <a:cs typeface="Microsoft YaHei"/>
              </a:rPr>
              <a:t>→</a:t>
            </a:r>
          </a:p>
        </p:txBody>
      </p:sp>
      <p:sp>
        <p:nvSpPr>
          <p:cNvPr id="16" name="矩形 15">
            <a:extLst>
              <a:ext uri="{FF2B5EF4-FFF2-40B4-BE49-F238E27FC236}">
                <a16:creationId xmlns:a16="http://schemas.microsoft.com/office/drawing/2014/main" id="{60CFBB00-2632-458E-A313-7659FEEFBDBE}"/>
              </a:ext>
            </a:extLst>
          </p:cNvPr>
          <p:cNvSpPr>
            <a:spLocks noGrp="1"/>
          </p:cNvSpPr>
          <p:nvPr/>
        </p:nvSpPr>
        <p:spPr>
          <a:xfrm>
            <a:off x="3448050" y="2457450"/>
            <a:ext cx="2457450" cy="447675"/>
          </a:xfrm>
          <a:prstGeom prst="rect">
            <a:avLst/>
          </a:prstGeom>
          <a:noFill/>
          <a:ln w="0">
            <a:noFill/>
          </a:ln>
        </p:spPr>
        <p:txBody>
          <a:bodyPr wrap="square" lIns="0" tIns="0" rIns="0" bIns="0">
            <a:noAutofit/>
          </a:bodyPr>
          <a:lstStyle/>
          <a:p>
            <a:pPr algn="l">
              <a:defRPr sz="2550" b="1">
                <a:solidFill>
                  <a:srgbClr val="6A57B8"/>
                </a:solidFill>
                <a:latin typeface="Microsoft YaHei"/>
                <a:ea typeface="Microsoft YaHei"/>
                <a:cs typeface="Microsoft YaHei"/>
              </a:defRPr>
            </a:pPr>
            <a:r>
              <a:rPr sz="2550" b="1">
                <a:solidFill>
                  <a:srgbClr val="6A57B8"/>
                </a:solidFill>
                <a:latin typeface="Microsoft YaHei"/>
                <a:ea typeface="Microsoft YaHei"/>
                <a:cs typeface="Microsoft YaHei"/>
              </a:rPr>
              <a:t>02</a:t>
            </a:r>
          </a:p>
        </p:txBody>
      </p:sp>
      <p:sp>
        <p:nvSpPr>
          <p:cNvPr id="17" name="矩形 16">
            <a:extLst>
              <a:ext uri="{FF2B5EF4-FFF2-40B4-BE49-F238E27FC236}">
                <a16:creationId xmlns:a16="http://schemas.microsoft.com/office/drawing/2014/main" id="{8B3C200F-8C73-4426-8AED-844D5F2D8A34}"/>
              </a:ext>
            </a:extLst>
          </p:cNvPr>
          <p:cNvSpPr>
            <a:spLocks noGrp="1"/>
          </p:cNvSpPr>
          <p:nvPr/>
        </p:nvSpPr>
        <p:spPr>
          <a:xfrm>
            <a:off x="3448050" y="3028950"/>
            <a:ext cx="2457450" cy="9525"/>
          </a:xfrm>
          <a:prstGeom prst="rect">
            <a:avLst/>
          </a:prstGeom>
          <a:solidFill>
            <a:srgbClr val="D9E1ED"/>
          </a:solidFill>
          <a:ln w="0">
            <a:noFill/>
          </a:ln>
        </p:spPr>
      </p:sp>
      <p:sp>
        <p:nvSpPr>
          <p:cNvPr id="18" name="矩形 17">
            <a:extLst>
              <a:ext uri="{FF2B5EF4-FFF2-40B4-BE49-F238E27FC236}">
                <a16:creationId xmlns:a16="http://schemas.microsoft.com/office/drawing/2014/main" id="{7F876378-A116-4498-BF68-F4039F4340D0}"/>
              </a:ext>
            </a:extLst>
          </p:cNvPr>
          <p:cNvSpPr>
            <a:spLocks noGrp="1"/>
          </p:cNvSpPr>
          <p:nvPr/>
        </p:nvSpPr>
        <p:spPr>
          <a:xfrm>
            <a:off x="3448050" y="3305175"/>
            <a:ext cx="2457450" cy="457200"/>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Control</a:t>
            </a:r>
          </a:p>
        </p:txBody>
      </p:sp>
      <p:sp>
        <p:nvSpPr>
          <p:cNvPr id="19" name="矩形 18">
            <a:extLst>
              <a:ext uri="{FF2B5EF4-FFF2-40B4-BE49-F238E27FC236}">
                <a16:creationId xmlns:a16="http://schemas.microsoft.com/office/drawing/2014/main" id="{421C5F27-02F1-4E60-A31D-133A4AAD9168}"/>
              </a:ext>
            </a:extLst>
          </p:cNvPr>
          <p:cNvSpPr>
            <a:spLocks noGrp="1"/>
          </p:cNvSpPr>
          <p:nvPr/>
        </p:nvSpPr>
        <p:spPr>
          <a:xfrm>
            <a:off x="3448050" y="4010025"/>
            <a:ext cx="2457450" cy="876300"/>
          </a:xfrm>
          <a:prstGeom prst="rect">
            <a:avLst/>
          </a:prstGeom>
          <a:noFill/>
          <a:ln w="0">
            <a:noFill/>
          </a:ln>
        </p:spPr>
        <p:txBody>
          <a:bodyPr wrap="square" lIns="0" tIns="0" rIns="0" bIns="0">
            <a:noAutofit/>
          </a:bodyPr>
          <a:lstStyle/>
          <a:p>
            <a:pPr algn="l">
              <a:defRPr sz="1875" b="0">
                <a:solidFill>
                  <a:srgbClr val="536174"/>
                </a:solidFill>
                <a:latin typeface="Microsoft YaHei"/>
                <a:ea typeface="Microsoft YaHei"/>
                <a:cs typeface="Microsoft YaHei"/>
              </a:defRPr>
            </a:pPr>
            <a:r>
              <a:rPr sz="1875" b="0">
                <a:solidFill>
                  <a:srgbClr val="536174"/>
                </a:solidFill>
                <a:latin typeface="Microsoft YaHei"/>
                <a:ea typeface="Microsoft YaHei"/>
                <a:cs typeface="Microsoft YaHei"/>
              </a:rPr>
              <a:t>Camera, keyboard, task or action</a:t>
            </a:r>
          </a:p>
        </p:txBody>
      </p:sp>
      <p:sp>
        <p:nvSpPr>
          <p:cNvPr id="20" name="矩形 19">
            <a:extLst>
              <a:ext uri="{FF2B5EF4-FFF2-40B4-BE49-F238E27FC236}">
                <a16:creationId xmlns:a16="http://schemas.microsoft.com/office/drawing/2014/main" id="{B4B52FB7-9F04-450E-84B7-DA2A86672DDE}"/>
              </a:ext>
            </a:extLst>
          </p:cNvPr>
          <p:cNvSpPr>
            <a:spLocks noGrp="1"/>
          </p:cNvSpPr>
          <p:nvPr/>
        </p:nvSpPr>
        <p:spPr>
          <a:xfrm>
            <a:off x="5934075" y="3409950"/>
            <a:ext cx="323850" cy="428625"/>
          </a:xfrm>
          <a:prstGeom prst="rect">
            <a:avLst/>
          </a:prstGeom>
          <a:noFill/>
          <a:ln w="0">
            <a:noFill/>
          </a:ln>
        </p:spPr>
        <p:txBody>
          <a:bodyPr wrap="square" lIns="0" tIns="0" rIns="0" bIns="0">
            <a:noAutofit/>
          </a:bodyPr>
          <a:lstStyle/>
          <a:p>
            <a:pPr algn="l">
              <a:defRPr sz="2250" b="1">
                <a:solidFill>
                  <a:srgbClr val="08559C"/>
                </a:solidFill>
                <a:latin typeface="Microsoft YaHei"/>
                <a:ea typeface="Microsoft YaHei"/>
                <a:cs typeface="Microsoft YaHei"/>
              </a:defRPr>
            </a:pPr>
            <a:r>
              <a:rPr sz="2250" b="1">
                <a:solidFill>
                  <a:srgbClr val="08559C"/>
                </a:solidFill>
                <a:latin typeface="Microsoft YaHei"/>
                <a:ea typeface="Microsoft YaHei"/>
                <a:cs typeface="Microsoft YaHei"/>
              </a:rPr>
              <a:t>→</a:t>
            </a:r>
          </a:p>
        </p:txBody>
      </p:sp>
      <p:sp>
        <p:nvSpPr>
          <p:cNvPr id="21" name="矩形 20">
            <a:extLst>
              <a:ext uri="{FF2B5EF4-FFF2-40B4-BE49-F238E27FC236}">
                <a16:creationId xmlns:a16="http://schemas.microsoft.com/office/drawing/2014/main" id="{FB9E5347-210B-4753-A57D-039A0C69D35D}"/>
              </a:ext>
            </a:extLst>
          </p:cNvPr>
          <p:cNvSpPr>
            <a:spLocks noGrp="1"/>
          </p:cNvSpPr>
          <p:nvPr/>
        </p:nvSpPr>
        <p:spPr>
          <a:xfrm>
            <a:off x="6286500" y="2457450"/>
            <a:ext cx="2457450" cy="447675"/>
          </a:xfrm>
          <a:prstGeom prst="rect">
            <a:avLst/>
          </a:prstGeom>
          <a:noFill/>
          <a:ln w="0">
            <a:noFill/>
          </a:ln>
        </p:spPr>
        <p:txBody>
          <a:bodyPr wrap="square" lIns="0" tIns="0" rIns="0" bIns="0">
            <a:noAutofit/>
          </a:bodyPr>
          <a:lstStyle/>
          <a:p>
            <a:pPr algn="l">
              <a:defRPr sz="2550" b="1">
                <a:solidFill>
                  <a:srgbClr val="6A57B8"/>
                </a:solidFill>
                <a:latin typeface="Microsoft YaHei"/>
                <a:ea typeface="Microsoft YaHei"/>
                <a:cs typeface="Microsoft YaHei"/>
              </a:defRPr>
            </a:pPr>
            <a:r>
              <a:rPr sz="2550" b="1">
                <a:solidFill>
                  <a:srgbClr val="6A57B8"/>
                </a:solidFill>
                <a:latin typeface="Microsoft YaHei"/>
                <a:ea typeface="Microsoft YaHei"/>
                <a:cs typeface="Microsoft YaHei"/>
              </a:rPr>
              <a:t>03</a:t>
            </a:r>
          </a:p>
        </p:txBody>
      </p:sp>
      <p:sp>
        <p:nvSpPr>
          <p:cNvPr id="22" name="矩形 21">
            <a:extLst>
              <a:ext uri="{FF2B5EF4-FFF2-40B4-BE49-F238E27FC236}">
                <a16:creationId xmlns:a16="http://schemas.microsoft.com/office/drawing/2014/main" id="{F13528FE-7230-4A87-8668-4E8C7E2B7EBC}"/>
              </a:ext>
            </a:extLst>
          </p:cNvPr>
          <p:cNvSpPr>
            <a:spLocks noGrp="1"/>
          </p:cNvSpPr>
          <p:nvPr/>
        </p:nvSpPr>
        <p:spPr>
          <a:xfrm>
            <a:off x="6286500" y="3028950"/>
            <a:ext cx="2457450" cy="9525"/>
          </a:xfrm>
          <a:prstGeom prst="rect">
            <a:avLst/>
          </a:prstGeom>
          <a:solidFill>
            <a:srgbClr val="D9E1ED"/>
          </a:solidFill>
          <a:ln w="0">
            <a:noFill/>
          </a:ln>
        </p:spPr>
      </p:sp>
      <p:sp>
        <p:nvSpPr>
          <p:cNvPr id="23" name="矩形 22">
            <a:extLst>
              <a:ext uri="{FF2B5EF4-FFF2-40B4-BE49-F238E27FC236}">
                <a16:creationId xmlns:a16="http://schemas.microsoft.com/office/drawing/2014/main" id="{10F5F1D0-7C2E-4598-9AF2-BBE0B7423EBA}"/>
              </a:ext>
            </a:extLst>
          </p:cNvPr>
          <p:cNvSpPr>
            <a:spLocks noGrp="1"/>
          </p:cNvSpPr>
          <p:nvPr/>
        </p:nvSpPr>
        <p:spPr>
          <a:xfrm>
            <a:off x="6286500" y="3305175"/>
            <a:ext cx="2457450" cy="457200"/>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State</a:t>
            </a:r>
          </a:p>
        </p:txBody>
      </p:sp>
      <p:sp>
        <p:nvSpPr>
          <p:cNvPr id="24" name="矩形 23">
            <a:extLst>
              <a:ext uri="{FF2B5EF4-FFF2-40B4-BE49-F238E27FC236}">
                <a16:creationId xmlns:a16="http://schemas.microsoft.com/office/drawing/2014/main" id="{CD44B546-F65C-48E2-B3D5-ED74691B9775}"/>
              </a:ext>
            </a:extLst>
          </p:cNvPr>
          <p:cNvSpPr>
            <a:spLocks noGrp="1"/>
          </p:cNvSpPr>
          <p:nvPr/>
        </p:nvSpPr>
        <p:spPr>
          <a:xfrm>
            <a:off x="6286500" y="4010025"/>
            <a:ext cx="2457450" cy="876300"/>
          </a:xfrm>
          <a:prstGeom prst="rect">
            <a:avLst/>
          </a:prstGeom>
          <a:noFill/>
          <a:ln w="0">
            <a:noFill/>
          </a:ln>
        </p:spPr>
        <p:txBody>
          <a:bodyPr wrap="square" lIns="0" tIns="0" rIns="0" bIns="0">
            <a:noAutofit/>
          </a:bodyPr>
          <a:lstStyle/>
          <a:p>
            <a:pPr algn="l">
              <a:defRPr sz="1875" b="0">
                <a:solidFill>
                  <a:srgbClr val="536174"/>
                </a:solidFill>
                <a:latin typeface="Microsoft YaHei"/>
                <a:ea typeface="Microsoft YaHei"/>
                <a:cs typeface="Microsoft YaHei"/>
              </a:defRPr>
            </a:pPr>
            <a:r>
              <a:rPr sz="1875" b="0">
                <a:solidFill>
                  <a:srgbClr val="536174"/>
                </a:solidFill>
                <a:latin typeface="Microsoft YaHei"/>
                <a:ea typeface="Microsoft YaHei"/>
                <a:cs typeface="Microsoft YaHei"/>
              </a:rPr>
              <a:t>History, memory or observations</a:t>
            </a:r>
          </a:p>
        </p:txBody>
      </p:sp>
      <p:sp>
        <p:nvSpPr>
          <p:cNvPr id="25" name="矩形 24">
            <a:extLst>
              <a:ext uri="{FF2B5EF4-FFF2-40B4-BE49-F238E27FC236}">
                <a16:creationId xmlns:a16="http://schemas.microsoft.com/office/drawing/2014/main" id="{3619B2AA-0080-4E2D-9ACE-002C4A3F0447}"/>
              </a:ext>
            </a:extLst>
          </p:cNvPr>
          <p:cNvSpPr>
            <a:spLocks noGrp="1"/>
          </p:cNvSpPr>
          <p:nvPr/>
        </p:nvSpPr>
        <p:spPr>
          <a:xfrm>
            <a:off x="8772525" y="3409950"/>
            <a:ext cx="323850" cy="428625"/>
          </a:xfrm>
          <a:prstGeom prst="rect">
            <a:avLst/>
          </a:prstGeom>
          <a:noFill/>
          <a:ln w="0">
            <a:noFill/>
          </a:ln>
        </p:spPr>
        <p:txBody>
          <a:bodyPr wrap="square" lIns="0" tIns="0" rIns="0" bIns="0">
            <a:noAutofit/>
          </a:bodyPr>
          <a:lstStyle/>
          <a:p>
            <a:pPr algn="l">
              <a:defRPr sz="2250" b="1">
                <a:solidFill>
                  <a:srgbClr val="08559C"/>
                </a:solidFill>
                <a:latin typeface="Microsoft YaHei"/>
                <a:ea typeface="Microsoft YaHei"/>
                <a:cs typeface="Microsoft YaHei"/>
              </a:defRPr>
            </a:pPr>
            <a:r>
              <a:rPr sz="2250" b="1">
                <a:solidFill>
                  <a:srgbClr val="08559C"/>
                </a:solidFill>
                <a:latin typeface="Microsoft YaHei"/>
                <a:ea typeface="Microsoft YaHei"/>
                <a:cs typeface="Microsoft YaHei"/>
              </a:rPr>
              <a:t>→</a:t>
            </a:r>
          </a:p>
        </p:txBody>
      </p:sp>
      <p:sp>
        <p:nvSpPr>
          <p:cNvPr id="26" name="矩形 25">
            <a:extLst>
              <a:ext uri="{FF2B5EF4-FFF2-40B4-BE49-F238E27FC236}">
                <a16:creationId xmlns:a16="http://schemas.microsoft.com/office/drawing/2014/main" id="{5ECD7EDF-F108-4410-9B71-8A755DC8AFE0}"/>
              </a:ext>
            </a:extLst>
          </p:cNvPr>
          <p:cNvSpPr>
            <a:spLocks noGrp="1"/>
          </p:cNvSpPr>
          <p:nvPr/>
        </p:nvSpPr>
        <p:spPr>
          <a:xfrm>
            <a:off x="9124950" y="2457450"/>
            <a:ext cx="2457450" cy="447675"/>
          </a:xfrm>
          <a:prstGeom prst="rect">
            <a:avLst/>
          </a:prstGeom>
          <a:noFill/>
          <a:ln w="0">
            <a:noFill/>
          </a:ln>
        </p:spPr>
        <p:txBody>
          <a:bodyPr wrap="square" lIns="0" tIns="0" rIns="0" bIns="0">
            <a:noAutofit/>
          </a:bodyPr>
          <a:lstStyle/>
          <a:p>
            <a:pPr algn="l">
              <a:defRPr sz="2550" b="1">
                <a:solidFill>
                  <a:srgbClr val="6A57B8"/>
                </a:solidFill>
                <a:latin typeface="Microsoft YaHei"/>
                <a:ea typeface="Microsoft YaHei"/>
                <a:cs typeface="Microsoft YaHei"/>
              </a:defRPr>
            </a:pPr>
            <a:r>
              <a:rPr sz="2550" b="1">
                <a:solidFill>
                  <a:srgbClr val="6A57B8"/>
                </a:solidFill>
                <a:latin typeface="Microsoft YaHei"/>
                <a:ea typeface="Microsoft YaHei"/>
                <a:cs typeface="Microsoft YaHei"/>
              </a:rPr>
              <a:t>04</a:t>
            </a:r>
          </a:p>
        </p:txBody>
      </p:sp>
      <p:sp>
        <p:nvSpPr>
          <p:cNvPr id="27" name="矩形 26">
            <a:extLst>
              <a:ext uri="{FF2B5EF4-FFF2-40B4-BE49-F238E27FC236}">
                <a16:creationId xmlns:a16="http://schemas.microsoft.com/office/drawing/2014/main" id="{A02811E9-505F-408A-8691-62B77E33DE8B}"/>
              </a:ext>
            </a:extLst>
          </p:cNvPr>
          <p:cNvSpPr>
            <a:spLocks noGrp="1"/>
          </p:cNvSpPr>
          <p:nvPr/>
        </p:nvSpPr>
        <p:spPr>
          <a:xfrm>
            <a:off x="9124950" y="3028950"/>
            <a:ext cx="2457450" cy="9525"/>
          </a:xfrm>
          <a:prstGeom prst="rect">
            <a:avLst/>
          </a:prstGeom>
          <a:solidFill>
            <a:srgbClr val="D9E1ED"/>
          </a:solidFill>
          <a:ln w="0">
            <a:noFill/>
          </a:ln>
        </p:spPr>
      </p:sp>
      <p:sp>
        <p:nvSpPr>
          <p:cNvPr id="28" name="矩形 27">
            <a:extLst>
              <a:ext uri="{FF2B5EF4-FFF2-40B4-BE49-F238E27FC236}">
                <a16:creationId xmlns:a16="http://schemas.microsoft.com/office/drawing/2014/main" id="{BC4F4110-5D97-4041-9791-7C2E0382FA59}"/>
              </a:ext>
            </a:extLst>
          </p:cNvPr>
          <p:cNvSpPr>
            <a:spLocks noGrp="1"/>
          </p:cNvSpPr>
          <p:nvPr/>
        </p:nvSpPr>
        <p:spPr>
          <a:xfrm>
            <a:off x="9124950" y="3305175"/>
            <a:ext cx="2457450" cy="457200"/>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Rollout</a:t>
            </a:r>
          </a:p>
        </p:txBody>
      </p:sp>
      <p:sp>
        <p:nvSpPr>
          <p:cNvPr id="29" name="矩形 28">
            <a:extLst>
              <a:ext uri="{FF2B5EF4-FFF2-40B4-BE49-F238E27FC236}">
                <a16:creationId xmlns:a16="http://schemas.microsoft.com/office/drawing/2014/main" id="{CF7DFFC4-6109-4E87-9FE6-3E1BB6541550}"/>
              </a:ext>
            </a:extLst>
          </p:cNvPr>
          <p:cNvSpPr>
            <a:spLocks noGrp="1"/>
          </p:cNvSpPr>
          <p:nvPr/>
        </p:nvSpPr>
        <p:spPr>
          <a:xfrm>
            <a:off x="9124950" y="4010025"/>
            <a:ext cx="2457450" cy="876300"/>
          </a:xfrm>
          <a:prstGeom prst="rect">
            <a:avLst/>
          </a:prstGeom>
          <a:noFill/>
          <a:ln w="0">
            <a:noFill/>
          </a:ln>
        </p:spPr>
        <p:txBody>
          <a:bodyPr wrap="square" lIns="0" tIns="0" rIns="0" bIns="0">
            <a:noAutofit/>
          </a:bodyPr>
          <a:lstStyle/>
          <a:p>
            <a:pPr algn="l">
              <a:defRPr sz="1875" b="0">
                <a:solidFill>
                  <a:srgbClr val="536174"/>
                </a:solidFill>
                <a:latin typeface="Microsoft YaHei"/>
                <a:ea typeface="Microsoft YaHei"/>
                <a:cs typeface="Microsoft YaHei"/>
              </a:defRPr>
            </a:pPr>
            <a:r>
              <a:rPr sz="1875" b="0">
                <a:solidFill>
                  <a:srgbClr val="536174"/>
                </a:solidFill>
                <a:latin typeface="Microsoft YaHei"/>
                <a:ea typeface="Microsoft YaHei"/>
                <a:cs typeface="Microsoft YaHei"/>
              </a:rPr>
              <a:t>Streaming, distillation or task alignment</a:t>
            </a:r>
          </a:p>
        </p:txBody>
      </p:sp>
      <p:sp>
        <p:nvSpPr>
          <p:cNvPr id="30" name="矩形 29">
            <a:extLst>
              <a:ext uri="{FF2B5EF4-FFF2-40B4-BE49-F238E27FC236}">
                <a16:creationId xmlns:a16="http://schemas.microsoft.com/office/drawing/2014/main" id="{091EC272-9476-4BB6-A62E-25A141460BF3}"/>
              </a:ext>
            </a:extLst>
          </p:cNvPr>
          <p:cNvSpPr>
            <a:spLocks noGrp="1"/>
          </p:cNvSpPr>
          <p:nvPr/>
        </p:nvSpPr>
        <p:spPr>
          <a:xfrm>
            <a:off x="609600" y="5324475"/>
            <a:ext cx="10972800" cy="38100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Typical evaluation: response to controls  /  revisits  /  drift  /  useful decisions</a:t>
            </a:r>
          </a:p>
        </p:txBody>
      </p:sp>
    </p:spTree>
    <p:extLst>
      <p:ext uri="{BB962C8B-B14F-4D97-AF65-F5344CB8AC3E}">
        <p14:creationId xmlns:p14="http://schemas.microsoft.com/office/powerpoint/2010/main" val="1905859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FC047CEF-A106-4C66-B764-FA6CD3ED002A}"/>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04  /  WORLD MODEL EXAMPLE 1</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94C21B7E-68F3-4012-B45A-4F3244214988}"/>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Matrix-Game 3.0: remember views when they return</a:t>
            </a:r>
          </a:p>
        </p:txBody>
      </p:sp>
      <p:sp>
        <p:nvSpPr>
          <p:cNvPr id="4" name="矩形 3">
            <a:extLst>
              <a:ext uri="{FF2B5EF4-FFF2-40B4-BE49-F238E27FC236}">
                <a16:creationId xmlns:a16="http://schemas.microsoft.com/office/drawing/2014/main" id="{6360B47F-7454-41D7-8DA9-DFB122D5D3A9}"/>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0CEF20D9-AB98-4285-A17D-3F71E9E38CC7}"/>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A5C71113-DDBC-4486-BBDD-C14B1E91265F}"/>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Backbone: Wan2.2-TI2V-5B  |  arXiv, April 2026</a:t>
            </a:r>
          </a:p>
        </p:txBody>
      </p:sp>
      <p:sp>
        <p:nvSpPr>
          <p:cNvPr id="7" name="矩形 6">
            <a:extLst>
              <a:ext uri="{FF2B5EF4-FFF2-40B4-BE49-F238E27FC236}">
                <a16:creationId xmlns:a16="http://schemas.microsoft.com/office/drawing/2014/main" id="{2D23E157-062C-4214-A272-B6E4505D9DD4}"/>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2C569F7B-2BD2-4082-8B0D-61AA5261A322}"/>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Reported 720p ≈40 FPS uses an accelerated 8 + 1 GPU system, not a single GPU.</a:t>
            </a:r>
          </a:p>
        </p:txBody>
      </p:sp>
      <p:sp>
        <p:nvSpPr>
          <p:cNvPr id="9" name="矩形 8">
            <a:extLst>
              <a:ext uri="{FF2B5EF4-FFF2-40B4-BE49-F238E27FC236}">
                <a16:creationId xmlns:a16="http://schemas.microsoft.com/office/drawing/2014/main" id="{607E14D7-53AC-496E-8542-BC967D1C1599}"/>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Wang et al., Matrix-Game 3.0, 2026; Matrix-Game 3.0 official model card | Figure 4; Sections 3 and 5; official model card</a:t>
            </a:r>
          </a:p>
        </p:txBody>
      </p:sp>
      <p:sp>
        <p:nvSpPr>
          <p:cNvPr id="10" name="矩形 9">
            <a:extLst>
              <a:ext uri="{FF2B5EF4-FFF2-40B4-BE49-F238E27FC236}">
                <a16:creationId xmlns:a16="http://schemas.microsoft.com/office/drawing/2014/main" id="{982C4CC3-9559-4617-8441-C922C558F776}"/>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29 / 38</a:t>
            </a:r>
          </a:p>
        </p:txBody>
      </p:sp>
      <p:pic>
        <p:nvPicPr>
          <p:cNvPr id="28" name="图片 27"/>
          <p:cNvPicPr>
            <a:picLocks noChangeAspect="1"/>
          </p:cNvPicPr>
          <p:nvPr/>
        </p:nvPicPr>
        <p:blipFill>
          <a:blip r:embed="rId4"/>
          <a:stretch/>
        </p:blipFill>
        <p:spPr>
          <a:xfrm>
            <a:off x="609600" y="2390239"/>
            <a:ext cx="7162800" cy="3172897"/>
          </a:xfrm>
          <a:prstGeom prst="rect">
            <a:avLst/>
          </a:prstGeom>
        </p:spPr>
      </p:pic>
      <p:sp>
        <p:nvSpPr>
          <p:cNvPr id="12" name="矩形 11">
            <a:extLst>
              <a:ext uri="{FF2B5EF4-FFF2-40B4-BE49-F238E27FC236}">
                <a16:creationId xmlns:a16="http://schemas.microsoft.com/office/drawing/2014/main" id="{AE69CC03-9214-40A9-8DFD-5586072451A0}"/>
              </a:ext>
            </a:extLst>
          </p:cNvPr>
          <p:cNvSpPr>
            <a:spLocks noGrp="1"/>
          </p:cNvSpPr>
          <p:nvPr/>
        </p:nvSpPr>
        <p:spPr>
          <a:xfrm>
            <a:off x="8315325" y="230505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Control</a:t>
            </a:r>
          </a:p>
        </p:txBody>
      </p:sp>
      <p:sp>
        <p:nvSpPr>
          <p:cNvPr id="13" name="矩形 12">
            <a:extLst>
              <a:ext uri="{FF2B5EF4-FFF2-40B4-BE49-F238E27FC236}">
                <a16:creationId xmlns:a16="http://schemas.microsoft.com/office/drawing/2014/main" id="{E6FA35EB-697F-4968-A000-AABD428A596A}"/>
              </a:ext>
            </a:extLst>
          </p:cNvPr>
          <p:cNvSpPr>
            <a:spLocks noGrp="1"/>
          </p:cNvSpPr>
          <p:nvPr/>
        </p:nvSpPr>
        <p:spPr>
          <a:xfrm>
            <a:off x="8315325" y="274320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Add keyboard cross-attention and mouse conditioning.</a:t>
            </a:r>
          </a:p>
        </p:txBody>
      </p:sp>
      <p:sp>
        <p:nvSpPr>
          <p:cNvPr id="14" name="矩形 13">
            <a:extLst>
              <a:ext uri="{FF2B5EF4-FFF2-40B4-BE49-F238E27FC236}">
                <a16:creationId xmlns:a16="http://schemas.microsoft.com/office/drawing/2014/main" id="{0DEB5C8B-45B6-448D-9C02-C39891F41B52}"/>
              </a:ext>
            </a:extLst>
          </p:cNvPr>
          <p:cNvSpPr>
            <a:spLocks noGrp="1"/>
          </p:cNvSpPr>
          <p:nvPr/>
        </p:nvSpPr>
        <p:spPr>
          <a:xfrm>
            <a:off x="8315325" y="3438525"/>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Memory</a:t>
            </a:r>
          </a:p>
        </p:txBody>
      </p:sp>
      <p:sp>
        <p:nvSpPr>
          <p:cNvPr id="15" name="矩形 14">
            <a:extLst>
              <a:ext uri="{FF2B5EF4-FFF2-40B4-BE49-F238E27FC236}">
                <a16:creationId xmlns:a16="http://schemas.microsoft.com/office/drawing/2014/main" id="{7FBF20E8-33AD-4C37-84FD-8463EC525254}"/>
              </a:ext>
            </a:extLst>
          </p:cNvPr>
          <p:cNvSpPr>
            <a:spLocks noGrp="1"/>
          </p:cNvSpPr>
          <p:nvPr/>
        </p:nvSpPr>
        <p:spPr>
          <a:xfrm>
            <a:off x="8315325" y="3876675"/>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Retrieve old latents using camera pose and view overlap.</a:t>
            </a:r>
          </a:p>
        </p:txBody>
      </p:sp>
      <p:sp>
        <p:nvSpPr>
          <p:cNvPr id="16" name="矩形 15">
            <a:extLst>
              <a:ext uri="{FF2B5EF4-FFF2-40B4-BE49-F238E27FC236}">
                <a16:creationId xmlns:a16="http://schemas.microsoft.com/office/drawing/2014/main" id="{738DF317-1183-48E4-8A0E-E218E904AF16}"/>
              </a:ext>
            </a:extLst>
          </p:cNvPr>
          <p:cNvSpPr>
            <a:spLocks noGrp="1"/>
          </p:cNvSpPr>
          <p:nvPr/>
        </p:nvSpPr>
        <p:spPr>
          <a:xfrm>
            <a:off x="8315325" y="457200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Rollout</a:t>
            </a:r>
          </a:p>
        </p:txBody>
      </p:sp>
      <p:sp>
        <p:nvSpPr>
          <p:cNvPr id="17" name="矩形 16">
            <a:extLst>
              <a:ext uri="{FF2B5EF4-FFF2-40B4-BE49-F238E27FC236}">
                <a16:creationId xmlns:a16="http://schemas.microsoft.com/office/drawing/2014/main" id="{69749274-3C03-4D03-8532-A73DDC75413B}"/>
              </a:ext>
            </a:extLst>
          </p:cNvPr>
          <p:cNvSpPr>
            <a:spLocks noGrp="1"/>
          </p:cNvSpPr>
          <p:nvPr/>
        </p:nvSpPr>
        <p:spPr>
          <a:xfrm>
            <a:off x="8315325" y="501015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Train with an error buffer; apply multi-segment DMD distillation.</a:t>
            </a:r>
          </a:p>
        </p:txBody>
      </p:sp>
    </p:spTree>
    <p:extLst>
      <p:ext uri="{BB962C8B-B14F-4D97-AF65-F5344CB8AC3E}">
        <p14:creationId xmlns:p14="http://schemas.microsoft.com/office/powerpoint/2010/main" val="319291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92456100-5EC1-4B66-8AB1-0A1C1A5CC111}"/>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04  /  WORLD MODEL EXAMPLE 2</a:t>
            </a:r>
          </a:p>
        </p:txBody>
      </p:sp>
      <p:pic>
        <p:nvPicPr>
          <p:cNvPr id="19" name="图片 1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D4BD3F50-CC04-4D92-BD9B-0FE7750269F8}"/>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Yume1.5: steer exploration through text conditioning</a:t>
            </a:r>
          </a:p>
        </p:txBody>
      </p:sp>
      <p:sp>
        <p:nvSpPr>
          <p:cNvPr id="4" name="矩形 3">
            <a:extLst>
              <a:ext uri="{FF2B5EF4-FFF2-40B4-BE49-F238E27FC236}">
                <a16:creationId xmlns:a16="http://schemas.microsoft.com/office/drawing/2014/main" id="{AEDE699F-183E-49CF-B593-12C822AC8E08}"/>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9F9614B9-567B-4E00-88D3-3A27C068B61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A1FEA266-0280-4AEF-8A2D-5216E5F55EA6}"/>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Backbone: Wan2.2-TI2V-5B  |  arXiv, December 2025</a:t>
            </a:r>
          </a:p>
        </p:txBody>
      </p:sp>
      <p:sp>
        <p:nvSpPr>
          <p:cNvPr id="7" name="矩形 6">
            <a:extLst>
              <a:ext uri="{FF2B5EF4-FFF2-40B4-BE49-F238E27FC236}">
                <a16:creationId xmlns:a16="http://schemas.microsoft.com/office/drawing/2014/main" id="{447F7FD2-F575-4D54-9704-DA8ADD653F7C}"/>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1ADD04A1-7669-4AD2-809C-754275B7E150}"/>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reported single-A100 result is about 12 FPS at 540p; compressed history still loses information.</a:t>
            </a:r>
          </a:p>
        </p:txBody>
      </p:sp>
      <p:sp>
        <p:nvSpPr>
          <p:cNvPr id="9" name="矩形 8">
            <a:extLst>
              <a:ext uri="{FF2B5EF4-FFF2-40B4-BE49-F238E27FC236}">
                <a16:creationId xmlns:a16="http://schemas.microsoft.com/office/drawing/2014/main" id="{D76C2CB5-0E71-412A-862F-55A804A6E2D9}"/>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Mao et al., Yume1.5, 2025; YUME official code | Figure 3(b), training panel (cropped); Sections 4–5 and 7</a:t>
            </a:r>
          </a:p>
        </p:txBody>
      </p:sp>
      <p:sp>
        <p:nvSpPr>
          <p:cNvPr id="10" name="矩形 9">
            <a:extLst>
              <a:ext uri="{FF2B5EF4-FFF2-40B4-BE49-F238E27FC236}">
                <a16:creationId xmlns:a16="http://schemas.microsoft.com/office/drawing/2014/main" id="{63C750A6-63B5-44A0-A996-D776C4C8B758}"/>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30 / 38</a:t>
            </a:r>
          </a:p>
        </p:txBody>
      </p:sp>
      <p:pic>
        <p:nvPicPr>
          <p:cNvPr id="28" name="图片 27"/>
          <p:cNvPicPr>
            <a:picLocks noChangeAspect="1"/>
          </p:cNvPicPr>
          <p:nvPr/>
        </p:nvPicPr>
        <p:blipFill>
          <a:blip r:embed="rId4"/>
          <a:stretch/>
        </p:blipFill>
        <p:spPr>
          <a:xfrm>
            <a:off x="822537" y="2238375"/>
            <a:ext cx="6736927" cy="3476625"/>
          </a:xfrm>
          <a:prstGeom prst="rect">
            <a:avLst/>
          </a:prstGeom>
        </p:spPr>
      </p:pic>
      <p:sp>
        <p:nvSpPr>
          <p:cNvPr id="12" name="矩形 11">
            <a:extLst>
              <a:ext uri="{FF2B5EF4-FFF2-40B4-BE49-F238E27FC236}">
                <a16:creationId xmlns:a16="http://schemas.microsoft.com/office/drawing/2014/main" id="{FFEAFBAC-2883-4C3F-ABEB-2DE659ED5F6A}"/>
              </a:ext>
            </a:extLst>
          </p:cNvPr>
          <p:cNvSpPr>
            <a:spLocks noGrp="1"/>
          </p:cNvSpPr>
          <p:nvPr/>
        </p:nvSpPr>
        <p:spPr>
          <a:xfrm>
            <a:off x="8315325" y="230505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Control</a:t>
            </a:r>
          </a:p>
        </p:txBody>
      </p:sp>
      <p:sp>
        <p:nvSpPr>
          <p:cNvPr id="13" name="矩形 12">
            <a:extLst>
              <a:ext uri="{FF2B5EF4-FFF2-40B4-BE49-F238E27FC236}">
                <a16:creationId xmlns:a16="http://schemas.microsoft.com/office/drawing/2014/main" id="{4239902E-0DFC-4F37-99D2-C611E53333A7}"/>
              </a:ext>
            </a:extLst>
          </p:cNvPr>
          <p:cNvSpPr>
            <a:spLocks noGrp="1"/>
          </p:cNvSpPr>
          <p:nvPr/>
        </p:nvSpPr>
        <p:spPr>
          <a:xfrm>
            <a:off x="8315325" y="274320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Encode event text and action descriptions separately with T5.</a:t>
            </a:r>
          </a:p>
        </p:txBody>
      </p:sp>
      <p:sp>
        <p:nvSpPr>
          <p:cNvPr id="14" name="矩形 13">
            <a:extLst>
              <a:ext uri="{FF2B5EF4-FFF2-40B4-BE49-F238E27FC236}">
                <a16:creationId xmlns:a16="http://schemas.microsoft.com/office/drawing/2014/main" id="{AC81C172-F335-4DDC-A4A4-7AA768214E6D}"/>
              </a:ext>
            </a:extLst>
          </p:cNvPr>
          <p:cNvSpPr>
            <a:spLocks noGrp="1"/>
          </p:cNvSpPr>
          <p:nvPr/>
        </p:nvSpPr>
        <p:spPr>
          <a:xfrm>
            <a:off x="8315325" y="3438525"/>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History</a:t>
            </a:r>
          </a:p>
        </p:txBody>
      </p:sp>
      <p:sp>
        <p:nvSpPr>
          <p:cNvPr id="15" name="矩形 14">
            <a:extLst>
              <a:ext uri="{FF2B5EF4-FFF2-40B4-BE49-F238E27FC236}">
                <a16:creationId xmlns:a16="http://schemas.microsoft.com/office/drawing/2014/main" id="{DC19C7A4-D267-4ECE-9BA5-29277EE5E934}"/>
              </a:ext>
            </a:extLst>
          </p:cNvPr>
          <p:cNvSpPr>
            <a:spLocks noGrp="1"/>
          </p:cNvSpPr>
          <p:nvPr/>
        </p:nvSpPr>
        <p:spPr>
          <a:xfrm>
            <a:off x="8315325" y="3876675"/>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Compress temporal, spatial and channel information with TSCM.</a:t>
            </a:r>
          </a:p>
        </p:txBody>
      </p:sp>
      <p:sp>
        <p:nvSpPr>
          <p:cNvPr id="16" name="矩形 15">
            <a:extLst>
              <a:ext uri="{FF2B5EF4-FFF2-40B4-BE49-F238E27FC236}">
                <a16:creationId xmlns:a16="http://schemas.microsoft.com/office/drawing/2014/main" id="{7FDAB3CE-E920-4616-9C26-0C931891B17E}"/>
              </a:ext>
            </a:extLst>
          </p:cNvPr>
          <p:cNvSpPr>
            <a:spLocks noGrp="1"/>
          </p:cNvSpPr>
          <p:nvPr/>
        </p:nvSpPr>
        <p:spPr>
          <a:xfrm>
            <a:off x="8315325" y="4572000"/>
            <a:ext cx="3267075"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Rollout</a:t>
            </a:r>
          </a:p>
        </p:txBody>
      </p:sp>
      <p:sp>
        <p:nvSpPr>
          <p:cNvPr id="17" name="矩形 16">
            <a:extLst>
              <a:ext uri="{FF2B5EF4-FFF2-40B4-BE49-F238E27FC236}">
                <a16:creationId xmlns:a16="http://schemas.microsoft.com/office/drawing/2014/main" id="{6093D089-1C3B-46ED-A9C4-7067D8363EE9}"/>
              </a:ext>
            </a:extLst>
          </p:cNvPr>
          <p:cNvSpPr>
            <a:spLocks noGrp="1"/>
          </p:cNvSpPr>
          <p:nvPr/>
        </p:nvSpPr>
        <p:spPr>
          <a:xfrm>
            <a:off x="8315325" y="5010150"/>
            <a:ext cx="3267075" cy="714375"/>
          </a:xfrm>
          <a:prstGeom prst="rect">
            <a:avLst/>
          </a:prstGeom>
          <a:noFill/>
          <a:ln w="0">
            <a:noFill/>
          </a:ln>
        </p:spPr>
        <p:txBody>
          <a:bodyPr wrap="square" lIns="0" tIns="0" rIns="0" bIns="0">
            <a:noAutofit/>
          </a:bodyPr>
          <a:lstStyle/>
          <a:p>
            <a:pPr algn="l">
              <a:defRPr sz="1575" b="0">
                <a:solidFill>
                  <a:srgbClr val="162A4A"/>
                </a:solidFill>
                <a:latin typeface="Microsoft YaHei"/>
                <a:ea typeface="Microsoft YaHei"/>
                <a:cs typeface="Microsoft YaHei"/>
              </a:defRPr>
            </a:pPr>
            <a:r>
              <a:rPr sz="1575" b="0">
                <a:solidFill>
                  <a:srgbClr val="162A4A"/>
                </a:solidFill>
                <a:latin typeface="Microsoft YaHei"/>
                <a:ea typeface="Microsoft YaHei"/>
                <a:cs typeface="Microsoft YaHei"/>
              </a:rPr>
              <a:t>Use self-rollout training and four-step generation.</a:t>
            </a:r>
          </a:p>
        </p:txBody>
      </p:sp>
    </p:spTree>
    <p:extLst>
      <p:ext uri="{BB962C8B-B14F-4D97-AF65-F5344CB8AC3E}">
        <p14:creationId xmlns:p14="http://schemas.microsoft.com/office/powerpoint/2010/main" val="1020576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6454B584-F008-455F-9D26-0DF5E4DA7CAD}"/>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04  /  WORLD MODEL EXAMPLE 3</a:t>
            </a:r>
          </a:p>
        </p:txBody>
      </p:sp>
      <p:pic>
        <p:nvPicPr>
          <p:cNvPr id="31" name="图片 30"/>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684C6B20-EC2D-4BE6-9317-F58FC8F1E0D6}"/>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EVA: make visual plans more executable</a:t>
            </a:r>
          </a:p>
        </p:txBody>
      </p:sp>
      <p:sp>
        <p:nvSpPr>
          <p:cNvPr id="4" name="矩形 3">
            <a:extLst>
              <a:ext uri="{FF2B5EF4-FFF2-40B4-BE49-F238E27FC236}">
                <a16:creationId xmlns:a16="http://schemas.microsoft.com/office/drawing/2014/main" id="{4B37A44F-4794-4228-8EB9-7180790A5BCB}"/>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F6AF8CA9-47AA-417C-B084-F31B89275E5D}"/>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CE39BA39-65A5-49F7-AE51-308A4DBEE29C}"/>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Lineage: Wan2.1-I2V-14B-480P → Large Video Planner → EVA  |  March 2026</a:t>
            </a:r>
          </a:p>
        </p:txBody>
      </p:sp>
      <p:sp>
        <p:nvSpPr>
          <p:cNvPr id="7" name="矩形 6">
            <a:extLst>
              <a:ext uri="{FF2B5EF4-FFF2-40B4-BE49-F238E27FC236}">
                <a16:creationId xmlns:a16="http://schemas.microsoft.com/office/drawing/2014/main" id="{84ACA90B-38AE-43D2-81D9-D0436225DB94}"/>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C54DE922-EF5E-4648-9D47-608F153F18BF}"/>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These are visual-plan ratings on 210 RoboTwin prompts, not closed-loop robot task-success rates.</a:t>
            </a:r>
          </a:p>
        </p:txBody>
      </p:sp>
      <p:sp>
        <p:nvSpPr>
          <p:cNvPr id="9" name="矩形 8">
            <a:extLst>
              <a:ext uri="{FF2B5EF4-FFF2-40B4-BE49-F238E27FC236}">
                <a16:creationId xmlns:a16="http://schemas.microsoft.com/office/drawing/2014/main" id="{9F06D181-831B-4247-895D-C03A972B41B9}"/>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Wang et al., EVA, 2026; EVA official code | Sections 4–6; Table 1; initialization from LVP retained</a:t>
            </a:r>
          </a:p>
        </p:txBody>
      </p:sp>
      <p:sp>
        <p:nvSpPr>
          <p:cNvPr id="10" name="矩形 9">
            <a:extLst>
              <a:ext uri="{FF2B5EF4-FFF2-40B4-BE49-F238E27FC236}">
                <a16:creationId xmlns:a16="http://schemas.microsoft.com/office/drawing/2014/main" id="{858C67E4-A806-4D84-BE35-EC40BA5755ED}"/>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31 / 38</a:t>
            </a:r>
          </a:p>
        </p:txBody>
      </p:sp>
      <p:sp>
        <p:nvSpPr>
          <p:cNvPr id="11" name="矩形 10">
            <a:extLst>
              <a:ext uri="{FF2B5EF4-FFF2-40B4-BE49-F238E27FC236}">
                <a16:creationId xmlns:a16="http://schemas.microsoft.com/office/drawing/2014/main" id="{7F96CA35-FE03-4546-A05C-C0F9620F929E}"/>
              </a:ext>
            </a:extLst>
          </p:cNvPr>
          <p:cNvSpPr>
            <a:spLocks noGrp="1"/>
          </p:cNvSpPr>
          <p:nvPr/>
        </p:nvSpPr>
        <p:spPr>
          <a:xfrm>
            <a:off x="609600" y="2362200"/>
            <a:ext cx="2457450" cy="1447800"/>
          </a:xfrm>
          <a:prstGeom prst="rect">
            <a:avLst/>
          </a:prstGeom>
          <a:solidFill>
            <a:srgbClr val="F1F5FA"/>
          </a:solidFill>
          <a:ln w="0">
            <a:noFill/>
          </a:ln>
        </p:spPr>
      </p:sp>
      <p:sp>
        <p:nvSpPr>
          <p:cNvPr id="12" name="矩形 11">
            <a:extLst>
              <a:ext uri="{FF2B5EF4-FFF2-40B4-BE49-F238E27FC236}">
                <a16:creationId xmlns:a16="http://schemas.microsoft.com/office/drawing/2014/main" id="{2DF50A45-EDC7-4545-B473-0DF5EB2ED6AD}"/>
              </a:ext>
            </a:extLst>
          </p:cNvPr>
          <p:cNvSpPr>
            <a:spLocks noGrp="1"/>
          </p:cNvSpPr>
          <p:nvPr/>
        </p:nvSpPr>
        <p:spPr>
          <a:xfrm>
            <a:off x="781050" y="2543175"/>
            <a:ext cx="2114550" cy="561975"/>
          </a:xfrm>
          <a:prstGeom prst="rect">
            <a:avLst/>
          </a:prstGeom>
          <a:noFill/>
          <a:ln w="0">
            <a:noFill/>
          </a:ln>
        </p:spPr>
        <p:txBody>
          <a:bodyPr wrap="square" lIns="0" tIns="0" rIns="0" bIns="0">
            <a:noAutofit/>
          </a:bodyPr>
          <a:lstStyle/>
          <a:p>
            <a:pPr algn="l">
              <a:defRPr sz="1725" b="1">
                <a:solidFill>
                  <a:srgbClr val="162A4A"/>
                </a:solidFill>
                <a:latin typeface="Microsoft YaHei"/>
                <a:ea typeface="Microsoft YaHei"/>
                <a:cs typeface="Microsoft YaHei"/>
              </a:defRPr>
            </a:pPr>
            <a:r>
              <a:rPr sz="1725" b="1">
                <a:solidFill>
                  <a:srgbClr val="162A4A"/>
                </a:solidFill>
                <a:latin typeface="Microsoft YaHei"/>
                <a:ea typeface="Microsoft YaHei"/>
                <a:cs typeface="Microsoft YaHei"/>
              </a:rPr>
              <a:t>Video planner</a:t>
            </a:r>
          </a:p>
        </p:txBody>
      </p:sp>
      <p:sp>
        <p:nvSpPr>
          <p:cNvPr id="13" name="矩形 12">
            <a:extLst>
              <a:ext uri="{FF2B5EF4-FFF2-40B4-BE49-F238E27FC236}">
                <a16:creationId xmlns:a16="http://schemas.microsoft.com/office/drawing/2014/main" id="{11DB66BB-6883-4269-9BFE-244B3EA0726F}"/>
              </a:ext>
            </a:extLst>
          </p:cNvPr>
          <p:cNvSpPr>
            <a:spLocks noGrp="1"/>
          </p:cNvSpPr>
          <p:nvPr/>
        </p:nvSpPr>
        <p:spPr>
          <a:xfrm>
            <a:off x="781050" y="3190875"/>
            <a:ext cx="2114550" cy="533400"/>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History + task text</a:t>
            </a:r>
          </a:p>
        </p:txBody>
      </p:sp>
      <p:sp>
        <p:nvSpPr>
          <p:cNvPr id="14" name="矩形 13">
            <a:extLst>
              <a:ext uri="{FF2B5EF4-FFF2-40B4-BE49-F238E27FC236}">
                <a16:creationId xmlns:a16="http://schemas.microsoft.com/office/drawing/2014/main" id="{E33A1A10-F4CA-4C58-909A-58DAA9CBF17F}"/>
              </a:ext>
            </a:extLst>
          </p:cNvPr>
          <p:cNvSpPr>
            <a:spLocks noGrp="1"/>
          </p:cNvSpPr>
          <p:nvPr/>
        </p:nvSpPr>
        <p:spPr>
          <a:xfrm>
            <a:off x="3095625" y="2857500"/>
            <a:ext cx="323850" cy="428625"/>
          </a:xfrm>
          <a:prstGeom prst="rect">
            <a:avLst/>
          </a:prstGeom>
          <a:noFill/>
          <a:ln w="0">
            <a:noFill/>
          </a:ln>
        </p:spPr>
        <p:txBody>
          <a:bodyPr wrap="square" lIns="0" tIns="0" rIns="0" bIns="0">
            <a:noAutofit/>
          </a:bodyPr>
          <a:lstStyle/>
          <a:p>
            <a:pPr algn="l">
              <a:defRPr sz="2250" b="1">
                <a:solidFill>
                  <a:srgbClr val="6A57B8"/>
                </a:solidFill>
                <a:latin typeface="Microsoft YaHei"/>
                <a:ea typeface="Microsoft YaHei"/>
                <a:cs typeface="Microsoft YaHei"/>
              </a:defRPr>
            </a:pPr>
            <a:r>
              <a:rPr sz="2250" b="1">
                <a:solidFill>
                  <a:srgbClr val="6A57B8"/>
                </a:solidFill>
                <a:latin typeface="Microsoft YaHei"/>
                <a:ea typeface="Microsoft YaHei"/>
                <a:cs typeface="Microsoft YaHei"/>
              </a:rPr>
              <a:t>→</a:t>
            </a:r>
          </a:p>
        </p:txBody>
      </p:sp>
      <p:sp>
        <p:nvSpPr>
          <p:cNvPr id="15" name="矩形 14">
            <a:extLst>
              <a:ext uri="{FF2B5EF4-FFF2-40B4-BE49-F238E27FC236}">
                <a16:creationId xmlns:a16="http://schemas.microsoft.com/office/drawing/2014/main" id="{F2FCDC79-FC1F-4F1F-B8C9-59B8DC358A29}"/>
              </a:ext>
            </a:extLst>
          </p:cNvPr>
          <p:cNvSpPr>
            <a:spLocks noGrp="1"/>
          </p:cNvSpPr>
          <p:nvPr/>
        </p:nvSpPr>
        <p:spPr>
          <a:xfrm>
            <a:off x="3448050" y="2362200"/>
            <a:ext cx="2457450" cy="1447800"/>
          </a:xfrm>
          <a:prstGeom prst="rect">
            <a:avLst/>
          </a:prstGeom>
          <a:solidFill>
            <a:srgbClr val="F1F5FA"/>
          </a:solidFill>
          <a:ln w="0">
            <a:noFill/>
          </a:ln>
        </p:spPr>
      </p:sp>
      <p:sp>
        <p:nvSpPr>
          <p:cNvPr id="16" name="矩形 15">
            <a:extLst>
              <a:ext uri="{FF2B5EF4-FFF2-40B4-BE49-F238E27FC236}">
                <a16:creationId xmlns:a16="http://schemas.microsoft.com/office/drawing/2014/main" id="{0A48311B-5989-44B6-8AB9-D65AD17D67AA}"/>
              </a:ext>
            </a:extLst>
          </p:cNvPr>
          <p:cNvSpPr>
            <a:spLocks noGrp="1"/>
          </p:cNvSpPr>
          <p:nvPr/>
        </p:nvSpPr>
        <p:spPr>
          <a:xfrm>
            <a:off x="3619500" y="2543175"/>
            <a:ext cx="2114550" cy="561975"/>
          </a:xfrm>
          <a:prstGeom prst="rect">
            <a:avLst/>
          </a:prstGeom>
          <a:noFill/>
          <a:ln w="0">
            <a:noFill/>
          </a:ln>
        </p:spPr>
        <p:txBody>
          <a:bodyPr wrap="square" lIns="0" tIns="0" rIns="0" bIns="0">
            <a:noAutofit/>
          </a:bodyPr>
          <a:lstStyle/>
          <a:p>
            <a:pPr algn="l">
              <a:defRPr sz="1725" b="1">
                <a:solidFill>
                  <a:srgbClr val="162A4A"/>
                </a:solidFill>
                <a:latin typeface="Microsoft YaHei"/>
                <a:ea typeface="Microsoft YaHei"/>
                <a:cs typeface="Microsoft YaHei"/>
              </a:defRPr>
            </a:pPr>
            <a:r>
              <a:rPr sz="1725" b="1">
                <a:solidFill>
                  <a:srgbClr val="162A4A"/>
                </a:solidFill>
                <a:latin typeface="Microsoft YaHei"/>
                <a:ea typeface="Microsoft YaHei"/>
                <a:cs typeface="Microsoft YaHei"/>
              </a:rPr>
              <a:t>Frozen inverse model</a:t>
            </a:r>
          </a:p>
        </p:txBody>
      </p:sp>
      <p:sp>
        <p:nvSpPr>
          <p:cNvPr id="17" name="矩形 16">
            <a:extLst>
              <a:ext uri="{FF2B5EF4-FFF2-40B4-BE49-F238E27FC236}">
                <a16:creationId xmlns:a16="http://schemas.microsoft.com/office/drawing/2014/main" id="{60ADD977-5452-4FC5-BADF-615DF852C991}"/>
              </a:ext>
            </a:extLst>
          </p:cNvPr>
          <p:cNvSpPr>
            <a:spLocks noGrp="1"/>
          </p:cNvSpPr>
          <p:nvPr/>
        </p:nvSpPr>
        <p:spPr>
          <a:xfrm>
            <a:off x="3619500" y="3190875"/>
            <a:ext cx="2114550" cy="533400"/>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Decode video into actions</a:t>
            </a:r>
          </a:p>
        </p:txBody>
      </p:sp>
      <p:sp>
        <p:nvSpPr>
          <p:cNvPr id="18" name="矩形 17">
            <a:extLst>
              <a:ext uri="{FF2B5EF4-FFF2-40B4-BE49-F238E27FC236}">
                <a16:creationId xmlns:a16="http://schemas.microsoft.com/office/drawing/2014/main" id="{8B710E3F-2F50-477A-A79D-C704FD5FF411}"/>
              </a:ext>
            </a:extLst>
          </p:cNvPr>
          <p:cNvSpPr>
            <a:spLocks noGrp="1"/>
          </p:cNvSpPr>
          <p:nvPr/>
        </p:nvSpPr>
        <p:spPr>
          <a:xfrm>
            <a:off x="5934075" y="2857500"/>
            <a:ext cx="323850" cy="428625"/>
          </a:xfrm>
          <a:prstGeom prst="rect">
            <a:avLst/>
          </a:prstGeom>
          <a:noFill/>
          <a:ln w="0">
            <a:noFill/>
          </a:ln>
        </p:spPr>
        <p:txBody>
          <a:bodyPr wrap="square" lIns="0" tIns="0" rIns="0" bIns="0">
            <a:noAutofit/>
          </a:bodyPr>
          <a:lstStyle/>
          <a:p>
            <a:pPr algn="l">
              <a:defRPr sz="2250" b="1">
                <a:solidFill>
                  <a:srgbClr val="6A57B8"/>
                </a:solidFill>
                <a:latin typeface="Microsoft YaHei"/>
                <a:ea typeface="Microsoft YaHei"/>
                <a:cs typeface="Microsoft YaHei"/>
              </a:defRPr>
            </a:pPr>
            <a:r>
              <a:rPr sz="2250" b="1">
                <a:solidFill>
                  <a:srgbClr val="6A57B8"/>
                </a:solidFill>
                <a:latin typeface="Microsoft YaHei"/>
                <a:ea typeface="Microsoft YaHei"/>
                <a:cs typeface="Microsoft YaHei"/>
              </a:rPr>
              <a:t>→</a:t>
            </a:r>
          </a:p>
        </p:txBody>
      </p:sp>
      <p:sp>
        <p:nvSpPr>
          <p:cNvPr id="19" name="矩形 18">
            <a:extLst>
              <a:ext uri="{FF2B5EF4-FFF2-40B4-BE49-F238E27FC236}">
                <a16:creationId xmlns:a16="http://schemas.microsoft.com/office/drawing/2014/main" id="{14AE8DBA-BB2C-4F38-995A-0E0B807A14BC}"/>
              </a:ext>
            </a:extLst>
          </p:cNvPr>
          <p:cNvSpPr>
            <a:spLocks noGrp="1"/>
          </p:cNvSpPr>
          <p:nvPr/>
        </p:nvSpPr>
        <p:spPr>
          <a:xfrm>
            <a:off x="6286500" y="2362200"/>
            <a:ext cx="2457450" cy="1447800"/>
          </a:xfrm>
          <a:prstGeom prst="rect">
            <a:avLst/>
          </a:prstGeom>
          <a:solidFill>
            <a:srgbClr val="F1F5FA"/>
          </a:solidFill>
          <a:ln w="0">
            <a:noFill/>
          </a:ln>
        </p:spPr>
      </p:sp>
      <p:sp>
        <p:nvSpPr>
          <p:cNvPr id="20" name="矩形 19">
            <a:extLst>
              <a:ext uri="{FF2B5EF4-FFF2-40B4-BE49-F238E27FC236}">
                <a16:creationId xmlns:a16="http://schemas.microsoft.com/office/drawing/2014/main" id="{6063C036-1425-45B9-9236-FB3F7D644FBD}"/>
              </a:ext>
            </a:extLst>
          </p:cNvPr>
          <p:cNvSpPr>
            <a:spLocks noGrp="1"/>
          </p:cNvSpPr>
          <p:nvPr/>
        </p:nvSpPr>
        <p:spPr>
          <a:xfrm>
            <a:off x="6457950" y="2543175"/>
            <a:ext cx="2114550" cy="561975"/>
          </a:xfrm>
          <a:prstGeom prst="rect">
            <a:avLst/>
          </a:prstGeom>
          <a:noFill/>
          <a:ln w="0">
            <a:noFill/>
          </a:ln>
        </p:spPr>
        <p:txBody>
          <a:bodyPr wrap="square" lIns="0" tIns="0" rIns="0" bIns="0">
            <a:noAutofit/>
          </a:bodyPr>
          <a:lstStyle/>
          <a:p>
            <a:pPr algn="l">
              <a:defRPr sz="1725" b="1">
                <a:solidFill>
                  <a:srgbClr val="162A4A"/>
                </a:solidFill>
                <a:latin typeface="Microsoft YaHei"/>
                <a:ea typeface="Microsoft YaHei"/>
                <a:cs typeface="Microsoft YaHei"/>
              </a:defRPr>
            </a:pPr>
            <a:r>
              <a:rPr sz="1725" b="1">
                <a:solidFill>
                  <a:srgbClr val="162A4A"/>
                </a:solidFill>
                <a:latin typeface="Microsoft YaHei"/>
                <a:ea typeface="Microsoft YaHei"/>
                <a:cs typeface="Microsoft YaHei"/>
              </a:rPr>
              <a:t>Kinematic reward</a:t>
            </a:r>
          </a:p>
        </p:txBody>
      </p:sp>
      <p:sp>
        <p:nvSpPr>
          <p:cNvPr id="21" name="矩形 20">
            <a:extLst>
              <a:ext uri="{FF2B5EF4-FFF2-40B4-BE49-F238E27FC236}">
                <a16:creationId xmlns:a16="http://schemas.microsoft.com/office/drawing/2014/main" id="{14EF4E8B-A053-43D3-84EF-7EE171D27565}"/>
              </a:ext>
            </a:extLst>
          </p:cNvPr>
          <p:cNvSpPr>
            <a:spLocks noGrp="1"/>
          </p:cNvSpPr>
          <p:nvPr/>
        </p:nvSpPr>
        <p:spPr>
          <a:xfrm>
            <a:off x="6457950" y="3190875"/>
            <a:ext cx="2114550" cy="533400"/>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Penalize jerk and limit violations</a:t>
            </a:r>
          </a:p>
        </p:txBody>
      </p:sp>
      <p:sp>
        <p:nvSpPr>
          <p:cNvPr id="22" name="矩形 21">
            <a:extLst>
              <a:ext uri="{FF2B5EF4-FFF2-40B4-BE49-F238E27FC236}">
                <a16:creationId xmlns:a16="http://schemas.microsoft.com/office/drawing/2014/main" id="{36BF35F7-278F-44EE-A2C4-00F62BB36B38}"/>
              </a:ext>
            </a:extLst>
          </p:cNvPr>
          <p:cNvSpPr>
            <a:spLocks noGrp="1"/>
          </p:cNvSpPr>
          <p:nvPr/>
        </p:nvSpPr>
        <p:spPr>
          <a:xfrm>
            <a:off x="8772525" y="2857500"/>
            <a:ext cx="323850" cy="428625"/>
          </a:xfrm>
          <a:prstGeom prst="rect">
            <a:avLst/>
          </a:prstGeom>
          <a:noFill/>
          <a:ln w="0">
            <a:noFill/>
          </a:ln>
        </p:spPr>
        <p:txBody>
          <a:bodyPr wrap="square" lIns="0" tIns="0" rIns="0" bIns="0">
            <a:noAutofit/>
          </a:bodyPr>
          <a:lstStyle/>
          <a:p>
            <a:pPr algn="l">
              <a:defRPr sz="2250" b="1">
                <a:solidFill>
                  <a:srgbClr val="6A57B8"/>
                </a:solidFill>
                <a:latin typeface="Microsoft YaHei"/>
                <a:ea typeface="Microsoft YaHei"/>
                <a:cs typeface="Microsoft YaHei"/>
              </a:defRPr>
            </a:pPr>
            <a:r>
              <a:rPr sz="2250" b="1">
                <a:solidFill>
                  <a:srgbClr val="6A57B8"/>
                </a:solidFill>
                <a:latin typeface="Microsoft YaHei"/>
                <a:ea typeface="Microsoft YaHei"/>
                <a:cs typeface="Microsoft YaHei"/>
              </a:rPr>
              <a:t>→</a:t>
            </a:r>
          </a:p>
        </p:txBody>
      </p:sp>
      <p:sp>
        <p:nvSpPr>
          <p:cNvPr id="23" name="矩形 22">
            <a:extLst>
              <a:ext uri="{FF2B5EF4-FFF2-40B4-BE49-F238E27FC236}">
                <a16:creationId xmlns:a16="http://schemas.microsoft.com/office/drawing/2014/main" id="{4929B88A-8895-4195-BB57-10094910A581}"/>
              </a:ext>
            </a:extLst>
          </p:cNvPr>
          <p:cNvSpPr>
            <a:spLocks noGrp="1"/>
          </p:cNvSpPr>
          <p:nvPr/>
        </p:nvSpPr>
        <p:spPr>
          <a:xfrm>
            <a:off x="9124950" y="2362200"/>
            <a:ext cx="2457450" cy="1447800"/>
          </a:xfrm>
          <a:prstGeom prst="rect">
            <a:avLst/>
          </a:prstGeom>
          <a:solidFill>
            <a:srgbClr val="F4F0FA"/>
          </a:solidFill>
          <a:ln w="0">
            <a:noFill/>
          </a:ln>
        </p:spPr>
      </p:sp>
      <p:sp>
        <p:nvSpPr>
          <p:cNvPr id="24" name="矩形 23">
            <a:extLst>
              <a:ext uri="{FF2B5EF4-FFF2-40B4-BE49-F238E27FC236}">
                <a16:creationId xmlns:a16="http://schemas.microsoft.com/office/drawing/2014/main" id="{A64A8E51-A20F-4094-9F82-494CD58E37C1}"/>
              </a:ext>
            </a:extLst>
          </p:cNvPr>
          <p:cNvSpPr>
            <a:spLocks noGrp="1"/>
          </p:cNvSpPr>
          <p:nvPr/>
        </p:nvSpPr>
        <p:spPr>
          <a:xfrm>
            <a:off x="9296400" y="2543175"/>
            <a:ext cx="2114550" cy="561975"/>
          </a:xfrm>
          <a:prstGeom prst="rect">
            <a:avLst/>
          </a:prstGeom>
          <a:noFill/>
          <a:ln w="0">
            <a:noFill/>
          </a:ln>
        </p:spPr>
        <p:txBody>
          <a:bodyPr wrap="square" lIns="0" tIns="0" rIns="0" bIns="0">
            <a:noAutofit/>
          </a:bodyPr>
          <a:lstStyle/>
          <a:p>
            <a:pPr algn="l">
              <a:defRPr sz="1725" b="1">
                <a:solidFill>
                  <a:srgbClr val="162A4A"/>
                </a:solidFill>
                <a:latin typeface="Microsoft YaHei"/>
                <a:ea typeface="Microsoft YaHei"/>
                <a:cs typeface="Microsoft YaHei"/>
              </a:defRPr>
            </a:pPr>
            <a:r>
              <a:rPr sz="1725" b="1">
                <a:solidFill>
                  <a:srgbClr val="162A4A"/>
                </a:solidFill>
                <a:latin typeface="Microsoft YaHei"/>
                <a:ea typeface="Microsoft YaHei"/>
                <a:cs typeface="Microsoft YaHei"/>
              </a:rPr>
              <a:t>GRPO update</a:t>
            </a:r>
          </a:p>
        </p:txBody>
      </p:sp>
      <p:sp>
        <p:nvSpPr>
          <p:cNvPr id="25" name="矩形 24">
            <a:extLst>
              <a:ext uri="{FF2B5EF4-FFF2-40B4-BE49-F238E27FC236}">
                <a16:creationId xmlns:a16="http://schemas.microsoft.com/office/drawing/2014/main" id="{944DA30D-5169-4BBC-9EDE-2561C300DF0A}"/>
              </a:ext>
            </a:extLst>
          </p:cNvPr>
          <p:cNvSpPr>
            <a:spLocks noGrp="1"/>
          </p:cNvSpPr>
          <p:nvPr/>
        </p:nvSpPr>
        <p:spPr>
          <a:xfrm>
            <a:off x="9296400" y="3190875"/>
            <a:ext cx="2114550" cy="533400"/>
          </a:xfrm>
          <a:prstGeom prst="rect">
            <a:avLst/>
          </a:prstGeom>
          <a:noFill/>
          <a:ln w="0">
            <a:noFill/>
          </a:ln>
        </p:spPr>
        <p:txBody>
          <a:bodyPr wrap="square" lIns="0" tIns="0" rIns="0" bIns="0">
            <a:noAutofit/>
          </a:bodyPr>
          <a:lstStyle/>
          <a:p>
            <a:pPr algn="l">
              <a:defRPr sz="1500" b="0">
                <a:solidFill>
                  <a:srgbClr val="536174"/>
                </a:solidFill>
                <a:latin typeface="Microsoft YaHei"/>
                <a:ea typeface="Microsoft YaHei"/>
                <a:cs typeface="Microsoft YaHei"/>
              </a:defRPr>
            </a:pPr>
            <a:r>
              <a:rPr sz="1500" b="0">
                <a:solidFill>
                  <a:srgbClr val="536174"/>
                </a:solidFill>
                <a:latin typeface="Microsoft YaHei"/>
                <a:ea typeface="Microsoft YaHei"/>
                <a:cs typeface="Microsoft YaHei"/>
              </a:rPr>
              <a:t>Align the generator with LoRA</a:t>
            </a:r>
          </a:p>
        </p:txBody>
      </p:sp>
      <p:sp>
        <p:nvSpPr>
          <p:cNvPr id="26" name="矩形 25">
            <a:extLst>
              <a:ext uri="{FF2B5EF4-FFF2-40B4-BE49-F238E27FC236}">
                <a16:creationId xmlns:a16="http://schemas.microsoft.com/office/drawing/2014/main" id="{474C38A3-22D2-4B89-AC99-2558280C7551}"/>
              </a:ext>
            </a:extLst>
          </p:cNvPr>
          <p:cNvSpPr>
            <a:spLocks noGrp="1"/>
          </p:cNvSpPr>
          <p:nvPr/>
        </p:nvSpPr>
        <p:spPr>
          <a:xfrm>
            <a:off x="609600" y="4333875"/>
            <a:ext cx="5105400" cy="609600"/>
          </a:xfrm>
          <a:prstGeom prst="rect">
            <a:avLst/>
          </a:prstGeom>
          <a:noFill/>
          <a:ln w="0">
            <a:noFill/>
          </a:ln>
        </p:spPr>
        <p:txBody>
          <a:bodyPr wrap="square" lIns="0" tIns="0" rIns="0" bIns="0">
            <a:noAutofit/>
          </a:bodyPr>
          <a:lstStyle/>
          <a:p>
            <a:pPr algn="l">
              <a:defRPr sz="3300" b="1">
                <a:solidFill>
                  <a:srgbClr val="08559C"/>
                </a:solidFill>
                <a:latin typeface="Microsoft YaHei"/>
                <a:ea typeface="Microsoft YaHei"/>
                <a:cs typeface="Microsoft YaHei"/>
              </a:defRPr>
            </a:pPr>
            <a:r>
              <a:rPr sz="3300" b="1">
                <a:solidFill>
                  <a:srgbClr val="08559C"/>
                </a:solidFill>
                <a:latin typeface="Microsoft YaHei"/>
                <a:ea typeface="Microsoft YaHei"/>
                <a:cs typeface="Microsoft YaHei"/>
              </a:rPr>
              <a:t>70.5% → 91.4%</a:t>
            </a:r>
          </a:p>
        </p:txBody>
      </p:sp>
      <p:sp>
        <p:nvSpPr>
          <p:cNvPr id="27" name="矩形 26">
            <a:extLst>
              <a:ext uri="{FF2B5EF4-FFF2-40B4-BE49-F238E27FC236}">
                <a16:creationId xmlns:a16="http://schemas.microsoft.com/office/drawing/2014/main" id="{C542A47A-5F6F-49F7-B240-CDDD99613D43}"/>
              </a:ext>
            </a:extLst>
          </p:cNvPr>
          <p:cNvSpPr>
            <a:spLocks noGrp="1"/>
          </p:cNvSpPr>
          <p:nvPr/>
        </p:nvSpPr>
        <p:spPr>
          <a:xfrm>
            <a:off x="609600" y="5095875"/>
            <a:ext cx="5105400" cy="514350"/>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Human-rated kinematic plausibility</a:t>
            </a:r>
          </a:p>
        </p:txBody>
      </p:sp>
      <p:sp>
        <p:nvSpPr>
          <p:cNvPr id="28" name="矩形 27">
            <a:extLst>
              <a:ext uri="{FF2B5EF4-FFF2-40B4-BE49-F238E27FC236}">
                <a16:creationId xmlns:a16="http://schemas.microsoft.com/office/drawing/2014/main" id="{83E6FBAE-59AA-453C-B709-485E1A676357}"/>
              </a:ext>
            </a:extLst>
          </p:cNvPr>
          <p:cNvSpPr>
            <a:spLocks noGrp="1"/>
          </p:cNvSpPr>
          <p:nvPr/>
        </p:nvSpPr>
        <p:spPr>
          <a:xfrm>
            <a:off x="6477000" y="4333875"/>
            <a:ext cx="5105400" cy="609600"/>
          </a:xfrm>
          <a:prstGeom prst="rect">
            <a:avLst/>
          </a:prstGeom>
          <a:noFill/>
          <a:ln w="0">
            <a:noFill/>
          </a:ln>
        </p:spPr>
        <p:txBody>
          <a:bodyPr wrap="square" lIns="0" tIns="0" rIns="0" bIns="0">
            <a:noAutofit/>
          </a:bodyPr>
          <a:lstStyle/>
          <a:p>
            <a:pPr algn="l">
              <a:defRPr sz="3300" b="1">
                <a:solidFill>
                  <a:srgbClr val="08559C"/>
                </a:solidFill>
                <a:latin typeface="Microsoft YaHei"/>
                <a:ea typeface="Microsoft YaHei"/>
                <a:cs typeface="Microsoft YaHei"/>
              </a:defRPr>
            </a:pPr>
            <a:r>
              <a:rPr sz="3300" b="1">
                <a:solidFill>
                  <a:srgbClr val="08559C"/>
                </a:solidFill>
                <a:latin typeface="Microsoft YaHei"/>
                <a:ea typeface="Microsoft YaHei"/>
                <a:cs typeface="Microsoft YaHei"/>
              </a:rPr>
              <a:t>68.1% → 83.8%</a:t>
            </a:r>
          </a:p>
        </p:txBody>
      </p:sp>
      <p:sp>
        <p:nvSpPr>
          <p:cNvPr id="29" name="矩形 28">
            <a:extLst>
              <a:ext uri="{FF2B5EF4-FFF2-40B4-BE49-F238E27FC236}">
                <a16:creationId xmlns:a16="http://schemas.microsoft.com/office/drawing/2014/main" id="{E5C939D4-0BB0-4E85-B746-88C5046A9564}"/>
              </a:ext>
            </a:extLst>
          </p:cNvPr>
          <p:cNvSpPr>
            <a:spLocks noGrp="1"/>
          </p:cNvSpPr>
          <p:nvPr/>
        </p:nvSpPr>
        <p:spPr>
          <a:xfrm>
            <a:off x="6477000" y="5095875"/>
            <a:ext cx="5105400" cy="514350"/>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"Perfect" in the visual-rating protocol</a:t>
            </a:r>
          </a:p>
        </p:txBody>
      </p:sp>
    </p:spTree>
    <p:extLst>
      <p:ext uri="{BB962C8B-B14F-4D97-AF65-F5344CB8AC3E}">
        <p14:creationId xmlns:p14="http://schemas.microsoft.com/office/powerpoint/2010/main" val="128560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20A7DC85-87AC-4016-9B8A-E21A728587E6}"/>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04  /  WORLD MODEL EXAMPLE 4</a:t>
            </a:r>
          </a:p>
        </p:txBody>
      </p:sp>
      <p:pic>
        <p:nvPicPr>
          <p:cNvPr id="20" name="图片 19"/>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9C8FD848-FBEC-4C7E-BE85-2DCA83543CCC}"/>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BiWM: reuse the conversion recipe across backbones</a:t>
            </a:r>
          </a:p>
        </p:txBody>
      </p:sp>
      <p:sp>
        <p:nvSpPr>
          <p:cNvPr id="4" name="矩形 3">
            <a:extLst>
              <a:ext uri="{FF2B5EF4-FFF2-40B4-BE49-F238E27FC236}">
                <a16:creationId xmlns:a16="http://schemas.microsoft.com/office/drawing/2014/main" id="{D1529DA9-86A8-4ECC-BD95-0E4501334260}"/>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B8C93C47-AEFD-4FC0-864F-DD14CFD57752}"/>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9DAFD530-A948-463D-85A3-BFC5CB393822}"/>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Demonstrated on Wan2.1-T2V-1.3B and Wan2.2-TI2V-5B  |  June 2026</a:t>
            </a:r>
          </a:p>
        </p:txBody>
      </p:sp>
      <p:sp>
        <p:nvSpPr>
          <p:cNvPr id="7" name="矩形 6">
            <a:extLst>
              <a:ext uri="{FF2B5EF4-FFF2-40B4-BE49-F238E27FC236}">
                <a16:creationId xmlns:a16="http://schemas.microsoft.com/office/drawing/2014/main" id="{EA8B3C8B-DDD8-4648-AFF0-A3B7B2D3BF69}"/>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58DC43DA-3851-4EFC-AE02-EE4745EC13B8}"/>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The paper's systematic cross-backbone quantitative study is still ongoing; this is a framework example.</a:t>
            </a:r>
          </a:p>
        </p:txBody>
      </p:sp>
      <p:sp>
        <p:nvSpPr>
          <p:cNvPr id="9" name="矩形 8">
            <a:extLst>
              <a:ext uri="{FF2B5EF4-FFF2-40B4-BE49-F238E27FC236}">
                <a16:creationId xmlns:a16="http://schemas.microsoft.com/office/drawing/2014/main" id="{53B87363-559B-4EAD-BB7A-0D6A694CC832}"/>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Rui et al., BiWM, 2026; BiWM official code | Sections 3 and 5; official training support for both Wan generations</a:t>
            </a:r>
          </a:p>
        </p:txBody>
      </p:sp>
      <p:sp>
        <p:nvSpPr>
          <p:cNvPr id="10" name="矩形 9">
            <a:extLst>
              <a:ext uri="{FF2B5EF4-FFF2-40B4-BE49-F238E27FC236}">
                <a16:creationId xmlns:a16="http://schemas.microsoft.com/office/drawing/2014/main" id="{FC136D82-D55F-46D1-9ADC-35EE871237A5}"/>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32 / 38</a:t>
            </a:r>
          </a:p>
        </p:txBody>
      </p:sp>
      <p:sp>
        <p:nvSpPr>
          <p:cNvPr id="11" name="矩形 10">
            <a:extLst>
              <a:ext uri="{FF2B5EF4-FFF2-40B4-BE49-F238E27FC236}">
                <a16:creationId xmlns:a16="http://schemas.microsoft.com/office/drawing/2014/main" id="{2B4D527A-4DB8-4DC1-A506-5CB0841414D0}"/>
              </a:ext>
            </a:extLst>
          </p:cNvPr>
          <p:cNvSpPr>
            <a:spLocks noGrp="1"/>
          </p:cNvSpPr>
          <p:nvPr/>
        </p:nvSpPr>
        <p:spPr>
          <a:xfrm>
            <a:off x="609600" y="2352675"/>
            <a:ext cx="10972800" cy="1428750"/>
          </a:xfrm>
          <a:prstGeom prst="rect">
            <a:avLst/>
          </a:prstGeom>
          <a:solidFill>
            <a:srgbClr val="F1F5FA"/>
          </a:solidFill>
          <a:ln w="0">
            <a:noFill/>
          </a:ln>
        </p:spPr>
      </p:sp>
      <p:sp>
        <p:nvSpPr>
          <p:cNvPr id="12" name="矩形 11">
            <a:extLst>
              <a:ext uri="{FF2B5EF4-FFF2-40B4-BE49-F238E27FC236}">
                <a16:creationId xmlns:a16="http://schemas.microsoft.com/office/drawing/2014/main" id="{C79B8F00-B9D8-4448-ADD4-9805B04A55D8}"/>
              </a:ext>
            </a:extLst>
          </p:cNvPr>
          <p:cNvSpPr>
            <a:spLocks noGrp="1"/>
          </p:cNvSpPr>
          <p:nvPr/>
        </p:nvSpPr>
        <p:spPr>
          <a:xfrm>
            <a:off x="828675" y="2581275"/>
            <a:ext cx="1524000" cy="457200"/>
          </a:xfrm>
          <a:prstGeom prst="rect">
            <a:avLst/>
          </a:prstGeom>
          <a:noFill/>
          <a:ln w="0">
            <a:noFill/>
          </a:ln>
        </p:spPr>
        <p:txBody>
          <a:bodyPr wrap="square" lIns="0" tIns="0" rIns="0" bIns="0">
            <a:noAutofit/>
          </a:bodyPr>
          <a:lstStyle/>
          <a:p>
            <a:pPr algn="l">
              <a:defRPr sz="1875" b="1">
                <a:solidFill>
                  <a:srgbClr val="08559C"/>
                </a:solidFill>
                <a:latin typeface="Microsoft YaHei"/>
                <a:ea typeface="Microsoft YaHei"/>
                <a:cs typeface="Microsoft YaHei"/>
              </a:defRPr>
            </a:pPr>
            <a:r>
              <a:rPr sz="1875" b="1">
                <a:solidFill>
                  <a:srgbClr val="08559C"/>
                </a:solidFill>
                <a:latin typeface="Microsoft YaHei"/>
                <a:ea typeface="Microsoft YaHei"/>
                <a:cs typeface="Microsoft YaHei"/>
              </a:rPr>
              <a:t>Stage 1</a:t>
            </a:r>
          </a:p>
        </p:txBody>
      </p:sp>
      <p:sp>
        <p:nvSpPr>
          <p:cNvPr id="13" name="矩形 12">
            <a:extLst>
              <a:ext uri="{FF2B5EF4-FFF2-40B4-BE49-F238E27FC236}">
                <a16:creationId xmlns:a16="http://schemas.microsoft.com/office/drawing/2014/main" id="{5D532330-91AF-4BB3-A902-CDE07A613F79}"/>
              </a:ext>
            </a:extLst>
          </p:cNvPr>
          <p:cNvSpPr>
            <a:spLocks noGrp="1"/>
          </p:cNvSpPr>
          <p:nvPr/>
        </p:nvSpPr>
        <p:spPr>
          <a:xfrm>
            <a:off x="2667000" y="2562225"/>
            <a:ext cx="8610600" cy="400050"/>
          </a:xfrm>
          <a:prstGeom prst="rect">
            <a:avLst/>
          </a:prstGeom>
          <a:noFill/>
          <a:ln w="0">
            <a:noFill/>
          </a:ln>
        </p:spPr>
        <p:txBody>
          <a:bodyPr wrap="square" lIns="0" tIns="0" rIns="0" bIns="0">
            <a:noAutofit/>
          </a:bodyPr>
          <a:lstStyle/>
          <a:p>
            <a:pPr algn="l">
              <a:defRPr sz="2175" b="1">
                <a:solidFill>
                  <a:srgbClr val="162A4A"/>
                </a:solidFill>
                <a:latin typeface="Microsoft YaHei"/>
                <a:ea typeface="Microsoft YaHei"/>
                <a:cs typeface="Microsoft YaHei"/>
              </a:defRPr>
            </a:pPr>
            <a:r>
              <a:rPr sz="2175" b="1">
                <a:solidFill>
                  <a:srgbClr val="162A4A"/>
                </a:solidFill>
                <a:latin typeface="Microsoft YaHei"/>
                <a:ea typeface="Microsoft YaHei"/>
                <a:cs typeface="Microsoft YaHei"/>
              </a:rPr>
              <a:t>Camera-text fine-tuning</a:t>
            </a:r>
          </a:p>
        </p:txBody>
      </p:sp>
      <p:sp>
        <p:nvSpPr>
          <p:cNvPr id="14" name="矩形 13">
            <a:extLst>
              <a:ext uri="{FF2B5EF4-FFF2-40B4-BE49-F238E27FC236}">
                <a16:creationId xmlns:a16="http://schemas.microsoft.com/office/drawing/2014/main" id="{1BFAFF7E-2348-457F-8BB3-CF2241A1ED23}"/>
              </a:ext>
            </a:extLst>
          </p:cNvPr>
          <p:cNvSpPr>
            <a:spLocks noGrp="1"/>
          </p:cNvSpPr>
          <p:nvPr/>
        </p:nvSpPr>
        <p:spPr>
          <a:xfrm>
            <a:off x="2667000" y="3105150"/>
            <a:ext cx="8610600" cy="561975"/>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Inject discrete motion descriptions through existing text conditioning.</a:t>
            </a:r>
          </a:p>
        </p:txBody>
      </p:sp>
      <p:sp>
        <p:nvSpPr>
          <p:cNvPr id="15" name="矩形 14">
            <a:extLst>
              <a:ext uri="{FF2B5EF4-FFF2-40B4-BE49-F238E27FC236}">
                <a16:creationId xmlns:a16="http://schemas.microsoft.com/office/drawing/2014/main" id="{9EAFE7AC-F572-4EE7-87BB-0B824874C13A}"/>
              </a:ext>
            </a:extLst>
          </p:cNvPr>
          <p:cNvSpPr>
            <a:spLocks noGrp="1"/>
          </p:cNvSpPr>
          <p:nvPr/>
        </p:nvSpPr>
        <p:spPr>
          <a:xfrm>
            <a:off x="609600" y="4029075"/>
            <a:ext cx="10972800" cy="1428750"/>
          </a:xfrm>
          <a:prstGeom prst="rect">
            <a:avLst/>
          </a:prstGeom>
          <a:solidFill>
            <a:srgbClr val="F4F0FA"/>
          </a:solidFill>
          <a:ln w="0">
            <a:noFill/>
          </a:ln>
        </p:spPr>
      </p:sp>
      <p:sp>
        <p:nvSpPr>
          <p:cNvPr id="16" name="矩形 15">
            <a:extLst>
              <a:ext uri="{FF2B5EF4-FFF2-40B4-BE49-F238E27FC236}">
                <a16:creationId xmlns:a16="http://schemas.microsoft.com/office/drawing/2014/main" id="{5AA3A7A4-0CD7-4700-98AF-DA1841F12E0B}"/>
              </a:ext>
            </a:extLst>
          </p:cNvPr>
          <p:cNvSpPr>
            <a:spLocks noGrp="1"/>
          </p:cNvSpPr>
          <p:nvPr/>
        </p:nvSpPr>
        <p:spPr>
          <a:xfrm>
            <a:off x="828675" y="4257675"/>
            <a:ext cx="1524000" cy="457200"/>
          </a:xfrm>
          <a:prstGeom prst="rect">
            <a:avLst/>
          </a:prstGeom>
          <a:noFill/>
          <a:ln w="0">
            <a:noFill/>
          </a:ln>
        </p:spPr>
        <p:txBody>
          <a:bodyPr wrap="square" lIns="0" tIns="0" rIns="0" bIns="0">
            <a:noAutofit/>
          </a:bodyPr>
          <a:lstStyle/>
          <a:p>
            <a:pPr algn="l">
              <a:defRPr sz="1875" b="1">
                <a:solidFill>
                  <a:srgbClr val="6A57B8"/>
                </a:solidFill>
                <a:latin typeface="Microsoft YaHei"/>
                <a:ea typeface="Microsoft YaHei"/>
                <a:cs typeface="Microsoft YaHei"/>
              </a:defRPr>
            </a:pPr>
            <a:r>
              <a:rPr sz="1875" b="1">
                <a:solidFill>
                  <a:srgbClr val="6A57B8"/>
                </a:solidFill>
                <a:latin typeface="Microsoft YaHei"/>
                <a:ea typeface="Microsoft YaHei"/>
                <a:cs typeface="Microsoft YaHei"/>
              </a:rPr>
              <a:t>Stage 2</a:t>
            </a:r>
          </a:p>
        </p:txBody>
      </p:sp>
      <p:sp>
        <p:nvSpPr>
          <p:cNvPr id="17" name="矩形 16">
            <a:extLst>
              <a:ext uri="{FF2B5EF4-FFF2-40B4-BE49-F238E27FC236}">
                <a16:creationId xmlns:a16="http://schemas.microsoft.com/office/drawing/2014/main" id="{CAD454F3-D15C-47C8-850E-4135894B533F}"/>
              </a:ext>
            </a:extLst>
          </p:cNvPr>
          <p:cNvSpPr>
            <a:spLocks noGrp="1"/>
          </p:cNvSpPr>
          <p:nvPr/>
        </p:nvSpPr>
        <p:spPr>
          <a:xfrm>
            <a:off x="2667000" y="4238625"/>
            <a:ext cx="8610600" cy="400050"/>
          </a:xfrm>
          <a:prstGeom prst="rect">
            <a:avLst/>
          </a:prstGeom>
          <a:noFill/>
          <a:ln w="0">
            <a:noFill/>
          </a:ln>
        </p:spPr>
        <p:txBody>
          <a:bodyPr wrap="square" lIns="0" tIns="0" rIns="0" bIns="0">
            <a:noAutofit/>
          </a:bodyPr>
          <a:lstStyle/>
          <a:p>
            <a:pPr algn="l">
              <a:defRPr sz="2175" b="1">
                <a:solidFill>
                  <a:srgbClr val="162A4A"/>
                </a:solidFill>
                <a:latin typeface="Microsoft YaHei"/>
                <a:ea typeface="Microsoft YaHei"/>
                <a:cs typeface="Microsoft YaHei"/>
              </a:defRPr>
            </a:pPr>
            <a:r>
              <a:rPr sz="2175" b="1">
                <a:solidFill>
                  <a:srgbClr val="162A4A"/>
                </a:solidFill>
                <a:latin typeface="Microsoft YaHei"/>
                <a:ea typeface="Microsoft YaHei"/>
                <a:cs typeface="Microsoft YaHei"/>
              </a:rPr>
              <a:t>Few-step distillation</a:t>
            </a:r>
          </a:p>
        </p:txBody>
      </p:sp>
      <p:sp>
        <p:nvSpPr>
          <p:cNvPr id="18" name="矩形 17">
            <a:extLst>
              <a:ext uri="{FF2B5EF4-FFF2-40B4-BE49-F238E27FC236}">
                <a16:creationId xmlns:a16="http://schemas.microsoft.com/office/drawing/2014/main" id="{5DA1FB04-876C-4CA2-943F-8B8AC2355FB2}"/>
              </a:ext>
            </a:extLst>
          </p:cNvPr>
          <p:cNvSpPr>
            <a:spLocks noGrp="1"/>
          </p:cNvSpPr>
          <p:nvPr/>
        </p:nvSpPr>
        <p:spPr>
          <a:xfrm>
            <a:off x="2667000" y="4781550"/>
            <a:ext cx="8610600" cy="561975"/>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Generate chunks sequentially; keep bidirectional attention in the visible window.</a:t>
            </a:r>
          </a:p>
        </p:txBody>
      </p:sp>
    </p:spTree>
    <p:extLst>
      <p:ext uri="{BB962C8B-B14F-4D97-AF65-F5344CB8AC3E}">
        <p14:creationId xmlns:p14="http://schemas.microsoft.com/office/powerpoint/2010/main" val="876519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B7AC4D9-86A9-44B1-B5A4-04F3E52357F1}"/>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04  /  WORLD MODEL SYNTHESIS</a:t>
            </a:r>
          </a:p>
        </p:txBody>
      </p:sp>
      <p:pic>
        <p:nvPicPr>
          <p:cNvPr id="13" name="图片 12"/>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2B3E2FEE-F4EA-44D8-A3DA-13E2B77B51FE}"/>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The reused backbone is only the starting point</a:t>
            </a:r>
          </a:p>
        </p:txBody>
      </p:sp>
      <p:sp>
        <p:nvSpPr>
          <p:cNvPr id="4" name="矩形 3">
            <a:extLst>
              <a:ext uri="{FF2B5EF4-FFF2-40B4-BE49-F238E27FC236}">
                <a16:creationId xmlns:a16="http://schemas.microsoft.com/office/drawing/2014/main" id="{C3BE3329-E30E-4B74-B57F-493DB8CC5A3F}"/>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03C9DFE7-2509-4429-988B-4F724FF33765}"/>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58BE5154-4FD5-44FE-B0C0-7FD1FD340ED5}"/>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Four cases illustrate distinct capabilities and distinct evaluation targets.</a:t>
            </a:r>
          </a:p>
        </p:txBody>
      </p:sp>
      <p:sp>
        <p:nvSpPr>
          <p:cNvPr id="7" name="矩形 6">
            <a:extLst>
              <a:ext uri="{FF2B5EF4-FFF2-40B4-BE49-F238E27FC236}">
                <a16:creationId xmlns:a16="http://schemas.microsoft.com/office/drawing/2014/main" id="{C496856B-2C28-4124-B830-60FC33407274}"/>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693BEA6C-CB83-4974-80B7-12CC63961627}"/>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A fair comparison must align the task, controls, rollout horizon, speed and evidence type.</a:t>
            </a:r>
          </a:p>
        </p:txBody>
      </p:sp>
      <p:sp>
        <p:nvSpPr>
          <p:cNvPr id="9" name="矩形 8">
            <a:extLst>
              <a:ext uri="{FF2B5EF4-FFF2-40B4-BE49-F238E27FC236}">
                <a16:creationId xmlns:a16="http://schemas.microsoft.com/office/drawing/2014/main" id="{BA3F804C-4156-4435-B5BB-FEFC3C379BBC}"/>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Wang et al., Matrix-Game 3.0, 2026; Mao et al., Yume1.5, 2025; Wang et al., EVA, 2026; Rui et al., BiWM, 2026</a:t>
            </a:r>
          </a:p>
        </p:txBody>
      </p:sp>
      <p:sp>
        <p:nvSpPr>
          <p:cNvPr id="10" name="矩形 9">
            <a:extLst>
              <a:ext uri="{FF2B5EF4-FFF2-40B4-BE49-F238E27FC236}">
                <a16:creationId xmlns:a16="http://schemas.microsoft.com/office/drawing/2014/main" id="{613AC5DF-809A-41EC-8A3F-9165BF2300F9}"/>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33 / 38</a:t>
            </a:r>
          </a:p>
        </p:txBody>
      </p:sp>
      <p:graphicFrame>
        <p:nvGraphicFramePr>
          <p:cNvPr id="22" name="表格 21"/>
          <p:cNvGraphicFramePr/>
          <p:nvPr/>
        </p:nvGraphicFramePr>
        <p:xfrm>
          <a:off x="609600" y="2305050"/>
          <a:ext cx="10972800" cy="3301365"/>
        </p:xfrm>
        <a:graphic>
          <a:graphicData uri="http://schemas.openxmlformats.org/drawingml/2006/table">
            <a:tbl>
              <a:tblPr/>
              <a:tblGrid>
                <a:gridCol w="2238375">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tblGrid>
              <a:tr h="655320">
                <a:tc>
                  <a:txBody>
                    <a:bodyPr/>
                    <a:lstStyle/>
                    <a:p>
                      <a:r>
                        <a:rPr sz="1500" b="1">
                          <a:solidFill>
                            <a:srgbClr val="FFFFFF"/>
                          </a:solidFill>
                          <a:latin typeface="Microsoft YaHei"/>
                          <a:ea typeface="Microsoft YaHei"/>
                          <a:cs typeface="Microsoft YaHei"/>
                        </a:rPr>
                        <a:t>Example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Wan lineage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Main addition</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tc>
                  <a:txBody>
                    <a:bodyPr/>
                    <a:lstStyle/>
                    <a:p>
                      <a:r>
                        <a:rPr sz="1500" b="1">
                          <a:solidFill>
                            <a:srgbClr val="FFFFFF"/>
                          </a:solidFill>
                          <a:latin typeface="Microsoft YaHei"/>
                          <a:ea typeface="Microsoft YaHei"/>
                          <a:cs typeface="Microsoft YaHei"/>
                        </a:rPr>
                        <a:t>Evaluate this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08559C"/>
                    </a:solidFill>
                  </a:tcPr>
                </a:tc>
                <a:extLst>
                  <a:ext uri="{0D108BD9-81ED-4DB2-BD59-A6C34878D82A}">
                    <a16:rowId xmlns:a16="http://schemas.microsoft.com/office/drawing/2014/main" val="10000"/>
                  </a:ext>
                </a:extLst>
              </a:tr>
              <a:tr h="655320">
                <a:tc>
                  <a:txBody>
                    <a:bodyPr/>
                    <a:lstStyle/>
                    <a:p>
                      <a:r>
                        <a:rPr sz="1575" b="1">
                          <a:solidFill>
                            <a:srgbClr val="162A4A"/>
                          </a:solidFill>
                          <a:latin typeface="Microsoft YaHei"/>
                          <a:ea typeface="Microsoft YaHei"/>
                          <a:cs typeface="Microsoft YaHei"/>
                        </a:rPr>
                        <a:t>Matrix-Game 3.0</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2.2 TI2V-5B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View-relevant memory</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Revisits + action response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1"/>
                  </a:ext>
                </a:extLst>
              </a:tr>
              <a:tr h="655320">
                <a:tc>
                  <a:txBody>
                    <a:bodyPr/>
                    <a:lstStyle/>
                    <a:p>
                      <a:r>
                        <a:rPr sz="1575" b="1">
                          <a:solidFill>
                            <a:srgbClr val="162A4A"/>
                          </a:solidFill>
                          <a:latin typeface="Microsoft YaHei"/>
                          <a:ea typeface="Microsoft YaHei"/>
                          <a:cs typeface="Microsoft YaHei"/>
                        </a:rPr>
                        <a:t>Yume1.5</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2.2 TI2V-5B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Text controls + TSCM</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Control + long rollouts</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2"/>
                  </a:ext>
                </a:extLst>
              </a:tr>
              <a:tr h="655320">
                <a:tc>
                  <a:txBody>
                    <a:bodyPr/>
                    <a:lstStyle/>
                    <a:p>
                      <a:r>
                        <a:rPr sz="1575" b="1">
                          <a:solidFill>
                            <a:srgbClr val="162A4A"/>
                          </a:solidFill>
                          <a:latin typeface="Microsoft YaHei"/>
                          <a:ea typeface="Microsoft YaHei"/>
                          <a:cs typeface="Microsoft YaHei"/>
                        </a:rPr>
                        <a:t>EVA</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2.1 I2V-14B via LVP</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Inverse-model reward</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tc>
                  <a:txBody>
                    <a:bodyPr/>
                    <a:lstStyle/>
                    <a:p>
                      <a:r>
                        <a:rPr sz="1575" b="0">
                          <a:solidFill>
                            <a:srgbClr val="162A4A"/>
                          </a:solidFill>
                          <a:latin typeface="Microsoft YaHei"/>
                          <a:ea typeface="Microsoft YaHei"/>
                          <a:cs typeface="Microsoft YaHei"/>
                        </a:rPr>
                        <a:t>Plan executability</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1F5FA"/>
                    </a:solidFill>
                  </a:tcPr>
                </a:tc>
                <a:extLst>
                  <a:ext uri="{0D108BD9-81ED-4DB2-BD59-A6C34878D82A}">
                    <a16:rowId xmlns:a16="http://schemas.microsoft.com/office/drawing/2014/main" val="10003"/>
                  </a:ext>
                </a:extLst>
              </a:tr>
              <a:tr h="655320">
                <a:tc>
                  <a:txBody>
                    <a:bodyPr/>
                    <a:lstStyle/>
                    <a:p>
                      <a:r>
                        <a:rPr sz="1575" b="1">
                          <a:solidFill>
                            <a:srgbClr val="162A4A"/>
                          </a:solidFill>
                          <a:latin typeface="Microsoft YaHei"/>
                          <a:ea typeface="Microsoft YaHei"/>
                          <a:cs typeface="Microsoft YaHei"/>
                        </a:rPr>
                        <a:t>BiWM</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2.1 1.3B / 2.2 5B</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Bidirectional chunk recipe</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tc>
                  <a:txBody>
                    <a:bodyPr/>
                    <a:lstStyle/>
                    <a:p>
                      <a:r>
                        <a:rPr sz="1575" b="0">
                          <a:solidFill>
                            <a:srgbClr val="162A4A"/>
                          </a:solidFill>
                          <a:latin typeface="Microsoft YaHei"/>
                          <a:ea typeface="Microsoft YaHei"/>
                          <a:cs typeface="Microsoft YaHei"/>
                        </a:rPr>
                        <a:t>Transfer + rollout drift</a:t>
                      </a:r>
                    </a:p>
                  </a:txBody>
                  <a:tcPr marL="133350" marR="133350" marT="114300" marB="85725">
                    <a:lnL w="6350">
                      <a:solidFill>
                        <a:srgbClr val="D9E1ED"/>
                      </a:solidFill>
                      <a:prstDash val="solid"/>
                    </a:lnL>
                    <a:lnR w="6350">
                      <a:solidFill>
                        <a:srgbClr val="D9E1ED"/>
                      </a:solidFill>
                      <a:prstDash val="solid"/>
                    </a:lnR>
                    <a:lnT w="6350">
                      <a:solidFill>
                        <a:srgbClr val="D9E1ED"/>
                      </a:solidFill>
                      <a:prstDash val="solid"/>
                    </a:lnT>
                    <a:lnB w="6350">
                      <a:solidFill>
                        <a:srgbClr val="D9E1ED"/>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8354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C7B6CF7E-7574-4C94-81E2-D547A0A02EBC}"/>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05  /  READING AND RESEARCH TAKEAWAYS</a:t>
            </a:r>
          </a:p>
        </p:txBody>
      </p:sp>
      <p:pic>
        <p:nvPicPr>
          <p:cNvPr id="27" name="图片 26"/>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99CD5A32-E5D5-4156-A7AB-5A00BF8E3F2B}"/>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Read in this order to build understanding quickly</a:t>
            </a:r>
          </a:p>
        </p:txBody>
      </p:sp>
      <p:sp>
        <p:nvSpPr>
          <p:cNvPr id="4" name="矩形 3">
            <a:extLst>
              <a:ext uri="{FF2B5EF4-FFF2-40B4-BE49-F238E27FC236}">
                <a16:creationId xmlns:a16="http://schemas.microsoft.com/office/drawing/2014/main" id="{5E3EDBEC-4AA8-4912-A483-2E90618F138A}"/>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80E7490E-8744-473A-BC25-98B09D2ABCF8}"/>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A4A73390-BD8A-42CD-A03C-8EE20EE2C317}"/>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Focus on the interfaces before reading every training or infrastructure detail.</a:t>
            </a:r>
          </a:p>
        </p:txBody>
      </p:sp>
      <p:sp>
        <p:nvSpPr>
          <p:cNvPr id="7" name="矩形 6">
            <a:extLst>
              <a:ext uri="{FF2B5EF4-FFF2-40B4-BE49-F238E27FC236}">
                <a16:creationId xmlns:a16="http://schemas.microsoft.com/office/drawing/2014/main" id="{7B59E599-8477-4F5D-841A-D28A064B8A4D}"/>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6DFF55B8-7F71-4D89-BD50-E9639707EEF6}"/>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A useful first implementation trace is: encode → condition → denoise → decode → roll out.</a:t>
            </a:r>
          </a:p>
        </p:txBody>
      </p:sp>
      <p:sp>
        <p:nvSpPr>
          <p:cNvPr id="9" name="矩形 8">
            <a:extLst>
              <a:ext uri="{FF2B5EF4-FFF2-40B4-BE49-F238E27FC236}">
                <a16:creationId xmlns:a16="http://schemas.microsoft.com/office/drawing/2014/main" id="{B4A4F75A-87CD-4191-A212-D159C3C3FB85}"/>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Wan2.2 official release; Wang et al., Matrix-Game 3.0, 2026; Wang et al., EVA, 2026; Rui et al., BiWM, 2026</a:t>
            </a:r>
          </a:p>
        </p:txBody>
      </p:sp>
      <p:sp>
        <p:nvSpPr>
          <p:cNvPr id="10" name="矩形 9">
            <a:extLst>
              <a:ext uri="{FF2B5EF4-FFF2-40B4-BE49-F238E27FC236}">
                <a16:creationId xmlns:a16="http://schemas.microsoft.com/office/drawing/2014/main" id="{6B6A727F-E94C-4247-96D0-65646E2C0F89}"/>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34 / 38</a:t>
            </a:r>
          </a:p>
        </p:txBody>
      </p:sp>
      <p:sp>
        <p:nvSpPr>
          <p:cNvPr id="11" name="矩形 10">
            <a:extLst>
              <a:ext uri="{FF2B5EF4-FFF2-40B4-BE49-F238E27FC236}">
                <a16:creationId xmlns:a16="http://schemas.microsoft.com/office/drawing/2014/main" id="{9EDC40A7-2F05-48D7-81F2-FD750B5FB871}"/>
              </a:ext>
            </a:extLst>
          </p:cNvPr>
          <p:cNvSpPr>
            <a:spLocks noGrp="1"/>
          </p:cNvSpPr>
          <p:nvPr/>
        </p:nvSpPr>
        <p:spPr>
          <a:xfrm>
            <a:off x="609600" y="22955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01</a:t>
            </a:r>
          </a:p>
        </p:txBody>
      </p:sp>
      <p:sp>
        <p:nvSpPr>
          <p:cNvPr id="12" name="矩形 11">
            <a:extLst>
              <a:ext uri="{FF2B5EF4-FFF2-40B4-BE49-F238E27FC236}">
                <a16:creationId xmlns:a16="http://schemas.microsoft.com/office/drawing/2014/main" id="{D9EEB2E7-E0F6-4556-AB6E-0C8CBCA979A4}"/>
              </a:ext>
            </a:extLst>
          </p:cNvPr>
          <p:cNvSpPr>
            <a:spLocks noGrp="1"/>
          </p:cNvSpPr>
          <p:nvPr/>
        </p:nvSpPr>
        <p:spPr>
          <a:xfrm>
            <a:off x="1323975" y="23145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Core mechanism</a:t>
            </a:r>
          </a:p>
        </p:txBody>
      </p:sp>
      <p:sp>
        <p:nvSpPr>
          <p:cNvPr id="13" name="矩形 12">
            <a:extLst>
              <a:ext uri="{FF2B5EF4-FFF2-40B4-BE49-F238E27FC236}">
                <a16:creationId xmlns:a16="http://schemas.microsoft.com/office/drawing/2014/main" id="{809174C0-7A32-4587-9E50-45701C1A2B63}"/>
              </a:ext>
            </a:extLst>
          </p:cNvPr>
          <p:cNvSpPr>
            <a:spLocks noGrp="1"/>
          </p:cNvSpPr>
          <p:nvPr/>
        </p:nvSpPr>
        <p:spPr>
          <a:xfrm>
            <a:off x="4095750" y="23145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Wan report: Figures 5, 9, 10 and 18; Sections 4.1–4.2 and 5.1.</a:t>
            </a:r>
          </a:p>
        </p:txBody>
      </p:sp>
      <p:sp>
        <p:nvSpPr>
          <p:cNvPr id="14" name="矩形 13">
            <a:extLst>
              <a:ext uri="{FF2B5EF4-FFF2-40B4-BE49-F238E27FC236}">
                <a16:creationId xmlns:a16="http://schemas.microsoft.com/office/drawing/2014/main" id="{EF7C2CD4-A70F-413F-B4A4-7E8EE3749DCB}"/>
              </a:ext>
            </a:extLst>
          </p:cNvPr>
          <p:cNvSpPr>
            <a:spLocks noGrp="1"/>
          </p:cNvSpPr>
          <p:nvPr/>
        </p:nvSpPr>
        <p:spPr>
          <a:xfrm>
            <a:off x="1323975" y="3009900"/>
            <a:ext cx="10258425" cy="9525"/>
          </a:xfrm>
          <a:prstGeom prst="rect">
            <a:avLst/>
          </a:prstGeom>
          <a:solidFill>
            <a:srgbClr val="D9E1ED"/>
          </a:solidFill>
          <a:ln w="0">
            <a:noFill/>
          </a:ln>
        </p:spPr>
      </p:sp>
      <p:sp>
        <p:nvSpPr>
          <p:cNvPr id="15" name="矩形 14">
            <a:extLst>
              <a:ext uri="{FF2B5EF4-FFF2-40B4-BE49-F238E27FC236}">
                <a16:creationId xmlns:a16="http://schemas.microsoft.com/office/drawing/2014/main" id="{FF75CDC5-8959-4DC3-9125-22B9FEA3DC3E}"/>
              </a:ext>
            </a:extLst>
          </p:cNvPr>
          <p:cNvSpPr>
            <a:spLocks noGrp="1"/>
          </p:cNvSpPr>
          <p:nvPr/>
        </p:nvSpPr>
        <p:spPr>
          <a:xfrm>
            <a:off x="609600" y="31527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02</a:t>
            </a:r>
          </a:p>
        </p:txBody>
      </p:sp>
      <p:sp>
        <p:nvSpPr>
          <p:cNvPr id="16" name="矩形 15">
            <a:extLst>
              <a:ext uri="{FF2B5EF4-FFF2-40B4-BE49-F238E27FC236}">
                <a16:creationId xmlns:a16="http://schemas.microsoft.com/office/drawing/2014/main" id="{E95F3D08-54B1-4055-9247-DF302FC29361}"/>
              </a:ext>
            </a:extLst>
          </p:cNvPr>
          <p:cNvSpPr>
            <a:spLocks noGrp="1"/>
          </p:cNvSpPr>
          <p:nvPr/>
        </p:nvSpPr>
        <p:spPr>
          <a:xfrm>
            <a:off x="1323975" y="31718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Evidence</a:t>
            </a:r>
          </a:p>
        </p:txBody>
      </p:sp>
      <p:sp>
        <p:nvSpPr>
          <p:cNvPr id="17" name="矩形 16">
            <a:extLst>
              <a:ext uri="{FF2B5EF4-FFF2-40B4-BE49-F238E27FC236}">
                <a16:creationId xmlns:a16="http://schemas.microsoft.com/office/drawing/2014/main" id="{2C23C91D-B612-4C12-8784-A9D6D657773A}"/>
              </a:ext>
            </a:extLst>
          </p:cNvPr>
          <p:cNvSpPr>
            <a:spLocks noGrp="1"/>
          </p:cNvSpPr>
          <p:nvPr/>
        </p:nvSpPr>
        <p:spPr>
          <a:xfrm>
            <a:off x="4095750" y="31718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Wan report: Figures 16–17 and Tables 2–4; separate claims from protocols.</a:t>
            </a:r>
          </a:p>
        </p:txBody>
      </p:sp>
      <p:sp>
        <p:nvSpPr>
          <p:cNvPr id="18" name="矩形 17">
            <a:extLst>
              <a:ext uri="{FF2B5EF4-FFF2-40B4-BE49-F238E27FC236}">
                <a16:creationId xmlns:a16="http://schemas.microsoft.com/office/drawing/2014/main" id="{A2E07FFD-2BC8-4CDC-BC23-E3B178E7AC16}"/>
              </a:ext>
            </a:extLst>
          </p:cNvPr>
          <p:cNvSpPr>
            <a:spLocks noGrp="1"/>
          </p:cNvSpPr>
          <p:nvPr/>
        </p:nvSpPr>
        <p:spPr>
          <a:xfrm>
            <a:off x="1323975" y="3867150"/>
            <a:ext cx="10258425" cy="9525"/>
          </a:xfrm>
          <a:prstGeom prst="rect">
            <a:avLst/>
          </a:prstGeom>
          <a:solidFill>
            <a:srgbClr val="D9E1ED"/>
          </a:solidFill>
          <a:ln w="0">
            <a:noFill/>
          </a:ln>
        </p:spPr>
      </p:sp>
      <p:sp>
        <p:nvSpPr>
          <p:cNvPr id="19" name="矩形 18">
            <a:extLst>
              <a:ext uri="{FF2B5EF4-FFF2-40B4-BE49-F238E27FC236}">
                <a16:creationId xmlns:a16="http://schemas.microsoft.com/office/drawing/2014/main" id="{D51250D6-E9E5-4D00-99BB-0277EFDEDC31}"/>
              </a:ext>
            </a:extLst>
          </p:cNvPr>
          <p:cNvSpPr>
            <a:spLocks noGrp="1"/>
          </p:cNvSpPr>
          <p:nvPr/>
        </p:nvSpPr>
        <p:spPr>
          <a:xfrm>
            <a:off x="609600" y="401002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03</a:t>
            </a:r>
          </a:p>
        </p:txBody>
      </p:sp>
      <p:sp>
        <p:nvSpPr>
          <p:cNvPr id="20" name="矩形 19">
            <a:extLst>
              <a:ext uri="{FF2B5EF4-FFF2-40B4-BE49-F238E27FC236}">
                <a16:creationId xmlns:a16="http://schemas.microsoft.com/office/drawing/2014/main" id="{E5567AAC-7B7D-433A-AC7C-3C9C5AF4C724}"/>
              </a:ext>
            </a:extLst>
          </p:cNvPr>
          <p:cNvSpPr>
            <a:spLocks noGrp="1"/>
          </p:cNvSpPr>
          <p:nvPr/>
        </p:nvSpPr>
        <p:spPr>
          <a:xfrm>
            <a:off x="1323975" y="402907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Wan2.2 changes</a:t>
            </a:r>
          </a:p>
        </p:txBody>
      </p:sp>
      <p:sp>
        <p:nvSpPr>
          <p:cNvPr id="21" name="矩形 20">
            <a:extLst>
              <a:ext uri="{FF2B5EF4-FFF2-40B4-BE49-F238E27FC236}">
                <a16:creationId xmlns:a16="http://schemas.microsoft.com/office/drawing/2014/main" id="{A75B51F9-0789-4707-B2C6-C637214D7DB9}"/>
              </a:ext>
            </a:extLst>
          </p:cNvPr>
          <p:cNvSpPr>
            <a:spLocks noGrp="1"/>
          </p:cNvSpPr>
          <p:nvPr/>
        </p:nvSpPr>
        <p:spPr>
          <a:xfrm>
            <a:off x="4095750" y="402907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Official MoE/VAE explanation, model configs and expert-selection code.</a:t>
            </a:r>
          </a:p>
        </p:txBody>
      </p:sp>
      <p:sp>
        <p:nvSpPr>
          <p:cNvPr id="22" name="矩形 21">
            <a:extLst>
              <a:ext uri="{FF2B5EF4-FFF2-40B4-BE49-F238E27FC236}">
                <a16:creationId xmlns:a16="http://schemas.microsoft.com/office/drawing/2014/main" id="{07CA7A87-0803-4D4A-8B0D-B64AF41F1781}"/>
              </a:ext>
            </a:extLst>
          </p:cNvPr>
          <p:cNvSpPr>
            <a:spLocks noGrp="1"/>
          </p:cNvSpPr>
          <p:nvPr/>
        </p:nvSpPr>
        <p:spPr>
          <a:xfrm>
            <a:off x="1323975" y="4724400"/>
            <a:ext cx="10258425" cy="9525"/>
          </a:xfrm>
          <a:prstGeom prst="rect">
            <a:avLst/>
          </a:prstGeom>
          <a:solidFill>
            <a:srgbClr val="D9E1ED"/>
          </a:solidFill>
          <a:ln w="0">
            <a:noFill/>
          </a:ln>
        </p:spPr>
      </p:sp>
      <p:sp>
        <p:nvSpPr>
          <p:cNvPr id="23" name="矩形 22">
            <a:extLst>
              <a:ext uri="{FF2B5EF4-FFF2-40B4-BE49-F238E27FC236}">
                <a16:creationId xmlns:a16="http://schemas.microsoft.com/office/drawing/2014/main" id="{84E50E40-F001-412F-8E62-60A6430D3F1E}"/>
              </a:ext>
            </a:extLst>
          </p:cNvPr>
          <p:cNvSpPr>
            <a:spLocks noGrp="1"/>
          </p:cNvSpPr>
          <p:nvPr/>
        </p:nvSpPr>
        <p:spPr>
          <a:xfrm>
            <a:off x="609600" y="4867275"/>
            <a:ext cx="542925" cy="447675"/>
          </a:xfrm>
          <a:prstGeom prst="rect">
            <a:avLst/>
          </a:prstGeom>
          <a:noFill/>
          <a:ln w="0">
            <a:noFill/>
          </a:ln>
        </p:spPr>
        <p:txBody>
          <a:bodyPr wrap="square" lIns="0" tIns="0" rIns="0" bIns="0">
            <a:noAutofit/>
          </a:bodyPr>
          <a:lstStyle/>
          <a:p>
            <a:pPr algn="l">
              <a:defRPr sz="2325" b="1">
                <a:solidFill>
                  <a:srgbClr val="6A57B8"/>
                </a:solidFill>
                <a:latin typeface="Microsoft YaHei"/>
                <a:ea typeface="Microsoft YaHei"/>
                <a:cs typeface="Microsoft YaHei"/>
              </a:defRPr>
            </a:pPr>
            <a:r>
              <a:rPr sz="2325" b="1">
                <a:solidFill>
                  <a:srgbClr val="6A57B8"/>
                </a:solidFill>
                <a:latin typeface="Microsoft YaHei"/>
                <a:ea typeface="Microsoft YaHei"/>
                <a:cs typeface="Microsoft YaHei"/>
              </a:rPr>
              <a:t>04</a:t>
            </a:r>
          </a:p>
        </p:txBody>
      </p:sp>
      <p:sp>
        <p:nvSpPr>
          <p:cNvPr id="24" name="矩形 23">
            <a:extLst>
              <a:ext uri="{FF2B5EF4-FFF2-40B4-BE49-F238E27FC236}">
                <a16:creationId xmlns:a16="http://schemas.microsoft.com/office/drawing/2014/main" id="{45362F2B-0042-4360-91BE-2582D2DC53B4}"/>
              </a:ext>
            </a:extLst>
          </p:cNvPr>
          <p:cNvSpPr>
            <a:spLocks noGrp="1"/>
          </p:cNvSpPr>
          <p:nvPr/>
        </p:nvSpPr>
        <p:spPr>
          <a:xfrm>
            <a:off x="1323975" y="4886325"/>
            <a:ext cx="2438400" cy="619125"/>
          </a:xfrm>
          <a:prstGeom prst="rect">
            <a:avLst/>
          </a:prstGeom>
          <a:noFill/>
          <a:ln w="0">
            <a:noFill/>
          </a:ln>
        </p:spPr>
        <p:txBody>
          <a:bodyPr wrap="square" lIns="0" tIns="0" rIns="0" bIns="0">
            <a:noAutofit/>
          </a:bodyPr>
          <a:lstStyle/>
          <a:p>
            <a:pPr algn="l">
              <a:defRPr sz="1800" b="1">
                <a:solidFill>
                  <a:srgbClr val="162A4A"/>
                </a:solidFill>
                <a:latin typeface="Microsoft YaHei"/>
                <a:ea typeface="Microsoft YaHei"/>
                <a:cs typeface="Microsoft YaHei"/>
              </a:defRPr>
            </a:pPr>
            <a:r>
              <a:rPr sz="1800" b="1">
                <a:solidFill>
                  <a:srgbClr val="162A4A"/>
                </a:solidFill>
                <a:latin typeface="Microsoft YaHei"/>
                <a:ea typeface="Microsoft YaHei"/>
                <a:cs typeface="Microsoft YaHei"/>
              </a:rPr>
              <a:t>One adaptation</a:t>
            </a:r>
          </a:p>
        </p:txBody>
      </p:sp>
      <p:sp>
        <p:nvSpPr>
          <p:cNvPr id="25" name="矩形 24">
            <a:extLst>
              <a:ext uri="{FF2B5EF4-FFF2-40B4-BE49-F238E27FC236}">
                <a16:creationId xmlns:a16="http://schemas.microsoft.com/office/drawing/2014/main" id="{35CD5812-745F-4490-AAAD-B9C679D1046B}"/>
              </a:ext>
            </a:extLst>
          </p:cNvPr>
          <p:cNvSpPr>
            <a:spLocks noGrp="1"/>
          </p:cNvSpPr>
          <p:nvPr/>
        </p:nvSpPr>
        <p:spPr>
          <a:xfrm>
            <a:off x="4095750" y="4886325"/>
            <a:ext cx="7486650" cy="752475"/>
          </a:xfrm>
          <a:prstGeom prst="rect">
            <a:avLst/>
          </a:prstGeom>
          <a:noFill/>
          <a:ln w="0">
            <a:noFill/>
          </a:ln>
        </p:spPr>
        <p:txBody>
          <a:bodyPr wrap="square" lIns="0" tIns="0" rIns="0" bIns="0">
            <a:noAutofit/>
          </a:bodyPr>
          <a:lstStyle/>
          <a:p>
            <a:pPr algn="l">
              <a:defRPr sz="1650" b="0">
                <a:solidFill>
                  <a:srgbClr val="162A4A"/>
                </a:solidFill>
                <a:latin typeface="Microsoft YaHei"/>
                <a:ea typeface="Microsoft YaHei"/>
                <a:cs typeface="Microsoft YaHei"/>
              </a:defRPr>
            </a:pPr>
            <a:r>
              <a:rPr sz="1650" b="0">
                <a:solidFill>
                  <a:srgbClr val="162A4A"/>
                </a:solidFill>
                <a:latin typeface="Microsoft YaHei"/>
                <a:ea typeface="Microsoft YaHei"/>
                <a:cs typeface="Microsoft YaHei"/>
              </a:rPr>
              <a:t>Matrix-Game 3.0 for memory; EVA for robot planning; BiWM for a reusable recipe.</a:t>
            </a:r>
          </a:p>
        </p:txBody>
      </p:sp>
    </p:spTree>
    <p:extLst>
      <p:ext uri="{BB962C8B-B14F-4D97-AF65-F5344CB8AC3E}">
        <p14:creationId xmlns:p14="http://schemas.microsoft.com/office/powerpoint/2010/main" val="2090304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96EF8572-3EDD-4834-9DAD-1E461AF422F6}"/>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05  /  LIMITATIONS AND DISCUSSION</a:t>
            </a:r>
          </a:p>
        </p:txBody>
      </p:sp>
      <p:pic>
        <p:nvPicPr>
          <p:cNvPr id="24" name="图片 23"/>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50573AF9-1135-4B06-B095-FA38B13A5034}"/>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What Wan provides—and what a new project must prove</a:t>
            </a:r>
          </a:p>
        </p:txBody>
      </p:sp>
      <p:sp>
        <p:nvSpPr>
          <p:cNvPr id="4" name="矩形 3">
            <a:extLst>
              <a:ext uri="{FF2B5EF4-FFF2-40B4-BE49-F238E27FC236}">
                <a16:creationId xmlns:a16="http://schemas.microsoft.com/office/drawing/2014/main" id="{0DEEB79D-8250-4B3C-9DB7-AAFAD98A7084}"/>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3673198E-3A70-4BDC-9CB0-662CD905BBDD}"/>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E31CCE86-6433-4041-8005-9CEECE249325}"/>
              </a:ext>
            </a:extLst>
          </p:cNvPr>
          <p:cNvSpPr>
            <a:spLocks noGrp="1"/>
          </p:cNvSpPr>
          <p:nvPr/>
        </p:nvSpPr>
        <p:spPr>
          <a:xfrm>
            <a:off x="609600" y="1647825"/>
            <a:ext cx="10972800" cy="514350"/>
          </a:xfrm>
          <a:prstGeom prst="rect">
            <a:avLst/>
          </a:prstGeom>
          <a:noFill/>
          <a:ln w="0">
            <a:noFill/>
          </a:ln>
        </p:spPr>
        <p:txBody>
          <a:bodyPr wrap="square" lIns="0" tIns="0" rIns="0" bIns="0">
            <a:noAutofit/>
          </a:bodyPr>
          <a:lstStyle/>
          <a:p>
            <a:pPr algn="l">
              <a:defRPr sz="1650" b="0">
                <a:solidFill>
                  <a:srgbClr val="536174"/>
                </a:solidFill>
                <a:latin typeface="Microsoft YaHei"/>
                <a:ea typeface="Microsoft YaHei"/>
                <a:cs typeface="Microsoft YaHei"/>
              </a:defRPr>
            </a:pPr>
            <a:r>
              <a:rPr sz="1650" b="0">
                <a:solidFill>
                  <a:srgbClr val="536174"/>
                </a:solidFill>
                <a:latin typeface="Microsoft YaHei"/>
                <a:ea typeface="Microsoft YaHei"/>
                <a:cs typeface="Microsoft YaHei"/>
              </a:rPr>
              <a:t>Use the pretrained prior to reduce learning cost, then test the missing capability directly.</a:t>
            </a:r>
          </a:p>
        </p:txBody>
      </p:sp>
      <p:sp>
        <p:nvSpPr>
          <p:cNvPr id="7" name="矩形 6">
            <a:extLst>
              <a:ext uri="{FF2B5EF4-FFF2-40B4-BE49-F238E27FC236}">
                <a16:creationId xmlns:a16="http://schemas.microsoft.com/office/drawing/2014/main" id="{D4515F41-38E2-4399-BBA7-A02E6B80D444}"/>
              </a:ext>
            </a:extLst>
          </p:cNvPr>
          <p:cNvSpPr>
            <a:spLocks noGrp="1"/>
          </p:cNvSpPr>
          <p:nvPr/>
        </p:nvSpPr>
        <p:spPr>
          <a:xfrm>
            <a:off x="609600" y="5905500"/>
            <a:ext cx="10972800" cy="9525"/>
          </a:xfrm>
          <a:prstGeom prst="rect">
            <a:avLst/>
          </a:prstGeom>
          <a:solidFill>
            <a:srgbClr val="D9E1ED"/>
          </a:solidFill>
          <a:ln w="0">
            <a:noFill/>
          </a:ln>
        </p:spPr>
      </p:sp>
      <p:sp>
        <p:nvSpPr>
          <p:cNvPr id="8" name="矩形 7">
            <a:extLst>
              <a:ext uri="{FF2B5EF4-FFF2-40B4-BE49-F238E27FC236}">
                <a16:creationId xmlns:a16="http://schemas.microsoft.com/office/drawing/2014/main" id="{A09D46B7-37BB-4956-8E42-183F37353B2B}"/>
              </a:ext>
            </a:extLst>
          </p:cNvPr>
          <p:cNvSpPr>
            <a:spLocks noGrp="1"/>
          </p:cNvSpPr>
          <p:nvPr/>
        </p:nvSpPr>
        <p:spPr>
          <a:xfrm>
            <a:off x="609600" y="6067425"/>
            <a:ext cx="10972800" cy="342900"/>
          </a:xfrm>
          <a:prstGeom prst="rect">
            <a:avLst/>
          </a:prstGeom>
          <a:noFill/>
          <a:ln w="0">
            <a:noFill/>
          </a:ln>
        </p:spPr>
        <p:txBody>
          <a:bodyPr wrap="square" lIns="0" tIns="0" rIns="0" bIns="0">
            <a:noAutofit/>
          </a:bodyPr>
          <a:lstStyle/>
          <a:p>
            <a:pPr algn="l">
              <a:defRPr sz="1500" b="1">
                <a:solidFill>
                  <a:srgbClr val="08559C"/>
                </a:solidFill>
                <a:latin typeface="Microsoft YaHei"/>
                <a:ea typeface="Microsoft YaHei"/>
                <a:cs typeface="Microsoft YaHei"/>
              </a:defRPr>
            </a:pPr>
            <a:r>
              <a:rPr sz="1500" b="1">
                <a:solidFill>
                  <a:srgbClr val="08559C"/>
                </a:solidFill>
                <a:latin typeface="Microsoft YaHei"/>
                <a:ea typeface="Microsoft YaHei"/>
                <a:cs typeface="Microsoft YaHei"/>
              </a:rPr>
              <a:t>Choose one missing capability and design its metric before changing the backbone.</a:t>
            </a:r>
          </a:p>
        </p:txBody>
      </p:sp>
      <p:sp>
        <p:nvSpPr>
          <p:cNvPr id="9" name="矩形 8">
            <a:extLst>
              <a:ext uri="{FF2B5EF4-FFF2-40B4-BE49-F238E27FC236}">
                <a16:creationId xmlns:a16="http://schemas.microsoft.com/office/drawing/2014/main" id="{C54F49EE-0441-424C-8253-EB716DC911F1}"/>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pPr algn="l">
              <a:defRPr sz="788" b="0">
                <a:solidFill>
                  <a:srgbClr val="536174"/>
                </a:solidFill>
                <a:latin typeface="Microsoft YaHei"/>
                <a:ea typeface="Microsoft YaHei"/>
                <a:cs typeface="Microsoft YaHei"/>
              </a:defRPr>
            </a:pPr>
            <a:r>
              <a:rPr sz="788" b="0">
                <a:solidFill>
                  <a:srgbClr val="536174"/>
                </a:solidFill>
                <a:latin typeface="Microsoft YaHei"/>
                <a:ea typeface="Microsoft YaHei"/>
                <a:cs typeface="Microsoft YaHei"/>
              </a:rPr>
              <a:t>Wan Team, 2025; Wan2.2 official release; Wang et al., Matrix-Game 3.0, 2026; Mao et al., Yume1.5, 2025; Wang et al., EVA, 2026; Rui et al., BiWM, 2026</a:t>
            </a:r>
          </a:p>
        </p:txBody>
      </p:sp>
      <p:sp>
        <p:nvSpPr>
          <p:cNvPr id="10" name="矩形 9">
            <a:extLst>
              <a:ext uri="{FF2B5EF4-FFF2-40B4-BE49-F238E27FC236}">
                <a16:creationId xmlns:a16="http://schemas.microsoft.com/office/drawing/2014/main" id="{72805925-8542-42AC-9895-E60169209054}"/>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35 / 38</a:t>
            </a:r>
          </a:p>
        </p:txBody>
      </p:sp>
      <p:sp>
        <p:nvSpPr>
          <p:cNvPr id="11" name="矩形 10">
            <a:extLst>
              <a:ext uri="{FF2B5EF4-FFF2-40B4-BE49-F238E27FC236}">
                <a16:creationId xmlns:a16="http://schemas.microsoft.com/office/drawing/2014/main" id="{DFABE096-0F12-41FE-8DCD-AD6CE83EFE80}"/>
              </a:ext>
            </a:extLst>
          </p:cNvPr>
          <p:cNvSpPr>
            <a:spLocks noGrp="1"/>
          </p:cNvSpPr>
          <p:nvPr/>
        </p:nvSpPr>
        <p:spPr>
          <a:xfrm>
            <a:off x="609600" y="2314575"/>
            <a:ext cx="5105400" cy="409575"/>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Established foundation</a:t>
            </a:r>
          </a:p>
        </p:txBody>
      </p:sp>
      <p:sp>
        <p:nvSpPr>
          <p:cNvPr id="12" name="矩形 11">
            <a:extLst>
              <a:ext uri="{FF2B5EF4-FFF2-40B4-BE49-F238E27FC236}">
                <a16:creationId xmlns:a16="http://schemas.microsoft.com/office/drawing/2014/main" id="{DAC9A0D2-476A-4688-B2AE-530C0DF26DC5}"/>
              </a:ext>
            </a:extLst>
          </p:cNvPr>
          <p:cNvSpPr>
            <a:spLocks noGrp="1"/>
          </p:cNvSpPr>
          <p:nvPr/>
        </p:nvSpPr>
        <p:spPr>
          <a:xfrm>
            <a:off x="609600" y="2819400"/>
            <a:ext cx="5105400" cy="9525"/>
          </a:xfrm>
          <a:prstGeom prst="rect">
            <a:avLst/>
          </a:prstGeom>
          <a:solidFill>
            <a:srgbClr val="D9E1ED"/>
          </a:solidFill>
          <a:ln w="0">
            <a:noFill/>
          </a:ln>
        </p:spPr>
      </p:sp>
      <p:sp>
        <p:nvSpPr>
          <p:cNvPr id="13" name="矩形 12">
            <a:extLst>
              <a:ext uri="{FF2B5EF4-FFF2-40B4-BE49-F238E27FC236}">
                <a16:creationId xmlns:a16="http://schemas.microsoft.com/office/drawing/2014/main" id="{878AC5E9-FD05-4C1B-A362-61F69EBC9F62}"/>
              </a:ext>
            </a:extLst>
          </p:cNvPr>
          <p:cNvSpPr>
            <a:spLocks noGrp="1"/>
          </p:cNvSpPr>
          <p:nvPr/>
        </p:nvSpPr>
        <p:spPr>
          <a:xfrm>
            <a:off x="609600" y="302895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Reusable components</a:t>
            </a:r>
          </a:p>
        </p:txBody>
      </p:sp>
      <p:sp>
        <p:nvSpPr>
          <p:cNvPr id="14" name="矩形 13">
            <a:extLst>
              <a:ext uri="{FF2B5EF4-FFF2-40B4-BE49-F238E27FC236}">
                <a16:creationId xmlns:a16="http://schemas.microsoft.com/office/drawing/2014/main" id="{E4CB5193-83E7-4389-98BE-327027FD361C}"/>
              </a:ext>
            </a:extLst>
          </p:cNvPr>
          <p:cNvSpPr>
            <a:spLocks noGrp="1"/>
          </p:cNvSpPr>
          <p:nvPr/>
        </p:nvSpPr>
        <p:spPr>
          <a:xfrm>
            <a:off x="609600" y="346710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Open checkpoints, video VAE, text conditioning and a trainable DiT.</a:t>
            </a:r>
          </a:p>
        </p:txBody>
      </p:sp>
      <p:sp>
        <p:nvSpPr>
          <p:cNvPr id="15" name="矩形 14">
            <a:extLst>
              <a:ext uri="{FF2B5EF4-FFF2-40B4-BE49-F238E27FC236}">
                <a16:creationId xmlns:a16="http://schemas.microsoft.com/office/drawing/2014/main" id="{F85C792D-BD1F-42C4-BAFD-62691A03A883}"/>
              </a:ext>
            </a:extLst>
          </p:cNvPr>
          <p:cNvSpPr>
            <a:spLocks noGrp="1"/>
          </p:cNvSpPr>
          <p:nvPr/>
        </p:nvSpPr>
        <p:spPr>
          <a:xfrm>
            <a:off x="609600" y="438150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Measured generation</a:t>
            </a:r>
          </a:p>
        </p:txBody>
      </p:sp>
      <p:sp>
        <p:nvSpPr>
          <p:cNvPr id="16" name="矩形 15">
            <a:extLst>
              <a:ext uri="{FF2B5EF4-FFF2-40B4-BE49-F238E27FC236}">
                <a16:creationId xmlns:a16="http://schemas.microsoft.com/office/drawing/2014/main" id="{40B82300-7004-4520-8F34-EE2B747167B1}"/>
              </a:ext>
            </a:extLst>
          </p:cNvPr>
          <p:cNvSpPr>
            <a:spLocks noGrp="1"/>
          </p:cNvSpPr>
          <p:nvPr/>
        </p:nvSpPr>
        <p:spPr>
          <a:xfrm>
            <a:off x="609600" y="481965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Reconstruction, visual quality and semantic-alignment evidence.</a:t>
            </a:r>
          </a:p>
        </p:txBody>
      </p:sp>
      <p:sp>
        <p:nvSpPr>
          <p:cNvPr id="17" name="矩形 16">
            <a:extLst>
              <a:ext uri="{FF2B5EF4-FFF2-40B4-BE49-F238E27FC236}">
                <a16:creationId xmlns:a16="http://schemas.microsoft.com/office/drawing/2014/main" id="{679CC0A8-C412-4773-8029-9A71916BAA85}"/>
              </a:ext>
            </a:extLst>
          </p:cNvPr>
          <p:cNvSpPr>
            <a:spLocks noGrp="1"/>
          </p:cNvSpPr>
          <p:nvPr/>
        </p:nvSpPr>
        <p:spPr>
          <a:xfrm>
            <a:off x="6477000" y="2314575"/>
            <a:ext cx="5105400" cy="409575"/>
          </a:xfrm>
          <a:prstGeom prst="rect">
            <a:avLst/>
          </a:prstGeom>
          <a:noFill/>
          <a:ln w="0">
            <a:noFill/>
          </a:ln>
        </p:spPr>
        <p:txBody>
          <a:bodyPr wrap="square" lIns="0" tIns="0" rIns="0" bIns="0">
            <a:noAutofit/>
          </a:bodyPr>
          <a:lstStyle/>
          <a:p>
            <a:pPr algn="l">
              <a:defRPr sz="2100" b="1">
                <a:solidFill>
                  <a:srgbClr val="162A4A"/>
                </a:solidFill>
                <a:latin typeface="Microsoft YaHei"/>
                <a:ea typeface="Microsoft YaHei"/>
                <a:cs typeface="Microsoft YaHei"/>
              </a:defRPr>
            </a:pPr>
            <a:r>
              <a:rPr sz="2100" b="1">
                <a:solidFill>
                  <a:srgbClr val="162A4A"/>
                </a:solidFill>
                <a:latin typeface="Microsoft YaHei"/>
                <a:ea typeface="Microsoft YaHei"/>
                <a:cs typeface="Microsoft YaHei"/>
              </a:rPr>
              <a:t>Open research questions</a:t>
            </a:r>
          </a:p>
        </p:txBody>
      </p:sp>
      <p:sp>
        <p:nvSpPr>
          <p:cNvPr id="18" name="矩形 17">
            <a:extLst>
              <a:ext uri="{FF2B5EF4-FFF2-40B4-BE49-F238E27FC236}">
                <a16:creationId xmlns:a16="http://schemas.microsoft.com/office/drawing/2014/main" id="{6E1922FC-0644-430E-86E9-38E3A4BAF2D8}"/>
              </a:ext>
            </a:extLst>
          </p:cNvPr>
          <p:cNvSpPr>
            <a:spLocks noGrp="1"/>
          </p:cNvSpPr>
          <p:nvPr/>
        </p:nvSpPr>
        <p:spPr>
          <a:xfrm>
            <a:off x="6477000" y="2819400"/>
            <a:ext cx="5105400" cy="9525"/>
          </a:xfrm>
          <a:prstGeom prst="rect">
            <a:avLst/>
          </a:prstGeom>
          <a:solidFill>
            <a:srgbClr val="D9E1ED"/>
          </a:solidFill>
          <a:ln w="0">
            <a:noFill/>
          </a:ln>
        </p:spPr>
      </p:sp>
      <p:sp>
        <p:nvSpPr>
          <p:cNvPr id="19" name="矩形 18">
            <a:extLst>
              <a:ext uri="{FF2B5EF4-FFF2-40B4-BE49-F238E27FC236}">
                <a16:creationId xmlns:a16="http://schemas.microsoft.com/office/drawing/2014/main" id="{C4EB2536-E340-44B6-9683-7CF2ABEF3D54}"/>
              </a:ext>
            </a:extLst>
          </p:cNvPr>
          <p:cNvSpPr>
            <a:spLocks noGrp="1"/>
          </p:cNvSpPr>
          <p:nvPr/>
        </p:nvSpPr>
        <p:spPr>
          <a:xfrm>
            <a:off x="6477000" y="302895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World consistency</a:t>
            </a:r>
          </a:p>
        </p:txBody>
      </p:sp>
      <p:sp>
        <p:nvSpPr>
          <p:cNvPr id="20" name="矩形 19">
            <a:extLst>
              <a:ext uri="{FF2B5EF4-FFF2-40B4-BE49-F238E27FC236}">
                <a16:creationId xmlns:a16="http://schemas.microsoft.com/office/drawing/2014/main" id="{46FD8106-6327-42AA-9949-B1C39D6CFF19}"/>
              </a:ext>
            </a:extLst>
          </p:cNvPr>
          <p:cNvSpPr>
            <a:spLocks noGrp="1"/>
          </p:cNvSpPr>
          <p:nvPr/>
        </p:nvSpPr>
        <p:spPr>
          <a:xfrm>
            <a:off x="6477000" y="346710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Does a scene remain stable after long rollouts and revisits?</a:t>
            </a:r>
          </a:p>
        </p:txBody>
      </p:sp>
      <p:sp>
        <p:nvSpPr>
          <p:cNvPr id="21" name="矩形 20">
            <a:extLst>
              <a:ext uri="{FF2B5EF4-FFF2-40B4-BE49-F238E27FC236}">
                <a16:creationId xmlns:a16="http://schemas.microsoft.com/office/drawing/2014/main" id="{EDCF6295-116C-4233-BB4E-D85B899A9ADF}"/>
              </a:ext>
            </a:extLst>
          </p:cNvPr>
          <p:cNvSpPr>
            <a:spLocks noGrp="1"/>
          </p:cNvSpPr>
          <p:nvPr/>
        </p:nvSpPr>
        <p:spPr>
          <a:xfrm>
            <a:off x="6477000" y="4381500"/>
            <a:ext cx="5105400" cy="400050"/>
          </a:xfrm>
          <a:prstGeom prst="rect">
            <a:avLst/>
          </a:prstGeom>
          <a:noFill/>
          <a:ln w="0">
            <a:noFill/>
          </a:ln>
        </p:spPr>
        <p:txBody>
          <a:bodyPr wrap="square" lIns="0" tIns="0" rIns="0" bIns="0">
            <a:noAutofit/>
          </a:bodyPr>
          <a:lstStyle/>
          <a:p>
            <a:pPr algn="l">
              <a:defRPr sz="1725" b="1">
                <a:solidFill>
                  <a:srgbClr val="08559C"/>
                </a:solidFill>
                <a:latin typeface="Microsoft YaHei"/>
                <a:ea typeface="Microsoft YaHei"/>
                <a:cs typeface="Microsoft YaHei"/>
              </a:defRPr>
            </a:pPr>
            <a:r>
              <a:rPr sz="1725" b="1">
                <a:solidFill>
                  <a:srgbClr val="08559C"/>
                </a:solidFill>
                <a:latin typeface="Microsoft YaHei"/>
                <a:ea typeface="Microsoft YaHei"/>
                <a:cs typeface="Microsoft YaHei"/>
              </a:rPr>
              <a:t>Decision usefulness</a:t>
            </a:r>
          </a:p>
        </p:txBody>
      </p:sp>
      <p:sp>
        <p:nvSpPr>
          <p:cNvPr id="22" name="矩形 21">
            <a:extLst>
              <a:ext uri="{FF2B5EF4-FFF2-40B4-BE49-F238E27FC236}">
                <a16:creationId xmlns:a16="http://schemas.microsoft.com/office/drawing/2014/main" id="{626F147F-5287-4790-BE8A-275F85F9C2CA}"/>
              </a:ext>
            </a:extLst>
          </p:cNvPr>
          <p:cNvSpPr>
            <a:spLocks noGrp="1"/>
          </p:cNvSpPr>
          <p:nvPr/>
        </p:nvSpPr>
        <p:spPr>
          <a:xfrm>
            <a:off x="6477000" y="4819650"/>
            <a:ext cx="5105400" cy="933450"/>
          </a:xfrm>
          <a:prstGeom prst="rect">
            <a:avLst/>
          </a:prstGeom>
          <a:noFill/>
          <a:ln w="0">
            <a:noFill/>
          </a:ln>
        </p:spPr>
        <p:txBody>
          <a:bodyPr wrap="square" lIns="0" tIns="0" rIns="0" bIns="0">
            <a:noAutofit/>
          </a:bodyPr>
          <a:lstStyle/>
          <a:p>
            <a:pPr algn="l">
              <a:defRPr sz="1725" b="0">
                <a:solidFill>
                  <a:srgbClr val="162A4A"/>
                </a:solidFill>
                <a:latin typeface="Microsoft YaHei"/>
                <a:ea typeface="Microsoft YaHei"/>
                <a:cs typeface="Microsoft YaHei"/>
              </a:defRPr>
            </a:pPr>
            <a:r>
              <a:rPr sz="1725" b="0">
                <a:solidFill>
                  <a:srgbClr val="162A4A"/>
                </a:solidFill>
                <a:latin typeface="Microsoft YaHei"/>
                <a:ea typeface="Microsoft YaHei"/>
                <a:cs typeface="Microsoft YaHei"/>
              </a:rPr>
              <a:t>Do action-conditioned predictions or visual plans improve task outcomes?</a:t>
            </a:r>
          </a:p>
        </p:txBody>
      </p:sp>
    </p:spTree>
    <p:extLst>
      <p:ext uri="{BB962C8B-B14F-4D97-AF65-F5344CB8AC3E}">
        <p14:creationId xmlns:p14="http://schemas.microsoft.com/office/powerpoint/2010/main" val="545371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96354B32-1088-4E63-80BF-A9122CFD1AD9}"/>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REFERENCES  /  CORE MODELS</a:t>
            </a:r>
          </a:p>
        </p:txBody>
      </p:sp>
      <p:pic>
        <p:nvPicPr>
          <p:cNvPr id="29" name="图片 28"/>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03D1A7AE-DC8D-4A61-B171-CC1B1D1697D5}"/>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Primary sources for Wan2.1 and Wan2.2</a:t>
            </a:r>
          </a:p>
        </p:txBody>
      </p:sp>
      <p:sp>
        <p:nvSpPr>
          <p:cNvPr id="4" name="矩形 3">
            <a:extLst>
              <a:ext uri="{FF2B5EF4-FFF2-40B4-BE49-F238E27FC236}">
                <a16:creationId xmlns:a16="http://schemas.microsoft.com/office/drawing/2014/main" id="{28622C89-75EA-4DB4-86CD-31AEF91ED81B}"/>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607A8341-C61F-4636-B859-FB2AD2481445}"/>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C7714C29-C969-4AF0-AB4D-4BD57BEEDA7E}"/>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endParaRPr/>
          </a:p>
        </p:txBody>
      </p:sp>
      <p:sp>
        <p:nvSpPr>
          <p:cNvPr id="7" name="矩形 6">
            <a:extLst>
              <a:ext uri="{FF2B5EF4-FFF2-40B4-BE49-F238E27FC236}">
                <a16:creationId xmlns:a16="http://schemas.microsoft.com/office/drawing/2014/main" id="{767DFD4E-82B2-4F86-AEF5-675414E62CA2}"/>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36 / 38</a:t>
            </a:r>
          </a:p>
        </p:txBody>
      </p:sp>
      <p:sp>
        <p:nvSpPr>
          <p:cNvPr id="8" name="矩形 7">
            <a:extLst>
              <a:ext uri="{FF2B5EF4-FFF2-40B4-BE49-F238E27FC236}">
                <a16:creationId xmlns:a16="http://schemas.microsoft.com/office/drawing/2014/main" id="{2A078C01-91C6-41CF-BD95-A54EB3FFE691}"/>
              </a:ext>
            </a:extLst>
          </p:cNvPr>
          <p:cNvSpPr>
            <a:spLocks noGrp="1"/>
          </p:cNvSpPr>
          <p:nvPr/>
        </p:nvSpPr>
        <p:spPr>
          <a:xfrm>
            <a:off x="609600" y="197167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01</a:t>
            </a:r>
          </a:p>
        </p:txBody>
      </p:sp>
      <p:sp>
        <p:nvSpPr>
          <p:cNvPr id="9" name="矩形 8">
            <a:extLst>
              <a:ext uri="{FF2B5EF4-FFF2-40B4-BE49-F238E27FC236}">
                <a16:creationId xmlns:a16="http://schemas.microsoft.com/office/drawing/2014/main" id="{ED80EE77-C6D2-4BF7-9744-ABFE41E0634F}"/>
              </a:ext>
            </a:extLst>
          </p:cNvPr>
          <p:cNvSpPr>
            <a:spLocks noGrp="1"/>
          </p:cNvSpPr>
          <p:nvPr/>
        </p:nvSpPr>
        <p:spPr>
          <a:xfrm>
            <a:off x="1057275" y="197167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Wan: Open and Advanced Large-Scale Video Generative Models</a:t>
            </a:r>
          </a:p>
        </p:txBody>
      </p:sp>
      <p:sp>
        <p:nvSpPr>
          <p:cNvPr id="10" name="矩形 9">
            <a:extLst>
              <a:ext uri="{FF2B5EF4-FFF2-40B4-BE49-F238E27FC236}">
                <a16:creationId xmlns:a16="http://schemas.microsoft.com/office/drawing/2014/main" id="{4118E24E-56AC-4300-BD43-BBA916148855}"/>
              </a:ext>
            </a:extLst>
          </p:cNvPr>
          <p:cNvSpPr>
            <a:spLocks noGrp="1"/>
          </p:cNvSpPr>
          <p:nvPr/>
        </p:nvSpPr>
        <p:spPr>
          <a:xfrm>
            <a:off x="1057275" y="263842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4"/>
              </a:rPr>
              <a:t>arXiv: 2503.20314</a:t>
            </a:r>
          </a:p>
        </p:txBody>
      </p:sp>
      <p:sp>
        <p:nvSpPr>
          <p:cNvPr id="11" name="矩形 10">
            <a:extLst>
              <a:ext uri="{FF2B5EF4-FFF2-40B4-BE49-F238E27FC236}">
                <a16:creationId xmlns:a16="http://schemas.microsoft.com/office/drawing/2014/main" id="{02FE4AE5-3E8A-473C-BE33-7F72040FFAAF}"/>
              </a:ext>
            </a:extLst>
          </p:cNvPr>
          <p:cNvSpPr>
            <a:spLocks noGrp="1"/>
          </p:cNvSpPr>
          <p:nvPr/>
        </p:nvSpPr>
        <p:spPr>
          <a:xfrm>
            <a:off x="609600" y="2971800"/>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02</a:t>
            </a:r>
          </a:p>
        </p:txBody>
      </p:sp>
      <p:sp>
        <p:nvSpPr>
          <p:cNvPr id="12" name="矩形 11">
            <a:extLst>
              <a:ext uri="{FF2B5EF4-FFF2-40B4-BE49-F238E27FC236}">
                <a16:creationId xmlns:a16="http://schemas.microsoft.com/office/drawing/2014/main" id="{9BFAF448-1A3E-4F8B-B374-819594779CB8}"/>
              </a:ext>
            </a:extLst>
          </p:cNvPr>
          <p:cNvSpPr>
            <a:spLocks noGrp="1"/>
          </p:cNvSpPr>
          <p:nvPr/>
        </p:nvSpPr>
        <p:spPr>
          <a:xfrm>
            <a:off x="1057275" y="2971800"/>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Wan2.1 — official implementation and checkpoints</a:t>
            </a:r>
          </a:p>
        </p:txBody>
      </p:sp>
      <p:sp>
        <p:nvSpPr>
          <p:cNvPr id="13" name="矩形 12">
            <a:extLst>
              <a:ext uri="{FF2B5EF4-FFF2-40B4-BE49-F238E27FC236}">
                <a16:creationId xmlns:a16="http://schemas.microsoft.com/office/drawing/2014/main" id="{F03B583C-4BB0-4488-8048-223BD649B02E}"/>
              </a:ext>
            </a:extLst>
          </p:cNvPr>
          <p:cNvSpPr>
            <a:spLocks noGrp="1"/>
          </p:cNvSpPr>
          <p:nvPr/>
        </p:nvSpPr>
        <p:spPr>
          <a:xfrm>
            <a:off x="1057275" y="3638550"/>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5"/>
              </a:rPr>
              <a:t>Official repository / implementation</a:t>
            </a:r>
          </a:p>
        </p:txBody>
      </p:sp>
      <p:sp>
        <p:nvSpPr>
          <p:cNvPr id="14" name="矩形 13">
            <a:extLst>
              <a:ext uri="{FF2B5EF4-FFF2-40B4-BE49-F238E27FC236}">
                <a16:creationId xmlns:a16="http://schemas.microsoft.com/office/drawing/2014/main" id="{A53E11BA-E5E5-4BB7-9831-0295C9AE83E9}"/>
              </a:ext>
            </a:extLst>
          </p:cNvPr>
          <p:cNvSpPr>
            <a:spLocks noGrp="1"/>
          </p:cNvSpPr>
          <p:nvPr/>
        </p:nvSpPr>
        <p:spPr>
          <a:xfrm>
            <a:off x="609600" y="397192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03</a:t>
            </a:r>
          </a:p>
        </p:txBody>
      </p:sp>
      <p:sp>
        <p:nvSpPr>
          <p:cNvPr id="15" name="矩形 14">
            <a:extLst>
              <a:ext uri="{FF2B5EF4-FFF2-40B4-BE49-F238E27FC236}">
                <a16:creationId xmlns:a16="http://schemas.microsoft.com/office/drawing/2014/main" id="{95E04FA9-4932-4A3E-87E8-58EDEB3F9563}"/>
              </a:ext>
            </a:extLst>
          </p:cNvPr>
          <p:cNvSpPr>
            <a:spLocks noGrp="1"/>
          </p:cNvSpPr>
          <p:nvPr/>
        </p:nvSpPr>
        <p:spPr>
          <a:xfrm>
            <a:off x="1057275" y="397192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Wan2.2 — architecture, evaluation and deployment</a:t>
            </a:r>
          </a:p>
        </p:txBody>
      </p:sp>
      <p:sp>
        <p:nvSpPr>
          <p:cNvPr id="16" name="矩形 15">
            <a:extLst>
              <a:ext uri="{FF2B5EF4-FFF2-40B4-BE49-F238E27FC236}">
                <a16:creationId xmlns:a16="http://schemas.microsoft.com/office/drawing/2014/main" id="{9E142376-8470-4245-AF29-E5F8240A2CE6}"/>
              </a:ext>
            </a:extLst>
          </p:cNvPr>
          <p:cNvSpPr>
            <a:spLocks noGrp="1"/>
          </p:cNvSpPr>
          <p:nvPr/>
        </p:nvSpPr>
        <p:spPr>
          <a:xfrm>
            <a:off x="1057275" y="463867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6"/>
              </a:rPr>
              <a:t>Official repository / implementation</a:t>
            </a:r>
          </a:p>
        </p:txBody>
      </p:sp>
      <p:sp>
        <p:nvSpPr>
          <p:cNvPr id="17" name="矩形 16">
            <a:extLst>
              <a:ext uri="{FF2B5EF4-FFF2-40B4-BE49-F238E27FC236}">
                <a16:creationId xmlns:a16="http://schemas.microsoft.com/office/drawing/2014/main" id="{D872D501-81C9-4E01-888D-048E86F6E8D8}"/>
              </a:ext>
            </a:extLst>
          </p:cNvPr>
          <p:cNvSpPr>
            <a:spLocks noGrp="1"/>
          </p:cNvSpPr>
          <p:nvPr/>
        </p:nvSpPr>
        <p:spPr>
          <a:xfrm>
            <a:off x="6391275" y="197167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04</a:t>
            </a:r>
          </a:p>
        </p:txBody>
      </p:sp>
      <p:sp>
        <p:nvSpPr>
          <p:cNvPr id="18" name="矩形 17">
            <a:extLst>
              <a:ext uri="{FF2B5EF4-FFF2-40B4-BE49-F238E27FC236}">
                <a16:creationId xmlns:a16="http://schemas.microsoft.com/office/drawing/2014/main" id="{CD482C53-4B17-465E-AEFA-190F4E6FDE38}"/>
              </a:ext>
            </a:extLst>
          </p:cNvPr>
          <p:cNvSpPr>
            <a:spLocks noGrp="1"/>
          </p:cNvSpPr>
          <p:nvPr/>
        </p:nvSpPr>
        <p:spPr>
          <a:xfrm>
            <a:off x="6838950" y="197167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Wan2.2 — expert selection in the T2V sampler</a:t>
            </a:r>
          </a:p>
        </p:txBody>
      </p:sp>
      <p:sp>
        <p:nvSpPr>
          <p:cNvPr id="19" name="矩形 18">
            <a:extLst>
              <a:ext uri="{FF2B5EF4-FFF2-40B4-BE49-F238E27FC236}">
                <a16:creationId xmlns:a16="http://schemas.microsoft.com/office/drawing/2014/main" id="{0904A4BB-971F-4592-BE95-1C00F0D197F7}"/>
              </a:ext>
            </a:extLst>
          </p:cNvPr>
          <p:cNvSpPr>
            <a:spLocks noGrp="1"/>
          </p:cNvSpPr>
          <p:nvPr/>
        </p:nvSpPr>
        <p:spPr>
          <a:xfrm>
            <a:off x="6838950" y="263842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7"/>
              </a:rPr>
              <a:t>Official repository / implementation</a:t>
            </a:r>
          </a:p>
        </p:txBody>
      </p:sp>
      <p:sp>
        <p:nvSpPr>
          <p:cNvPr id="20" name="矩形 19">
            <a:extLst>
              <a:ext uri="{FF2B5EF4-FFF2-40B4-BE49-F238E27FC236}">
                <a16:creationId xmlns:a16="http://schemas.microsoft.com/office/drawing/2014/main" id="{1C053982-9543-482A-8903-E66A0C552576}"/>
              </a:ext>
            </a:extLst>
          </p:cNvPr>
          <p:cNvSpPr>
            <a:spLocks noGrp="1"/>
          </p:cNvSpPr>
          <p:nvPr/>
        </p:nvSpPr>
        <p:spPr>
          <a:xfrm>
            <a:off x="6391275" y="2971800"/>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05</a:t>
            </a:r>
          </a:p>
        </p:txBody>
      </p:sp>
      <p:sp>
        <p:nvSpPr>
          <p:cNvPr id="21" name="矩形 20">
            <a:extLst>
              <a:ext uri="{FF2B5EF4-FFF2-40B4-BE49-F238E27FC236}">
                <a16:creationId xmlns:a16="http://schemas.microsoft.com/office/drawing/2014/main" id="{6B32AA33-2089-4D35-85AA-40E109792C74}"/>
              </a:ext>
            </a:extLst>
          </p:cNvPr>
          <p:cNvSpPr>
            <a:spLocks noGrp="1"/>
          </p:cNvSpPr>
          <p:nvPr/>
        </p:nvSpPr>
        <p:spPr>
          <a:xfrm>
            <a:off x="6838950" y="2971800"/>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Wan2.2-TI2V-5B — official model card</a:t>
            </a:r>
          </a:p>
        </p:txBody>
      </p:sp>
      <p:sp>
        <p:nvSpPr>
          <p:cNvPr id="22" name="矩形 21">
            <a:extLst>
              <a:ext uri="{FF2B5EF4-FFF2-40B4-BE49-F238E27FC236}">
                <a16:creationId xmlns:a16="http://schemas.microsoft.com/office/drawing/2014/main" id="{19172013-6F7F-4788-8EA8-49E6F1CFCB6B}"/>
              </a:ext>
            </a:extLst>
          </p:cNvPr>
          <p:cNvSpPr>
            <a:spLocks noGrp="1"/>
          </p:cNvSpPr>
          <p:nvPr/>
        </p:nvSpPr>
        <p:spPr>
          <a:xfrm>
            <a:off x="6838950" y="3638550"/>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8"/>
              </a:rPr>
              <a:t>Official model card</a:t>
            </a:r>
          </a:p>
        </p:txBody>
      </p:sp>
      <p:sp>
        <p:nvSpPr>
          <p:cNvPr id="23" name="矩形 22">
            <a:extLst>
              <a:ext uri="{FF2B5EF4-FFF2-40B4-BE49-F238E27FC236}">
                <a16:creationId xmlns:a16="http://schemas.microsoft.com/office/drawing/2014/main" id="{022E91BC-559A-478F-BB4F-20E7737EC487}"/>
              </a:ext>
            </a:extLst>
          </p:cNvPr>
          <p:cNvSpPr>
            <a:spLocks noGrp="1"/>
          </p:cNvSpPr>
          <p:nvPr/>
        </p:nvSpPr>
        <p:spPr>
          <a:xfrm>
            <a:off x="6391275" y="397192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06</a:t>
            </a:r>
          </a:p>
        </p:txBody>
      </p:sp>
      <p:sp>
        <p:nvSpPr>
          <p:cNvPr id="24" name="矩形 23">
            <a:extLst>
              <a:ext uri="{FF2B5EF4-FFF2-40B4-BE49-F238E27FC236}">
                <a16:creationId xmlns:a16="http://schemas.microsoft.com/office/drawing/2014/main" id="{BBB9D3D0-BFA9-4C05-8435-40C49F13E548}"/>
              </a:ext>
            </a:extLst>
          </p:cNvPr>
          <p:cNvSpPr>
            <a:spLocks noGrp="1"/>
          </p:cNvSpPr>
          <p:nvPr/>
        </p:nvSpPr>
        <p:spPr>
          <a:xfrm>
            <a:off x="6838950" y="397192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Wan2.2-TI2V-5B — unified text/image conditioning implementation</a:t>
            </a:r>
          </a:p>
        </p:txBody>
      </p:sp>
      <p:sp>
        <p:nvSpPr>
          <p:cNvPr id="25" name="矩形 24">
            <a:extLst>
              <a:ext uri="{FF2B5EF4-FFF2-40B4-BE49-F238E27FC236}">
                <a16:creationId xmlns:a16="http://schemas.microsoft.com/office/drawing/2014/main" id="{B94D8876-B809-47E7-99C6-5085F4D8C9B1}"/>
              </a:ext>
            </a:extLst>
          </p:cNvPr>
          <p:cNvSpPr>
            <a:spLocks noGrp="1"/>
          </p:cNvSpPr>
          <p:nvPr/>
        </p:nvSpPr>
        <p:spPr>
          <a:xfrm>
            <a:off x="6838950" y="463867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9"/>
              </a:rPr>
              <a:t>Official repository / implementation</a:t>
            </a:r>
          </a:p>
        </p:txBody>
      </p:sp>
      <p:sp>
        <p:nvSpPr>
          <p:cNvPr id="26" name="矩形 25">
            <a:extLst>
              <a:ext uri="{FF2B5EF4-FFF2-40B4-BE49-F238E27FC236}">
                <a16:creationId xmlns:a16="http://schemas.microsoft.com/office/drawing/2014/main" id="{BA0E7027-4C50-4540-8689-E961F9DC0718}"/>
              </a:ext>
            </a:extLst>
          </p:cNvPr>
          <p:cNvSpPr>
            <a:spLocks noGrp="1"/>
          </p:cNvSpPr>
          <p:nvPr/>
        </p:nvSpPr>
        <p:spPr>
          <a:xfrm>
            <a:off x="609600" y="6143625"/>
            <a:ext cx="10972800" cy="9525"/>
          </a:xfrm>
          <a:prstGeom prst="rect">
            <a:avLst/>
          </a:prstGeom>
          <a:solidFill>
            <a:srgbClr val="D9E1ED"/>
          </a:solidFill>
          <a:ln w="0">
            <a:noFill/>
          </a:ln>
        </p:spPr>
      </p:sp>
      <p:sp>
        <p:nvSpPr>
          <p:cNvPr id="27" name="矩形 26">
            <a:extLst>
              <a:ext uri="{FF2B5EF4-FFF2-40B4-BE49-F238E27FC236}">
                <a16:creationId xmlns:a16="http://schemas.microsoft.com/office/drawing/2014/main" id="{F303B964-E5D3-4CDD-9BAA-E996BE6C2A8D}"/>
              </a:ext>
            </a:extLst>
          </p:cNvPr>
          <p:cNvSpPr>
            <a:spLocks noGrp="1"/>
          </p:cNvSpPr>
          <p:nvPr/>
        </p:nvSpPr>
        <p:spPr>
          <a:xfrm>
            <a:off x="609600" y="6276975"/>
            <a:ext cx="10972800" cy="238125"/>
          </a:xfrm>
          <a:prstGeom prst="rect">
            <a:avLst/>
          </a:prstGeom>
          <a:noFill/>
          <a:ln w="0">
            <a:noFill/>
          </a:ln>
        </p:spPr>
        <p:txBody>
          <a:bodyPr wrap="square" lIns="0" tIns="0" rIns="0" bIns="0">
            <a:noAutofit/>
          </a:bodyPr>
          <a:lstStyle/>
          <a:p>
            <a:pPr algn="l">
              <a:defRPr sz="1125" b="0">
                <a:solidFill>
                  <a:srgbClr val="536174"/>
                </a:solidFill>
                <a:latin typeface="Microsoft YaHei"/>
                <a:ea typeface="Microsoft YaHei"/>
                <a:cs typeface="Microsoft YaHei"/>
              </a:defRPr>
            </a:pPr>
            <a:r>
              <a:rPr sz="1125" b="0">
                <a:solidFill>
                  <a:srgbClr val="536174"/>
                </a:solidFill>
                <a:latin typeface="Microsoft YaHei"/>
                <a:ea typeface="Microsoft YaHei"/>
                <a:cs typeface="Microsoft YaHei"/>
              </a:rPr>
              <a:t>Click the blue links to open primary sources.  Source snapshot: 10 September 2026.</a:t>
            </a:r>
          </a:p>
        </p:txBody>
      </p:sp>
    </p:spTree>
    <p:extLst>
      <p:ext uri="{BB962C8B-B14F-4D97-AF65-F5344CB8AC3E}">
        <p14:creationId xmlns:p14="http://schemas.microsoft.com/office/powerpoint/2010/main" val="969864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B06CFBCC-760E-4BD7-8603-A048354DD035}"/>
              </a:ext>
            </a:extLst>
          </p:cNvPr>
          <p:cNvSpPr>
            <a:spLocks noGrp="1"/>
          </p:cNvSpPr>
          <p:nvPr/>
        </p:nvSpPr>
        <p:spPr>
          <a:xfrm>
            <a:off x="609600" y="257175"/>
            <a:ext cx="9525000" cy="209550"/>
          </a:xfrm>
          <a:prstGeom prst="rect">
            <a:avLst/>
          </a:prstGeom>
          <a:noFill/>
          <a:ln w="0">
            <a:noFill/>
          </a:ln>
        </p:spPr>
        <p:txBody>
          <a:bodyPr wrap="square" lIns="0" tIns="0" rIns="0" bIns="0">
            <a:noAutofit/>
          </a:bodyPr>
          <a:lstStyle/>
          <a:p>
            <a:pPr algn="l">
              <a:defRPr sz="1050" b="1">
                <a:solidFill>
                  <a:srgbClr val="08559C"/>
                </a:solidFill>
                <a:latin typeface="Microsoft YaHei"/>
                <a:ea typeface="Microsoft YaHei"/>
                <a:cs typeface="Microsoft YaHei"/>
              </a:defRPr>
            </a:pPr>
            <a:r>
              <a:rPr sz="1050" b="1">
                <a:solidFill>
                  <a:srgbClr val="08559C"/>
                </a:solidFill>
                <a:latin typeface="Microsoft YaHei"/>
                <a:ea typeface="Microsoft YaHei"/>
                <a:cs typeface="Microsoft YaHei"/>
              </a:rPr>
              <a:t>REFERENCES  /  WORLD MODELS</a:t>
            </a:r>
          </a:p>
        </p:txBody>
      </p:sp>
      <p:pic>
        <p:nvPicPr>
          <p:cNvPr id="35" name="图片 34"/>
          <p:cNvPicPr>
            <a:picLocks noChangeAspect="1"/>
          </p:cNvPicPr>
          <p:nvPr/>
        </p:nvPicPr>
        <p:blipFill>
          <a:blip r:embed="rId3"/>
          <a:stretch/>
        </p:blipFill>
        <p:spPr>
          <a:xfrm>
            <a:off x="10734675" y="163521"/>
            <a:ext cx="847725" cy="568307"/>
          </a:xfrm>
          <a:prstGeom prst="rect">
            <a:avLst/>
          </a:prstGeom>
        </p:spPr>
      </p:pic>
      <p:sp>
        <p:nvSpPr>
          <p:cNvPr id="3" name="矩形 2">
            <a:extLst>
              <a:ext uri="{FF2B5EF4-FFF2-40B4-BE49-F238E27FC236}">
                <a16:creationId xmlns:a16="http://schemas.microsoft.com/office/drawing/2014/main" id="{71E6547B-B210-47C1-8636-DABA4F022D33}"/>
              </a:ext>
            </a:extLst>
          </p:cNvPr>
          <p:cNvSpPr>
            <a:spLocks noGrp="1"/>
          </p:cNvSpPr>
          <p:nvPr/>
        </p:nvSpPr>
        <p:spPr>
          <a:xfrm>
            <a:off x="609600" y="723900"/>
            <a:ext cx="10972800" cy="638175"/>
          </a:xfrm>
          <a:prstGeom prst="rect">
            <a:avLst/>
          </a:prstGeom>
          <a:noFill/>
          <a:ln w="0">
            <a:noFill/>
          </a:ln>
        </p:spPr>
        <p:txBody>
          <a:bodyPr wrap="square" lIns="0" tIns="0" rIns="0" bIns="0">
            <a:noAutofit/>
          </a:bodyPr>
          <a:lstStyle/>
          <a:p>
            <a:pPr algn="l">
              <a:defRPr sz="2850" b="1">
                <a:solidFill>
                  <a:srgbClr val="162A4A"/>
                </a:solidFill>
                <a:latin typeface="Microsoft YaHei"/>
                <a:ea typeface="Microsoft YaHei"/>
                <a:cs typeface="Microsoft YaHei"/>
              </a:defRPr>
            </a:pPr>
            <a:r>
              <a:rPr sz="2850" b="1">
                <a:solidFill>
                  <a:srgbClr val="162A4A"/>
                </a:solidFill>
                <a:latin typeface="Microsoft YaHei"/>
                <a:ea typeface="Microsoft YaHei"/>
                <a:cs typeface="Microsoft YaHei"/>
              </a:rPr>
              <a:t>Primary sources for the four world-model examples</a:t>
            </a:r>
          </a:p>
        </p:txBody>
      </p:sp>
      <p:sp>
        <p:nvSpPr>
          <p:cNvPr id="4" name="矩形 3">
            <a:extLst>
              <a:ext uri="{FF2B5EF4-FFF2-40B4-BE49-F238E27FC236}">
                <a16:creationId xmlns:a16="http://schemas.microsoft.com/office/drawing/2014/main" id="{9A50F51B-DFE3-49B9-8D7E-65BF00F0C7CD}"/>
              </a:ext>
            </a:extLst>
          </p:cNvPr>
          <p:cNvSpPr>
            <a:spLocks noGrp="1"/>
          </p:cNvSpPr>
          <p:nvPr/>
        </p:nvSpPr>
        <p:spPr>
          <a:xfrm>
            <a:off x="609600" y="1428750"/>
            <a:ext cx="10972800" cy="9525"/>
          </a:xfrm>
          <a:prstGeom prst="rect">
            <a:avLst/>
          </a:prstGeom>
          <a:solidFill>
            <a:srgbClr val="D9E1ED"/>
          </a:solidFill>
          <a:ln w="0">
            <a:noFill/>
          </a:ln>
        </p:spPr>
      </p:sp>
      <p:sp>
        <p:nvSpPr>
          <p:cNvPr id="5" name="矩形 4">
            <a:extLst>
              <a:ext uri="{FF2B5EF4-FFF2-40B4-BE49-F238E27FC236}">
                <a16:creationId xmlns:a16="http://schemas.microsoft.com/office/drawing/2014/main" id="{60754FB1-B703-4858-B94E-0F5B32C4B470}"/>
              </a:ext>
            </a:extLst>
          </p:cNvPr>
          <p:cNvSpPr>
            <a:spLocks noGrp="1"/>
          </p:cNvSpPr>
          <p:nvPr/>
        </p:nvSpPr>
        <p:spPr>
          <a:xfrm>
            <a:off x="609600" y="1428750"/>
            <a:ext cx="704850" cy="28575"/>
          </a:xfrm>
          <a:prstGeom prst="rect">
            <a:avLst/>
          </a:prstGeom>
          <a:solidFill>
            <a:srgbClr val="08559C"/>
          </a:solidFill>
          <a:ln w="0">
            <a:noFill/>
          </a:ln>
        </p:spPr>
      </p:sp>
      <p:sp>
        <p:nvSpPr>
          <p:cNvPr id="6" name="矩形 5">
            <a:extLst>
              <a:ext uri="{FF2B5EF4-FFF2-40B4-BE49-F238E27FC236}">
                <a16:creationId xmlns:a16="http://schemas.microsoft.com/office/drawing/2014/main" id="{13BC0F9D-C40B-44EF-AEEC-E54AC8E3C72C}"/>
              </a:ext>
            </a:extLst>
          </p:cNvPr>
          <p:cNvSpPr>
            <a:spLocks noGrp="1"/>
          </p:cNvSpPr>
          <p:nvPr/>
        </p:nvSpPr>
        <p:spPr>
          <a:xfrm>
            <a:off x="609600" y="6515100"/>
            <a:ext cx="10096500" cy="190500"/>
          </a:xfrm>
          <a:prstGeom prst="rect">
            <a:avLst/>
          </a:prstGeom>
          <a:noFill/>
          <a:ln w="0">
            <a:noFill/>
          </a:ln>
        </p:spPr>
        <p:txBody>
          <a:bodyPr wrap="square" lIns="0" tIns="0" rIns="0" bIns="0">
            <a:noAutofit/>
          </a:bodyPr>
          <a:lstStyle/>
          <a:p>
            <a:endParaRPr/>
          </a:p>
        </p:txBody>
      </p:sp>
      <p:sp>
        <p:nvSpPr>
          <p:cNvPr id="7" name="矩形 6">
            <a:extLst>
              <a:ext uri="{FF2B5EF4-FFF2-40B4-BE49-F238E27FC236}">
                <a16:creationId xmlns:a16="http://schemas.microsoft.com/office/drawing/2014/main" id="{585D53B7-8003-4469-9C75-D5E23C86EFDF}"/>
              </a:ext>
            </a:extLst>
          </p:cNvPr>
          <p:cNvSpPr>
            <a:spLocks noGrp="1"/>
          </p:cNvSpPr>
          <p:nvPr/>
        </p:nvSpPr>
        <p:spPr>
          <a:xfrm>
            <a:off x="10763250" y="6505575"/>
            <a:ext cx="819150" cy="209550"/>
          </a:xfrm>
          <a:prstGeom prst="rect">
            <a:avLst/>
          </a:prstGeom>
          <a:noFill/>
          <a:ln w="0">
            <a:noFill/>
          </a:ln>
        </p:spPr>
        <p:txBody>
          <a:bodyPr wrap="square" lIns="0" tIns="0" rIns="0" bIns="0">
            <a:noAutofit/>
          </a:bodyPr>
          <a:lstStyle/>
          <a:p>
            <a:pPr algn="r">
              <a:defRPr sz="975" b="0">
                <a:solidFill>
                  <a:srgbClr val="536174"/>
                </a:solidFill>
                <a:latin typeface="Microsoft YaHei"/>
                <a:ea typeface="Microsoft YaHei"/>
                <a:cs typeface="Microsoft YaHei"/>
              </a:defRPr>
            </a:pPr>
            <a:r>
              <a:rPr sz="975" b="0">
                <a:solidFill>
                  <a:srgbClr val="536174"/>
                </a:solidFill>
                <a:latin typeface="Microsoft YaHei"/>
                <a:ea typeface="Microsoft YaHei"/>
                <a:cs typeface="Microsoft YaHei"/>
              </a:rPr>
              <a:t>37 / 38</a:t>
            </a:r>
          </a:p>
        </p:txBody>
      </p:sp>
      <p:sp>
        <p:nvSpPr>
          <p:cNvPr id="8" name="矩形 7">
            <a:extLst>
              <a:ext uri="{FF2B5EF4-FFF2-40B4-BE49-F238E27FC236}">
                <a16:creationId xmlns:a16="http://schemas.microsoft.com/office/drawing/2014/main" id="{AB9484D8-5E67-4C91-94C8-3B2DBE7767FF}"/>
              </a:ext>
            </a:extLst>
          </p:cNvPr>
          <p:cNvSpPr>
            <a:spLocks noGrp="1"/>
          </p:cNvSpPr>
          <p:nvPr/>
        </p:nvSpPr>
        <p:spPr>
          <a:xfrm>
            <a:off x="609600" y="197167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01</a:t>
            </a:r>
          </a:p>
        </p:txBody>
      </p:sp>
      <p:sp>
        <p:nvSpPr>
          <p:cNvPr id="9" name="矩形 8">
            <a:extLst>
              <a:ext uri="{FF2B5EF4-FFF2-40B4-BE49-F238E27FC236}">
                <a16:creationId xmlns:a16="http://schemas.microsoft.com/office/drawing/2014/main" id="{9BC2796E-499F-48EC-917D-C7CBD83E7955}"/>
              </a:ext>
            </a:extLst>
          </p:cNvPr>
          <p:cNvSpPr>
            <a:spLocks noGrp="1"/>
          </p:cNvSpPr>
          <p:nvPr/>
        </p:nvSpPr>
        <p:spPr>
          <a:xfrm>
            <a:off x="1057275" y="197167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Matrix-Game 3.0: Real-Time and Streaming Interactive World Model with Long-Horizon Memory</a:t>
            </a:r>
          </a:p>
        </p:txBody>
      </p:sp>
      <p:sp>
        <p:nvSpPr>
          <p:cNvPr id="10" name="矩形 9">
            <a:extLst>
              <a:ext uri="{FF2B5EF4-FFF2-40B4-BE49-F238E27FC236}">
                <a16:creationId xmlns:a16="http://schemas.microsoft.com/office/drawing/2014/main" id="{99506082-F801-4E8A-9554-663C0B0FEA39}"/>
              </a:ext>
            </a:extLst>
          </p:cNvPr>
          <p:cNvSpPr>
            <a:spLocks noGrp="1"/>
          </p:cNvSpPr>
          <p:nvPr/>
        </p:nvSpPr>
        <p:spPr>
          <a:xfrm>
            <a:off x="1057275" y="263842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4"/>
              </a:rPr>
              <a:t>arXiv: 2604.08995</a:t>
            </a:r>
          </a:p>
        </p:txBody>
      </p:sp>
      <p:sp>
        <p:nvSpPr>
          <p:cNvPr id="11" name="矩形 10">
            <a:extLst>
              <a:ext uri="{FF2B5EF4-FFF2-40B4-BE49-F238E27FC236}">
                <a16:creationId xmlns:a16="http://schemas.microsoft.com/office/drawing/2014/main" id="{83BD4FE8-4E81-4DDA-91DF-903D36D74C64}"/>
              </a:ext>
            </a:extLst>
          </p:cNvPr>
          <p:cNvSpPr>
            <a:spLocks noGrp="1"/>
          </p:cNvSpPr>
          <p:nvPr/>
        </p:nvSpPr>
        <p:spPr>
          <a:xfrm>
            <a:off x="609600" y="2971800"/>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02</a:t>
            </a:r>
          </a:p>
        </p:txBody>
      </p:sp>
      <p:sp>
        <p:nvSpPr>
          <p:cNvPr id="12" name="矩形 11">
            <a:extLst>
              <a:ext uri="{FF2B5EF4-FFF2-40B4-BE49-F238E27FC236}">
                <a16:creationId xmlns:a16="http://schemas.microsoft.com/office/drawing/2014/main" id="{C8C24428-2BEC-4739-B8EE-BC82C8B0809C}"/>
              </a:ext>
            </a:extLst>
          </p:cNvPr>
          <p:cNvSpPr>
            <a:spLocks noGrp="1"/>
          </p:cNvSpPr>
          <p:nvPr/>
        </p:nvSpPr>
        <p:spPr>
          <a:xfrm>
            <a:off x="1057275" y="2971800"/>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Matrix-Game 3.0 — released model and lineage</a:t>
            </a:r>
          </a:p>
        </p:txBody>
      </p:sp>
      <p:sp>
        <p:nvSpPr>
          <p:cNvPr id="13" name="矩形 12">
            <a:extLst>
              <a:ext uri="{FF2B5EF4-FFF2-40B4-BE49-F238E27FC236}">
                <a16:creationId xmlns:a16="http://schemas.microsoft.com/office/drawing/2014/main" id="{A6FE5F57-368F-4009-8E80-FE3C077C5F7D}"/>
              </a:ext>
            </a:extLst>
          </p:cNvPr>
          <p:cNvSpPr>
            <a:spLocks noGrp="1"/>
          </p:cNvSpPr>
          <p:nvPr/>
        </p:nvSpPr>
        <p:spPr>
          <a:xfrm>
            <a:off x="1057275" y="3638550"/>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5"/>
              </a:rPr>
              <a:t>Official model card</a:t>
            </a:r>
          </a:p>
        </p:txBody>
      </p:sp>
      <p:sp>
        <p:nvSpPr>
          <p:cNvPr id="14" name="矩形 13">
            <a:extLst>
              <a:ext uri="{FF2B5EF4-FFF2-40B4-BE49-F238E27FC236}">
                <a16:creationId xmlns:a16="http://schemas.microsoft.com/office/drawing/2014/main" id="{66371189-9D01-4C77-BBC6-7BE2D385E5C0}"/>
              </a:ext>
            </a:extLst>
          </p:cNvPr>
          <p:cNvSpPr>
            <a:spLocks noGrp="1"/>
          </p:cNvSpPr>
          <p:nvPr/>
        </p:nvSpPr>
        <p:spPr>
          <a:xfrm>
            <a:off x="609600" y="397192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03</a:t>
            </a:r>
          </a:p>
        </p:txBody>
      </p:sp>
      <p:sp>
        <p:nvSpPr>
          <p:cNvPr id="15" name="矩形 14">
            <a:extLst>
              <a:ext uri="{FF2B5EF4-FFF2-40B4-BE49-F238E27FC236}">
                <a16:creationId xmlns:a16="http://schemas.microsoft.com/office/drawing/2014/main" id="{98B98A3A-5F66-455D-B519-6F90A36405BA}"/>
              </a:ext>
            </a:extLst>
          </p:cNvPr>
          <p:cNvSpPr>
            <a:spLocks noGrp="1"/>
          </p:cNvSpPr>
          <p:nvPr/>
        </p:nvSpPr>
        <p:spPr>
          <a:xfrm>
            <a:off x="1057275" y="397192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Yume-1.5: A Text-Controlled Interactive World Generation Model</a:t>
            </a:r>
          </a:p>
        </p:txBody>
      </p:sp>
      <p:sp>
        <p:nvSpPr>
          <p:cNvPr id="16" name="矩形 15">
            <a:extLst>
              <a:ext uri="{FF2B5EF4-FFF2-40B4-BE49-F238E27FC236}">
                <a16:creationId xmlns:a16="http://schemas.microsoft.com/office/drawing/2014/main" id="{DDD28021-FDE8-4B8B-822E-FC757850FBF6}"/>
              </a:ext>
            </a:extLst>
          </p:cNvPr>
          <p:cNvSpPr>
            <a:spLocks noGrp="1"/>
          </p:cNvSpPr>
          <p:nvPr/>
        </p:nvSpPr>
        <p:spPr>
          <a:xfrm>
            <a:off x="1057275" y="463867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6"/>
              </a:rPr>
              <a:t>arXiv: 2512.22096</a:t>
            </a:r>
          </a:p>
        </p:txBody>
      </p:sp>
      <p:sp>
        <p:nvSpPr>
          <p:cNvPr id="17" name="矩形 16">
            <a:extLst>
              <a:ext uri="{FF2B5EF4-FFF2-40B4-BE49-F238E27FC236}">
                <a16:creationId xmlns:a16="http://schemas.microsoft.com/office/drawing/2014/main" id="{2DB57E9E-AB04-40AA-9F43-92B328F404FE}"/>
              </a:ext>
            </a:extLst>
          </p:cNvPr>
          <p:cNvSpPr>
            <a:spLocks noGrp="1"/>
          </p:cNvSpPr>
          <p:nvPr/>
        </p:nvSpPr>
        <p:spPr>
          <a:xfrm>
            <a:off x="609600" y="4972050"/>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04</a:t>
            </a:r>
          </a:p>
        </p:txBody>
      </p:sp>
      <p:sp>
        <p:nvSpPr>
          <p:cNvPr id="18" name="矩形 17">
            <a:extLst>
              <a:ext uri="{FF2B5EF4-FFF2-40B4-BE49-F238E27FC236}">
                <a16:creationId xmlns:a16="http://schemas.microsoft.com/office/drawing/2014/main" id="{40DD5875-4E1A-4C59-88A2-B78ACBBD5692}"/>
              </a:ext>
            </a:extLst>
          </p:cNvPr>
          <p:cNvSpPr>
            <a:spLocks noGrp="1"/>
          </p:cNvSpPr>
          <p:nvPr/>
        </p:nvSpPr>
        <p:spPr>
          <a:xfrm>
            <a:off x="1057275" y="4972050"/>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YUME — official implementation and releases</a:t>
            </a:r>
          </a:p>
        </p:txBody>
      </p:sp>
      <p:sp>
        <p:nvSpPr>
          <p:cNvPr id="19" name="矩形 18">
            <a:extLst>
              <a:ext uri="{FF2B5EF4-FFF2-40B4-BE49-F238E27FC236}">
                <a16:creationId xmlns:a16="http://schemas.microsoft.com/office/drawing/2014/main" id="{ECB0F775-2641-407D-811E-22590253B3A8}"/>
              </a:ext>
            </a:extLst>
          </p:cNvPr>
          <p:cNvSpPr>
            <a:spLocks noGrp="1"/>
          </p:cNvSpPr>
          <p:nvPr/>
        </p:nvSpPr>
        <p:spPr>
          <a:xfrm>
            <a:off x="1057275" y="5638800"/>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7"/>
              </a:rPr>
              <a:t>Official repository / implementation</a:t>
            </a:r>
          </a:p>
        </p:txBody>
      </p:sp>
      <p:sp>
        <p:nvSpPr>
          <p:cNvPr id="20" name="矩形 19">
            <a:extLst>
              <a:ext uri="{FF2B5EF4-FFF2-40B4-BE49-F238E27FC236}">
                <a16:creationId xmlns:a16="http://schemas.microsoft.com/office/drawing/2014/main" id="{59FD19C6-BA58-4C2D-88F4-7411D9E1C918}"/>
              </a:ext>
            </a:extLst>
          </p:cNvPr>
          <p:cNvSpPr>
            <a:spLocks noGrp="1"/>
          </p:cNvSpPr>
          <p:nvPr/>
        </p:nvSpPr>
        <p:spPr>
          <a:xfrm>
            <a:off x="6391275" y="197167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05</a:t>
            </a:r>
          </a:p>
        </p:txBody>
      </p:sp>
      <p:sp>
        <p:nvSpPr>
          <p:cNvPr id="21" name="矩形 20">
            <a:extLst>
              <a:ext uri="{FF2B5EF4-FFF2-40B4-BE49-F238E27FC236}">
                <a16:creationId xmlns:a16="http://schemas.microsoft.com/office/drawing/2014/main" id="{45398FA2-CAC2-4191-8058-64711F04BA71}"/>
              </a:ext>
            </a:extLst>
          </p:cNvPr>
          <p:cNvSpPr>
            <a:spLocks noGrp="1"/>
          </p:cNvSpPr>
          <p:nvPr/>
        </p:nvSpPr>
        <p:spPr>
          <a:xfrm>
            <a:off x="6838950" y="197167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EVA: Aligning Video World Models with Executable Robot Actions via Inverse Dynamics Rewards</a:t>
            </a:r>
          </a:p>
        </p:txBody>
      </p:sp>
      <p:sp>
        <p:nvSpPr>
          <p:cNvPr id="22" name="矩形 21">
            <a:extLst>
              <a:ext uri="{FF2B5EF4-FFF2-40B4-BE49-F238E27FC236}">
                <a16:creationId xmlns:a16="http://schemas.microsoft.com/office/drawing/2014/main" id="{A745673E-E19A-4AA3-A827-6B560D8684BD}"/>
              </a:ext>
            </a:extLst>
          </p:cNvPr>
          <p:cNvSpPr>
            <a:spLocks noGrp="1"/>
          </p:cNvSpPr>
          <p:nvPr/>
        </p:nvSpPr>
        <p:spPr>
          <a:xfrm>
            <a:off x="6838950" y="263842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8"/>
              </a:rPr>
              <a:t>arXiv: 2603.17808</a:t>
            </a:r>
          </a:p>
        </p:txBody>
      </p:sp>
      <p:sp>
        <p:nvSpPr>
          <p:cNvPr id="23" name="矩形 22">
            <a:extLst>
              <a:ext uri="{FF2B5EF4-FFF2-40B4-BE49-F238E27FC236}">
                <a16:creationId xmlns:a16="http://schemas.microsoft.com/office/drawing/2014/main" id="{24D8C99C-B2B8-4E46-AEB5-C89692718FB7}"/>
              </a:ext>
            </a:extLst>
          </p:cNvPr>
          <p:cNvSpPr>
            <a:spLocks noGrp="1"/>
          </p:cNvSpPr>
          <p:nvPr/>
        </p:nvSpPr>
        <p:spPr>
          <a:xfrm>
            <a:off x="6391275" y="2971800"/>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06</a:t>
            </a:r>
          </a:p>
        </p:txBody>
      </p:sp>
      <p:sp>
        <p:nvSpPr>
          <p:cNvPr id="24" name="矩形 23">
            <a:extLst>
              <a:ext uri="{FF2B5EF4-FFF2-40B4-BE49-F238E27FC236}">
                <a16:creationId xmlns:a16="http://schemas.microsoft.com/office/drawing/2014/main" id="{F216AC2F-AA45-4EE9-9A73-14C659A82683}"/>
              </a:ext>
            </a:extLst>
          </p:cNvPr>
          <p:cNvSpPr>
            <a:spLocks noGrp="1"/>
          </p:cNvSpPr>
          <p:nvPr/>
        </p:nvSpPr>
        <p:spPr>
          <a:xfrm>
            <a:off x="6838950" y="2971800"/>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EVA — checkpoints and training instructions</a:t>
            </a:r>
          </a:p>
        </p:txBody>
      </p:sp>
      <p:sp>
        <p:nvSpPr>
          <p:cNvPr id="25" name="矩形 24">
            <a:extLst>
              <a:ext uri="{FF2B5EF4-FFF2-40B4-BE49-F238E27FC236}">
                <a16:creationId xmlns:a16="http://schemas.microsoft.com/office/drawing/2014/main" id="{57CA5A43-584D-4E76-918C-7399E33354EC}"/>
              </a:ext>
            </a:extLst>
          </p:cNvPr>
          <p:cNvSpPr>
            <a:spLocks noGrp="1"/>
          </p:cNvSpPr>
          <p:nvPr/>
        </p:nvSpPr>
        <p:spPr>
          <a:xfrm>
            <a:off x="6838950" y="3638550"/>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9"/>
              </a:rPr>
              <a:t>Official repository / implementation</a:t>
            </a:r>
          </a:p>
        </p:txBody>
      </p:sp>
      <p:sp>
        <p:nvSpPr>
          <p:cNvPr id="26" name="矩形 25">
            <a:extLst>
              <a:ext uri="{FF2B5EF4-FFF2-40B4-BE49-F238E27FC236}">
                <a16:creationId xmlns:a16="http://schemas.microsoft.com/office/drawing/2014/main" id="{1C848BC8-9E73-4179-B747-235EF1E2B5D3}"/>
              </a:ext>
            </a:extLst>
          </p:cNvPr>
          <p:cNvSpPr>
            <a:spLocks noGrp="1"/>
          </p:cNvSpPr>
          <p:nvPr/>
        </p:nvSpPr>
        <p:spPr>
          <a:xfrm>
            <a:off x="6391275" y="3971925"/>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07</a:t>
            </a:r>
          </a:p>
        </p:txBody>
      </p:sp>
      <p:sp>
        <p:nvSpPr>
          <p:cNvPr id="27" name="矩形 26">
            <a:extLst>
              <a:ext uri="{FF2B5EF4-FFF2-40B4-BE49-F238E27FC236}">
                <a16:creationId xmlns:a16="http://schemas.microsoft.com/office/drawing/2014/main" id="{FAE5AA99-BD71-4C64-8BC8-778691E27CE7}"/>
              </a:ext>
            </a:extLst>
          </p:cNvPr>
          <p:cNvSpPr>
            <a:spLocks noGrp="1"/>
          </p:cNvSpPr>
          <p:nvPr/>
        </p:nvSpPr>
        <p:spPr>
          <a:xfrm>
            <a:off x="6838950" y="3971925"/>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BiWM: Advancing Open-Source Interactive Video World Models with Bidirectional Autoregression</a:t>
            </a:r>
          </a:p>
        </p:txBody>
      </p:sp>
      <p:sp>
        <p:nvSpPr>
          <p:cNvPr id="28" name="矩形 27">
            <a:extLst>
              <a:ext uri="{FF2B5EF4-FFF2-40B4-BE49-F238E27FC236}">
                <a16:creationId xmlns:a16="http://schemas.microsoft.com/office/drawing/2014/main" id="{65C7509C-2C35-4B85-A86B-1B3DA8F5B533}"/>
              </a:ext>
            </a:extLst>
          </p:cNvPr>
          <p:cNvSpPr>
            <a:spLocks noGrp="1"/>
          </p:cNvSpPr>
          <p:nvPr/>
        </p:nvSpPr>
        <p:spPr>
          <a:xfrm>
            <a:off x="6838950" y="4638675"/>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10"/>
              </a:rPr>
              <a:t>arXiv: 2606.10135</a:t>
            </a:r>
          </a:p>
        </p:txBody>
      </p:sp>
      <p:sp>
        <p:nvSpPr>
          <p:cNvPr id="29" name="矩形 28">
            <a:extLst>
              <a:ext uri="{FF2B5EF4-FFF2-40B4-BE49-F238E27FC236}">
                <a16:creationId xmlns:a16="http://schemas.microsoft.com/office/drawing/2014/main" id="{25682C34-8729-407B-9372-F504EBD1D98E}"/>
              </a:ext>
            </a:extLst>
          </p:cNvPr>
          <p:cNvSpPr>
            <a:spLocks noGrp="1"/>
          </p:cNvSpPr>
          <p:nvPr/>
        </p:nvSpPr>
        <p:spPr>
          <a:xfrm>
            <a:off x="6391275" y="4972050"/>
            <a:ext cx="352425" cy="295275"/>
          </a:xfrm>
          <a:prstGeom prst="rect">
            <a:avLst/>
          </a:prstGeom>
          <a:noFill/>
          <a:ln w="0">
            <a:noFill/>
          </a:ln>
        </p:spPr>
        <p:txBody>
          <a:bodyPr wrap="square" lIns="0" tIns="0" rIns="0" bIns="0">
            <a:noAutofit/>
          </a:bodyPr>
          <a:lstStyle/>
          <a:p>
            <a:pPr algn="l">
              <a:defRPr sz="1350" b="1">
                <a:solidFill>
                  <a:srgbClr val="6A57B8"/>
                </a:solidFill>
                <a:latin typeface="Microsoft YaHei"/>
                <a:ea typeface="Microsoft YaHei"/>
                <a:cs typeface="Microsoft YaHei"/>
              </a:defRPr>
            </a:pPr>
            <a:r>
              <a:rPr sz="1350" b="1">
                <a:solidFill>
                  <a:srgbClr val="6A57B8"/>
                </a:solidFill>
                <a:latin typeface="Microsoft YaHei"/>
                <a:ea typeface="Microsoft YaHei"/>
                <a:cs typeface="Microsoft YaHei"/>
              </a:rPr>
              <a:t>08</a:t>
            </a:r>
          </a:p>
        </p:txBody>
      </p:sp>
      <p:sp>
        <p:nvSpPr>
          <p:cNvPr id="30" name="矩形 29">
            <a:extLst>
              <a:ext uri="{FF2B5EF4-FFF2-40B4-BE49-F238E27FC236}">
                <a16:creationId xmlns:a16="http://schemas.microsoft.com/office/drawing/2014/main" id="{BE44177B-7C99-457A-9FF0-4129CFA59CF6}"/>
              </a:ext>
            </a:extLst>
          </p:cNvPr>
          <p:cNvSpPr>
            <a:spLocks noGrp="1"/>
          </p:cNvSpPr>
          <p:nvPr/>
        </p:nvSpPr>
        <p:spPr>
          <a:xfrm>
            <a:off x="6838950" y="4972050"/>
            <a:ext cx="4638675" cy="619125"/>
          </a:xfrm>
          <a:prstGeom prst="rect">
            <a:avLst/>
          </a:prstGeom>
          <a:noFill/>
          <a:ln w="0">
            <a:noFill/>
          </a:ln>
        </p:spPr>
        <p:txBody>
          <a:bodyPr wrap="square" lIns="0" tIns="0" rIns="0" bIns="0">
            <a:noAutofit/>
          </a:bodyPr>
          <a:lstStyle/>
          <a:p>
            <a:pPr algn="l">
              <a:defRPr sz="1350" b="1">
                <a:solidFill>
                  <a:srgbClr val="162A4A"/>
                </a:solidFill>
                <a:latin typeface="Microsoft YaHei"/>
                <a:ea typeface="Microsoft YaHei"/>
                <a:cs typeface="Microsoft YaHei"/>
              </a:defRPr>
            </a:pPr>
            <a:r>
              <a:rPr sz="1350" b="1">
                <a:solidFill>
                  <a:srgbClr val="162A4A"/>
                </a:solidFill>
                <a:latin typeface="Microsoft YaHei"/>
                <a:ea typeface="Microsoft YaHei"/>
                <a:cs typeface="Microsoft YaHei"/>
              </a:rPr>
              <a:t>BiWM — cross-backbone conversion framework</a:t>
            </a:r>
          </a:p>
        </p:txBody>
      </p:sp>
      <p:sp>
        <p:nvSpPr>
          <p:cNvPr id="31" name="矩形 30">
            <a:extLst>
              <a:ext uri="{FF2B5EF4-FFF2-40B4-BE49-F238E27FC236}">
                <a16:creationId xmlns:a16="http://schemas.microsoft.com/office/drawing/2014/main" id="{71915CFA-949E-4159-A09A-F1FFDE7E734E}"/>
              </a:ext>
            </a:extLst>
          </p:cNvPr>
          <p:cNvSpPr>
            <a:spLocks noGrp="1"/>
          </p:cNvSpPr>
          <p:nvPr/>
        </p:nvSpPr>
        <p:spPr>
          <a:xfrm>
            <a:off x="6838950" y="5638800"/>
            <a:ext cx="4638675" cy="238125"/>
          </a:xfrm>
          <a:prstGeom prst="rect">
            <a:avLst/>
          </a:prstGeom>
          <a:noFill/>
          <a:ln w="0">
            <a:noFill/>
          </a:ln>
        </p:spPr>
        <p:txBody>
          <a:bodyPr wrap="square" lIns="0" tIns="0" rIns="0" bIns="0">
            <a:noAutofit/>
          </a:bodyPr>
          <a:lstStyle/>
          <a:p>
            <a:pPr algn="l">
              <a:defRPr sz="1200" b="0">
                <a:solidFill>
                  <a:srgbClr val="08559C"/>
                </a:solidFill>
                <a:latin typeface="Microsoft YaHei"/>
                <a:ea typeface="Microsoft YaHei"/>
                <a:cs typeface="Microsoft YaHei"/>
              </a:defRPr>
            </a:pPr>
            <a:r>
              <a:rPr sz="1200" b="0">
                <a:solidFill>
                  <a:srgbClr val="08559C"/>
                </a:solidFill>
                <a:latin typeface="Microsoft YaHei"/>
                <a:ea typeface="Microsoft YaHei"/>
                <a:cs typeface="Microsoft YaHei"/>
                <a:hlinkClick r:id="rId11"/>
              </a:rPr>
              <a:t>Official repository / implementation</a:t>
            </a:r>
          </a:p>
        </p:txBody>
      </p:sp>
      <p:sp>
        <p:nvSpPr>
          <p:cNvPr id="32" name="矩形 31">
            <a:extLst>
              <a:ext uri="{FF2B5EF4-FFF2-40B4-BE49-F238E27FC236}">
                <a16:creationId xmlns:a16="http://schemas.microsoft.com/office/drawing/2014/main" id="{90128C87-CEDB-4544-9122-47550574AD10}"/>
              </a:ext>
            </a:extLst>
          </p:cNvPr>
          <p:cNvSpPr>
            <a:spLocks noGrp="1"/>
          </p:cNvSpPr>
          <p:nvPr/>
        </p:nvSpPr>
        <p:spPr>
          <a:xfrm>
            <a:off x="609600" y="6143625"/>
            <a:ext cx="10972800" cy="9525"/>
          </a:xfrm>
          <a:prstGeom prst="rect">
            <a:avLst/>
          </a:prstGeom>
          <a:solidFill>
            <a:srgbClr val="D9E1ED"/>
          </a:solidFill>
          <a:ln w="0">
            <a:noFill/>
          </a:ln>
        </p:spPr>
      </p:sp>
      <p:sp>
        <p:nvSpPr>
          <p:cNvPr id="33" name="矩形 32">
            <a:extLst>
              <a:ext uri="{FF2B5EF4-FFF2-40B4-BE49-F238E27FC236}">
                <a16:creationId xmlns:a16="http://schemas.microsoft.com/office/drawing/2014/main" id="{4403D383-3D54-42FB-BD84-4978B7A8B945}"/>
              </a:ext>
            </a:extLst>
          </p:cNvPr>
          <p:cNvSpPr>
            <a:spLocks noGrp="1"/>
          </p:cNvSpPr>
          <p:nvPr/>
        </p:nvSpPr>
        <p:spPr>
          <a:xfrm>
            <a:off x="609600" y="6276975"/>
            <a:ext cx="10972800" cy="238125"/>
          </a:xfrm>
          <a:prstGeom prst="rect">
            <a:avLst/>
          </a:prstGeom>
          <a:noFill/>
          <a:ln w="0">
            <a:noFill/>
          </a:ln>
        </p:spPr>
        <p:txBody>
          <a:bodyPr wrap="square" lIns="0" tIns="0" rIns="0" bIns="0">
            <a:noAutofit/>
          </a:bodyPr>
          <a:lstStyle/>
          <a:p>
            <a:pPr algn="l">
              <a:defRPr sz="1125" b="0">
                <a:solidFill>
                  <a:srgbClr val="536174"/>
                </a:solidFill>
                <a:latin typeface="Microsoft YaHei"/>
                <a:ea typeface="Microsoft YaHei"/>
                <a:cs typeface="Microsoft YaHei"/>
              </a:defRPr>
            </a:pPr>
            <a:r>
              <a:rPr sz="1125" b="0">
                <a:solidFill>
                  <a:srgbClr val="536174"/>
                </a:solidFill>
                <a:latin typeface="Microsoft YaHei"/>
                <a:ea typeface="Microsoft YaHei"/>
                <a:cs typeface="Microsoft YaHei"/>
              </a:rPr>
              <a:t>Click the blue links to open primary sources.  Source snapshot: 10 September 2026.</a:t>
            </a:r>
          </a:p>
        </p:txBody>
      </p:sp>
    </p:spTree>
    <p:extLst>
      <p:ext uri="{BB962C8B-B14F-4D97-AF65-F5344CB8AC3E}">
        <p14:creationId xmlns:p14="http://schemas.microsoft.com/office/powerpoint/2010/main" val="476547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p:blipFill>
        <p:spPr>
          <a:xfrm>
            <a:off x="609600" y="355521"/>
            <a:ext cx="3143250" cy="927259"/>
          </a:xfrm>
          <a:prstGeom prst="rect">
            <a:avLst/>
          </a:prstGeom>
        </p:spPr>
      </p:pic>
      <p:pic>
        <p:nvPicPr>
          <p:cNvPr id="11" name="图片 10"/>
          <p:cNvPicPr>
            <a:picLocks noChangeAspect="1"/>
          </p:cNvPicPr>
          <p:nvPr/>
        </p:nvPicPr>
        <p:blipFill>
          <a:blip r:embed="rId4"/>
          <a:stretch/>
        </p:blipFill>
        <p:spPr>
          <a:xfrm>
            <a:off x="10001250" y="279631"/>
            <a:ext cx="1581150" cy="1059989"/>
          </a:xfrm>
          <a:prstGeom prst="rect">
            <a:avLst/>
          </a:prstGeom>
        </p:spPr>
      </p:pic>
      <p:sp>
        <p:nvSpPr>
          <p:cNvPr id="3" name="矩形 2">
            <a:extLst>
              <a:ext uri="{FF2B5EF4-FFF2-40B4-BE49-F238E27FC236}">
                <a16:creationId xmlns:a16="http://schemas.microsoft.com/office/drawing/2014/main" id="{17950212-1896-4033-8FB9-E9A26A33689F}"/>
              </a:ext>
            </a:extLst>
          </p:cNvPr>
          <p:cNvSpPr>
            <a:spLocks noGrp="1"/>
          </p:cNvSpPr>
          <p:nvPr/>
        </p:nvSpPr>
        <p:spPr>
          <a:xfrm>
            <a:off x="647700" y="1724025"/>
            <a:ext cx="10668000" cy="257175"/>
          </a:xfrm>
          <a:prstGeom prst="rect">
            <a:avLst/>
          </a:prstGeom>
          <a:noFill/>
          <a:ln w="0">
            <a:noFill/>
          </a:ln>
        </p:spPr>
        <p:txBody>
          <a:bodyPr wrap="square" lIns="0" tIns="0" rIns="0" bIns="0">
            <a:noAutofit/>
          </a:bodyPr>
          <a:lstStyle/>
          <a:p>
            <a:pPr algn="l">
              <a:defRPr sz="1200" b="1">
                <a:solidFill>
                  <a:srgbClr val="08559C"/>
                </a:solidFill>
                <a:latin typeface="Microsoft YaHei"/>
                <a:ea typeface="Microsoft YaHei"/>
                <a:cs typeface="Microsoft YaHei"/>
              </a:defRPr>
            </a:pPr>
            <a:r>
              <a:rPr sz="1200" b="1">
                <a:solidFill>
                  <a:srgbClr val="08559C"/>
                </a:solidFill>
                <a:latin typeface="Microsoft YaHei"/>
                <a:ea typeface="Microsoft YaHei"/>
                <a:cs typeface="Microsoft YaHei"/>
              </a:rPr>
              <a:t>AVC LAB  /  DISCUSSION</a:t>
            </a:r>
          </a:p>
        </p:txBody>
      </p:sp>
      <p:sp>
        <p:nvSpPr>
          <p:cNvPr id="4" name="矩形 3">
            <a:extLst>
              <a:ext uri="{FF2B5EF4-FFF2-40B4-BE49-F238E27FC236}">
                <a16:creationId xmlns:a16="http://schemas.microsoft.com/office/drawing/2014/main" id="{22C14A89-B519-46E7-AD94-9AF38E26F2A7}"/>
              </a:ext>
            </a:extLst>
          </p:cNvPr>
          <p:cNvSpPr>
            <a:spLocks noGrp="1"/>
          </p:cNvSpPr>
          <p:nvPr/>
        </p:nvSpPr>
        <p:spPr>
          <a:xfrm>
            <a:off x="609600" y="2238375"/>
            <a:ext cx="10972800" cy="1047750"/>
          </a:xfrm>
          <a:prstGeom prst="rect">
            <a:avLst/>
          </a:prstGeom>
          <a:noFill/>
          <a:ln w="0">
            <a:noFill/>
          </a:ln>
        </p:spPr>
        <p:txBody>
          <a:bodyPr wrap="square" lIns="0" tIns="0" rIns="0" bIns="0">
            <a:noAutofit/>
          </a:bodyPr>
          <a:lstStyle/>
          <a:p>
            <a:pPr algn="l">
              <a:defRPr sz="3900" b="1">
                <a:solidFill>
                  <a:srgbClr val="162A4A"/>
                </a:solidFill>
                <a:latin typeface="Microsoft YaHei"/>
                <a:ea typeface="Microsoft YaHei"/>
                <a:cs typeface="Microsoft YaHei"/>
              </a:defRPr>
            </a:pPr>
            <a:r>
              <a:rPr sz="3900" b="1">
                <a:solidFill>
                  <a:srgbClr val="162A4A"/>
                </a:solidFill>
                <a:latin typeface="Microsoft YaHei"/>
                <a:ea typeface="Microsoft YaHei"/>
                <a:cs typeface="Microsoft YaHei"/>
              </a:rPr>
              <a:t>From video priors to useful rollouts</a:t>
            </a:r>
          </a:p>
        </p:txBody>
      </p:sp>
      <p:sp>
        <p:nvSpPr>
          <p:cNvPr id="5" name="矩形 4">
            <a:extLst>
              <a:ext uri="{FF2B5EF4-FFF2-40B4-BE49-F238E27FC236}">
                <a16:creationId xmlns:a16="http://schemas.microsoft.com/office/drawing/2014/main" id="{6F661D32-F91C-4743-821D-9900E6AEBAA9}"/>
              </a:ext>
            </a:extLst>
          </p:cNvPr>
          <p:cNvSpPr>
            <a:spLocks noGrp="1"/>
          </p:cNvSpPr>
          <p:nvPr/>
        </p:nvSpPr>
        <p:spPr>
          <a:xfrm>
            <a:off x="638175" y="3333750"/>
            <a:ext cx="10668000" cy="742950"/>
          </a:xfrm>
          <a:prstGeom prst="rect">
            <a:avLst/>
          </a:prstGeom>
          <a:noFill/>
          <a:ln w="0">
            <a:noFill/>
          </a:ln>
        </p:spPr>
        <p:txBody>
          <a:bodyPr wrap="square" lIns="0" tIns="0" rIns="0" bIns="0">
            <a:noAutofit/>
          </a:bodyPr>
          <a:lstStyle/>
          <a:p>
            <a:pPr algn="l">
              <a:defRPr sz="2100" b="0">
                <a:solidFill>
                  <a:srgbClr val="08559C"/>
                </a:solidFill>
                <a:latin typeface="Microsoft YaHei"/>
                <a:ea typeface="Microsoft YaHei"/>
                <a:cs typeface="Microsoft YaHei"/>
              </a:defRPr>
            </a:pPr>
            <a:r>
              <a:rPr sz="2100" b="0">
                <a:solidFill>
                  <a:srgbClr val="08559C"/>
                </a:solidFill>
                <a:latin typeface="Microsoft YaHei"/>
                <a:ea typeface="Microsoft YaHei"/>
                <a:cs typeface="Microsoft YaHei"/>
              </a:rPr>
              <a:t>Which missing capability should our next experiment test?</a:t>
            </a:r>
          </a:p>
        </p:txBody>
      </p:sp>
      <p:sp>
        <p:nvSpPr>
          <p:cNvPr id="6" name="矩形 5">
            <a:extLst>
              <a:ext uri="{FF2B5EF4-FFF2-40B4-BE49-F238E27FC236}">
                <a16:creationId xmlns:a16="http://schemas.microsoft.com/office/drawing/2014/main" id="{57C14FFE-3427-4F45-B138-3F7B626F0621}"/>
              </a:ext>
            </a:extLst>
          </p:cNvPr>
          <p:cNvSpPr>
            <a:spLocks noGrp="1"/>
          </p:cNvSpPr>
          <p:nvPr/>
        </p:nvSpPr>
        <p:spPr>
          <a:xfrm>
            <a:off x="647700" y="4248150"/>
            <a:ext cx="952500" cy="38100"/>
          </a:xfrm>
          <a:prstGeom prst="rect">
            <a:avLst/>
          </a:prstGeom>
          <a:solidFill>
            <a:srgbClr val="6A57B8"/>
          </a:solidFill>
          <a:ln w="0">
            <a:noFill/>
          </a:ln>
        </p:spPr>
      </p:sp>
      <p:sp>
        <p:nvSpPr>
          <p:cNvPr id="7" name="矩形 6">
            <a:extLst>
              <a:ext uri="{FF2B5EF4-FFF2-40B4-BE49-F238E27FC236}">
                <a16:creationId xmlns:a16="http://schemas.microsoft.com/office/drawing/2014/main" id="{0E7C285E-1487-4434-8923-850845F0AEDB}"/>
              </a:ext>
            </a:extLst>
          </p:cNvPr>
          <p:cNvSpPr>
            <a:spLocks noGrp="1"/>
          </p:cNvSpPr>
          <p:nvPr/>
        </p:nvSpPr>
        <p:spPr>
          <a:xfrm>
            <a:off x="647700" y="4543425"/>
            <a:ext cx="10668000" cy="381000"/>
          </a:xfrm>
          <a:prstGeom prst="rect">
            <a:avLst/>
          </a:prstGeom>
          <a:noFill/>
          <a:ln w="0">
            <a:noFill/>
          </a:ln>
        </p:spPr>
        <p:txBody>
          <a:bodyPr wrap="square" lIns="0" tIns="0" rIns="0" bIns="0">
            <a:noAutofit/>
          </a:bodyPr>
          <a:lstStyle/>
          <a:p>
            <a:pPr algn="l">
              <a:defRPr sz="1575" b="0">
                <a:solidFill>
                  <a:srgbClr val="536174"/>
                </a:solidFill>
                <a:latin typeface="Microsoft YaHei"/>
                <a:ea typeface="Microsoft YaHei"/>
                <a:cs typeface="Microsoft YaHei"/>
              </a:defRPr>
            </a:pPr>
            <a:r>
              <a:rPr sz="1575" b="0">
                <a:solidFill>
                  <a:srgbClr val="536174"/>
                </a:solidFill>
                <a:latin typeface="Microsoft YaHei"/>
                <a:ea typeface="Microsoft YaHei"/>
                <a:cs typeface="Microsoft YaHei"/>
              </a:rPr>
              <a:t>Action fidelity  ·  Persistent memory  ·  Long-horizon stability  ·  Task success</a:t>
            </a:r>
          </a:p>
        </p:txBody>
      </p:sp>
      <p:pic>
        <p:nvPicPr>
          <p:cNvPr id="17" name="图片 16"/>
          <p:cNvPicPr>
            <a:picLocks noChangeAspect="1"/>
          </p:cNvPicPr>
          <p:nvPr/>
        </p:nvPicPr>
        <p:blipFill>
          <a:blip r:embed="rId5"/>
          <a:stretch/>
        </p:blipFill>
        <p:spPr>
          <a:xfrm>
            <a:off x="3325133" y="5238750"/>
            <a:ext cx="5541735" cy="1619250"/>
          </a:xfrm>
          <a:prstGeom prst="rect">
            <a:avLst/>
          </a:prstGeom>
        </p:spPr>
      </p:pic>
      <p:sp>
        <p:nvSpPr>
          <p:cNvPr id="9" name="矩形 8">
            <a:extLst>
              <a:ext uri="{FF2B5EF4-FFF2-40B4-BE49-F238E27FC236}">
                <a16:creationId xmlns:a16="http://schemas.microsoft.com/office/drawing/2014/main" id="{1A189E8F-0DDF-4A78-9019-FDCDA4F6FEDF}"/>
              </a:ext>
            </a:extLst>
          </p:cNvPr>
          <p:cNvSpPr>
            <a:spLocks noGrp="1"/>
          </p:cNvSpPr>
          <p:nvPr/>
        </p:nvSpPr>
        <p:spPr>
          <a:xfrm>
            <a:off x="647700" y="4972050"/>
            <a:ext cx="10668000" cy="257175"/>
          </a:xfrm>
          <a:prstGeom prst="rect">
            <a:avLst/>
          </a:prstGeom>
          <a:noFill/>
          <a:ln w="0">
            <a:noFill/>
          </a:ln>
        </p:spPr>
        <p:txBody>
          <a:bodyPr wrap="square" lIns="0" tIns="0" rIns="0" bIns="0">
            <a:noAutofit/>
          </a:bodyPr>
          <a:lstStyle/>
          <a:p>
            <a:pPr algn="l">
              <a:defRPr sz="1200" b="1">
                <a:solidFill>
                  <a:srgbClr val="08559C"/>
                </a:solidFill>
                <a:latin typeface="Microsoft YaHei"/>
                <a:ea typeface="Microsoft YaHei"/>
                <a:cs typeface="Microsoft YaHei"/>
              </a:defRPr>
            </a:pPr>
            <a:r>
              <a:rPr sz="1200" b="1">
                <a:solidFill>
                  <a:srgbClr val="08559C"/>
                </a:solidFill>
                <a:latin typeface="Microsoft YaHei"/>
                <a:ea typeface="Microsoft YaHei"/>
                <a:cs typeface="Microsoft YaHei"/>
              </a:rPr>
              <a:t>Wan2.1 &amp; Wan2.2  |  Technical seminar</a:t>
            </a:r>
          </a:p>
        </p:txBody>
      </p:sp>
    </p:spTree>
    <p:extLst>
      <p:ext uri="{BB962C8B-B14F-4D97-AF65-F5344CB8AC3E}">
        <p14:creationId xmlns:p14="http://schemas.microsoft.com/office/powerpoint/2010/main" val="15199078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icrosoft YaHei"/>
        <a:ea typeface="Microsoft YaHei"/>
        <a:cs typeface="Microsoft YaHei"/>
      </a:majorFont>
      <a:minorFont>
        <a:latin typeface="Microsoft YaHei"/>
        <a:ea typeface="Microsoft YaHei"/>
        <a:cs typeface="Microsoft YaHe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11196</Words>
  <Application>Microsoft Macintosh PowerPoint</Application>
  <DocSecurity>0</DocSecurity>
  <PresentationFormat>宽屏</PresentationFormat>
  <Paragraphs>1076</Paragraphs>
  <Slides>38</Slides>
  <Notes>38</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38</vt:i4>
      </vt:variant>
    </vt:vector>
  </HeadingPairs>
  <TitlesOfParts>
    <vt:vector size="40" baseType="lpstr">
      <vt:lpstr>Microsoft YaHei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
  <dc:creator>Walnut Exporter</dc:creator>
  <cp:keywords/>
  <dc:description/>
  <cp:lastModifiedBy>1300116177@qq.com</cp:lastModifiedBy>
  <cp:revision>1</cp:revision>
  <dcterms:created xsi:type="dcterms:W3CDTF">2026-09-10T13:35:11Z</dcterms:created>
  <dcterms:modified xsi:type="dcterms:W3CDTF">2026-09-10T13:44:25Z</dcterms:modified>
  <cp:category/>
</cp:coreProperties>
</file>