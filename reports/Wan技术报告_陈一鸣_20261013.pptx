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39"/>
  </p:handoutMasterIdLst>
  <p:sldIdLst>
    <p:sldId id="256" r:id="rId3"/>
    <p:sldId id="294" r:id="rId5"/>
    <p:sldId id="996" r:id="rId6"/>
    <p:sldId id="997" r:id="rId7"/>
    <p:sldId id="1003" r:id="rId8"/>
    <p:sldId id="998" r:id="rId9"/>
    <p:sldId id="1000" r:id="rId10"/>
    <p:sldId id="1001" r:id="rId11"/>
    <p:sldId id="1002" r:id="rId12"/>
    <p:sldId id="1006" r:id="rId13"/>
    <p:sldId id="1007" r:id="rId14"/>
    <p:sldId id="1008" r:id="rId15"/>
    <p:sldId id="1009" r:id="rId16"/>
    <p:sldId id="1010" r:id="rId17"/>
    <p:sldId id="1011" r:id="rId18"/>
    <p:sldId id="1013" r:id="rId19"/>
    <p:sldId id="1014" r:id="rId20"/>
    <p:sldId id="1012" r:id="rId21"/>
    <p:sldId id="1015" r:id="rId22"/>
    <p:sldId id="1016" r:id="rId23"/>
    <p:sldId id="1017" r:id="rId24"/>
    <p:sldId id="1019" r:id="rId25"/>
    <p:sldId id="1026" r:id="rId26"/>
    <p:sldId id="1027" r:id="rId27"/>
    <p:sldId id="1028" r:id="rId28"/>
    <p:sldId id="1018" r:id="rId29"/>
    <p:sldId id="1020" r:id="rId30"/>
    <p:sldId id="1022" r:id="rId31"/>
    <p:sldId id="1021" r:id="rId32"/>
    <p:sldId id="1023" r:id="rId33"/>
    <p:sldId id="1024" r:id="rId34"/>
    <p:sldId id="1025" r:id="rId35"/>
    <p:sldId id="291" r:id="rId36"/>
    <p:sldId id="292" r:id="rId37"/>
    <p:sldId id="319" r:id="rId38"/>
  </p:sldIdLst>
  <p:sldSz cx="12192000" cy="6858000"/>
  <p:notesSz cx="6858000" cy="9144000"/>
  <p:embeddedFontLst>
    <p:embeddedFont>
      <p:font typeface="等线" panose="02010600030101010101" charset="-122"/>
      <p:regular r:id="rId43"/>
    </p:embeddedFont>
    <p:embeddedFont>
      <p:font typeface="微软雅黑" panose="020B0503020204020204" pitchFamily="34" charset="-122"/>
      <p:regular r:id="rId44"/>
    </p:embeddedFont>
    <p:embeddedFont>
      <p:font typeface="等线 Light" panose="02010600030101010101" charset="-122"/>
      <p:regular r:id="rId45"/>
    </p:embeddedFont>
    <p:embeddedFont>
      <p:font typeface="Calibri" panose="020F0502020204030204"/>
      <p:regular r:id="rId46"/>
      <p:bold r:id="rId47"/>
      <p:italic r:id="rId48"/>
      <p:boldItalic r:id="rId49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A"/>
    <a:srgbClr val="08559C"/>
    <a:srgbClr val="083A9C"/>
    <a:srgbClr val="B2B4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28" autoAdjust="0"/>
    <p:restoredTop sz="94572" autoAdjust="0"/>
  </p:normalViewPr>
  <p:slideViewPr>
    <p:cSldViewPr snapToGrid="0">
      <p:cViewPr varScale="1">
        <p:scale>
          <a:sx n="93" d="100"/>
          <a:sy n="93" d="100"/>
        </p:scale>
        <p:origin x="3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04"/>
    </p:cViewPr>
  </p:sorter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font" Target="fonts/font7.fntdata"/><Relationship Id="rId48" Type="http://schemas.openxmlformats.org/officeDocument/2006/relationships/font" Target="fonts/font6.fntdata"/><Relationship Id="rId47" Type="http://schemas.openxmlformats.org/officeDocument/2006/relationships/font" Target="fonts/font5.fntdata"/><Relationship Id="rId46" Type="http://schemas.openxmlformats.org/officeDocument/2006/relationships/font" Target="fonts/font4.fntdata"/><Relationship Id="rId45" Type="http://schemas.openxmlformats.org/officeDocument/2006/relationships/font" Target="fonts/font3.fntdata"/><Relationship Id="rId44" Type="http://schemas.openxmlformats.org/officeDocument/2006/relationships/font" Target="fonts/font2.fntdata"/><Relationship Id="rId43" Type="http://schemas.openxmlformats.org/officeDocument/2006/relationships/font" Target="fonts/font1.fntdata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4.vml.rels><?xml version="1.0" encoding="UTF-8" standalone="yes"?>
<Relationships xmlns="http://schemas.openxmlformats.org/package/2006/relationships"><Relationship Id="rId7" Type="http://schemas.openxmlformats.org/officeDocument/2006/relationships/image" Target="../media/image39.emf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F0FED-17ED-F141-AA72-5E00DC8D6F3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7F5C-9C2A-7147-BFA3-4F07D0DF775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English Version</a:t>
            </a:r>
            <a:endParaRPr dirty="0"/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4556" y="180658"/>
            <a:ext cx="2117444" cy="1419516"/>
          </a:xfrm>
          <a:prstGeom prst="rect">
            <a:avLst/>
          </a:prstGeom>
        </p:spPr>
      </p:pic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834072" y="1868487"/>
            <a:ext cx="111402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sp>
        <p:nvSpPr>
          <p:cNvPr id="3" name="矩形 6"/>
          <p:cNvSpPr/>
          <p:nvPr userDrawn="1"/>
        </p:nvSpPr>
        <p:spPr>
          <a:xfrm>
            <a:off x="0" y="0"/>
            <a:ext cx="12192000" cy="10818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矩形 9"/>
          <p:cNvSpPr/>
          <p:nvPr userDrawn="1"/>
        </p:nvSpPr>
        <p:spPr>
          <a:xfrm>
            <a:off x="0" y="6580089"/>
            <a:ext cx="12192000" cy="27791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33D70"/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" name="图片 2" descr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2334" y="261620"/>
            <a:ext cx="4593591" cy="6616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99572" y="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99571" y="1587183"/>
            <a:ext cx="1164635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hf hdr="0" ftr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 Light" panose="02010600030101010101" charset="-122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2pPr>
      <a:lvl3pPr marL="1234440" marR="0" indent="-32004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e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10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4" Type="http://schemas.openxmlformats.org/officeDocument/2006/relationships/vmlDrawing" Target="../drawings/vmlDrawing1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3.png"/><Relationship Id="rId11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4.png"/><Relationship Id="rId11" Type="http://schemas.openxmlformats.org/officeDocument/2006/relationships/vmlDrawing" Target="../drawings/vmlDrawing2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emf"/><Relationship Id="rId8" Type="http://schemas.openxmlformats.org/officeDocument/2006/relationships/oleObject" Target="../embeddings/oleObject12.bin"/><Relationship Id="rId7" Type="http://schemas.openxmlformats.org/officeDocument/2006/relationships/image" Target="../media/image35.e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4.e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33.emf"/><Relationship Id="rId2" Type="http://schemas.openxmlformats.org/officeDocument/2006/relationships/oleObject" Target="../embeddings/oleObject9.bin"/><Relationship Id="rId19" Type="http://schemas.openxmlformats.org/officeDocument/2006/relationships/vmlDrawing" Target="../drawings/vmlDrawing4.v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41.png"/><Relationship Id="rId16" Type="http://schemas.openxmlformats.org/officeDocument/2006/relationships/image" Target="../media/image40.png"/><Relationship Id="rId15" Type="http://schemas.openxmlformats.org/officeDocument/2006/relationships/image" Target="../media/image39.emf"/><Relationship Id="rId14" Type="http://schemas.openxmlformats.org/officeDocument/2006/relationships/oleObject" Target="../embeddings/oleObject15.bin"/><Relationship Id="rId13" Type="http://schemas.openxmlformats.org/officeDocument/2006/relationships/image" Target="../media/image38.emf"/><Relationship Id="rId12" Type="http://schemas.openxmlformats.org/officeDocument/2006/relationships/oleObject" Target="../embeddings/oleObject14.bin"/><Relationship Id="rId11" Type="http://schemas.openxmlformats.org/officeDocument/2006/relationships/image" Target="../media/image37.emf"/><Relationship Id="rId10" Type="http://schemas.openxmlformats.org/officeDocument/2006/relationships/oleObject" Target="../embeddings/oleObject13.bin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emf"/><Relationship Id="rId8" Type="http://schemas.openxmlformats.org/officeDocument/2006/relationships/oleObject" Target="../embeddings/oleObject19.bin"/><Relationship Id="rId7" Type="http://schemas.openxmlformats.org/officeDocument/2006/relationships/image" Target="../media/image53.emf"/><Relationship Id="rId6" Type="http://schemas.openxmlformats.org/officeDocument/2006/relationships/oleObject" Target="../embeddings/oleObject18.bin"/><Relationship Id="rId5" Type="http://schemas.openxmlformats.org/officeDocument/2006/relationships/image" Target="../media/image52.e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51.emf"/><Relationship Id="rId2" Type="http://schemas.openxmlformats.org/officeDocument/2006/relationships/oleObject" Target="../embeddings/oleObject16.bin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55.emf"/><Relationship Id="rId10" Type="http://schemas.openxmlformats.org/officeDocument/2006/relationships/oleObject" Target="../embeddings/oleObject20.bin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6.e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e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60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59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58.png"/><Relationship Id="rId13" Type="http://schemas.openxmlformats.org/officeDocument/2006/relationships/vmlDrawing" Target="../drawings/vmlDrawing7.v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9.xml"/><Relationship Id="rId7" Type="http://schemas.openxmlformats.org/officeDocument/2006/relationships/hyperlink" Target="https://github.com/Wan-Video/Wan2.2/blob/main/wan/textimage2video.py" TargetMode="External"/><Relationship Id="rId6" Type="http://schemas.openxmlformats.org/officeDocument/2006/relationships/hyperlink" Target="https://huggingface.co/Wan-AI/Wan2.2-TI2V-5B" TargetMode="External"/><Relationship Id="rId5" Type="http://schemas.openxmlformats.org/officeDocument/2006/relationships/hyperlink" Target="https://github.com/Wan-Video/Wan2.2/blob/main/wan/text2video.py" TargetMode="External"/><Relationship Id="rId4" Type="http://schemas.openxmlformats.org/officeDocument/2006/relationships/hyperlink" Target="https://github.com/Wan-Video/Wan2.2" TargetMode="External"/><Relationship Id="rId3" Type="http://schemas.openxmlformats.org/officeDocument/2006/relationships/hyperlink" Target="https://github.com/Wan-Video/Wan2.1" TargetMode="External"/><Relationship Id="rId2" Type="http://schemas.openxmlformats.org/officeDocument/2006/relationships/hyperlink" Target="https://arxiv.org/abs/2503.20314" TargetMode="Externa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hyperlink" Target="https://github.com/LynnReal-AI/BiWM" TargetMode="External"/><Relationship Id="rId8" Type="http://schemas.openxmlformats.org/officeDocument/2006/relationships/hyperlink" Target="https://arxiv.org/abs/2606.10135" TargetMode="External"/><Relationship Id="rId7" Type="http://schemas.openxmlformats.org/officeDocument/2006/relationships/hyperlink" Target="https://github.com/RobbinW/EVA" TargetMode="External"/><Relationship Id="rId6" Type="http://schemas.openxmlformats.org/officeDocument/2006/relationships/hyperlink" Target="https://arxiv.org/abs/2603.17808" TargetMode="External"/><Relationship Id="rId5" Type="http://schemas.openxmlformats.org/officeDocument/2006/relationships/hyperlink" Target="https://github.com/stdstu12/YUME" TargetMode="External"/><Relationship Id="rId4" Type="http://schemas.openxmlformats.org/officeDocument/2006/relationships/hyperlink" Target="https://arxiv.org/abs/2512.22096" TargetMode="External"/><Relationship Id="rId3" Type="http://schemas.openxmlformats.org/officeDocument/2006/relationships/hyperlink" Target="https://huggingface.co/Skywork/Matrix-Game-3.0" TargetMode="External"/><Relationship Id="rId2" Type="http://schemas.openxmlformats.org/officeDocument/2006/relationships/hyperlink" Target="https://arxiv.org/abs/2604.08995" TargetMode="Externa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9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3"/>
          <p:cNvSpPr txBox="1"/>
          <p:nvPr/>
        </p:nvSpPr>
        <p:spPr>
          <a:xfrm>
            <a:off x="735905" y="1551107"/>
            <a:ext cx="11052176" cy="34461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Wan</a:t>
            </a:r>
            <a:r>
              <a:rPr lang="zh-CN" altLang="en-US" sz="5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大模型技术报告</a:t>
            </a:r>
            <a:endParaRPr lang="en-US" altLang="zh-CN" sz="5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2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Presenter: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陈一鸣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/>
              <a:t>Date: 2026/10/13</a:t>
            </a: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2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3" name="图片 2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1" y="224424"/>
            <a:ext cx="4049022" cy="11950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82" y="-1"/>
            <a:ext cx="2117444" cy="14195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文本框 3"/>
          <p:cNvSpPr txBox="1"/>
          <p:nvPr/>
        </p:nvSpPr>
        <p:spPr>
          <a:xfrm>
            <a:off x="681513" y="3230880"/>
            <a:ext cx="11052176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dirty="0">
                <a:solidFill>
                  <a:srgbClr val="045499"/>
                </a:solidFill>
              </a:rPr>
              <a:t>Wan 2.1</a:t>
            </a:r>
            <a:endParaRPr lang="zh-CN" altLang="en-US" dirty="0">
              <a:solidFill>
                <a:srgbClr val="045499"/>
              </a:solidFill>
            </a:endParaRPr>
          </a:p>
        </p:txBody>
      </p:sp>
      <p:sp>
        <p:nvSpPr>
          <p:cNvPr id="833" name="椭圆 6"/>
          <p:cNvSpPr/>
          <p:nvPr/>
        </p:nvSpPr>
        <p:spPr>
          <a:xfrm>
            <a:off x="5639594" y="1888434"/>
            <a:ext cx="914400" cy="914401"/>
          </a:xfrm>
          <a:prstGeom prst="ellipse">
            <a:avLst/>
          </a:prstGeom>
          <a:solidFill>
            <a:srgbClr val="FEBF02"/>
          </a:solidFill>
          <a:ln w="12700">
            <a:solidFill>
              <a:srgbClr val="FEBF02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34" name="文本框 5"/>
          <p:cNvSpPr txBox="1"/>
          <p:nvPr/>
        </p:nvSpPr>
        <p:spPr>
          <a:xfrm>
            <a:off x="5468019" y="2084023"/>
            <a:ext cx="1257553" cy="52322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solidFill>
                  <a:srgbClr val="045499"/>
                </a:solidFill>
              </a:rPr>
              <a:t>0</a:t>
            </a:r>
            <a:r>
              <a:rPr lang="en-US" altLang="zh-TW" dirty="0">
                <a:solidFill>
                  <a:srgbClr val="045499"/>
                </a:solidFill>
              </a:rPr>
              <a:t>1</a:t>
            </a:r>
            <a:endParaRPr lang="en-US" altLang="zh-TW" dirty="0">
              <a:solidFill>
                <a:srgbClr val="045499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</a:t>
            </a: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大模型介绍</a:t>
            </a:r>
            <a:endParaRPr kumimoji="1" lang="en-US" altLang="zh-CN" sz="4000" kern="0" dirty="0">
              <a:solidFill>
                <a:srgbClr val="045499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9060" y="1188720"/>
            <a:ext cx="12092940" cy="5074920"/>
          </a:xfrm>
        </p:spPr>
        <p:txBody>
          <a:bodyPr/>
          <a:lstStyle/>
          <a:p>
            <a:pPr marL="0" lvl="0" indent="0">
              <a:lnSpc>
                <a:spcPct val="110000"/>
              </a:lnSpc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Wan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是由通义万相团队提出的开放式视频生成模型系列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Text-to-Video：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文本生成视频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Image-to-Video：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图像生成视频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Text-Image-to-Video：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文本和图像共同生成视频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First-and-Last-Frame-to-Video：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首尾帧约束视频生成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Video-to-Video：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视频编辑和风格转换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Wingdings" panose="05000000000000000000" charset="0"/>
              <a:buChar char="Ø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视频延展、局部编辑和角色一致性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705" y="230505"/>
            <a:ext cx="3417570" cy="39249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4368800"/>
            <a:ext cx="4425950" cy="2489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45" y="4368800"/>
            <a:ext cx="4432300" cy="2476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前置基础知识</a:t>
            </a:r>
            <a:endParaRPr kumimoji="1" lang="zh-CN" altLang="en-US" sz="4000" kern="0" dirty="0">
              <a:solidFill>
                <a:srgbClr val="045499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6217285" cy="5445125"/>
          </a:xfrm>
        </p:spPr>
        <p:txBody>
          <a:bodyPr>
            <a:normAutofit/>
          </a:bodyPr>
          <a:lstStyle/>
          <a:p>
            <a:pPr marL="0" lvl="0" indent="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视频数据的时空结构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                                  </a:t>
            </a:r>
            <a:endParaRPr kumimoji="1" lang="zh-CN" altLang="en-US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空间关系：物体的形状、位置、纹理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时间关系：物体如何运动和变化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语义关系：文字描述对应什么内容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物理关系：动作是否连续、合理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lvl="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自编码器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Autoencoder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由编码器和解码器组成</a:t>
            </a: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lvl="0" indent="0">
              <a:lnSpc>
                <a:spcPct val="110000"/>
              </a:lnSpc>
              <a:buFont typeface="Arial" panose="020B0604020202020204" pitchFamily="34" charset="0"/>
              <a:buNone/>
            </a:pPr>
            <a:endParaRPr kumimoji="1" lang="zh-CN" altLang="en-US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/>
          <p:nvPr/>
        </p:nvGraphicFramePr>
        <p:xfrm>
          <a:off x="2668905" y="1158240"/>
          <a:ext cx="1897380" cy="95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2" imgW="1812290" imgH="990600" progId="Equation.DSMT4">
                  <p:embed/>
                </p:oleObj>
              </mc:Choice>
              <mc:Fallback>
                <p:oleObj name="" r:id="rId2" imgW="1812290" imgH="9906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8905" y="1158240"/>
                        <a:ext cx="1897380" cy="957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969645" y="5295900"/>
          <a:ext cx="1266825" cy="95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4" imgW="584200" imgH="431800" progId="Equation.DSMT4">
                  <p:embed/>
                </p:oleObj>
              </mc:Choice>
              <mc:Fallback>
                <p:oleObj name="" r:id="rId4" imgW="584200" imgH="4318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9645" y="5295900"/>
                        <a:ext cx="1266825" cy="957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2620010" y="5461635"/>
          <a:ext cx="2254250" cy="626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" r:id="rId6" imgW="2551430" imgH="633730" progId="Equation.DSMT4">
                  <p:embed/>
                </p:oleObj>
              </mc:Choice>
              <mc:Fallback>
                <p:oleObj name="" r:id="rId6" imgW="2551430" imgH="63373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0010" y="5461635"/>
                        <a:ext cx="2254250" cy="626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655665" y="963204"/>
            <a:ext cx="6064250" cy="512454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变分自编码器 </a:t>
            </a:r>
            <a:r>
              <a:rPr kumimoji="1" lang="en-US" altLang="zh-CN" sz="2000" b="1" i="0" u="none" strike="noStrike" cap="none" spc="0" normalizeH="0" baseline="0" dirty="0">
                <a:solidFill>
                  <a:srgbClr val="04549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等线" panose="02010600030101010101" charset="-122"/>
              </a:rPr>
              <a:t>VAE</a:t>
            </a:r>
            <a:endParaRPr kumimoji="1" lang="en-US" altLang="zh-CN" sz="2000" b="1" i="0" u="none" strike="noStrike" cap="none" spc="0" normalizeH="0" baseline="0" dirty="0">
              <a:solidFill>
                <a:srgbClr val="04549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VAE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本质上是一个生成模型。它的核心目标是学习已有数据的规律，然后创造出“相似但不完全一样”的全新数据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VAE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将输入映射为一个概率分布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通过重参数化采样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en-US" altLang="zh-CN" sz="2000" b="1" i="0" u="none" strike="noStrike" cap="none" spc="0" normalizeH="0" baseline="0" dirty="0">
              <a:solidFill>
                <a:srgbClr val="04549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等线" panose="02010600030101010101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018693" y="3189978"/>
          <a:ext cx="3544874" cy="568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8" imgW="1744980" imgH="285115" progId="Equation.DSMT4">
                  <p:embed/>
                </p:oleObj>
              </mc:Choice>
              <mc:Fallback>
                <p:oleObj name="Equation" r:id="rId8" imgW="1744980" imgH="285115" progId="Equation.DSMT4">
                  <p:embed/>
                  <p:pic>
                    <p:nvPicPr>
                      <p:cNvPr id="0" name="图片 105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18693" y="3189978"/>
                        <a:ext cx="3544874" cy="568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018693" y="4269212"/>
          <a:ext cx="2846338" cy="407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Equation" r:id="rId10" imgW="1669415" imgH="209550" progId="Equation.DSMT4">
                  <p:embed/>
                </p:oleObj>
              </mc:Choice>
              <mc:Fallback>
                <p:oleObj name="Equation" r:id="rId10" imgW="1669415" imgH="209550" progId="Equation.DSMT4">
                  <p:embed/>
                  <p:pic>
                    <p:nvPicPr>
                      <p:cNvPr id="0" name="图片 105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18693" y="4269212"/>
                        <a:ext cx="2846338" cy="407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5068" y="4581499"/>
            <a:ext cx="5566690" cy="227650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前置基础知识</a:t>
            </a:r>
            <a:endParaRPr kumimoji="1" lang="en-US" altLang="zh-CN" sz="4000" kern="0" dirty="0">
              <a:solidFill>
                <a:srgbClr val="045499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391669" y="1115666"/>
            <a:ext cx="12092940" cy="5074920"/>
          </a:xfrm>
        </p:spPr>
        <p:txBody>
          <a:bodyPr/>
          <a:lstStyle/>
          <a:p>
            <a:pPr marL="457200" lvl="1" indent="0">
              <a:lnSpc>
                <a:spcPct val="110000"/>
              </a:lnSpc>
              <a:buNone/>
            </a:pP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Diffusion Model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4" y="1800321"/>
            <a:ext cx="5546104" cy="2871459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89093" y="5053323"/>
          <a:ext cx="3764770" cy="42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2382520" imgH="276860" progId="Equation.DSMT4">
                  <p:embed/>
                </p:oleObj>
              </mc:Choice>
              <mc:Fallback>
                <p:oleObj name="Equation" r:id="rId3" imgW="2382520" imgH="276860" progId="Equation.DSMT4">
                  <p:embed/>
                  <p:pic>
                    <p:nvPicPr>
                      <p:cNvPr id="0" name="图片 205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9093" y="5053323"/>
                        <a:ext cx="3764770" cy="4227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55545" y="5707020"/>
          <a:ext cx="4400061" cy="483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2315210" imgH="260350" progId="Equation.DSMT4">
                  <p:embed/>
                </p:oleObj>
              </mc:Choice>
              <mc:Fallback>
                <p:oleObj name="Equation" r:id="rId5" imgW="2315210" imgH="260350" progId="Equation.DSMT4">
                  <p:embed/>
                  <p:pic>
                    <p:nvPicPr>
                      <p:cNvPr id="0" name="图片 205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5545" y="5707020"/>
                        <a:ext cx="4400061" cy="483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241664" y="1006352"/>
            <a:ext cx="2564331" cy="4667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457200" lvl="1" indent="0" fontAlgn="auto" hangingPunct="1">
              <a:lnSpc>
                <a:spcPct val="110000"/>
              </a:lnSpc>
              <a:spcBef>
                <a:spcPts val="1000"/>
              </a:spcBef>
              <a:buSzPct val="100000"/>
            </a:pP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Flow Matching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948803"/>
            <a:ext cx="6246313" cy="416041"/>
          </a:xfrm>
          <a:prstGeom prst="rect">
            <a:avLst/>
          </a:prstGeom>
        </p:spPr>
      </p:pic>
      <p:sp>
        <p:nvSpPr>
          <p:cNvPr id="13" name="AutoShape 5" descr="飞书文档 - 图片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786" y="1503336"/>
            <a:ext cx="3767317" cy="20834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4786" y="3696090"/>
            <a:ext cx="3996229" cy="215566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Wan </a:t>
            </a:r>
            <a:r>
              <a:rPr kumimoji="1" lang="zh-CN" altLang="en-US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模型家族</a:t>
            </a:r>
            <a:endParaRPr kumimoji="1" lang="zh-CN" altLang="en-US" dirty="0">
              <a:solidFill>
                <a:srgbClr val="045499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491839" y="1493204"/>
          <a:ext cx="10972800" cy="5147310"/>
        </p:xfrm>
        <a:graphic>
          <a:graphicData uri="http://schemas.openxmlformats.org/drawingml/2006/table">
            <a:tbl>
              <a:tblPr/>
              <a:tblGrid>
                <a:gridCol w="2649071"/>
                <a:gridCol w="1869141"/>
                <a:gridCol w="3227294"/>
                <a:gridCol w="3227294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类型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主要特点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适合任务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59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Wan2.1 T2V-1.3B</a:t>
                      </a:r>
                      <a:endParaRPr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Dense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参数量较小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快速测试、低显存实验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Wan2.1-T2V-14B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Dense 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更强的视频质量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高质量文本生成视频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Wan2.1-I2V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Dense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图像条件生成视频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角色和场景保持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Wan2.2-T2V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MoE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新一代文本生成视频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更复杂运动和语义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Wan2.2-I2V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MoE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图像条件视频生成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图像到动态视频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Wan2.2-TI2V-5B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Dense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文本、图像统一条件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条件视频生成和微调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dirty="0">
                <a:solidFill>
                  <a:srgbClr val="0454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pitchFamily="34" charset="-122"/>
              </a:rPr>
              <a:t>数据处理 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Pre-training</a:t>
            </a:r>
            <a:endParaRPr kumimoji="1" lang="zh-CN" altLang="en-US" dirty="0">
              <a:solidFill>
                <a:srgbClr val="045499"/>
              </a:solidFill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457200" lvl="1" indent="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76" y="1355090"/>
            <a:ext cx="9257744" cy="528097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534" y="-226208"/>
            <a:ext cx="9598266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3600" dirty="0">
                <a:solidFill>
                  <a:srgbClr val="045499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微软雅黑" panose="020B0503020204020204" pitchFamily="34" charset="-122"/>
              </a:rPr>
              <a:t>数据处理 </a:t>
            </a:r>
            <a:r>
              <a:rPr kumimoji="1" lang="en-US" altLang="zh-CN" sz="3600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Pre-training and Post-training</a:t>
            </a:r>
            <a:endParaRPr kumimoji="1" lang="zh-CN" altLang="en-US" sz="3600" kern="0" dirty="0">
              <a:solidFill>
                <a:srgbClr val="045499"/>
              </a:solidFill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13911" y="2117014"/>
            <a:ext cx="1183916" cy="589236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基础处理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-8055" y="845648"/>
            <a:ext cx="591267" cy="5901031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14811" y="863086"/>
            <a:ext cx="9333526" cy="898707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Text detection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：运用</a:t>
            </a:r>
            <a:r>
              <a:rPr kumimoji="1" lang="en-US" altLang="zh-CN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OCR 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文本检测检测图像或视频中文字的面积比例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Aesthetic evaluation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：运用美学质量分类器来过滤低质量图像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NSFW Score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：通过安全模型过滤不适合训练的数据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Black border detection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：自动裁剪无关的黑色边框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Overexposure detection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：过滤曝光严重、亮度分布异常的视频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Synthetic image detection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：训练专家分类器来过滤掉污染图像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Blur detection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：使用模型给图像或视频打模糊分数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Duration and resolution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：保证视频时长超过 </a:t>
            </a:r>
            <a:r>
              <a:rPr kumimoji="1" lang="en-US" altLang="zh-CN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秒且满足不同阶段的分辨率要求</a:t>
            </a:r>
            <a:endParaRPr kumimoji="1" lang="zh-CN" altLang="en-US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1382405" y="881038"/>
            <a:ext cx="291374" cy="2963882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80089" y="4018874"/>
            <a:ext cx="1643443" cy="70788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视觉适量筛选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5494" y="5741161"/>
            <a:ext cx="11731419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运动质量筛选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左大括号 11"/>
          <p:cNvSpPr/>
          <p:nvPr/>
        </p:nvSpPr>
        <p:spPr>
          <a:xfrm>
            <a:off x="1950039" y="4957275"/>
            <a:ext cx="252477" cy="1888303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2480" y="4957275"/>
            <a:ext cx="4771380" cy="193899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Optimal motion</a:t>
            </a:r>
            <a:endParaRPr kumimoji="1" lang="en-US" altLang="zh-CN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Medium-quality motion</a:t>
            </a:r>
            <a:endParaRPr kumimoji="1" lang="en-US" altLang="zh-CN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Static Videos</a:t>
            </a:r>
            <a:endParaRPr kumimoji="1" lang="en-US" altLang="zh-CN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Camera-driven Motion</a:t>
            </a:r>
            <a:endParaRPr kumimoji="1" lang="en-US" altLang="zh-CN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Low-quality Motion</a:t>
            </a:r>
            <a:endParaRPr kumimoji="1" lang="en-US" altLang="zh-CN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Shaky camera footage</a:t>
            </a:r>
            <a:endParaRPr kumimoji="1" lang="zh-CN" altLang="en-US" sz="16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5452024" y="4932101"/>
            <a:ext cx="0" cy="1925899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/>
          <p:cNvSpPr txBox="1"/>
          <p:nvPr/>
        </p:nvSpPr>
        <p:spPr>
          <a:xfrm>
            <a:off x="5747299" y="5367315"/>
            <a:ext cx="1033459" cy="246221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质量</a:t>
            </a:r>
            <a:endParaRPr kumimoji="1" lang="zh-CN" altLang="en-US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内容占位符 5"/>
          <p:cNvSpPr txBox="1"/>
          <p:nvPr/>
        </p:nvSpPr>
        <p:spPr>
          <a:xfrm>
            <a:off x="9650230" y="1655711"/>
            <a:ext cx="3002285" cy="247439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228600" marR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1pPr>
            <a:lvl2pPr marL="723900" marR="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2pPr>
            <a:lvl3pPr marL="1234440" marR="0" indent="-32004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3pPr>
            <a:lvl4pPr marL="1727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4pPr>
            <a:lvl5pPr marL="21844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400" b="0" i="0" u="none" strike="noStrike" cap="none" spc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defRPr>
            </a:lvl5pPr>
            <a:lvl6pPr marL="26416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6pPr>
            <a:lvl7pPr marL="30988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7pPr>
            <a:lvl8pPr marL="35560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8pPr>
            <a:lvl9pPr marL="4013200" marR="0" indent="-355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solidFill>
                  <a:srgbClr val="000000"/>
                </a:solidFill>
                <a:uFillTx/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defRPr>
            </a:lvl9pPr>
          </a:lstStyle>
          <a:p>
            <a:pPr marL="0" indent="0">
              <a:buFont typeface="Arial" panose="020B0604020202020204"/>
              <a:buNone/>
            </a:pPr>
            <a:r>
              <a:rPr lang="zh-CN" altLang="en-US" sz="2000" b="1" dirty="0"/>
              <a:t>图像后训练数据</a:t>
            </a:r>
            <a:endParaRPr lang="zh-CN" altLang="en-US" sz="2000" b="1" dirty="0"/>
          </a:p>
          <a:p>
            <a:pPr marL="0" indent="0">
              <a:buFont typeface="Arial" panose="020B0604020202020204"/>
              <a:buNone/>
            </a:pPr>
            <a:r>
              <a:rPr lang="zh-CN" altLang="en-US" sz="1600" dirty="0"/>
              <a:t>从高分图像中进一步筛选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质量最高的 </a:t>
            </a:r>
            <a:r>
              <a:rPr lang="en-US" altLang="zh-CN" sz="1600" dirty="0"/>
              <a:t>20%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风格多样的数据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不同类别的数据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600" dirty="0"/>
              <a:t>人工补充的数据</a:t>
            </a:r>
            <a:endParaRPr lang="en-US" altLang="zh-CN" sz="1600" dirty="0"/>
          </a:p>
          <a:p>
            <a:pPr marL="0" indent="0">
              <a:buFont typeface="Arial" panose="020B0604020202020204"/>
              <a:buNone/>
            </a:pPr>
            <a:endParaRPr lang="zh-CN" altLang="en-US" sz="1600" dirty="0"/>
          </a:p>
          <a:p>
            <a:pPr marL="0" indent="-38100">
              <a:lnSpc>
                <a:spcPct val="110000"/>
              </a:lnSpc>
              <a:buFont typeface="Arial" panose="020B0604020202020204"/>
              <a:buNone/>
            </a:pP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55069" y="4057843"/>
            <a:ext cx="4565124" cy="2431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视频后训练数据</a:t>
            </a:r>
            <a:endParaRPr lang="zh-CN" altLang="en-US" sz="2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视频筛选同时考虑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视觉质量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运动质量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类别平衡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运动复杂度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408042" y="1682405"/>
            <a:ext cx="0" cy="5188688"/>
          </a:xfrm>
          <a:prstGeom prst="line">
            <a:avLst/>
          </a:prstGeom>
          <a:noFill/>
          <a:ln w="3175" cap="flat">
            <a:solidFill>
              <a:schemeClr val="accent1"/>
            </a:solidFill>
            <a:prstDash val="lgDashDot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文本框 23"/>
          <p:cNvSpPr txBox="1"/>
          <p:nvPr/>
        </p:nvSpPr>
        <p:spPr>
          <a:xfrm>
            <a:off x="2076277" y="4060127"/>
            <a:ext cx="7646976" cy="101566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将数据聚类成 </a:t>
            </a:r>
            <a:r>
              <a:rPr kumimoji="1" lang="en-US" altLang="zh-CN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 </a:t>
            </a: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个类别，每个子集抽样人工评分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训练质量评估模型，给全部数据打分</a:t>
            </a:r>
            <a:endParaRPr kumimoji="1" lang="en-US" altLang="zh-CN" sz="16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zh-CN" altLang="en-US" sz="4000" kern="0" dirty="0">
                <a:solidFill>
                  <a:srgbClr val="045499"/>
                </a:solidFill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数据处理  </a:t>
            </a: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Dense Video Caption</a:t>
            </a:r>
            <a:endParaRPr kumimoji="1" lang="zh-CN" altLang="en-US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98425" y="1409383"/>
            <a:ext cx="12093076" cy="520308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原始网页标题或标签通常过于简单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541" y="3834713"/>
            <a:ext cx="7007822" cy="287760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26" y="2035546"/>
            <a:ext cx="4238625" cy="9715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639" y="1309529"/>
            <a:ext cx="2838450" cy="2114550"/>
          </a:xfrm>
          <a:prstGeom prst="rect">
            <a:avLst/>
          </a:prstGeom>
        </p:spPr>
      </p:pic>
      <p:sp>
        <p:nvSpPr>
          <p:cNvPr id="16" name="箭头: 下弧形 15"/>
          <p:cNvSpPr/>
          <p:nvPr/>
        </p:nvSpPr>
        <p:spPr>
          <a:xfrm>
            <a:off x="4894852" y="2521321"/>
            <a:ext cx="1031607" cy="516837"/>
          </a:xfrm>
          <a:prstGeom prst="curvedUp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73407" y="1984746"/>
            <a:ext cx="1151466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8425" y="3382662"/>
            <a:ext cx="3937000" cy="36933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模型采用类似 </a:t>
            </a:r>
            <a:r>
              <a:rPr lang="en-US" altLang="zh-CN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LLaVA</a:t>
            </a:r>
            <a:r>
              <a:rPr lang="en-US" altLang="zh-CN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86597" y="4103380"/>
            <a:ext cx="6223000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ViT 图像编码器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↓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两层 MLP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↓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Qwen LLM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↓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密集描述</a:t>
            </a:r>
            <a:endParaRPr lang="zh-CN" altLang="en-US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77326" y="3952761"/>
            <a:ext cx="3068607" cy="2667687"/>
          </a:xfrm>
          <a:custGeom>
            <a:avLst/>
            <a:gdLst>
              <a:gd name="connsiteX0" fmla="*/ 0 w 3068607"/>
              <a:gd name="connsiteY0" fmla="*/ 0 h 2667687"/>
              <a:gd name="connsiteX1" fmla="*/ 542121 w 3068607"/>
              <a:gd name="connsiteY1" fmla="*/ 0 h 2667687"/>
              <a:gd name="connsiteX2" fmla="*/ 1084241 w 3068607"/>
              <a:gd name="connsiteY2" fmla="*/ 0 h 2667687"/>
              <a:gd name="connsiteX3" fmla="*/ 1534304 w 3068607"/>
              <a:gd name="connsiteY3" fmla="*/ 0 h 2667687"/>
              <a:gd name="connsiteX4" fmla="*/ 1953680 w 3068607"/>
              <a:gd name="connsiteY4" fmla="*/ 0 h 2667687"/>
              <a:gd name="connsiteX5" fmla="*/ 2403742 w 3068607"/>
              <a:gd name="connsiteY5" fmla="*/ 0 h 2667687"/>
              <a:gd name="connsiteX6" fmla="*/ 3068607 w 3068607"/>
              <a:gd name="connsiteY6" fmla="*/ 0 h 2667687"/>
              <a:gd name="connsiteX7" fmla="*/ 3068607 w 3068607"/>
              <a:gd name="connsiteY7" fmla="*/ 480184 h 2667687"/>
              <a:gd name="connsiteX8" fmla="*/ 3068607 w 3068607"/>
              <a:gd name="connsiteY8" fmla="*/ 960367 h 2667687"/>
              <a:gd name="connsiteX9" fmla="*/ 3068607 w 3068607"/>
              <a:gd name="connsiteY9" fmla="*/ 1413874 h 2667687"/>
              <a:gd name="connsiteX10" fmla="*/ 3068607 w 3068607"/>
              <a:gd name="connsiteY10" fmla="*/ 1947412 h 2667687"/>
              <a:gd name="connsiteX11" fmla="*/ 3068607 w 3068607"/>
              <a:gd name="connsiteY11" fmla="*/ 2667687 h 2667687"/>
              <a:gd name="connsiteX12" fmla="*/ 2495800 w 3068607"/>
              <a:gd name="connsiteY12" fmla="*/ 2667687 h 2667687"/>
              <a:gd name="connsiteX13" fmla="*/ 2015052 w 3068607"/>
              <a:gd name="connsiteY13" fmla="*/ 2667687 h 2667687"/>
              <a:gd name="connsiteX14" fmla="*/ 1564990 w 3068607"/>
              <a:gd name="connsiteY14" fmla="*/ 2667687 h 2667687"/>
              <a:gd name="connsiteX15" fmla="*/ 992183 w 3068607"/>
              <a:gd name="connsiteY15" fmla="*/ 2667687 h 2667687"/>
              <a:gd name="connsiteX16" fmla="*/ 480748 w 3068607"/>
              <a:gd name="connsiteY16" fmla="*/ 2667687 h 2667687"/>
              <a:gd name="connsiteX17" fmla="*/ 0 w 3068607"/>
              <a:gd name="connsiteY17" fmla="*/ 2667687 h 2667687"/>
              <a:gd name="connsiteX18" fmla="*/ 0 w 3068607"/>
              <a:gd name="connsiteY18" fmla="*/ 2160826 h 2667687"/>
              <a:gd name="connsiteX19" fmla="*/ 0 w 3068607"/>
              <a:gd name="connsiteY19" fmla="*/ 1707320 h 2667687"/>
              <a:gd name="connsiteX20" fmla="*/ 0 w 3068607"/>
              <a:gd name="connsiteY20" fmla="*/ 1173782 h 2667687"/>
              <a:gd name="connsiteX21" fmla="*/ 0 w 3068607"/>
              <a:gd name="connsiteY21" fmla="*/ 693599 h 2667687"/>
              <a:gd name="connsiteX22" fmla="*/ 0 w 3068607"/>
              <a:gd name="connsiteY22" fmla="*/ 0 h 266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068607" h="2667687" extrusionOk="0">
                <a:moveTo>
                  <a:pt x="0" y="0"/>
                </a:moveTo>
                <a:cubicBezTo>
                  <a:pt x="171638" y="-28813"/>
                  <a:pt x="286316" y="28225"/>
                  <a:pt x="542121" y="0"/>
                </a:cubicBezTo>
                <a:cubicBezTo>
                  <a:pt x="797926" y="-28225"/>
                  <a:pt x="879046" y="59796"/>
                  <a:pt x="1084241" y="0"/>
                </a:cubicBezTo>
                <a:cubicBezTo>
                  <a:pt x="1289436" y="-59796"/>
                  <a:pt x="1348484" y="4301"/>
                  <a:pt x="1534304" y="0"/>
                </a:cubicBezTo>
                <a:cubicBezTo>
                  <a:pt x="1720124" y="-4301"/>
                  <a:pt x="1766860" y="34258"/>
                  <a:pt x="1953680" y="0"/>
                </a:cubicBezTo>
                <a:cubicBezTo>
                  <a:pt x="2140500" y="-34258"/>
                  <a:pt x="2250451" y="47055"/>
                  <a:pt x="2403742" y="0"/>
                </a:cubicBezTo>
                <a:cubicBezTo>
                  <a:pt x="2557033" y="-47055"/>
                  <a:pt x="2745035" y="30820"/>
                  <a:pt x="3068607" y="0"/>
                </a:cubicBezTo>
                <a:cubicBezTo>
                  <a:pt x="3106021" y="204803"/>
                  <a:pt x="3035054" y="383215"/>
                  <a:pt x="3068607" y="480184"/>
                </a:cubicBezTo>
                <a:cubicBezTo>
                  <a:pt x="3102160" y="577153"/>
                  <a:pt x="3048232" y="772899"/>
                  <a:pt x="3068607" y="960367"/>
                </a:cubicBezTo>
                <a:cubicBezTo>
                  <a:pt x="3088982" y="1147835"/>
                  <a:pt x="3039383" y="1303318"/>
                  <a:pt x="3068607" y="1413874"/>
                </a:cubicBezTo>
                <a:cubicBezTo>
                  <a:pt x="3097831" y="1524430"/>
                  <a:pt x="3008361" y="1763159"/>
                  <a:pt x="3068607" y="1947412"/>
                </a:cubicBezTo>
                <a:cubicBezTo>
                  <a:pt x="3128853" y="2131665"/>
                  <a:pt x="3040268" y="2453958"/>
                  <a:pt x="3068607" y="2667687"/>
                </a:cubicBezTo>
                <a:cubicBezTo>
                  <a:pt x="2825054" y="2718076"/>
                  <a:pt x="2779082" y="2665202"/>
                  <a:pt x="2495800" y="2667687"/>
                </a:cubicBezTo>
                <a:cubicBezTo>
                  <a:pt x="2212518" y="2670172"/>
                  <a:pt x="2246313" y="2639509"/>
                  <a:pt x="2015052" y="2667687"/>
                </a:cubicBezTo>
                <a:cubicBezTo>
                  <a:pt x="1783791" y="2695865"/>
                  <a:pt x="1688606" y="2640217"/>
                  <a:pt x="1564990" y="2667687"/>
                </a:cubicBezTo>
                <a:cubicBezTo>
                  <a:pt x="1441374" y="2695157"/>
                  <a:pt x="1168297" y="2615628"/>
                  <a:pt x="992183" y="2667687"/>
                </a:cubicBezTo>
                <a:cubicBezTo>
                  <a:pt x="816069" y="2719746"/>
                  <a:pt x="623034" y="2608194"/>
                  <a:pt x="480748" y="2667687"/>
                </a:cubicBezTo>
                <a:cubicBezTo>
                  <a:pt x="338462" y="2727180"/>
                  <a:pt x="179974" y="2650086"/>
                  <a:pt x="0" y="2667687"/>
                </a:cubicBezTo>
                <a:cubicBezTo>
                  <a:pt x="-26900" y="2549569"/>
                  <a:pt x="36434" y="2269784"/>
                  <a:pt x="0" y="2160826"/>
                </a:cubicBezTo>
                <a:cubicBezTo>
                  <a:pt x="-36434" y="2051868"/>
                  <a:pt x="26144" y="1814051"/>
                  <a:pt x="0" y="1707320"/>
                </a:cubicBezTo>
                <a:cubicBezTo>
                  <a:pt x="-26144" y="1600589"/>
                  <a:pt x="21258" y="1424638"/>
                  <a:pt x="0" y="1173782"/>
                </a:cubicBezTo>
                <a:cubicBezTo>
                  <a:pt x="-21258" y="922926"/>
                  <a:pt x="2901" y="905998"/>
                  <a:pt x="0" y="693599"/>
                </a:cubicBezTo>
                <a:cubicBezTo>
                  <a:pt x="-2901" y="481200"/>
                  <a:pt x="41358" y="221659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Wan-VAE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9" y="1419515"/>
            <a:ext cx="8076284" cy="2061232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830517" y="1581762"/>
          <a:ext cx="2095397" cy="441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3" imgW="972820" imgH="209550" progId="Equation.DSMT4">
                  <p:embed/>
                </p:oleObj>
              </mc:Choice>
              <mc:Fallback>
                <p:oleObj name="Equation" r:id="rId3" imgW="972820" imgH="209550" progId="Equation.DSMT4">
                  <p:embed/>
                  <p:pic>
                    <p:nvPicPr>
                      <p:cNvPr id="0" name="图片 5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30517" y="1581762"/>
                        <a:ext cx="2095397" cy="441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8239814" y="2252534"/>
            <a:ext cx="6176432" cy="14229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空间：物体的形状和位置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时间：物体如何变化和运动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时空：空间变化与时间变化的联系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31791" y="3928110"/>
          <a:ext cx="7978910" cy="2846070"/>
        </p:xfrm>
        <a:graphic>
          <a:graphicData uri="http://schemas.openxmlformats.org/drawingml/2006/table">
            <a:tbl>
              <a:tblPr/>
              <a:tblGrid>
                <a:gridCol w="2728899"/>
                <a:gridCol w="2862358"/>
                <a:gridCol w="2387653"/>
              </a:tblGrid>
              <a:tr h="442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对比项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Stable Diffusion VAE</a:t>
                      </a:r>
                      <a:endParaRPr lang="en-US" altLang="zh-CN" sz="18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FFFFFF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Wan-VAE</a:t>
                      </a:r>
                      <a:endParaRPr lang="en-US" altLang="zh-CN" sz="1800" b="1" i="0" u="none" strike="noStrike" cap="none" spc="0" baseline="0" dirty="0">
                        <a:solidFill>
                          <a:srgbClr val="FFFFFF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</a:tr>
              <a:tr h="42094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处理对象</a:t>
                      </a:r>
                      <a:endParaRPr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图像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2094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主要结构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2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D VAE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3D causal VAE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94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是否考虑未来帧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不需要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需要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2094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输入输出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单张图像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连续视频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9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推理缓存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通常不需要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需要</a:t>
                      </a:r>
                      <a:endParaRPr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cxnSp>
        <p:nvCxnSpPr>
          <p:cNvPr id="15" name="直接箭头连接符 14"/>
          <p:cNvCxnSpPr/>
          <p:nvPr/>
        </p:nvCxnSpPr>
        <p:spPr>
          <a:xfrm flipV="1">
            <a:off x="5356225" y="6273800"/>
            <a:ext cx="248708" cy="347133"/>
          </a:xfrm>
          <a:prstGeom prst="straightConnector1">
            <a:avLst/>
          </a:prstGeom>
          <a:noFill/>
          <a:ln w="12700" cap="flat">
            <a:solidFill>
              <a:srgbClr val="C00000"/>
            </a:solidFill>
            <a:prstDash val="solid"/>
            <a:miter lim="800000"/>
            <a:tailEnd type="triangle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文本框 15"/>
          <p:cNvSpPr txBox="1"/>
          <p:nvPr/>
        </p:nvSpPr>
        <p:spPr>
          <a:xfrm>
            <a:off x="8382107" y="4628706"/>
            <a:ext cx="3778102" cy="1384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阶段一：训练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2D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图像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VAE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阶段二：扩展成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3D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视频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VAE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阶段三：高质量视频微调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Wan-VAE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注意：当前帧的表示只能使用当前帧和过去帧，不能使用未来帧</a:t>
            </a:r>
            <a:endParaRPr kumimoji="1" lang="zh-CN" altLang="en-US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4330"/>
            <a:ext cx="6457950" cy="2609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4032133"/>
            <a:ext cx="5686425" cy="2771775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90372" y="2081838"/>
            <a:ext cx="2686954" cy="170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Wan-VAE Encoder</a:t>
            </a:r>
            <a:endParaRPr kumimoji="1" lang="en-US" altLang="zh-CN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├── Causal 3D Conv</a:t>
            </a:r>
            <a:endParaRPr kumimoji="1" lang="en-US" altLang="zh-CN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├── </a:t>
            </a: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时空下采样</a:t>
            </a:r>
            <a:endParaRPr kumimoji="1" lang="zh-CN" altLang="en-US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└── 得到视频 </a:t>
            </a:r>
            <a:r>
              <a:rPr kumimoji="1" lang="en-US" altLang="zh-CN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latent</a:t>
            </a:r>
            <a:endParaRPr kumimoji="1" lang="en-US" altLang="zh-CN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55838" y="2114757"/>
            <a:ext cx="6177356" cy="170540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Wan-VAE Decoder</a:t>
            </a:r>
            <a:endParaRPr kumimoji="1" lang="en-US" altLang="zh-CN" sz="18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├── Causal 3D Conv</a:t>
            </a:r>
            <a:endParaRPr kumimoji="1" lang="en-US" altLang="zh-CN" sz="18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├── </a:t>
            </a:r>
            <a:r>
              <a:rPr kumimoji="1" lang="zh-CN" altLang="en-US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时空上采样</a:t>
            </a:r>
            <a:endParaRPr kumimoji="1" lang="zh-CN" altLang="en-US" sz="18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└── 恢复 </a:t>
            </a:r>
            <a:r>
              <a:rPr kumimoji="1" lang="en-US" altLang="zh-CN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RGB </a:t>
            </a:r>
            <a:r>
              <a:rPr kumimoji="1" lang="zh-CN" altLang="en-US" sz="18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视频</a:t>
            </a:r>
            <a:endParaRPr kumimoji="1" lang="zh-CN" altLang="zh-CN" sz="18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5633" y="2081838"/>
            <a:ext cx="3038833" cy="1830144"/>
          </a:xfrm>
          <a:custGeom>
            <a:avLst/>
            <a:gdLst>
              <a:gd name="connsiteX0" fmla="*/ 0 w 3038833"/>
              <a:gd name="connsiteY0" fmla="*/ 0 h 1830144"/>
              <a:gd name="connsiteX1" fmla="*/ 516602 w 3038833"/>
              <a:gd name="connsiteY1" fmla="*/ 0 h 1830144"/>
              <a:gd name="connsiteX2" fmla="*/ 1063592 w 3038833"/>
              <a:gd name="connsiteY2" fmla="*/ 0 h 1830144"/>
              <a:gd name="connsiteX3" fmla="*/ 1580193 w 3038833"/>
              <a:gd name="connsiteY3" fmla="*/ 0 h 1830144"/>
              <a:gd name="connsiteX4" fmla="*/ 2248736 w 3038833"/>
              <a:gd name="connsiteY4" fmla="*/ 0 h 1830144"/>
              <a:gd name="connsiteX5" fmla="*/ 3038833 w 3038833"/>
              <a:gd name="connsiteY5" fmla="*/ 0 h 1830144"/>
              <a:gd name="connsiteX6" fmla="*/ 3038833 w 3038833"/>
              <a:gd name="connsiteY6" fmla="*/ 573445 h 1830144"/>
              <a:gd name="connsiteX7" fmla="*/ 3038833 w 3038833"/>
              <a:gd name="connsiteY7" fmla="*/ 1128589 h 1830144"/>
              <a:gd name="connsiteX8" fmla="*/ 3038833 w 3038833"/>
              <a:gd name="connsiteY8" fmla="*/ 1830144 h 1830144"/>
              <a:gd name="connsiteX9" fmla="*/ 2461455 w 3038833"/>
              <a:gd name="connsiteY9" fmla="*/ 1830144 h 1830144"/>
              <a:gd name="connsiteX10" fmla="*/ 1884076 w 3038833"/>
              <a:gd name="connsiteY10" fmla="*/ 1830144 h 1830144"/>
              <a:gd name="connsiteX11" fmla="*/ 1245922 w 3038833"/>
              <a:gd name="connsiteY11" fmla="*/ 1830144 h 1830144"/>
              <a:gd name="connsiteX12" fmla="*/ 698932 w 3038833"/>
              <a:gd name="connsiteY12" fmla="*/ 1830144 h 1830144"/>
              <a:gd name="connsiteX13" fmla="*/ 0 w 3038833"/>
              <a:gd name="connsiteY13" fmla="*/ 1830144 h 1830144"/>
              <a:gd name="connsiteX14" fmla="*/ 0 w 3038833"/>
              <a:gd name="connsiteY14" fmla="*/ 1220096 h 1830144"/>
              <a:gd name="connsiteX15" fmla="*/ 0 w 3038833"/>
              <a:gd name="connsiteY15" fmla="*/ 573445 h 1830144"/>
              <a:gd name="connsiteX16" fmla="*/ 0 w 3038833"/>
              <a:gd name="connsiteY16" fmla="*/ 0 h 1830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8833" h="1830144" extrusionOk="0">
                <a:moveTo>
                  <a:pt x="0" y="0"/>
                </a:moveTo>
                <a:cubicBezTo>
                  <a:pt x="152157" y="-17606"/>
                  <a:pt x="265530" y="25619"/>
                  <a:pt x="516602" y="0"/>
                </a:cubicBezTo>
                <a:cubicBezTo>
                  <a:pt x="767674" y="-25619"/>
                  <a:pt x="900461" y="12071"/>
                  <a:pt x="1063592" y="0"/>
                </a:cubicBezTo>
                <a:cubicBezTo>
                  <a:pt x="1226723" y="-12071"/>
                  <a:pt x="1405945" y="-14983"/>
                  <a:pt x="1580193" y="0"/>
                </a:cubicBezTo>
                <a:cubicBezTo>
                  <a:pt x="1754441" y="14983"/>
                  <a:pt x="1941565" y="6792"/>
                  <a:pt x="2248736" y="0"/>
                </a:cubicBezTo>
                <a:cubicBezTo>
                  <a:pt x="2555907" y="-6792"/>
                  <a:pt x="2686660" y="4482"/>
                  <a:pt x="3038833" y="0"/>
                </a:cubicBezTo>
                <a:cubicBezTo>
                  <a:pt x="3060223" y="158740"/>
                  <a:pt x="3025669" y="438197"/>
                  <a:pt x="3038833" y="573445"/>
                </a:cubicBezTo>
                <a:cubicBezTo>
                  <a:pt x="3051997" y="708693"/>
                  <a:pt x="3061852" y="871411"/>
                  <a:pt x="3038833" y="1128589"/>
                </a:cubicBezTo>
                <a:cubicBezTo>
                  <a:pt x="3015814" y="1385767"/>
                  <a:pt x="3046286" y="1489300"/>
                  <a:pt x="3038833" y="1830144"/>
                </a:cubicBezTo>
                <a:cubicBezTo>
                  <a:pt x="2762963" y="1817134"/>
                  <a:pt x="2659565" y="1850327"/>
                  <a:pt x="2461455" y="1830144"/>
                </a:cubicBezTo>
                <a:cubicBezTo>
                  <a:pt x="2263345" y="1809961"/>
                  <a:pt x="2100757" y="1820700"/>
                  <a:pt x="1884076" y="1830144"/>
                </a:cubicBezTo>
                <a:cubicBezTo>
                  <a:pt x="1667395" y="1839588"/>
                  <a:pt x="1424177" y="1811912"/>
                  <a:pt x="1245922" y="1830144"/>
                </a:cubicBezTo>
                <a:cubicBezTo>
                  <a:pt x="1067667" y="1848376"/>
                  <a:pt x="915466" y="1817152"/>
                  <a:pt x="698932" y="1830144"/>
                </a:cubicBezTo>
                <a:cubicBezTo>
                  <a:pt x="482398" y="1843137"/>
                  <a:pt x="142949" y="1800744"/>
                  <a:pt x="0" y="1830144"/>
                </a:cubicBezTo>
                <a:cubicBezTo>
                  <a:pt x="12015" y="1617323"/>
                  <a:pt x="-28213" y="1446169"/>
                  <a:pt x="0" y="1220096"/>
                </a:cubicBezTo>
                <a:cubicBezTo>
                  <a:pt x="28213" y="994023"/>
                  <a:pt x="2671" y="774309"/>
                  <a:pt x="0" y="573445"/>
                </a:cubicBezTo>
                <a:cubicBezTo>
                  <a:pt x="-2671" y="372581"/>
                  <a:pt x="-1426" y="282947"/>
                  <a:pt x="0" y="0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55143" y="2081838"/>
            <a:ext cx="3038833" cy="1830144"/>
          </a:xfrm>
          <a:custGeom>
            <a:avLst/>
            <a:gdLst>
              <a:gd name="connsiteX0" fmla="*/ 0 w 3038833"/>
              <a:gd name="connsiteY0" fmla="*/ 0 h 1830144"/>
              <a:gd name="connsiteX1" fmla="*/ 516602 w 3038833"/>
              <a:gd name="connsiteY1" fmla="*/ 0 h 1830144"/>
              <a:gd name="connsiteX2" fmla="*/ 1063592 w 3038833"/>
              <a:gd name="connsiteY2" fmla="*/ 0 h 1830144"/>
              <a:gd name="connsiteX3" fmla="*/ 1580193 w 3038833"/>
              <a:gd name="connsiteY3" fmla="*/ 0 h 1830144"/>
              <a:gd name="connsiteX4" fmla="*/ 2248736 w 3038833"/>
              <a:gd name="connsiteY4" fmla="*/ 0 h 1830144"/>
              <a:gd name="connsiteX5" fmla="*/ 3038833 w 3038833"/>
              <a:gd name="connsiteY5" fmla="*/ 0 h 1830144"/>
              <a:gd name="connsiteX6" fmla="*/ 3038833 w 3038833"/>
              <a:gd name="connsiteY6" fmla="*/ 573445 h 1830144"/>
              <a:gd name="connsiteX7" fmla="*/ 3038833 w 3038833"/>
              <a:gd name="connsiteY7" fmla="*/ 1128589 h 1830144"/>
              <a:gd name="connsiteX8" fmla="*/ 3038833 w 3038833"/>
              <a:gd name="connsiteY8" fmla="*/ 1830144 h 1830144"/>
              <a:gd name="connsiteX9" fmla="*/ 2461455 w 3038833"/>
              <a:gd name="connsiteY9" fmla="*/ 1830144 h 1830144"/>
              <a:gd name="connsiteX10" fmla="*/ 1884076 w 3038833"/>
              <a:gd name="connsiteY10" fmla="*/ 1830144 h 1830144"/>
              <a:gd name="connsiteX11" fmla="*/ 1245922 w 3038833"/>
              <a:gd name="connsiteY11" fmla="*/ 1830144 h 1830144"/>
              <a:gd name="connsiteX12" fmla="*/ 698932 w 3038833"/>
              <a:gd name="connsiteY12" fmla="*/ 1830144 h 1830144"/>
              <a:gd name="connsiteX13" fmla="*/ 0 w 3038833"/>
              <a:gd name="connsiteY13" fmla="*/ 1830144 h 1830144"/>
              <a:gd name="connsiteX14" fmla="*/ 0 w 3038833"/>
              <a:gd name="connsiteY14" fmla="*/ 1220096 h 1830144"/>
              <a:gd name="connsiteX15" fmla="*/ 0 w 3038833"/>
              <a:gd name="connsiteY15" fmla="*/ 573445 h 1830144"/>
              <a:gd name="connsiteX16" fmla="*/ 0 w 3038833"/>
              <a:gd name="connsiteY16" fmla="*/ 0 h 1830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38833" h="1830144" extrusionOk="0">
                <a:moveTo>
                  <a:pt x="0" y="0"/>
                </a:moveTo>
                <a:cubicBezTo>
                  <a:pt x="152157" y="-17606"/>
                  <a:pt x="265530" y="25619"/>
                  <a:pt x="516602" y="0"/>
                </a:cubicBezTo>
                <a:cubicBezTo>
                  <a:pt x="767674" y="-25619"/>
                  <a:pt x="900461" y="12071"/>
                  <a:pt x="1063592" y="0"/>
                </a:cubicBezTo>
                <a:cubicBezTo>
                  <a:pt x="1226723" y="-12071"/>
                  <a:pt x="1405945" y="-14983"/>
                  <a:pt x="1580193" y="0"/>
                </a:cubicBezTo>
                <a:cubicBezTo>
                  <a:pt x="1754441" y="14983"/>
                  <a:pt x="1941565" y="6792"/>
                  <a:pt x="2248736" y="0"/>
                </a:cubicBezTo>
                <a:cubicBezTo>
                  <a:pt x="2555907" y="-6792"/>
                  <a:pt x="2686660" y="4482"/>
                  <a:pt x="3038833" y="0"/>
                </a:cubicBezTo>
                <a:cubicBezTo>
                  <a:pt x="3060223" y="158740"/>
                  <a:pt x="3025669" y="438197"/>
                  <a:pt x="3038833" y="573445"/>
                </a:cubicBezTo>
                <a:cubicBezTo>
                  <a:pt x="3051997" y="708693"/>
                  <a:pt x="3061852" y="871411"/>
                  <a:pt x="3038833" y="1128589"/>
                </a:cubicBezTo>
                <a:cubicBezTo>
                  <a:pt x="3015814" y="1385767"/>
                  <a:pt x="3046286" y="1489300"/>
                  <a:pt x="3038833" y="1830144"/>
                </a:cubicBezTo>
                <a:cubicBezTo>
                  <a:pt x="2762963" y="1817134"/>
                  <a:pt x="2659565" y="1850327"/>
                  <a:pt x="2461455" y="1830144"/>
                </a:cubicBezTo>
                <a:cubicBezTo>
                  <a:pt x="2263345" y="1809961"/>
                  <a:pt x="2100757" y="1820700"/>
                  <a:pt x="1884076" y="1830144"/>
                </a:cubicBezTo>
                <a:cubicBezTo>
                  <a:pt x="1667395" y="1839588"/>
                  <a:pt x="1424177" y="1811912"/>
                  <a:pt x="1245922" y="1830144"/>
                </a:cubicBezTo>
                <a:cubicBezTo>
                  <a:pt x="1067667" y="1848376"/>
                  <a:pt x="915466" y="1817152"/>
                  <a:pt x="698932" y="1830144"/>
                </a:cubicBezTo>
                <a:cubicBezTo>
                  <a:pt x="482398" y="1843137"/>
                  <a:pt x="142949" y="1800744"/>
                  <a:pt x="0" y="1830144"/>
                </a:cubicBezTo>
                <a:cubicBezTo>
                  <a:pt x="12015" y="1617323"/>
                  <a:pt x="-28213" y="1446169"/>
                  <a:pt x="0" y="1220096"/>
                </a:cubicBezTo>
                <a:cubicBezTo>
                  <a:pt x="28213" y="994023"/>
                  <a:pt x="2671" y="774309"/>
                  <a:pt x="0" y="573445"/>
                </a:cubicBezTo>
                <a:cubicBezTo>
                  <a:pt x="-2671" y="372581"/>
                  <a:pt x="-1426" y="282947"/>
                  <a:pt x="0" y="0"/>
                </a:cubicBezTo>
                <a:close/>
              </a:path>
            </a:pathLst>
          </a:custGeom>
          <a:noFill/>
          <a:ln w="1905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163" y="1994606"/>
            <a:ext cx="3865465" cy="19457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Wan-VAE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>
            <a:normAutofit/>
          </a:bodyPr>
          <a:lstStyle/>
          <a:p>
            <a:pPr marL="0" indent="-38100" algn="ctr">
              <a:lnSpc>
                <a:spcPct val="110000"/>
              </a:lnSpc>
              <a:buNone/>
            </a:pP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定量分析 </a:t>
            </a:r>
            <a:r>
              <a:rPr kumimoji="1" lang="en-US" altLang="zh-CN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and </a:t>
            </a:r>
            <a:r>
              <a:rPr kumimoji="1" lang="zh-CN" altLang="en-US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定性分析</a:t>
            </a:r>
            <a:endParaRPr kumimoji="1" lang="en-US" altLang="zh-CN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391" y="2033154"/>
            <a:ext cx="6227775" cy="394806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84" y="1918515"/>
            <a:ext cx="5997616" cy="417734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Architecture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49059" y="1595722"/>
            <a:ext cx="12092940" cy="5074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effectLst/>
              </a:rPr>
              <a:t>视频由 </a:t>
            </a:r>
            <a:r>
              <a:rPr lang="en-US" altLang="zh-CN" sz="2000" dirty="0">
                <a:effectLst/>
              </a:rPr>
              <a:t>Wan-VAE </a:t>
            </a:r>
            <a:r>
              <a:rPr lang="zh-CN" altLang="en-US" sz="2000" dirty="0">
                <a:effectLst/>
              </a:rPr>
              <a:t>编码至潜空间，压缩时空维度，降低计算开销</a:t>
            </a:r>
            <a:endParaRPr lang="zh-CN" altLang="en-US" sz="2000" dirty="0">
              <a:effectLst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effectLst/>
              </a:rPr>
              <a:t>使用 </a:t>
            </a:r>
            <a:r>
              <a:rPr lang="en-US" altLang="zh-CN" sz="2000" dirty="0">
                <a:effectLst/>
              </a:rPr>
              <a:t>umT5 </a:t>
            </a:r>
            <a:r>
              <a:rPr lang="zh-CN" altLang="en-US" sz="2000" dirty="0">
                <a:effectLst/>
              </a:rPr>
              <a:t>对文本提示词编码，通过交叉注意力作为条件引导</a:t>
            </a:r>
            <a:endParaRPr lang="zh-CN" altLang="en-US" sz="2000" dirty="0">
              <a:effectLst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effectLst/>
              </a:rPr>
              <a:t>堆叠多层 </a:t>
            </a:r>
            <a:r>
              <a:rPr lang="en-US" altLang="zh-CN" sz="2000" dirty="0" err="1">
                <a:effectLst/>
              </a:rPr>
              <a:t>DiT</a:t>
            </a:r>
            <a:r>
              <a:rPr lang="en-US" altLang="zh-CN" sz="2000" dirty="0">
                <a:effectLst/>
              </a:rPr>
              <a:t> </a:t>
            </a:r>
            <a:r>
              <a:rPr lang="zh-CN" altLang="en-US" sz="2000" dirty="0">
                <a:effectLst/>
              </a:rPr>
              <a:t>块作为扩散主干，在潜空间完成视频的去噪生成</a:t>
            </a:r>
            <a:endParaRPr lang="zh-CN" altLang="en-US" sz="2000" dirty="0">
              <a:effectLst/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effectLst/>
              </a:rPr>
              <a:t>最后通过 </a:t>
            </a:r>
            <a:r>
              <a:rPr lang="en-US" altLang="zh-CN" sz="2000" dirty="0">
                <a:effectLst/>
              </a:rPr>
              <a:t>Wan-VAE </a:t>
            </a:r>
            <a:r>
              <a:rPr lang="zh-CN" altLang="en-US" sz="2000" dirty="0">
                <a:effectLst/>
              </a:rPr>
              <a:t>解码器，把潜空间特征还原为像素域视频</a:t>
            </a:r>
            <a:endParaRPr lang="zh-CN" altLang="en-US" sz="2000" dirty="0">
              <a:effectLst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852" y="1852138"/>
            <a:ext cx="3402723" cy="365077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6" y="3677524"/>
            <a:ext cx="8394605" cy="26407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Training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8956198" cy="5502910"/>
          </a:xfrm>
        </p:spPr>
        <p:txBody>
          <a:bodyPr>
            <a:normAutofit/>
          </a:bodyPr>
          <a:lstStyle/>
          <a:p>
            <a:pPr marL="0" indent="-38100">
              <a:lnSpc>
                <a:spcPct val="150000"/>
              </a:lnSpc>
              <a:buNone/>
            </a:pPr>
            <a:r>
              <a:rPr lang="zh-CN" altLang="en-US" sz="2800" b="1" dirty="0"/>
              <a:t>训练目标</a:t>
            </a:r>
            <a:endParaRPr lang="en-US" altLang="zh-CN" sz="2800" b="1" dirty="0"/>
          </a:p>
          <a:p>
            <a:pPr marL="0" indent="-38100">
              <a:lnSpc>
                <a:spcPct val="150000"/>
              </a:lnSpc>
              <a:buNone/>
            </a:pPr>
            <a:r>
              <a:rPr lang="en-US" altLang="zh-CN" sz="2000" b="1" dirty="0"/>
              <a:t>Flow Matching </a:t>
            </a:r>
            <a:r>
              <a:rPr lang="zh-CN" altLang="en-US" sz="2000" dirty="0"/>
              <a:t> </a:t>
            </a:r>
            <a:r>
              <a:rPr lang="en-US" altLang="zh-CN" sz="2000" dirty="0"/>
              <a:t>           </a:t>
            </a:r>
            <a:r>
              <a:rPr lang="zh-CN" altLang="en-US" sz="2000" dirty="0"/>
              <a:t>从噪声到真实样本</a:t>
            </a: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r>
              <a:rPr lang="zh-CN" altLang="en-US" sz="2000" dirty="0"/>
              <a:t>给定：</a:t>
            </a: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r>
              <a:rPr lang="zh-CN" altLang="en-US" sz="2000" dirty="0"/>
              <a:t>定义中间状态</a:t>
            </a: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r>
              <a:rPr lang="zh-CN" altLang="en-US" sz="2000" dirty="0"/>
              <a:t>真实速度为</a:t>
            </a: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r>
              <a:rPr lang="zh-CN" altLang="en-US" sz="2000" dirty="0"/>
              <a:t>模型学会预测这个速度</a:t>
            </a:r>
            <a:endParaRPr lang="en-US" altLang="zh-CN" sz="2000" dirty="0"/>
          </a:p>
          <a:p>
            <a:pPr marL="0" indent="-38100">
              <a:lnSpc>
                <a:spcPct val="150000"/>
              </a:lnSpc>
              <a:buNone/>
            </a:pPr>
            <a:r>
              <a:rPr lang="zh-CN" altLang="en-US" sz="2000" dirty="0"/>
              <a:t>计算损失  </a:t>
            </a:r>
            <a:endParaRPr lang="en-US" altLang="zh-CN" sz="20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47079" y="2585683"/>
          <a:ext cx="384163" cy="57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2" imgW="159385" imgH="234950" progId="Equation.DSMT4">
                  <p:embed/>
                </p:oleObj>
              </mc:Choice>
              <mc:Fallback>
                <p:oleObj name="Equation" r:id="rId2" imgW="159385" imgH="234950" progId="Equation.DSMT4">
                  <p:embed/>
                  <p:pic>
                    <p:nvPicPr>
                      <p:cNvPr id="0" name="图片 822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47079" y="2585683"/>
                        <a:ext cx="384163" cy="573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25876" y="3287891"/>
          <a:ext cx="1657804" cy="4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4" imgW="822325" imgH="234950" progId="Equation.DSMT4">
                  <p:embed/>
                </p:oleObj>
              </mc:Choice>
              <mc:Fallback>
                <p:oleObj name="Equation" r:id="rId4" imgW="822325" imgH="234950" progId="Equation.DSMT4">
                  <p:embed/>
                  <p:pic>
                    <p:nvPicPr>
                      <p:cNvPr id="0" name="图片 82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25876" y="3287891"/>
                        <a:ext cx="1657804" cy="4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843350" y="3939698"/>
          <a:ext cx="1069941" cy="42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6" imgW="520065" imgH="209550" progId="Equation.DSMT4">
                  <p:embed/>
                </p:oleObj>
              </mc:Choice>
              <mc:Fallback>
                <p:oleObj name="Equation" r:id="rId6" imgW="520065" imgH="209550" progId="Equation.DSMT4">
                  <p:embed/>
                  <p:pic>
                    <p:nvPicPr>
                      <p:cNvPr id="0" name="图片 82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43350" y="3939698"/>
                        <a:ext cx="1069941" cy="4288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96517" y="4506730"/>
          <a:ext cx="2147050" cy="466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8" imgW="1065530" imgH="234950" progId="Equation.DSMT4">
                  <p:embed/>
                </p:oleObj>
              </mc:Choice>
              <mc:Fallback>
                <p:oleObj name="Equation" r:id="rId8" imgW="1065530" imgH="234950" progId="Equation.DSMT4">
                  <p:embed/>
                  <p:pic>
                    <p:nvPicPr>
                      <p:cNvPr id="0" name="图片 822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6517" y="4506730"/>
                        <a:ext cx="2147050" cy="466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50218" y="4961258"/>
          <a:ext cx="1858428" cy="700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10" imgW="1048385" imgH="402590" progId="Equation.DSMT4">
                  <p:embed/>
                </p:oleObj>
              </mc:Choice>
              <mc:Fallback>
                <p:oleObj name="Equation" r:id="rId10" imgW="1048385" imgH="402590" progId="Equation.DSMT4">
                  <p:embed/>
                  <p:pic>
                    <p:nvPicPr>
                      <p:cNvPr id="0" name="图片 823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50218" y="4961258"/>
                        <a:ext cx="1858428" cy="700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851208" y="5705659"/>
          <a:ext cx="1175903" cy="424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12" imgW="645795" imgH="234950" progId="Equation.DSMT4">
                  <p:embed/>
                </p:oleObj>
              </mc:Choice>
              <mc:Fallback>
                <p:oleObj name="Equation" r:id="rId12" imgW="645795" imgH="234950" progId="Equation.DSMT4">
                  <p:embed/>
                  <p:pic>
                    <p:nvPicPr>
                      <p:cNvPr id="0" name="图片 823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51208" y="5705659"/>
                        <a:ext cx="1175903" cy="4244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369487" y="6236698"/>
          <a:ext cx="2827528" cy="601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14" imgW="1560195" imgH="335280" progId="Equation.DSMT4">
                  <p:embed/>
                </p:oleObj>
              </mc:Choice>
              <mc:Fallback>
                <p:oleObj name="Equation" r:id="rId14" imgW="1560195" imgH="335280" progId="Equation.DSMT4">
                  <p:embed/>
                  <p:pic>
                    <p:nvPicPr>
                      <p:cNvPr id="0" name="图片 823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369487" y="6236698"/>
                        <a:ext cx="2827528" cy="601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左大括号 14"/>
          <p:cNvSpPr/>
          <p:nvPr/>
        </p:nvSpPr>
        <p:spPr>
          <a:xfrm>
            <a:off x="999066" y="2768600"/>
            <a:ext cx="183190" cy="1634067"/>
          </a:xfrm>
          <a:prstGeom prst="leftBrac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3309" y="2586001"/>
            <a:ext cx="1362567" cy="240065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 </a:t>
            </a:r>
            <a:r>
              <a:rPr lang="en-US" altLang="zh-CN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latent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高斯噪声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时间步</a:t>
            </a:r>
            <a:endParaRPr lang="en-US" altLang="zh-CN" sz="20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9" name="箭头: 上弧形 18"/>
          <p:cNvSpPr/>
          <p:nvPr/>
        </p:nvSpPr>
        <p:spPr>
          <a:xfrm>
            <a:off x="2017032" y="1348203"/>
            <a:ext cx="1361288" cy="810406"/>
          </a:xfrm>
          <a:prstGeom prst="curvedDown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89690" y="1717604"/>
            <a:ext cx="6903885" cy="2037212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43268" y="4543539"/>
            <a:ext cx="7810333" cy="11472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Experiment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63" y="1170467"/>
            <a:ext cx="6244208" cy="318801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069" y="4561907"/>
            <a:ext cx="7789588" cy="22773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661" y="1828728"/>
            <a:ext cx="5300914" cy="20322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文本框 3"/>
          <p:cNvSpPr txBox="1"/>
          <p:nvPr/>
        </p:nvSpPr>
        <p:spPr>
          <a:xfrm>
            <a:off x="681513" y="3230880"/>
            <a:ext cx="11052176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dirty="0">
                <a:solidFill>
                  <a:srgbClr val="045499"/>
                </a:solidFill>
              </a:rPr>
              <a:t>Wan 2.2</a:t>
            </a:r>
            <a:endParaRPr lang="zh-CN" altLang="en-US" dirty="0">
              <a:solidFill>
                <a:srgbClr val="045499"/>
              </a:solidFill>
            </a:endParaRPr>
          </a:p>
        </p:txBody>
      </p:sp>
      <p:sp>
        <p:nvSpPr>
          <p:cNvPr id="833" name="椭圆 6"/>
          <p:cNvSpPr/>
          <p:nvPr/>
        </p:nvSpPr>
        <p:spPr>
          <a:xfrm>
            <a:off x="5639594" y="1888434"/>
            <a:ext cx="914400" cy="914401"/>
          </a:xfrm>
          <a:prstGeom prst="ellipse">
            <a:avLst/>
          </a:prstGeom>
          <a:solidFill>
            <a:srgbClr val="FEBF02"/>
          </a:solidFill>
          <a:ln w="12700">
            <a:solidFill>
              <a:srgbClr val="FEBF02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34" name="文本框 5"/>
          <p:cNvSpPr txBox="1"/>
          <p:nvPr/>
        </p:nvSpPr>
        <p:spPr>
          <a:xfrm>
            <a:off x="5468019" y="2084023"/>
            <a:ext cx="1257553" cy="52322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solidFill>
                  <a:srgbClr val="045499"/>
                </a:solidFill>
              </a:rPr>
              <a:t>0</a:t>
            </a:r>
            <a:r>
              <a:rPr lang="en-US" dirty="0">
                <a:solidFill>
                  <a:srgbClr val="045499"/>
                </a:solidFill>
              </a:rPr>
              <a:t>2</a:t>
            </a:r>
            <a:endParaRPr lang="en-US" altLang="zh-TW" dirty="0">
              <a:solidFill>
                <a:srgbClr val="045499"/>
              </a:solidFill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2</a:t>
            </a:r>
            <a:r>
              <a:rPr kumimoji="1" lang="en-US" altLang="zh-CN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.2</a:t>
            </a:r>
            <a:r>
              <a:rPr kumimoji="1" lang="zh-CN" altLang="en-US" dirty="0">
                <a:solidFill>
                  <a:srgbClr val="045499"/>
                </a:solidFill>
                <a:cs typeface="Times New Roman" panose="02020603050405020304" pitchFamily="18" charset="0"/>
                <a:sym typeface="微软雅黑" panose="020B0503020204020204" pitchFamily="34" charset="-122"/>
              </a:rPr>
              <a:t> 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1842559" y="3701816"/>
          <a:ext cx="8771466" cy="2969917"/>
        </p:xfrm>
        <a:graphic>
          <a:graphicData uri="http://schemas.openxmlformats.org/drawingml/2006/table">
            <a:tbl>
              <a:tblPr/>
              <a:tblGrid>
                <a:gridCol w="2999964"/>
                <a:gridCol w="2396209"/>
                <a:gridCol w="3375293"/>
              </a:tblGrid>
              <a:tr h="490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模型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类型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</a:tr>
              <a:tr h="49020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T2V-A14B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双专家 </a:t>
                      </a: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MoE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文本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90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I2V-A14B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双专家 </a:t>
                      </a: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MoE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图像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+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可选文本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062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TI2V-5B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5B Dense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文本或图像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+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文本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S2V-14B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音频条件视频模型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图像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+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音频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+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可选文本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/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姿态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Animate-14B</a:t>
                      </a:r>
                      <a:endParaRPr lang="en-US" altLang="zh-CN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角色动画模型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角色图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+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等线" panose="02010600030101010101" charset="-122"/>
                        </a:rPr>
                        <a:t>动作视频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-1" y="1253331"/>
            <a:ext cx="12920133" cy="4351338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effectLst/>
              </a:rPr>
              <a:t>🧩 </a:t>
            </a:r>
            <a:r>
              <a:rPr lang="en-US" altLang="zh-CN" sz="2000" b="1" dirty="0" err="1">
                <a:effectLst/>
              </a:rPr>
              <a:t>MoE</a:t>
            </a:r>
            <a:r>
              <a:rPr lang="en-US" altLang="zh-CN" sz="2000" b="1" dirty="0">
                <a:effectLst/>
              </a:rPr>
              <a:t> </a:t>
            </a:r>
            <a:r>
              <a:rPr lang="zh-CN" altLang="en-US" sz="2000" b="1" dirty="0">
                <a:effectLst/>
              </a:rPr>
              <a:t>混合专家架构</a:t>
            </a:r>
            <a:r>
              <a:rPr lang="zh-CN" altLang="en-US" sz="2000" dirty="0">
                <a:effectLst/>
              </a:rPr>
              <a:t>：提升模型容量，维持原有计算成本</a:t>
            </a:r>
            <a:endParaRPr lang="zh-CN" altLang="en-US" sz="2000" dirty="0"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effectLst/>
              </a:rPr>
              <a:t>🎬 </a:t>
            </a:r>
            <a:r>
              <a:rPr lang="zh-CN" altLang="en-US" sz="2000" b="1" dirty="0">
                <a:effectLst/>
              </a:rPr>
              <a:t>电影级美学可控生成</a:t>
            </a:r>
            <a:r>
              <a:rPr lang="zh-CN" altLang="en-US" sz="2000" dirty="0">
                <a:effectLst/>
              </a:rPr>
              <a:t>：精细美学标注数据集，自定义画面光影构图风格</a:t>
            </a:r>
            <a:endParaRPr lang="zh-CN" altLang="en-US" sz="2000" dirty="0"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effectLst/>
              </a:rPr>
              <a:t>🏃 </a:t>
            </a:r>
            <a:r>
              <a:rPr lang="zh-CN" altLang="en-US" sz="2000" b="1" dirty="0">
                <a:effectLst/>
              </a:rPr>
              <a:t>复杂运动效果升级</a:t>
            </a:r>
            <a:r>
              <a:rPr lang="zh-CN" altLang="en-US" sz="2000" dirty="0">
                <a:effectLst/>
              </a:rPr>
              <a:t>：训练数据大增（图片 </a:t>
            </a:r>
            <a:r>
              <a:rPr lang="en-US" altLang="zh-CN" sz="2000" dirty="0">
                <a:effectLst/>
              </a:rPr>
              <a:t>+ 65.6%</a:t>
            </a:r>
            <a:r>
              <a:rPr lang="zh-CN" altLang="en-US" sz="2000" dirty="0">
                <a:effectLst/>
              </a:rPr>
              <a:t>，视频 </a:t>
            </a:r>
            <a:r>
              <a:rPr lang="en-US" altLang="zh-CN" sz="2000" dirty="0">
                <a:effectLst/>
              </a:rPr>
              <a:t>+ 83.2%</a:t>
            </a:r>
            <a:r>
              <a:rPr lang="zh-CN" altLang="en-US" sz="2000" dirty="0">
                <a:effectLst/>
              </a:rPr>
              <a:t>），泛化性能领先开源 </a:t>
            </a:r>
            <a:r>
              <a:rPr lang="en-US" altLang="zh-CN" sz="2000" dirty="0">
                <a:effectLst/>
              </a:rPr>
              <a:t>/ </a:t>
            </a:r>
            <a:r>
              <a:rPr lang="zh-CN" altLang="en-US" sz="2000" dirty="0">
                <a:effectLst/>
              </a:rPr>
              <a:t>闭源模型</a:t>
            </a:r>
            <a:endParaRPr lang="zh-CN" altLang="en-US" sz="2000" dirty="0">
              <a:effectLst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effectLst/>
              </a:rPr>
              <a:t>⚡ </a:t>
            </a:r>
            <a:r>
              <a:rPr lang="zh-CN" altLang="en-US" sz="2000" b="1" dirty="0">
                <a:effectLst/>
              </a:rPr>
              <a:t>轻量化高清生成 </a:t>
            </a:r>
            <a:r>
              <a:rPr lang="zh-CN" altLang="en-US" sz="2000" dirty="0">
                <a:effectLst/>
              </a:rPr>
              <a:t>：</a:t>
            </a:r>
            <a:r>
              <a:rPr lang="en-US" altLang="zh-CN" sz="2000" dirty="0">
                <a:effectLst/>
              </a:rPr>
              <a:t>720P 24fps </a:t>
            </a:r>
            <a:r>
              <a:rPr lang="zh-CN" altLang="en-US" sz="2000" dirty="0">
                <a:effectLst/>
              </a:rPr>
              <a:t>文生 </a:t>
            </a:r>
            <a:r>
              <a:rPr lang="en-US" altLang="zh-CN" sz="2000" dirty="0">
                <a:effectLst/>
              </a:rPr>
              <a:t>/ </a:t>
            </a:r>
            <a:r>
              <a:rPr lang="zh-CN" altLang="en-US" sz="2000" dirty="0">
                <a:effectLst/>
              </a:rPr>
              <a:t>图生视频；可在消费显卡 </a:t>
            </a:r>
            <a:r>
              <a:rPr lang="en-US" altLang="zh-CN" sz="2000" dirty="0">
                <a:effectLst/>
              </a:rPr>
              <a:t>4090 </a:t>
            </a:r>
            <a:r>
              <a:rPr lang="zh-CN" altLang="en-US" sz="2000" dirty="0">
                <a:effectLst/>
              </a:rPr>
              <a:t>上跑，适配工业与学术场景</a:t>
            </a:r>
            <a:endParaRPr lang="zh-CN" altLang="en-US" sz="2000" dirty="0">
              <a:effectLst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2.2  Improvement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1772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在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Wan2.2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中，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A14B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模型系列采用了一种针对扩散模型去噪过程的双专家设计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双专家 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Mixture-of-Experts 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结构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2506" y="2019781"/>
            <a:ext cx="6611354" cy="923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早期去噪阶段：细节还不存在，主要注重全局结构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后期去噪阶段：视频的大致结构已经生成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088" y="2131782"/>
            <a:ext cx="4719487" cy="189661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275" y="4363740"/>
            <a:ext cx="4809300" cy="189860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566140" y="4195350"/>
            <a:ext cx="1802230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低噪声专家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71397" y="2090848"/>
            <a:ext cx="1802230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高噪声专家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云形 15"/>
          <p:cNvSpPr/>
          <p:nvPr/>
        </p:nvSpPr>
        <p:spPr>
          <a:xfrm>
            <a:off x="6207065" y="1710268"/>
            <a:ext cx="1900957" cy="1011761"/>
          </a:xfrm>
          <a:prstGeom prst="cloud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7" name="云形 16"/>
          <p:cNvSpPr/>
          <p:nvPr/>
        </p:nvSpPr>
        <p:spPr>
          <a:xfrm>
            <a:off x="6176970" y="3899320"/>
            <a:ext cx="1900957" cy="1011761"/>
          </a:xfrm>
          <a:prstGeom prst="cloud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42" y="3006768"/>
            <a:ext cx="5494646" cy="385123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2.2  Improvement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为了实现更高效的部署，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Wan2.2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还探索了高压缩设计：除了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27B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0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MoE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模型外，还发布了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5B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密集型模型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3" name="云形 2"/>
          <p:cNvSpPr/>
          <p:nvPr/>
        </p:nvSpPr>
        <p:spPr>
          <a:xfrm>
            <a:off x="3959089" y="1924257"/>
            <a:ext cx="2954866" cy="1413934"/>
          </a:xfrm>
          <a:prstGeom prst="cloud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01067" y="2456697"/>
            <a:ext cx="2954866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高压缩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Wan2.2-VAE </a:t>
            </a:r>
            <a:endParaRPr kumimoji="1" lang="zh-CN" altLang="en-US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箭头: 左弧形 6"/>
          <p:cNvSpPr/>
          <p:nvPr/>
        </p:nvSpPr>
        <p:spPr>
          <a:xfrm>
            <a:off x="3395133" y="1924257"/>
            <a:ext cx="423334" cy="840217"/>
          </a:xfrm>
          <a:prstGeom prst="curvedRightArrow">
            <a:avLst/>
          </a:prstGeom>
          <a:solidFill>
            <a:srgbClr val="FFFFFF"/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631" y="3429000"/>
            <a:ext cx="9358527" cy="30973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2.2  Experiment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9" y="1809237"/>
            <a:ext cx="5393267" cy="369367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947" y="1625282"/>
            <a:ext cx="6631628" cy="381158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 2.2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Q&amp;A  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T2V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、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I2V 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和 </a:t>
            </a:r>
            <a:r>
              <a:rPr kumimoji="1" lang="en-US" altLang="zh-CN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TI2V </a:t>
            </a:r>
            <a:r>
              <a:rPr kumimoji="1" lang="zh-CN" altLang="en-US" sz="2000" b="1" dirty="0">
                <a:solidFill>
                  <a:srgbClr val="045499"/>
                </a:solidFill>
                <a:cs typeface="Times New Roman" panose="02020603050405020304" pitchFamily="18" charset="0"/>
              </a:rPr>
              <a:t>怎么选择？？？</a:t>
            </a:r>
            <a:endParaRPr kumimoji="1" lang="en-US" altLang="zh-CN" sz="2000" b="1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045038" y="2149794"/>
          <a:ext cx="9494626" cy="4037876"/>
        </p:xfrm>
        <a:graphic>
          <a:graphicData uri="http://schemas.openxmlformats.org/drawingml/2006/table">
            <a:tbl>
              <a:tblPr/>
              <a:tblGrid>
                <a:gridCol w="3247295"/>
                <a:gridCol w="2593763"/>
                <a:gridCol w="3653568"/>
              </a:tblGrid>
              <a:tr h="5746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需求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推荐模型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原因</a:t>
                      </a:r>
                      <a:endParaRPr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08559C"/>
                    </a:solidFill>
                  </a:tcPr>
                </a:tc>
              </a:tr>
              <a:tr h="57468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追求最高文本生成质量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T2V-A14B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MoE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、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容量最大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7468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从图片生成高质量视频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I2V-A14B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专门的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I2V </a:t>
                      </a: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MoE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552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24GB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单卡实验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TI2V-5B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>
                      <a:solidFill>
                        <a:srgbClr val="D9E1ED"/>
                      </a:solidFill>
                      <a:prstDash val="soli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5B Dense，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可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offload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556098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同时研究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T2V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和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I2V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TI2V-5B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单一统一模型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6098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LORA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微调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TI2V-5B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结构更简单、成本更低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5560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研究 </a:t>
                      </a:r>
                      <a:r>
                        <a:rPr lang="en-US" altLang="zh-CN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MoE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专家微调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>
                      <a:solidFill>
                        <a:srgbClr val="D9E1ED"/>
                      </a:solidFill>
                      <a:prstDash val="soli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A14B</a:t>
                      </a:r>
                      <a:endParaRPr lang="en-US" altLang="zh-CN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等线" panose="02010600030101010101" charset="-122"/>
                        </a:rPr>
                        <a:t>但工程和显存成本很高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等线" panose="02010600030101010101" charset="-122"/>
                      </a:endParaRPr>
                    </a:p>
                  </a:txBody>
                  <a:tcPr marL="133350" marR="133350" marT="114300" marB="85725">
                    <a:lnL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D9E1ED"/>
                      </a:solidFill>
                      <a:prstDash val="solid"/>
                    </a:lnT>
                    <a:lnB w="6350">
                      <a:solidFill>
                        <a:srgbClr val="D9E1ED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文本框 3"/>
          <p:cNvSpPr txBox="1"/>
          <p:nvPr/>
        </p:nvSpPr>
        <p:spPr>
          <a:xfrm>
            <a:off x="681513" y="3230880"/>
            <a:ext cx="11052176" cy="8299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dirty="0">
                <a:solidFill>
                  <a:srgbClr val="045499"/>
                </a:solidFill>
              </a:rPr>
              <a:t>Wan In World Models</a:t>
            </a:r>
            <a:endParaRPr lang="zh-CN" altLang="en-US" dirty="0">
              <a:solidFill>
                <a:srgbClr val="045499"/>
              </a:solidFill>
            </a:endParaRPr>
          </a:p>
        </p:txBody>
      </p:sp>
      <p:sp>
        <p:nvSpPr>
          <p:cNvPr id="833" name="椭圆 6"/>
          <p:cNvSpPr/>
          <p:nvPr/>
        </p:nvSpPr>
        <p:spPr>
          <a:xfrm>
            <a:off x="5639594" y="1888434"/>
            <a:ext cx="914400" cy="914401"/>
          </a:xfrm>
          <a:prstGeom prst="ellipse">
            <a:avLst/>
          </a:prstGeom>
          <a:solidFill>
            <a:srgbClr val="FEBF02"/>
          </a:solidFill>
          <a:ln w="12700">
            <a:solidFill>
              <a:srgbClr val="FEBF02"/>
            </a:solidFill>
            <a:miter lim="400000"/>
          </a:ln>
        </p:spPr>
        <p:txBody>
          <a:bodyPr lIns="0" tIns="0" rIns="0" bIns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endParaRPr sz="1600"/>
          </a:p>
        </p:txBody>
      </p:sp>
      <p:sp>
        <p:nvSpPr>
          <p:cNvPr id="834" name="文本框 5"/>
          <p:cNvSpPr txBox="1"/>
          <p:nvPr/>
        </p:nvSpPr>
        <p:spPr>
          <a:xfrm>
            <a:off x="5468019" y="2084023"/>
            <a:ext cx="1257553" cy="52322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800" b="1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solidFill>
                  <a:srgbClr val="045499"/>
                </a:solidFill>
              </a:rPr>
              <a:t>0</a:t>
            </a:r>
            <a:r>
              <a:rPr lang="en-US" dirty="0">
                <a:solidFill>
                  <a:srgbClr val="045499"/>
                </a:solidFill>
              </a:rPr>
              <a:t>3</a:t>
            </a:r>
            <a:endParaRPr lang="en-US" altLang="zh-TW" dirty="0">
              <a:solidFill>
                <a:srgbClr val="045499"/>
              </a:solidFill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Wan--World Model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6801" y="1575224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en-US" altLang="zh-CN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World Model </a:t>
            </a: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的基本形式 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当前环境状态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智能体采取的动作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动作之后的未来状态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世界模型学习到的环境转移规律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513991" y="1493204"/>
          <a:ext cx="1987440" cy="490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Equation" r:id="rId2" imgW="930910" imgH="234950" progId="Equation.DSMT4">
                  <p:embed/>
                </p:oleObj>
              </mc:Choice>
              <mc:Fallback>
                <p:oleObj name="Equation" r:id="rId2" imgW="930910" imgH="234950" progId="Equation.DSMT4">
                  <p:embed/>
                  <p:pic>
                    <p:nvPicPr>
                      <p:cNvPr id="0" name="图片 164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13991" y="1493204"/>
                        <a:ext cx="1987440" cy="490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312703" y="1857638"/>
          <a:ext cx="393151" cy="639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Equation" r:id="rId4" imgW="151130" imgH="234950" progId="Equation.DSMT4">
                  <p:embed/>
                </p:oleObj>
              </mc:Choice>
              <mc:Fallback>
                <p:oleObj name="Equation" r:id="rId4" imgW="151130" imgH="234950" progId="Equation.DSMT4">
                  <p:embed/>
                  <p:pic>
                    <p:nvPicPr>
                      <p:cNvPr id="0" name="图片 1640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2703" y="1857638"/>
                        <a:ext cx="393151" cy="6395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786161" y="2354703"/>
          <a:ext cx="393151" cy="58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6" imgW="159385" imgH="234950" progId="Equation.DSMT4">
                  <p:embed/>
                </p:oleObj>
              </mc:Choice>
              <mc:Fallback>
                <p:oleObj name="Equation" r:id="rId6" imgW="159385" imgH="234950" progId="Equation.DSMT4">
                  <p:embed/>
                  <p:pic>
                    <p:nvPicPr>
                      <p:cNvPr id="0" name="图片 1640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6161" y="2354703"/>
                        <a:ext cx="393151" cy="587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108805" y="2863335"/>
          <a:ext cx="611545" cy="61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8" imgW="234950" imgH="234950" progId="Equation.DSMT4">
                  <p:embed/>
                </p:oleObj>
              </mc:Choice>
              <mc:Fallback>
                <p:oleObj name="Equation" r:id="rId8" imgW="234950" imgH="234950" progId="Equation.DSMT4">
                  <p:embed/>
                  <p:pic>
                    <p:nvPicPr>
                      <p:cNvPr id="0" name="图片 1640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08805" y="2863335"/>
                        <a:ext cx="611545" cy="61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333416" y="3355818"/>
          <a:ext cx="429206" cy="550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Equation" r:id="rId10" imgW="184785" imgH="234950" progId="Equation.DSMT4">
                  <p:embed/>
                </p:oleObj>
              </mc:Choice>
              <mc:Fallback>
                <p:oleObj name="Equation" r:id="rId10" imgW="184785" imgH="234950" progId="Equation.DSMT4">
                  <p:embed/>
                  <p:pic>
                    <p:nvPicPr>
                      <p:cNvPr id="0" name="图片 1640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33416" y="3355818"/>
                        <a:ext cx="429206" cy="550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6571706" y="1687622"/>
            <a:ext cx="6176432" cy="280794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World Model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应具备的能力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观察环境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接受动作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预测动作后的未来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支持连续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rollout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能够被策略或规划器用于决策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16494" y="1455775"/>
            <a:ext cx="5299108" cy="2719002"/>
          </a:xfrm>
          <a:custGeom>
            <a:avLst/>
            <a:gdLst>
              <a:gd name="connsiteX0" fmla="*/ 0 w 5299108"/>
              <a:gd name="connsiteY0" fmla="*/ 0 h 2719002"/>
              <a:gd name="connsiteX1" fmla="*/ 715380 w 5299108"/>
              <a:gd name="connsiteY1" fmla="*/ 0 h 2719002"/>
              <a:gd name="connsiteX2" fmla="*/ 1271786 w 5299108"/>
              <a:gd name="connsiteY2" fmla="*/ 0 h 2719002"/>
              <a:gd name="connsiteX3" fmla="*/ 1828192 w 5299108"/>
              <a:gd name="connsiteY3" fmla="*/ 0 h 2719002"/>
              <a:gd name="connsiteX4" fmla="*/ 2596563 w 5299108"/>
              <a:gd name="connsiteY4" fmla="*/ 0 h 2719002"/>
              <a:gd name="connsiteX5" fmla="*/ 3311943 w 5299108"/>
              <a:gd name="connsiteY5" fmla="*/ 0 h 2719002"/>
              <a:gd name="connsiteX6" fmla="*/ 4027322 w 5299108"/>
              <a:gd name="connsiteY6" fmla="*/ 0 h 2719002"/>
              <a:gd name="connsiteX7" fmla="*/ 4636720 w 5299108"/>
              <a:gd name="connsiteY7" fmla="*/ 0 h 2719002"/>
              <a:gd name="connsiteX8" fmla="*/ 5299108 w 5299108"/>
              <a:gd name="connsiteY8" fmla="*/ 0 h 2719002"/>
              <a:gd name="connsiteX9" fmla="*/ 5299108 w 5299108"/>
              <a:gd name="connsiteY9" fmla="*/ 598180 h 2719002"/>
              <a:gd name="connsiteX10" fmla="*/ 5299108 w 5299108"/>
              <a:gd name="connsiteY10" fmla="*/ 1277931 h 2719002"/>
              <a:gd name="connsiteX11" fmla="*/ 5299108 w 5299108"/>
              <a:gd name="connsiteY11" fmla="*/ 1930491 h 2719002"/>
              <a:gd name="connsiteX12" fmla="*/ 5299108 w 5299108"/>
              <a:gd name="connsiteY12" fmla="*/ 2719002 h 2719002"/>
              <a:gd name="connsiteX13" fmla="*/ 4795693 w 5299108"/>
              <a:gd name="connsiteY13" fmla="*/ 2719002 h 2719002"/>
              <a:gd name="connsiteX14" fmla="*/ 4080313 w 5299108"/>
              <a:gd name="connsiteY14" fmla="*/ 2719002 h 2719002"/>
              <a:gd name="connsiteX15" fmla="*/ 3417925 w 5299108"/>
              <a:gd name="connsiteY15" fmla="*/ 2719002 h 2719002"/>
              <a:gd name="connsiteX16" fmla="*/ 2702545 w 5299108"/>
              <a:gd name="connsiteY16" fmla="*/ 2719002 h 2719002"/>
              <a:gd name="connsiteX17" fmla="*/ 2093148 w 5299108"/>
              <a:gd name="connsiteY17" fmla="*/ 2719002 h 2719002"/>
              <a:gd name="connsiteX18" fmla="*/ 1536741 w 5299108"/>
              <a:gd name="connsiteY18" fmla="*/ 2719002 h 2719002"/>
              <a:gd name="connsiteX19" fmla="*/ 927344 w 5299108"/>
              <a:gd name="connsiteY19" fmla="*/ 2719002 h 2719002"/>
              <a:gd name="connsiteX20" fmla="*/ 0 w 5299108"/>
              <a:gd name="connsiteY20" fmla="*/ 2719002 h 2719002"/>
              <a:gd name="connsiteX21" fmla="*/ 0 w 5299108"/>
              <a:gd name="connsiteY21" fmla="*/ 1984871 h 2719002"/>
              <a:gd name="connsiteX22" fmla="*/ 0 w 5299108"/>
              <a:gd name="connsiteY22" fmla="*/ 1359501 h 2719002"/>
              <a:gd name="connsiteX23" fmla="*/ 0 w 5299108"/>
              <a:gd name="connsiteY23" fmla="*/ 679751 h 2719002"/>
              <a:gd name="connsiteX24" fmla="*/ 0 w 5299108"/>
              <a:gd name="connsiteY24" fmla="*/ 0 h 271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99108" h="2719002" extrusionOk="0">
                <a:moveTo>
                  <a:pt x="0" y="0"/>
                </a:moveTo>
                <a:cubicBezTo>
                  <a:pt x="218524" y="4163"/>
                  <a:pt x="421689" y="7457"/>
                  <a:pt x="715380" y="0"/>
                </a:cubicBezTo>
                <a:cubicBezTo>
                  <a:pt x="1009071" y="-7457"/>
                  <a:pt x="1099924" y="18907"/>
                  <a:pt x="1271786" y="0"/>
                </a:cubicBezTo>
                <a:cubicBezTo>
                  <a:pt x="1443648" y="-18907"/>
                  <a:pt x="1631337" y="15670"/>
                  <a:pt x="1828192" y="0"/>
                </a:cubicBezTo>
                <a:cubicBezTo>
                  <a:pt x="2025047" y="-15670"/>
                  <a:pt x="2258768" y="-12915"/>
                  <a:pt x="2596563" y="0"/>
                </a:cubicBezTo>
                <a:cubicBezTo>
                  <a:pt x="2934358" y="12915"/>
                  <a:pt x="3159991" y="-19941"/>
                  <a:pt x="3311943" y="0"/>
                </a:cubicBezTo>
                <a:cubicBezTo>
                  <a:pt x="3463895" y="19941"/>
                  <a:pt x="3781858" y="23774"/>
                  <a:pt x="4027322" y="0"/>
                </a:cubicBezTo>
                <a:cubicBezTo>
                  <a:pt x="4272786" y="-23774"/>
                  <a:pt x="4464670" y="-11122"/>
                  <a:pt x="4636720" y="0"/>
                </a:cubicBezTo>
                <a:cubicBezTo>
                  <a:pt x="4808770" y="11122"/>
                  <a:pt x="5147491" y="-28533"/>
                  <a:pt x="5299108" y="0"/>
                </a:cubicBezTo>
                <a:cubicBezTo>
                  <a:pt x="5299453" y="213855"/>
                  <a:pt x="5291000" y="477160"/>
                  <a:pt x="5299108" y="598180"/>
                </a:cubicBezTo>
                <a:cubicBezTo>
                  <a:pt x="5307216" y="719200"/>
                  <a:pt x="5300253" y="1084403"/>
                  <a:pt x="5299108" y="1277931"/>
                </a:cubicBezTo>
                <a:cubicBezTo>
                  <a:pt x="5297963" y="1471459"/>
                  <a:pt x="5287238" y="1742304"/>
                  <a:pt x="5299108" y="1930491"/>
                </a:cubicBezTo>
                <a:cubicBezTo>
                  <a:pt x="5310978" y="2118678"/>
                  <a:pt x="5263794" y="2419424"/>
                  <a:pt x="5299108" y="2719002"/>
                </a:cubicBezTo>
                <a:cubicBezTo>
                  <a:pt x="5107847" y="2702518"/>
                  <a:pt x="4910735" y="2736370"/>
                  <a:pt x="4795693" y="2719002"/>
                </a:cubicBezTo>
                <a:cubicBezTo>
                  <a:pt x="4680652" y="2701634"/>
                  <a:pt x="4306570" y="2707358"/>
                  <a:pt x="4080313" y="2719002"/>
                </a:cubicBezTo>
                <a:cubicBezTo>
                  <a:pt x="3854056" y="2730646"/>
                  <a:pt x="3720074" y="2729104"/>
                  <a:pt x="3417925" y="2719002"/>
                </a:cubicBezTo>
                <a:cubicBezTo>
                  <a:pt x="3115776" y="2708900"/>
                  <a:pt x="3053446" y="2739207"/>
                  <a:pt x="2702545" y="2719002"/>
                </a:cubicBezTo>
                <a:cubicBezTo>
                  <a:pt x="2351644" y="2698797"/>
                  <a:pt x="2384483" y="2698770"/>
                  <a:pt x="2093148" y="2719002"/>
                </a:cubicBezTo>
                <a:cubicBezTo>
                  <a:pt x="1801813" y="2739234"/>
                  <a:pt x="1675744" y="2709560"/>
                  <a:pt x="1536741" y="2719002"/>
                </a:cubicBezTo>
                <a:cubicBezTo>
                  <a:pt x="1397738" y="2728444"/>
                  <a:pt x="1069618" y="2736909"/>
                  <a:pt x="927344" y="2719002"/>
                </a:cubicBezTo>
                <a:cubicBezTo>
                  <a:pt x="785070" y="2701095"/>
                  <a:pt x="357122" y="2698874"/>
                  <a:pt x="0" y="2719002"/>
                </a:cubicBezTo>
                <a:cubicBezTo>
                  <a:pt x="36647" y="2448884"/>
                  <a:pt x="-21153" y="2143810"/>
                  <a:pt x="0" y="1984871"/>
                </a:cubicBezTo>
                <a:cubicBezTo>
                  <a:pt x="21153" y="1825932"/>
                  <a:pt x="-16536" y="1510120"/>
                  <a:pt x="0" y="1359501"/>
                </a:cubicBezTo>
                <a:cubicBezTo>
                  <a:pt x="16536" y="1208882"/>
                  <a:pt x="-17391" y="994961"/>
                  <a:pt x="0" y="679751"/>
                </a:cubicBezTo>
                <a:cubicBezTo>
                  <a:pt x="17391" y="364541"/>
                  <a:pt x="757" y="255635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443271" y="1747478"/>
            <a:ext cx="5299108" cy="2719002"/>
          </a:xfrm>
          <a:custGeom>
            <a:avLst/>
            <a:gdLst>
              <a:gd name="connsiteX0" fmla="*/ 0 w 5299108"/>
              <a:gd name="connsiteY0" fmla="*/ 0 h 2719002"/>
              <a:gd name="connsiteX1" fmla="*/ 715380 w 5299108"/>
              <a:gd name="connsiteY1" fmla="*/ 0 h 2719002"/>
              <a:gd name="connsiteX2" fmla="*/ 1271786 w 5299108"/>
              <a:gd name="connsiteY2" fmla="*/ 0 h 2719002"/>
              <a:gd name="connsiteX3" fmla="*/ 1828192 w 5299108"/>
              <a:gd name="connsiteY3" fmla="*/ 0 h 2719002"/>
              <a:gd name="connsiteX4" fmla="*/ 2596563 w 5299108"/>
              <a:gd name="connsiteY4" fmla="*/ 0 h 2719002"/>
              <a:gd name="connsiteX5" fmla="*/ 3311943 w 5299108"/>
              <a:gd name="connsiteY5" fmla="*/ 0 h 2719002"/>
              <a:gd name="connsiteX6" fmla="*/ 4027322 w 5299108"/>
              <a:gd name="connsiteY6" fmla="*/ 0 h 2719002"/>
              <a:gd name="connsiteX7" fmla="*/ 4636720 w 5299108"/>
              <a:gd name="connsiteY7" fmla="*/ 0 h 2719002"/>
              <a:gd name="connsiteX8" fmla="*/ 5299108 w 5299108"/>
              <a:gd name="connsiteY8" fmla="*/ 0 h 2719002"/>
              <a:gd name="connsiteX9" fmla="*/ 5299108 w 5299108"/>
              <a:gd name="connsiteY9" fmla="*/ 598180 h 2719002"/>
              <a:gd name="connsiteX10" fmla="*/ 5299108 w 5299108"/>
              <a:gd name="connsiteY10" fmla="*/ 1277931 h 2719002"/>
              <a:gd name="connsiteX11" fmla="*/ 5299108 w 5299108"/>
              <a:gd name="connsiteY11" fmla="*/ 1930491 h 2719002"/>
              <a:gd name="connsiteX12" fmla="*/ 5299108 w 5299108"/>
              <a:gd name="connsiteY12" fmla="*/ 2719002 h 2719002"/>
              <a:gd name="connsiteX13" fmla="*/ 4795693 w 5299108"/>
              <a:gd name="connsiteY13" fmla="*/ 2719002 h 2719002"/>
              <a:gd name="connsiteX14" fmla="*/ 4080313 w 5299108"/>
              <a:gd name="connsiteY14" fmla="*/ 2719002 h 2719002"/>
              <a:gd name="connsiteX15" fmla="*/ 3417925 w 5299108"/>
              <a:gd name="connsiteY15" fmla="*/ 2719002 h 2719002"/>
              <a:gd name="connsiteX16" fmla="*/ 2702545 w 5299108"/>
              <a:gd name="connsiteY16" fmla="*/ 2719002 h 2719002"/>
              <a:gd name="connsiteX17" fmla="*/ 2093148 w 5299108"/>
              <a:gd name="connsiteY17" fmla="*/ 2719002 h 2719002"/>
              <a:gd name="connsiteX18" fmla="*/ 1536741 w 5299108"/>
              <a:gd name="connsiteY18" fmla="*/ 2719002 h 2719002"/>
              <a:gd name="connsiteX19" fmla="*/ 927344 w 5299108"/>
              <a:gd name="connsiteY19" fmla="*/ 2719002 h 2719002"/>
              <a:gd name="connsiteX20" fmla="*/ 0 w 5299108"/>
              <a:gd name="connsiteY20" fmla="*/ 2719002 h 2719002"/>
              <a:gd name="connsiteX21" fmla="*/ 0 w 5299108"/>
              <a:gd name="connsiteY21" fmla="*/ 1984871 h 2719002"/>
              <a:gd name="connsiteX22" fmla="*/ 0 w 5299108"/>
              <a:gd name="connsiteY22" fmla="*/ 1359501 h 2719002"/>
              <a:gd name="connsiteX23" fmla="*/ 0 w 5299108"/>
              <a:gd name="connsiteY23" fmla="*/ 679751 h 2719002"/>
              <a:gd name="connsiteX24" fmla="*/ 0 w 5299108"/>
              <a:gd name="connsiteY24" fmla="*/ 0 h 2719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299108" h="2719002" extrusionOk="0">
                <a:moveTo>
                  <a:pt x="0" y="0"/>
                </a:moveTo>
                <a:cubicBezTo>
                  <a:pt x="218524" y="4163"/>
                  <a:pt x="421689" y="7457"/>
                  <a:pt x="715380" y="0"/>
                </a:cubicBezTo>
                <a:cubicBezTo>
                  <a:pt x="1009071" y="-7457"/>
                  <a:pt x="1099924" y="18907"/>
                  <a:pt x="1271786" y="0"/>
                </a:cubicBezTo>
                <a:cubicBezTo>
                  <a:pt x="1443648" y="-18907"/>
                  <a:pt x="1631337" y="15670"/>
                  <a:pt x="1828192" y="0"/>
                </a:cubicBezTo>
                <a:cubicBezTo>
                  <a:pt x="2025047" y="-15670"/>
                  <a:pt x="2258768" y="-12915"/>
                  <a:pt x="2596563" y="0"/>
                </a:cubicBezTo>
                <a:cubicBezTo>
                  <a:pt x="2934358" y="12915"/>
                  <a:pt x="3159991" y="-19941"/>
                  <a:pt x="3311943" y="0"/>
                </a:cubicBezTo>
                <a:cubicBezTo>
                  <a:pt x="3463895" y="19941"/>
                  <a:pt x="3781858" y="23774"/>
                  <a:pt x="4027322" y="0"/>
                </a:cubicBezTo>
                <a:cubicBezTo>
                  <a:pt x="4272786" y="-23774"/>
                  <a:pt x="4464670" y="-11122"/>
                  <a:pt x="4636720" y="0"/>
                </a:cubicBezTo>
                <a:cubicBezTo>
                  <a:pt x="4808770" y="11122"/>
                  <a:pt x="5147491" y="-28533"/>
                  <a:pt x="5299108" y="0"/>
                </a:cubicBezTo>
                <a:cubicBezTo>
                  <a:pt x="5299453" y="213855"/>
                  <a:pt x="5291000" y="477160"/>
                  <a:pt x="5299108" y="598180"/>
                </a:cubicBezTo>
                <a:cubicBezTo>
                  <a:pt x="5307216" y="719200"/>
                  <a:pt x="5300253" y="1084403"/>
                  <a:pt x="5299108" y="1277931"/>
                </a:cubicBezTo>
                <a:cubicBezTo>
                  <a:pt x="5297963" y="1471459"/>
                  <a:pt x="5287238" y="1742304"/>
                  <a:pt x="5299108" y="1930491"/>
                </a:cubicBezTo>
                <a:cubicBezTo>
                  <a:pt x="5310978" y="2118678"/>
                  <a:pt x="5263794" y="2419424"/>
                  <a:pt x="5299108" y="2719002"/>
                </a:cubicBezTo>
                <a:cubicBezTo>
                  <a:pt x="5107847" y="2702518"/>
                  <a:pt x="4910735" y="2736370"/>
                  <a:pt x="4795693" y="2719002"/>
                </a:cubicBezTo>
                <a:cubicBezTo>
                  <a:pt x="4680652" y="2701634"/>
                  <a:pt x="4306570" y="2707358"/>
                  <a:pt x="4080313" y="2719002"/>
                </a:cubicBezTo>
                <a:cubicBezTo>
                  <a:pt x="3854056" y="2730646"/>
                  <a:pt x="3720074" y="2729104"/>
                  <a:pt x="3417925" y="2719002"/>
                </a:cubicBezTo>
                <a:cubicBezTo>
                  <a:pt x="3115776" y="2708900"/>
                  <a:pt x="3053446" y="2739207"/>
                  <a:pt x="2702545" y="2719002"/>
                </a:cubicBezTo>
                <a:cubicBezTo>
                  <a:pt x="2351644" y="2698797"/>
                  <a:pt x="2384483" y="2698770"/>
                  <a:pt x="2093148" y="2719002"/>
                </a:cubicBezTo>
                <a:cubicBezTo>
                  <a:pt x="1801813" y="2739234"/>
                  <a:pt x="1675744" y="2709560"/>
                  <a:pt x="1536741" y="2719002"/>
                </a:cubicBezTo>
                <a:cubicBezTo>
                  <a:pt x="1397738" y="2728444"/>
                  <a:pt x="1069618" y="2736909"/>
                  <a:pt x="927344" y="2719002"/>
                </a:cubicBezTo>
                <a:cubicBezTo>
                  <a:pt x="785070" y="2701095"/>
                  <a:pt x="357122" y="2698874"/>
                  <a:pt x="0" y="2719002"/>
                </a:cubicBezTo>
                <a:cubicBezTo>
                  <a:pt x="36647" y="2448884"/>
                  <a:pt x="-21153" y="2143810"/>
                  <a:pt x="0" y="1984871"/>
                </a:cubicBezTo>
                <a:cubicBezTo>
                  <a:pt x="21153" y="1825932"/>
                  <a:pt x="-16536" y="1510120"/>
                  <a:pt x="0" y="1359501"/>
                </a:cubicBezTo>
                <a:cubicBezTo>
                  <a:pt x="16536" y="1208882"/>
                  <a:pt x="-17391" y="994961"/>
                  <a:pt x="0" y="679751"/>
                </a:cubicBezTo>
                <a:cubicBezTo>
                  <a:pt x="17391" y="364541"/>
                  <a:pt x="757" y="255635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31725" y="4810412"/>
            <a:ext cx="11568642" cy="13849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分类：按照预测对象划分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重构型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生成式世界模型：预测的是未来图像、视频或观测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indent="-34290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潜变量预测型世界模型：预测的是未来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latent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或抽象状态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49256" y="4748630"/>
            <a:ext cx="7703211" cy="1681380"/>
          </a:xfrm>
          <a:custGeom>
            <a:avLst/>
            <a:gdLst>
              <a:gd name="connsiteX0" fmla="*/ 0 w 7703211"/>
              <a:gd name="connsiteY0" fmla="*/ 0 h 1681380"/>
              <a:gd name="connsiteX1" fmla="*/ 718966 w 7703211"/>
              <a:gd name="connsiteY1" fmla="*/ 0 h 1681380"/>
              <a:gd name="connsiteX2" fmla="*/ 1206836 w 7703211"/>
              <a:gd name="connsiteY2" fmla="*/ 0 h 1681380"/>
              <a:gd name="connsiteX3" fmla="*/ 1694706 w 7703211"/>
              <a:gd name="connsiteY3" fmla="*/ 0 h 1681380"/>
              <a:gd name="connsiteX4" fmla="*/ 2490705 w 7703211"/>
              <a:gd name="connsiteY4" fmla="*/ 0 h 1681380"/>
              <a:gd name="connsiteX5" fmla="*/ 3209671 w 7703211"/>
              <a:gd name="connsiteY5" fmla="*/ 0 h 1681380"/>
              <a:gd name="connsiteX6" fmla="*/ 3928638 w 7703211"/>
              <a:gd name="connsiteY6" fmla="*/ 0 h 1681380"/>
              <a:gd name="connsiteX7" fmla="*/ 4493540 w 7703211"/>
              <a:gd name="connsiteY7" fmla="*/ 0 h 1681380"/>
              <a:gd name="connsiteX8" fmla="*/ 4981410 w 7703211"/>
              <a:gd name="connsiteY8" fmla="*/ 0 h 1681380"/>
              <a:gd name="connsiteX9" fmla="*/ 5392248 w 7703211"/>
              <a:gd name="connsiteY9" fmla="*/ 0 h 1681380"/>
              <a:gd name="connsiteX10" fmla="*/ 6188246 w 7703211"/>
              <a:gd name="connsiteY10" fmla="*/ 0 h 1681380"/>
              <a:gd name="connsiteX11" fmla="*/ 6907213 w 7703211"/>
              <a:gd name="connsiteY11" fmla="*/ 0 h 1681380"/>
              <a:gd name="connsiteX12" fmla="*/ 7703211 w 7703211"/>
              <a:gd name="connsiteY12" fmla="*/ 0 h 1681380"/>
              <a:gd name="connsiteX13" fmla="*/ 7703211 w 7703211"/>
              <a:gd name="connsiteY13" fmla="*/ 543646 h 1681380"/>
              <a:gd name="connsiteX14" fmla="*/ 7703211 w 7703211"/>
              <a:gd name="connsiteY14" fmla="*/ 1070479 h 1681380"/>
              <a:gd name="connsiteX15" fmla="*/ 7703211 w 7703211"/>
              <a:gd name="connsiteY15" fmla="*/ 1681380 h 1681380"/>
              <a:gd name="connsiteX16" fmla="*/ 7292373 w 7703211"/>
              <a:gd name="connsiteY16" fmla="*/ 1681380 h 1681380"/>
              <a:gd name="connsiteX17" fmla="*/ 6727471 w 7703211"/>
              <a:gd name="connsiteY17" fmla="*/ 1681380 h 1681380"/>
              <a:gd name="connsiteX18" fmla="*/ 6239601 w 7703211"/>
              <a:gd name="connsiteY18" fmla="*/ 1681380 h 1681380"/>
              <a:gd name="connsiteX19" fmla="*/ 5674699 w 7703211"/>
              <a:gd name="connsiteY19" fmla="*/ 1681380 h 1681380"/>
              <a:gd name="connsiteX20" fmla="*/ 5186829 w 7703211"/>
              <a:gd name="connsiteY20" fmla="*/ 1681380 h 1681380"/>
              <a:gd name="connsiteX21" fmla="*/ 4390830 w 7703211"/>
              <a:gd name="connsiteY21" fmla="*/ 1681380 h 1681380"/>
              <a:gd name="connsiteX22" fmla="*/ 3748896 w 7703211"/>
              <a:gd name="connsiteY22" fmla="*/ 1681380 h 1681380"/>
              <a:gd name="connsiteX23" fmla="*/ 3029930 w 7703211"/>
              <a:gd name="connsiteY23" fmla="*/ 1681380 h 1681380"/>
              <a:gd name="connsiteX24" fmla="*/ 2387995 w 7703211"/>
              <a:gd name="connsiteY24" fmla="*/ 1681380 h 1681380"/>
              <a:gd name="connsiteX25" fmla="*/ 1746061 w 7703211"/>
              <a:gd name="connsiteY25" fmla="*/ 1681380 h 1681380"/>
              <a:gd name="connsiteX26" fmla="*/ 950063 w 7703211"/>
              <a:gd name="connsiteY26" fmla="*/ 1681380 h 1681380"/>
              <a:gd name="connsiteX27" fmla="*/ 0 w 7703211"/>
              <a:gd name="connsiteY27" fmla="*/ 1681380 h 1681380"/>
              <a:gd name="connsiteX28" fmla="*/ 0 w 7703211"/>
              <a:gd name="connsiteY28" fmla="*/ 1137734 h 1681380"/>
              <a:gd name="connsiteX29" fmla="*/ 0 w 7703211"/>
              <a:gd name="connsiteY29" fmla="*/ 543646 h 1681380"/>
              <a:gd name="connsiteX30" fmla="*/ 0 w 7703211"/>
              <a:gd name="connsiteY30" fmla="*/ 0 h 168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703211" h="1681380" extrusionOk="0">
                <a:moveTo>
                  <a:pt x="0" y="0"/>
                </a:moveTo>
                <a:cubicBezTo>
                  <a:pt x="345660" y="-22817"/>
                  <a:pt x="382834" y="-8197"/>
                  <a:pt x="718966" y="0"/>
                </a:cubicBezTo>
                <a:cubicBezTo>
                  <a:pt x="1055098" y="8197"/>
                  <a:pt x="1035183" y="11619"/>
                  <a:pt x="1206836" y="0"/>
                </a:cubicBezTo>
                <a:cubicBezTo>
                  <a:pt x="1378489" y="-11619"/>
                  <a:pt x="1595933" y="-14377"/>
                  <a:pt x="1694706" y="0"/>
                </a:cubicBezTo>
                <a:cubicBezTo>
                  <a:pt x="1793479" y="14377"/>
                  <a:pt x="2328811" y="-28282"/>
                  <a:pt x="2490705" y="0"/>
                </a:cubicBezTo>
                <a:cubicBezTo>
                  <a:pt x="2652599" y="28282"/>
                  <a:pt x="2982360" y="34579"/>
                  <a:pt x="3209671" y="0"/>
                </a:cubicBezTo>
                <a:cubicBezTo>
                  <a:pt x="3436982" y="-34579"/>
                  <a:pt x="3654849" y="24296"/>
                  <a:pt x="3928638" y="0"/>
                </a:cubicBezTo>
                <a:cubicBezTo>
                  <a:pt x="4202427" y="-24296"/>
                  <a:pt x="4256129" y="-27175"/>
                  <a:pt x="4493540" y="0"/>
                </a:cubicBezTo>
                <a:cubicBezTo>
                  <a:pt x="4730951" y="27175"/>
                  <a:pt x="4844330" y="2976"/>
                  <a:pt x="4981410" y="0"/>
                </a:cubicBezTo>
                <a:cubicBezTo>
                  <a:pt x="5118490" y="-2976"/>
                  <a:pt x="5226804" y="-17524"/>
                  <a:pt x="5392248" y="0"/>
                </a:cubicBezTo>
                <a:cubicBezTo>
                  <a:pt x="5557692" y="17524"/>
                  <a:pt x="5916537" y="-588"/>
                  <a:pt x="6188246" y="0"/>
                </a:cubicBezTo>
                <a:cubicBezTo>
                  <a:pt x="6459955" y="588"/>
                  <a:pt x="6549270" y="-5781"/>
                  <a:pt x="6907213" y="0"/>
                </a:cubicBezTo>
                <a:cubicBezTo>
                  <a:pt x="7265156" y="5781"/>
                  <a:pt x="7360324" y="-28131"/>
                  <a:pt x="7703211" y="0"/>
                </a:cubicBezTo>
                <a:cubicBezTo>
                  <a:pt x="7720274" y="111296"/>
                  <a:pt x="7683252" y="303883"/>
                  <a:pt x="7703211" y="543646"/>
                </a:cubicBezTo>
                <a:cubicBezTo>
                  <a:pt x="7723170" y="783409"/>
                  <a:pt x="7693808" y="907402"/>
                  <a:pt x="7703211" y="1070479"/>
                </a:cubicBezTo>
                <a:cubicBezTo>
                  <a:pt x="7712614" y="1233556"/>
                  <a:pt x="7689091" y="1496272"/>
                  <a:pt x="7703211" y="1681380"/>
                </a:cubicBezTo>
                <a:cubicBezTo>
                  <a:pt x="7616329" y="1661689"/>
                  <a:pt x="7445922" y="1667632"/>
                  <a:pt x="7292373" y="1681380"/>
                </a:cubicBezTo>
                <a:cubicBezTo>
                  <a:pt x="7138824" y="1695128"/>
                  <a:pt x="6968682" y="1669562"/>
                  <a:pt x="6727471" y="1681380"/>
                </a:cubicBezTo>
                <a:cubicBezTo>
                  <a:pt x="6486260" y="1693198"/>
                  <a:pt x="6434232" y="1666687"/>
                  <a:pt x="6239601" y="1681380"/>
                </a:cubicBezTo>
                <a:cubicBezTo>
                  <a:pt x="6044970" y="1696074"/>
                  <a:pt x="5813347" y="1704973"/>
                  <a:pt x="5674699" y="1681380"/>
                </a:cubicBezTo>
                <a:cubicBezTo>
                  <a:pt x="5536051" y="1657787"/>
                  <a:pt x="5316280" y="1697938"/>
                  <a:pt x="5186829" y="1681380"/>
                </a:cubicBezTo>
                <a:cubicBezTo>
                  <a:pt x="5057378" y="1664823"/>
                  <a:pt x="4558160" y="1702953"/>
                  <a:pt x="4390830" y="1681380"/>
                </a:cubicBezTo>
                <a:cubicBezTo>
                  <a:pt x="4223500" y="1659807"/>
                  <a:pt x="4060986" y="1690236"/>
                  <a:pt x="3748896" y="1681380"/>
                </a:cubicBezTo>
                <a:cubicBezTo>
                  <a:pt x="3436806" y="1672524"/>
                  <a:pt x="3301793" y="1662041"/>
                  <a:pt x="3029930" y="1681380"/>
                </a:cubicBezTo>
                <a:cubicBezTo>
                  <a:pt x="2758067" y="1700719"/>
                  <a:pt x="2521767" y="1703179"/>
                  <a:pt x="2387995" y="1681380"/>
                </a:cubicBezTo>
                <a:cubicBezTo>
                  <a:pt x="2254223" y="1659581"/>
                  <a:pt x="1941620" y="1657078"/>
                  <a:pt x="1746061" y="1681380"/>
                </a:cubicBezTo>
                <a:cubicBezTo>
                  <a:pt x="1550502" y="1705682"/>
                  <a:pt x="1248282" y="1680749"/>
                  <a:pt x="950063" y="1681380"/>
                </a:cubicBezTo>
                <a:cubicBezTo>
                  <a:pt x="651844" y="1682011"/>
                  <a:pt x="300410" y="1647183"/>
                  <a:pt x="0" y="1681380"/>
                </a:cubicBezTo>
                <a:cubicBezTo>
                  <a:pt x="-11887" y="1435958"/>
                  <a:pt x="-16921" y="1373932"/>
                  <a:pt x="0" y="1137734"/>
                </a:cubicBezTo>
                <a:cubicBezTo>
                  <a:pt x="16921" y="901536"/>
                  <a:pt x="-4971" y="832376"/>
                  <a:pt x="0" y="543646"/>
                </a:cubicBezTo>
                <a:cubicBezTo>
                  <a:pt x="4971" y="254916"/>
                  <a:pt x="-16901" y="148033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为什么 </a:t>
            </a:r>
            <a:r>
              <a:rPr lang="en-US" altLang="zh-CN" dirty="0"/>
              <a:t>Wan </a:t>
            </a:r>
            <a:r>
              <a:rPr lang="zh-CN" altLang="en-US" dirty="0"/>
              <a:t>适合生成式世界模型</a:t>
            </a:r>
            <a:r>
              <a:rPr lang="en-US" altLang="zh-CN" dirty="0"/>
              <a:t>Backbone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>
            <a:normAutofit/>
          </a:bodyPr>
          <a:lstStyle/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Wan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原始模型是视频生成模型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经过动作条件和历史建模改造后，可以作为重构型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/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生成式视觉世界模型的 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Backbone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3999" y="1848396"/>
            <a:ext cx="5240867" cy="489364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原生建模视频时空关系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kumimoji="1" lang="en-US" altLang="zh-CN" sz="2000" dirty="0" err="1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DiT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直接处理视频时空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token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，能够学习：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帧间运动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物体位移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相机运动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场景外观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时间连续性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这些正是视觉世界模型需要预测的内容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425" y="2285999"/>
            <a:ext cx="5311775" cy="4172454"/>
          </a:xfrm>
          <a:custGeom>
            <a:avLst/>
            <a:gdLst>
              <a:gd name="connsiteX0" fmla="*/ 0 w 5311775"/>
              <a:gd name="connsiteY0" fmla="*/ 0 h 4172454"/>
              <a:gd name="connsiteX1" fmla="*/ 557736 w 5311775"/>
              <a:gd name="connsiteY1" fmla="*/ 0 h 4172454"/>
              <a:gd name="connsiteX2" fmla="*/ 1062355 w 5311775"/>
              <a:gd name="connsiteY2" fmla="*/ 0 h 4172454"/>
              <a:gd name="connsiteX3" fmla="*/ 1566974 w 5311775"/>
              <a:gd name="connsiteY3" fmla="*/ 0 h 4172454"/>
              <a:gd name="connsiteX4" fmla="*/ 2284063 w 5311775"/>
              <a:gd name="connsiteY4" fmla="*/ 0 h 4172454"/>
              <a:gd name="connsiteX5" fmla="*/ 2788682 w 5311775"/>
              <a:gd name="connsiteY5" fmla="*/ 0 h 4172454"/>
              <a:gd name="connsiteX6" fmla="*/ 3452654 w 5311775"/>
              <a:gd name="connsiteY6" fmla="*/ 0 h 4172454"/>
              <a:gd name="connsiteX7" fmla="*/ 4222861 w 5311775"/>
              <a:gd name="connsiteY7" fmla="*/ 0 h 4172454"/>
              <a:gd name="connsiteX8" fmla="*/ 5311775 w 5311775"/>
              <a:gd name="connsiteY8" fmla="*/ 0 h 4172454"/>
              <a:gd name="connsiteX9" fmla="*/ 5311775 w 5311775"/>
              <a:gd name="connsiteY9" fmla="*/ 737134 h 4172454"/>
              <a:gd name="connsiteX10" fmla="*/ 5311775 w 5311775"/>
              <a:gd name="connsiteY10" fmla="*/ 1390818 h 4172454"/>
              <a:gd name="connsiteX11" fmla="*/ 5311775 w 5311775"/>
              <a:gd name="connsiteY11" fmla="*/ 2002778 h 4172454"/>
              <a:gd name="connsiteX12" fmla="*/ 5311775 w 5311775"/>
              <a:gd name="connsiteY12" fmla="*/ 2573013 h 4172454"/>
              <a:gd name="connsiteX13" fmla="*/ 5311775 w 5311775"/>
              <a:gd name="connsiteY13" fmla="*/ 3351871 h 4172454"/>
              <a:gd name="connsiteX14" fmla="*/ 5311775 w 5311775"/>
              <a:gd name="connsiteY14" fmla="*/ 4172454 h 4172454"/>
              <a:gd name="connsiteX15" fmla="*/ 4754039 w 5311775"/>
              <a:gd name="connsiteY15" fmla="*/ 4172454 h 4172454"/>
              <a:gd name="connsiteX16" fmla="*/ 4090067 w 5311775"/>
              <a:gd name="connsiteY16" fmla="*/ 4172454 h 4172454"/>
              <a:gd name="connsiteX17" fmla="*/ 3479213 w 5311775"/>
              <a:gd name="connsiteY17" fmla="*/ 4172454 h 4172454"/>
              <a:gd name="connsiteX18" fmla="*/ 2921476 w 5311775"/>
              <a:gd name="connsiteY18" fmla="*/ 4172454 h 4172454"/>
              <a:gd name="connsiteX19" fmla="*/ 2310622 w 5311775"/>
              <a:gd name="connsiteY19" fmla="*/ 4172454 h 4172454"/>
              <a:gd name="connsiteX20" fmla="*/ 1646650 w 5311775"/>
              <a:gd name="connsiteY20" fmla="*/ 4172454 h 4172454"/>
              <a:gd name="connsiteX21" fmla="*/ 1035796 w 5311775"/>
              <a:gd name="connsiteY21" fmla="*/ 4172454 h 4172454"/>
              <a:gd name="connsiteX22" fmla="*/ 0 w 5311775"/>
              <a:gd name="connsiteY22" fmla="*/ 4172454 h 4172454"/>
              <a:gd name="connsiteX23" fmla="*/ 0 w 5311775"/>
              <a:gd name="connsiteY23" fmla="*/ 3560494 h 4172454"/>
              <a:gd name="connsiteX24" fmla="*/ 0 w 5311775"/>
              <a:gd name="connsiteY24" fmla="*/ 2906810 h 4172454"/>
              <a:gd name="connsiteX25" fmla="*/ 0 w 5311775"/>
              <a:gd name="connsiteY25" fmla="*/ 2294850 h 4172454"/>
              <a:gd name="connsiteX26" fmla="*/ 0 w 5311775"/>
              <a:gd name="connsiteY26" fmla="*/ 1599441 h 4172454"/>
              <a:gd name="connsiteX27" fmla="*/ 0 w 5311775"/>
              <a:gd name="connsiteY27" fmla="*/ 945756 h 4172454"/>
              <a:gd name="connsiteX28" fmla="*/ 0 w 5311775"/>
              <a:gd name="connsiteY28" fmla="*/ 0 h 4172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311775" h="4172454" extrusionOk="0">
                <a:moveTo>
                  <a:pt x="0" y="0"/>
                </a:moveTo>
                <a:cubicBezTo>
                  <a:pt x="254948" y="7477"/>
                  <a:pt x="354044" y="-21515"/>
                  <a:pt x="557736" y="0"/>
                </a:cubicBezTo>
                <a:cubicBezTo>
                  <a:pt x="761428" y="21515"/>
                  <a:pt x="948480" y="-11883"/>
                  <a:pt x="1062355" y="0"/>
                </a:cubicBezTo>
                <a:cubicBezTo>
                  <a:pt x="1176230" y="11883"/>
                  <a:pt x="1432127" y="24959"/>
                  <a:pt x="1566974" y="0"/>
                </a:cubicBezTo>
                <a:cubicBezTo>
                  <a:pt x="1701821" y="-24959"/>
                  <a:pt x="2094097" y="-25031"/>
                  <a:pt x="2284063" y="0"/>
                </a:cubicBezTo>
                <a:cubicBezTo>
                  <a:pt x="2474029" y="25031"/>
                  <a:pt x="2550794" y="-12827"/>
                  <a:pt x="2788682" y="0"/>
                </a:cubicBezTo>
                <a:cubicBezTo>
                  <a:pt x="3026570" y="12827"/>
                  <a:pt x="3146739" y="12228"/>
                  <a:pt x="3452654" y="0"/>
                </a:cubicBezTo>
                <a:cubicBezTo>
                  <a:pt x="3758569" y="-12228"/>
                  <a:pt x="3854399" y="-1994"/>
                  <a:pt x="4222861" y="0"/>
                </a:cubicBezTo>
                <a:cubicBezTo>
                  <a:pt x="4591323" y="1994"/>
                  <a:pt x="4889650" y="-19912"/>
                  <a:pt x="5311775" y="0"/>
                </a:cubicBezTo>
                <a:cubicBezTo>
                  <a:pt x="5301995" y="271250"/>
                  <a:pt x="5338231" y="404626"/>
                  <a:pt x="5311775" y="737134"/>
                </a:cubicBezTo>
                <a:cubicBezTo>
                  <a:pt x="5285319" y="1069642"/>
                  <a:pt x="5334508" y="1205776"/>
                  <a:pt x="5311775" y="1390818"/>
                </a:cubicBezTo>
                <a:cubicBezTo>
                  <a:pt x="5289042" y="1575860"/>
                  <a:pt x="5293865" y="1753554"/>
                  <a:pt x="5311775" y="2002778"/>
                </a:cubicBezTo>
                <a:cubicBezTo>
                  <a:pt x="5329685" y="2252002"/>
                  <a:pt x="5327535" y="2393968"/>
                  <a:pt x="5311775" y="2573013"/>
                </a:cubicBezTo>
                <a:cubicBezTo>
                  <a:pt x="5296015" y="2752058"/>
                  <a:pt x="5323430" y="3037812"/>
                  <a:pt x="5311775" y="3351871"/>
                </a:cubicBezTo>
                <a:cubicBezTo>
                  <a:pt x="5300120" y="3665930"/>
                  <a:pt x="5328299" y="3866042"/>
                  <a:pt x="5311775" y="4172454"/>
                </a:cubicBezTo>
                <a:cubicBezTo>
                  <a:pt x="5133876" y="4161622"/>
                  <a:pt x="4957412" y="4198585"/>
                  <a:pt x="4754039" y="4172454"/>
                </a:cubicBezTo>
                <a:cubicBezTo>
                  <a:pt x="4550666" y="4146323"/>
                  <a:pt x="4382874" y="4199789"/>
                  <a:pt x="4090067" y="4172454"/>
                </a:cubicBezTo>
                <a:cubicBezTo>
                  <a:pt x="3797260" y="4145119"/>
                  <a:pt x="3755623" y="4198277"/>
                  <a:pt x="3479213" y="4172454"/>
                </a:cubicBezTo>
                <a:cubicBezTo>
                  <a:pt x="3202803" y="4146631"/>
                  <a:pt x="3056101" y="4178921"/>
                  <a:pt x="2921476" y="4172454"/>
                </a:cubicBezTo>
                <a:cubicBezTo>
                  <a:pt x="2786851" y="4165987"/>
                  <a:pt x="2523490" y="4175764"/>
                  <a:pt x="2310622" y="4172454"/>
                </a:cubicBezTo>
                <a:cubicBezTo>
                  <a:pt x="2097754" y="4169144"/>
                  <a:pt x="1879196" y="4168340"/>
                  <a:pt x="1646650" y="4172454"/>
                </a:cubicBezTo>
                <a:cubicBezTo>
                  <a:pt x="1414104" y="4176568"/>
                  <a:pt x="1174828" y="4200625"/>
                  <a:pt x="1035796" y="4172454"/>
                </a:cubicBezTo>
                <a:cubicBezTo>
                  <a:pt x="896764" y="4144283"/>
                  <a:pt x="336691" y="4123643"/>
                  <a:pt x="0" y="4172454"/>
                </a:cubicBezTo>
                <a:cubicBezTo>
                  <a:pt x="20281" y="4029715"/>
                  <a:pt x="-26806" y="3852089"/>
                  <a:pt x="0" y="3560494"/>
                </a:cubicBezTo>
                <a:cubicBezTo>
                  <a:pt x="26806" y="3268899"/>
                  <a:pt x="25761" y="3090200"/>
                  <a:pt x="0" y="2906810"/>
                </a:cubicBezTo>
                <a:cubicBezTo>
                  <a:pt x="-25761" y="2723420"/>
                  <a:pt x="26575" y="2506827"/>
                  <a:pt x="0" y="2294850"/>
                </a:cubicBezTo>
                <a:cubicBezTo>
                  <a:pt x="-26575" y="2082873"/>
                  <a:pt x="-28020" y="1879604"/>
                  <a:pt x="0" y="1599441"/>
                </a:cubicBezTo>
                <a:cubicBezTo>
                  <a:pt x="28020" y="1319278"/>
                  <a:pt x="-20360" y="1227613"/>
                  <a:pt x="0" y="945756"/>
                </a:cubicBezTo>
                <a:cubicBezTo>
                  <a:pt x="20360" y="663900"/>
                  <a:pt x="-7385" y="264716"/>
                  <a:pt x="0" y="0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6000" y="2747664"/>
            <a:ext cx="4919134" cy="397031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在视频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latent </a:t>
            </a:r>
            <a:r>
              <a:rPr kumimoji="1" lang="zh-CN" altLang="en-US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空间计算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不是直接逐像素预测，而是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空间能够压缩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空间分辨率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时间冗余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视觉细节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因此适合高分辨率视频预测</a:t>
            </a:r>
            <a:endParaRPr lang="zh-CN" altLang="en-US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096000" y="3691039"/>
          <a:ext cx="5604934" cy="403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2" imgW="2835275" imgH="209550" progId="Equation.DSMT4">
                  <p:embed/>
                </p:oleObj>
              </mc:Choice>
              <mc:Fallback>
                <p:oleObj name="Equation" r:id="rId2" imgW="2835275" imgH="209550" progId="Equation.DSMT4">
                  <p:embed/>
                  <p:pic>
                    <p:nvPicPr>
                      <p:cNvPr id="0" name="图片 1741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3691039"/>
                        <a:ext cx="5604934" cy="403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5907828" y="2690785"/>
            <a:ext cx="5889995" cy="3767668"/>
          </a:xfrm>
          <a:custGeom>
            <a:avLst/>
            <a:gdLst>
              <a:gd name="connsiteX0" fmla="*/ 0 w 5889995"/>
              <a:gd name="connsiteY0" fmla="*/ 0 h 3767668"/>
              <a:gd name="connsiteX1" fmla="*/ 536644 w 5889995"/>
              <a:gd name="connsiteY1" fmla="*/ 0 h 3767668"/>
              <a:gd name="connsiteX2" fmla="*/ 1014388 w 5889995"/>
              <a:gd name="connsiteY2" fmla="*/ 0 h 3767668"/>
              <a:gd name="connsiteX3" fmla="*/ 1492132 w 5889995"/>
              <a:gd name="connsiteY3" fmla="*/ 0 h 3767668"/>
              <a:gd name="connsiteX4" fmla="*/ 2205476 w 5889995"/>
              <a:gd name="connsiteY4" fmla="*/ 0 h 3767668"/>
              <a:gd name="connsiteX5" fmla="*/ 2683220 w 5889995"/>
              <a:gd name="connsiteY5" fmla="*/ 0 h 3767668"/>
              <a:gd name="connsiteX6" fmla="*/ 3337664 w 5889995"/>
              <a:gd name="connsiteY6" fmla="*/ 0 h 3767668"/>
              <a:gd name="connsiteX7" fmla="*/ 4109908 w 5889995"/>
              <a:gd name="connsiteY7" fmla="*/ 0 h 3767668"/>
              <a:gd name="connsiteX8" fmla="*/ 4764352 w 5889995"/>
              <a:gd name="connsiteY8" fmla="*/ 0 h 3767668"/>
              <a:gd name="connsiteX9" fmla="*/ 5889995 w 5889995"/>
              <a:gd name="connsiteY9" fmla="*/ 0 h 3767668"/>
              <a:gd name="connsiteX10" fmla="*/ 5889995 w 5889995"/>
              <a:gd name="connsiteY10" fmla="*/ 665621 h 3767668"/>
              <a:gd name="connsiteX11" fmla="*/ 5889995 w 5889995"/>
              <a:gd name="connsiteY11" fmla="*/ 1218213 h 3767668"/>
              <a:gd name="connsiteX12" fmla="*/ 5889995 w 5889995"/>
              <a:gd name="connsiteY12" fmla="*/ 1733127 h 3767668"/>
              <a:gd name="connsiteX13" fmla="*/ 5889995 w 5889995"/>
              <a:gd name="connsiteY13" fmla="*/ 2436425 h 3767668"/>
              <a:gd name="connsiteX14" fmla="*/ 5889995 w 5889995"/>
              <a:gd name="connsiteY14" fmla="*/ 3026693 h 3767668"/>
              <a:gd name="connsiteX15" fmla="*/ 5889995 w 5889995"/>
              <a:gd name="connsiteY15" fmla="*/ 3767668 h 3767668"/>
              <a:gd name="connsiteX16" fmla="*/ 5176651 w 5889995"/>
              <a:gd name="connsiteY16" fmla="*/ 3767668 h 3767668"/>
              <a:gd name="connsiteX17" fmla="*/ 4581107 w 5889995"/>
              <a:gd name="connsiteY17" fmla="*/ 3767668 h 3767668"/>
              <a:gd name="connsiteX18" fmla="*/ 4044463 w 5889995"/>
              <a:gd name="connsiteY18" fmla="*/ 3767668 h 3767668"/>
              <a:gd name="connsiteX19" fmla="*/ 3448919 w 5889995"/>
              <a:gd name="connsiteY19" fmla="*/ 3767668 h 3767668"/>
              <a:gd name="connsiteX20" fmla="*/ 2794475 w 5889995"/>
              <a:gd name="connsiteY20" fmla="*/ 3767668 h 3767668"/>
              <a:gd name="connsiteX21" fmla="*/ 2198931 w 5889995"/>
              <a:gd name="connsiteY21" fmla="*/ 3767668 h 3767668"/>
              <a:gd name="connsiteX22" fmla="*/ 1721187 w 5889995"/>
              <a:gd name="connsiteY22" fmla="*/ 3767668 h 3767668"/>
              <a:gd name="connsiteX23" fmla="*/ 1184543 w 5889995"/>
              <a:gd name="connsiteY23" fmla="*/ 3767668 h 3767668"/>
              <a:gd name="connsiteX24" fmla="*/ 0 w 5889995"/>
              <a:gd name="connsiteY24" fmla="*/ 3767668 h 3767668"/>
              <a:gd name="connsiteX25" fmla="*/ 0 w 5889995"/>
              <a:gd name="connsiteY25" fmla="*/ 3139723 h 3767668"/>
              <a:gd name="connsiteX26" fmla="*/ 0 w 5889995"/>
              <a:gd name="connsiteY26" fmla="*/ 2511779 h 3767668"/>
              <a:gd name="connsiteX27" fmla="*/ 0 w 5889995"/>
              <a:gd name="connsiteY27" fmla="*/ 1921511 h 3767668"/>
              <a:gd name="connsiteX28" fmla="*/ 0 w 5889995"/>
              <a:gd name="connsiteY28" fmla="*/ 1293566 h 3767668"/>
              <a:gd name="connsiteX29" fmla="*/ 0 w 5889995"/>
              <a:gd name="connsiteY29" fmla="*/ 590268 h 3767668"/>
              <a:gd name="connsiteX30" fmla="*/ 0 w 5889995"/>
              <a:gd name="connsiteY30" fmla="*/ 0 h 3767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889995" h="3767668" extrusionOk="0">
                <a:moveTo>
                  <a:pt x="0" y="0"/>
                </a:moveTo>
                <a:cubicBezTo>
                  <a:pt x="133198" y="-4688"/>
                  <a:pt x="271058" y="-21774"/>
                  <a:pt x="536644" y="0"/>
                </a:cubicBezTo>
                <a:cubicBezTo>
                  <a:pt x="802230" y="21774"/>
                  <a:pt x="799694" y="15753"/>
                  <a:pt x="1014388" y="0"/>
                </a:cubicBezTo>
                <a:cubicBezTo>
                  <a:pt x="1229082" y="-15753"/>
                  <a:pt x="1346767" y="-22513"/>
                  <a:pt x="1492132" y="0"/>
                </a:cubicBezTo>
                <a:cubicBezTo>
                  <a:pt x="1637497" y="22513"/>
                  <a:pt x="1906740" y="27869"/>
                  <a:pt x="2205476" y="0"/>
                </a:cubicBezTo>
                <a:cubicBezTo>
                  <a:pt x="2504212" y="-27869"/>
                  <a:pt x="2481090" y="6746"/>
                  <a:pt x="2683220" y="0"/>
                </a:cubicBezTo>
                <a:cubicBezTo>
                  <a:pt x="2885350" y="-6746"/>
                  <a:pt x="3027868" y="24488"/>
                  <a:pt x="3337664" y="0"/>
                </a:cubicBezTo>
                <a:cubicBezTo>
                  <a:pt x="3647460" y="-24488"/>
                  <a:pt x="3947641" y="-14561"/>
                  <a:pt x="4109908" y="0"/>
                </a:cubicBezTo>
                <a:cubicBezTo>
                  <a:pt x="4272175" y="14561"/>
                  <a:pt x="4558196" y="-25449"/>
                  <a:pt x="4764352" y="0"/>
                </a:cubicBezTo>
                <a:cubicBezTo>
                  <a:pt x="4970508" y="25449"/>
                  <a:pt x="5508743" y="17226"/>
                  <a:pt x="5889995" y="0"/>
                </a:cubicBezTo>
                <a:cubicBezTo>
                  <a:pt x="5888501" y="249070"/>
                  <a:pt x="5883315" y="439574"/>
                  <a:pt x="5889995" y="665621"/>
                </a:cubicBezTo>
                <a:cubicBezTo>
                  <a:pt x="5896675" y="891668"/>
                  <a:pt x="5885646" y="1052771"/>
                  <a:pt x="5889995" y="1218213"/>
                </a:cubicBezTo>
                <a:cubicBezTo>
                  <a:pt x="5894344" y="1383655"/>
                  <a:pt x="5888899" y="1525397"/>
                  <a:pt x="5889995" y="1733127"/>
                </a:cubicBezTo>
                <a:cubicBezTo>
                  <a:pt x="5891091" y="1940857"/>
                  <a:pt x="5856407" y="2120284"/>
                  <a:pt x="5889995" y="2436425"/>
                </a:cubicBezTo>
                <a:cubicBezTo>
                  <a:pt x="5923583" y="2752566"/>
                  <a:pt x="5884632" y="2879296"/>
                  <a:pt x="5889995" y="3026693"/>
                </a:cubicBezTo>
                <a:cubicBezTo>
                  <a:pt x="5895358" y="3174090"/>
                  <a:pt x="5920711" y="3428245"/>
                  <a:pt x="5889995" y="3767668"/>
                </a:cubicBezTo>
                <a:cubicBezTo>
                  <a:pt x="5683375" y="3794808"/>
                  <a:pt x="5471056" y="3743219"/>
                  <a:pt x="5176651" y="3767668"/>
                </a:cubicBezTo>
                <a:cubicBezTo>
                  <a:pt x="4882246" y="3792117"/>
                  <a:pt x="4821585" y="3791423"/>
                  <a:pt x="4581107" y="3767668"/>
                </a:cubicBezTo>
                <a:cubicBezTo>
                  <a:pt x="4340629" y="3743913"/>
                  <a:pt x="4302501" y="3759122"/>
                  <a:pt x="4044463" y="3767668"/>
                </a:cubicBezTo>
                <a:cubicBezTo>
                  <a:pt x="3786425" y="3776214"/>
                  <a:pt x="3712705" y="3749830"/>
                  <a:pt x="3448919" y="3767668"/>
                </a:cubicBezTo>
                <a:cubicBezTo>
                  <a:pt x="3185133" y="3785506"/>
                  <a:pt x="3046227" y="3785428"/>
                  <a:pt x="2794475" y="3767668"/>
                </a:cubicBezTo>
                <a:cubicBezTo>
                  <a:pt x="2542723" y="3749908"/>
                  <a:pt x="2369992" y="3785723"/>
                  <a:pt x="2198931" y="3767668"/>
                </a:cubicBezTo>
                <a:cubicBezTo>
                  <a:pt x="2027870" y="3749613"/>
                  <a:pt x="1934026" y="3772663"/>
                  <a:pt x="1721187" y="3767668"/>
                </a:cubicBezTo>
                <a:cubicBezTo>
                  <a:pt x="1508348" y="3762673"/>
                  <a:pt x="1345897" y="3776324"/>
                  <a:pt x="1184543" y="3767668"/>
                </a:cubicBezTo>
                <a:cubicBezTo>
                  <a:pt x="1023189" y="3759012"/>
                  <a:pt x="511576" y="3713480"/>
                  <a:pt x="0" y="3767668"/>
                </a:cubicBezTo>
                <a:cubicBezTo>
                  <a:pt x="-19002" y="3639053"/>
                  <a:pt x="13885" y="3404125"/>
                  <a:pt x="0" y="3139723"/>
                </a:cubicBezTo>
                <a:cubicBezTo>
                  <a:pt x="-13885" y="2875322"/>
                  <a:pt x="-28030" y="2779387"/>
                  <a:pt x="0" y="2511779"/>
                </a:cubicBezTo>
                <a:cubicBezTo>
                  <a:pt x="28030" y="2244171"/>
                  <a:pt x="-9453" y="2168591"/>
                  <a:pt x="0" y="1921511"/>
                </a:cubicBezTo>
                <a:cubicBezTo>
                  <a:pt x="9453" y="1674431"/>
                  <a:pt x="-2842" y="1420956"/>
                  <a:pt x="0" y="1293566"/>
                </a:cubicBezTo>
                <a:cubicBezTo>
                  <a:pt x="2842" y="1166176"/>
                  <a:pt x="18213" y="814748"/>
                  <a:pt x="0" y="590268"/>
                </a:cubicBezTo>
                <a:cubicBezTo>
                  <a:pt x="-18213" y="365788"/>
                  <a:pt x="19875" y="278091"/>
                  <a:pt x="0" y="0"/>
                </a:cubicBezTo>
                <a:close/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dirty="0"/>
              <a:t>为什么 </a:t>
            </a:r>
            <a:r>
              <a:rPr lang="en-US" altLang="zh-CN" dirty="0"/>
              <a:t>Wan </a:t>
            </a:r>
            <a:r>
              <a:rPr lang="zh-CN" altLang="en-US" dirty="0"/>
              <a:t>适合生成式世界模型</a:t>
            </a:r>
            <a:r>
              <a:rPr lang="en-US" altLang="zh-CN" dirty="0"/>
              <a:t>Backbone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14220" y="1920272"/>
            <a:ext cx="6350501" cy="267809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1800" b="1" dirty="0"/>
              <a:t>可以自然加入动作条件</a:t>
            </a:r>
            <a:endParaRPr lang="en-US" altLang="zh-CN" sz="18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600" dirty="0"/>
              <a:t>Wan </a:t>
            </a:r>
            <a:r>
              <a:rPr lang="zh-CN" altLang="en-US" sz="1600" dirty="0"/>
              <a:t>可以通过以下方式加入动作：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Action token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Cross-Attention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Self-Attention</a:t>
            </a:r>
            <a:endParaRPr lang="zh-CN" alt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600" dirty="0"/>
              <a:t>Action embedding</a:t>
            </a:r>
            <a:endParaRPr lang="zh-CN" altLang="en-US" sz="1600" dirty="0"/>
          </a:p>
          <a:p>
            <a:pPr marL="0" indent="0">
              <a:buNone/>
            </a:pPr>
            <a:r>
              <a:rPr lang="zh-CN" altLang="en-US" sz="1600" dirty="0"/>
              <a:t>从而实现</a:t>
            </a:r>
            <a:endParaRPr lang="en-US" altLang="zh-CN" sz="1600" dirty="0"/>
          </a:p>
          <a:p>
            <a:pPr marL="0" indent="0">
              <a:buNone/>
            </a:pPr>
            <a:r>
              <a:rPr lang="zh-CN" altLang="en-US" sz="1600" dirty="0"/>
              <a:t>历史视觉</a:t>
            </a:r>
            <a:r>
              <a:rPr lang="en-US" altLang="zh-CN" sz="1600" dirty="0"/>
              <a:t>+</a:t>
            </a:r>
            <a:r>
              <a:rPr lang="zh-CN" altLang="en-US" sz="1600" dirty="0"/>
              <a:t>动作 </a:t>
            </a:r>
            <a:r>
              <a:rPr lang="en-US" altLang="zh-CN" sz="1600" dirty="0">
                <a:sym typeface="Wingdings" panose="05000000000000000000" pitchFamily="2" charset="2"/>
              </a:rPr>
              <a:t> </a:t>
            </a:r>
            <a:r>
              <a:rPr lang="zh-CN" altLang="en-US" sz="1600" dirty="0"/>
              <a:t>动作后的未来视觉</a:t>
            </a:r>
            <a:endParaRPr lang="zh-CN" altLang="en-US" sz="1600" dirty="0"/>
          </a:p>
          <a:p>
            <a:pPr marL="0" indent="0">
              <a:buNone/>
            </a:pPr>
            <a:endParaRPr lang="zh-CN" altLang="en-US" sz="1600" dirty="0"/>
          </a:p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3471" y="1160981"/>
            <a:ext cx="4588491" cy="37394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可以扩展长期记忆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Wan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的视频生成能力可以和以下机制结合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 latent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latent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Camera-aware retrieval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相对相机几何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 Buffer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长时间 </a:t>
            </a:r>
            <a:r>
              <a:rPr lang="en-US" altLang="zh-CN" sz="16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RoPE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Multi-segment rollout</a:t>
            </a:r>
            <a:endParaRPr lang="zh-CN" altLang="en-US" dirty="0"/>
          </a:p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最后进行长期记忆的扩展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22237" y="4938500"/>
            <a:ext cx="10723121" cy="19195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可以生成可视化的未来过程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Wan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不只预测一个抽象状态，还能生成未来视频</a:t>
            </a:r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90000"/>
              </a:lnSpc>
              <a:spcBef>
                <a:spcPts val="1000"/>
              </a:spcBef>
              <a:buSzPct val="100000"/>
            </a:pP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候选动作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预测未来画面 </a:t>
            </a:r>
            <a:r>
              <a:rPr lang="en-US" altLang="zh-CN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 </a:t>
            </a:r>
            <a:r>
              <a:rPr lang="zh-CN" altLang="en-US" sz="1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观察动作可能造成的后果</a:t>
            </a:r>
            <a:endParaRPr lang="zh-CN" altLang="en-US" sz="1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2711" y="1802409"/>
            <a:ext cx="3911982" cy="2873830"/>
          </a:xfrm>
          <a:custGeom>
            <a:avLst/>
            <a:gdLst>
              <a:gd name="connsiteX0" fmla="*/ 0 w 3911982"/>
              <a:gd name="connsiteY0" fmla="*/ 0 h 2873830"/>
              <a:gd name="connsiteX1" fmla="*/ 573757 w 3911982"/>
              <a:gd name="connsiteY1" fmla="*/ 0 h 2873830"/>
              <a:gd name="connsiteX2" fmla="*/ 1147515 w 3911982"/>
              <a:gd name="connsiteY2" fmla="*/ 0 h 2873830"/>
              <a:gd name="connsiteX3" fmla="*/ 1721272 w 3911982"/>
              <a:gd name="connsiteY3" fmla="*/ 0 h 2873830"/>
              <a:gd name="connsiteX4" fmla="*/ 2451509 w 3911982"/>
              <a:gd name="connsiteY4" fmla="*/ 0 h 2873830"/>
              <a:gd name="connsiteX5" fmla="*/ 3064386 w 3911982"/>
              <a:gd name="connsiteY5" fmla="*/ 0 h 2873830"/>
              <a:gd name="connsiteX6" fmla="*/ 3911982 w 3911982"/>
              <a:gd name="connsiteY6" fmla="*/ 0 h 2873830"/>
              <a:gd name="connsiteX7" fmla="*/ 3911982 w 3911982"/>
              <a:gd name="connsiteY7" fmla="*/ 517289 h 2873830"/>
              <a:gd name="connsiteX8" fmla="*/ 3911982 w 3911982"/>
              <a:gd name="connsiteY8" fmla="*/ 1120794 h 2873830"/>
              <a:gd name="connsiteX9" fmla="*/ 3911982 w 3911982"/>
              <a:gd name="connsiteY9" fmla="*/ 1724298 h 2873830"/>
              <a:gd name="connsiteX10" fmla="*/ 3911982 w 3911982"/>
              <a:gd name="connsiteY10" fmla="*/ 2327802 h 2873830"/>
              <a:gd name="connsiteX11" fmla="*/ 3911982 w 3911982"/>
              <a:gd name="connsiteY11" fmla="*/ 2873830 h 2873830"/>
              <a:gd name="connsiteX12" fmla="*/ 3181745 w 3911982"/>
              <a:gd name="connsiteY12" fmla="*/ 2873830 h 2873830"/>
              <a:gd name="connsiteX13" fmla="*/ 2607988 w 3911982"/>
              <a:gd name="connsiteY13" fmla="*/ 2873830 h 2873830"/>
              <a:gd name="connsiteX14" fmla="*/ 1995111 w 3911982"/>
              <a:gd name="connsiteY14" fmla="*/ 2873830 h 2873830"/>
              <a:gd name="connsiteX15" fmla="*/ 1421353 w 3911982"/>
              <a:gd name="connsiteY15" fmla="*/ 2873830 h 2873830"/>
              <a:gd name="connsiteX16" fmla="*/ 769356 w 3911982"/>
              <a:gd name="connsiteY16" fmla="*/ 2873830 h 2873830"/>
              <a:gd name="connsiteX17" fmla="*/ 0 w 3911982"/>
              <a:gd name="connsiteY17" fmla="*/ 2873830 h 2873830"/>
              <a:gd name="connsiteX18" fmla="*/ 0 w 3911982"/>
              <a:gd name="connsiteY18" fmla="*/ 2356541 h 2873830"/>
              <a:gd name="connsiteX19" fmla="*/ 0 w 3911982"/>
              <a:gd name="connsiteY19" fmla="*/ 1781775 h 2873830"/>
              <a:gd name="connsiteX20" fmla="*/ 0 w 3911982"/>
              <a:gd name="connsiteY20" fmla="*/ 1293223 h 2873830"/>
              <a:gd name="connsiteX21" fmla="*/ 0 w 3911982"/>
              <a:gd name="connsiteY21" fmla="*/ 747196 h 2873830"/>
              <a:gd name="connsiteX22" fmla="*/ 0 w 3911982"/>
              <a:gd name="connsiteY22" fmla="*/ 0 h 287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11982" h="2873830" extrusionOk="0">
                <a:moveTo>
                  <a:pt x="0" y="0"/>
                </a:moveTo>
                <a:cubicBezTo>
                  <a:pt x="177971" y="25369"/>
                  <a:pt x="372065" y="10459"/>
                  <a:pt x="573757" y="0"/>
                </a:cubicBezTo>
                <a:cubicBezTo>
                  <a:pt x="775449" y="-10459"/>
                  <a:pt x="1028016" y="28340"/>
                  <a:pt x="1147515" y="0"/>
                </a:cubicBezTo>
                <a:cubicBezTo>
                  <a:pt x="1267014" y="-28340"/>
                  <a:pt x="1519620" y="-10818"/>
                  <a:pt x="1721272" y="0"/>
                </a:cubicBezTo>
                <a:cubicBezTo>
                  <a:pt x="1922924" y="10818"/>
                  <a:pt x="2129449" y="26767"/>
                  <a:pt x="2451509" y="0"/>
                </a:cubicBezTo>
                <a:cubicBezTo>
                  <a:pt x="2773569" y="-26767"/>
                  <a:pt x="2863194" y="-11301"/>
                  <a:pt x="3064386" y="0"/>
                </a:cubicBezTo>
                <a:cubicBezTo>
                  <a:pt x="3265578" y="11301"/>
                  <a:pt x="3663261" y="-8030"/>
                  <a:pt x="3911982" y="0"/>
                </a:cubicBezTo>
                <a:cubicBezTo>
                  <a:pt x="3929688" y="216846"/>
                  <a:pt x="3911298" y="275478"/>
                  <a:pt x="3911982" y="517289"/>
                </a:cubicBezTo>
                <a:cubicBezTo>
                  <a:pt x="3912666" y="759100"/>
                  <a:pt x="3938166" y="887377"/>
                  <a:pt x="3911982" y="1120794"/>
                </a:cubicBezTo>
                <a:cubicBezTo>
                  <a:pt x="3885798" y="1354212"/>
                  <a:pt x="3934958" y="1507942"/>
                  <a:pt x="3911982" y="1724298"/>
                </a:cubicBezTo>
                <a:cubicBezTo>
                  <a:pt x="3889006" y="1940654"/>
                  <a:pt x="3915855" y="2137864"/>
                  <a:pt x="3911982" y="2327802"/>
                </a:cubicBezTo>
                <a:cubicBezTo>
                  <a:pt x="3908109" y="2517740"/>
                  <a:pt x="3893478" y="2606632"/>
                  <a:pt x="3911982" y="2873830"/>
                </a:cubicBezTo>
                <a:cubicBezTo>
                  <a:pt x="3754526" y="2904363"/>
                  <a:pt x="3428241" y="2879542"/>
                  <a:pt x="3181745" y="2873830"/>
                </a:cubicBezTo>
                <a:cubicBezTo>
                  <a:pt x="2935249" y="2868118"/>
                  <a:pt x="2779904" y="2878679"/>
                  <a:pt x="2607988" y="2873830"/>
                </a:cubicBezTo>
                <a:cubicBezTo>
                  <a:pt x="2436072" y="2868981"/>
                  <a:pt x="2198493" y="2848978"/>
                  <a:pt x="1995111" y="2873830"/>
                </a:cubicBezTo>
                <a:cubicBezTo>
                  <a:pt x="1791729" y="2898682"/>
                  <a:pt x="1661739" y="2868732"/>
                  <a:pt x="1421353" y="2873830"/>
                </a:cubicBezTo>
                <a:cubicBezTo>
                  <a:pt x="1180967" y="2878928"/>
                  <a:pt x="911674" y="2875214"/>
                  <a:pt x="769356" y="2873830"/>
                </a:cubicBezTo>
                <a:cubicBezTo>
                  <a:pt x="627038" y="2872446"/>
                  <a:pt x="343339" y="2876947"/>
                  <a:pt x="0" y="2873830"/>
                </a:cubicBezTo>
                <a:cubicBezTo>
                  <a:pt x="16772" y="2735409"/>
                  <a:pt x="-24170" y="2596235"/>
                  <a:pt x="0" y="2356541"/>
                </a:cubicBezTo>
                <a:cubicBezTo>
                  <a:pt x="24170" y="2116847"/>
                  <a:pt x="11760" y="1932930"/>
                  <a:pt x="0" y="1781775"/>
                </a:cubicBezTo>
                <a:cubicBezTo>
                  <a:pt x="-11760" y="1630620"/>
                  <a:pt x="-1654" y="1504469"/>
                  <a:pt x="0" y="1293223"/>
                </a:cubicBezTo>
                <a:cubicBezTo>
                  <a:pt x="1654" y="1081977"/>
                  <a:pt x="-2607" y="985005"/>
                  <a:pt x="0" y="747196"/>
                </a:cubicBezTo>
                <a:cubicBezTo>
                  <a:pt x="2607" y="509387"/>
                  <a:pt x="2332" y="351571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56225" y="1191948"/>
            <a:ext cx="4493402" cy="3693319"/>
          </a:xfrm>
          <a:custGeom>
            <a:avLst/>
            <a:gdLst>
              <a:gd name="connsiteX0" fmla="*/ 0 w 4493402"/>
              <a:gd name="connsiteY0" fmla="*/ 0 h 3693319"/>
              <a:gd name="connsiteX1" fmla="*/ 552047 w 4493402"/>
              <a:gd name="connsiteY1" fmla="*/ 0 h 3693319"/>
              <a:gd name="connsiteX2" fmla="*/ 1104093 w 4493402"/>
              <a:gd name="connsiteY2" fmla="*/ 0 h 3693319"/>
              <a:gd name="connsiteX3" fmla="*/ 1656140 w 4493402"/>
              <a:gd name="connsiteY3" fmla="*/ 0 h 3693319"/>
              <a:gd name="connsiteX4" fmla="*/ 2387922 w 4493402"/>
              <a:gd name="connsiteY4" fmla="*/ 0 h 3693319"/>
              <a:gd name="connsiteX5" fmla="*/ 2984903 w 4493402"/>
              <a:gd name="connsiteY5" fmla="*/ 0 h 3693319"/>
              <a:gd name="connsiteX6" fmla="*/ 3492015 w 4493402"/>
              <a:gd name="connsiteY6" fmla="*/ 0 h 3693319"/>
              <a:gd name="connsiteX7" fmla="*/ 4493402 w 4493402"/>
              <a:gd name="connsiteY7" fmla="*/ 0 h 3693319"/>
              <a:gd name="connsiteX8" fmla="*/ 4493402 w 4493402"/>
              <a:gd name="connsiteY8" fmla="*/ 541687 h 3693319"/>
              <a:gd name="connsiteX9" fmla="*/ 4493402 w 4493402"/>
              <a:gd name="connsiteY9" fmla="*/ 1194173 h 3693319"/>
              <a:gd name="connsiteX10" fmla="*/ 4493402 w 4493402"/>
              <a:gd name="connsiteY10" fmla="*/ 1846660 h 3693319"/>
              <a:gd name="connsiteX11" fmla="*/ 4493402 w 4493402"/>
              <a:gd name="connsiteY11" fmla="*/ 2351413 h 3693319"/>
              <a:gd name="connsiteX12" fmla="*/ 4493402 w 4493402"/>
              <a:gd name="connsiteY12" fmla="*/ 3040833 h 3693319"/>
              <a:gd name="connsiteX13" fmla="*/ 4493402 w 4493402"/>
              <a:gd name="connsiteY13" fmla="*/ 3693319 h 3693319"/>
              <a:gd name="connsiteX14" fmla="*/ 3896421 w 4493402"/>
              <a:gd name="connsiteY14" fmla="*/ 3693319 h 3693319"/>
              <a:gd name="connsiteX15" fmla="*/ 3344375 w 4493402"/>
              <a:gd name="connsiteY15" fmla="*/ 3693319 h 3693319"/>
              <a:gd name="connsiteX16" fmla="*/ 2702460 w 4493402"/>
              <a:gd name="connsiteY16" fmla="*/ 3693319 h 3693319"/>
              <a:gd name="connsiteX17" fmla="*/ 1970678 w 4493402"/>
              <a:gd name="connsiteY17" fmla="*/ 3693319 h 3693319"/>
              <a:gd name="connsiteX18" fmla="*/ 1418631 w 4493402"/>
              <a:gd name="connsiteY18" fmla="*/ 3693319 h 3693319"/>
              <a:gd name="connsiteX19" fmla="*/ 866585 w 4493402"/>
              <a:gd name="connsiteY19" fmla="*/ 3693319 h 3693319"/>
              <a:gd name="connsiteX20" fmla="*/ 0 w 4493402"/>
              <a:gd name="connsiteY20" fmla="*/ 3693319 h 3693319"/>
              <a:gd name="connsiteX21" fmla="*/ 0 w 4493402"/>
              <a:gd name="connsiteY21" fmla="*/ 3040833 h 3693319"/>
              <a:gd name="connsiteX22" fmla="*/ 0 w 4493402"/>
              <a:gd name="connsiteY22" fmla="*/ 2388346 h 3693319"/>
              <a:gd name="connsiteX23" fmla="*/ 0 w 4493402"/>
              <a:gd name="connsiteY23" fmla="*/ 1883593 h 3693319"/>
              <a:gd name="connsiteX24" fmla="*/ 0 w 4493402"/>
              <a:gd name="connsiteY24" fmla="*/ 1268040 h 3693319"/>
              <a:gd name="connsiteX25" fmla="*/ 0 w 4493402"/>
              <a:gd name="connsiteY25" fmla="*/ 615553 h 3693319"/>
              <a:gd name="connsiteX26" fmla="*/ 0 w 4493402"/>
              <a:gd name="connsiteY26" fmla="*/ 0 h 369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493402" h="3693319" extrusionOk="0">
                <a:moveTo>
                  <a:pt x="0" y="0"/>
                </a:moveTo>
                <a:cubicBezTo>
                  <a:pt x="265591" y="22556"/>
                  <a:pt x="409081" y="16058"/>
                  <a:pt x="552047" y="0"/>
                </a:cubicBezTo>
                <a:cubicBezTo>
                  <a:pt x="695013" y="-16058"/>
                  <a:pt x="835915" y="-8883"/>
                  <a:pt x="1104093" y="0"/>
                </a:cubicBezTo>
                <a:cubicBezTo>
                  <a:pt x="1372271" y="8883"/>
                  <a:pt x="1518268" y="13642"/>
                  <a:pt x="1656140" y="0"/>
                </a:cubicBezTo>
                <a:cubicBezTo>
                  <a:pt x="1794012" y="-13642"/>
                  <a:pt x="2155695" y="-34834"/>
                  <a:pt x="2387922" y="0"/>
                </a:cubicBezTo>
                <a:cubicBezTo>
                  <a:pt x="2620149" y="34834"/>
                  <a:pt x="2694499" y="-16931"/>
                  <a:pt x="2984903" y="0"/>
                </a:cubicBezTo>
                <a:cubicBezTo>
                  <a:pt x="3275307" y="16931"/>
                  <a:pt x="3343423" y="10943"/>
                  <a:pt x="3492015" y="0"/>
                </a:cubicBezTo>
                <a:cubicBezTo>
                  <a:pt x="3640607" y="-10943"/>
                  <a:pt x="4247495" y="-16326"/>
                  <a:pt x="4493402" y="0"/>
                </a:cubicBezTo>
                <a:cubicBezTo>
                  <a:pt x="4479099" y="114200"/>
                  <a:pt x="4481310" y="296010"/>
                  <a:pt x="4493402" y="541687"/>
                </a:cubicBezTo>
                <a:cubicBezTo>
                  <a:pt x="4505494" y="787364"/>
                  <a:pt x="4487638" y="911854"/>
                  <a:pt x="4493402" y="1194173"/>
                </a:cubicBezTo>
                <a:cubicBezTo>
                  <a:pt x="4499166" y="1476492"/>
                  <a:pt x="4506294" y="1596410"/>
                  <a:pt x="4493402" y="1846660"/>
                </a:cubicBezTo>
                <a:cubicBezTo>
                  <a:pt x="4480510" y="2096910"/>
                  <a:pt x="4490532" y="2111579"/>
                  <a:pt x="4493402" y="2351413"/>
                </a:cubicBezTo>
                <a:cubicBezTo>
                  <a:pt x="4496272" y="2591247"/>
                  <a:pt x="4504974" y="2785435"/>
                  <a:pt x="4493402" y="3040833"/>
                </a:cubicBezTo>
                <a:cubicBezTo>
                  <a:pt x="4481830" y="3296231"/>
                  <a:pt x="4460844" y="3415172"/>
                  <a:pt x="4493402" y="3693319"/>
                </a:cubicBezTo>
                <a:cubicBezTo>
                  <a:pt x="4199496" y="3681791"/>
                  <a:pt x="4090458" y="3718520"/>
                  <a:pt x="3896421" y="3693319"/>
                </a:cubicBezTo>
                <a:cubicBezTo>
                  <a:pt x="3702384" y="3668118"/>
                  <a:pt x="3525565" y="3677563"/>
                  <a:pt x="3344375" y="3693319"/>
                </a:cubicBezTo>
                <a:cubicBezTo>
                  <a:pt x="3163185" y="3709075"/>
                  <a:pt x="2835390" y="3676442"/>
                  <a:pt x="2702460" y="3693319"/>
                </a:cubicBezTo>
                <a:cubicBezTo>
                  <a:pt x="2569531" y="3710196"/>
                  <a:pt x="2290226" y="3728387"/>
                  <a:pt x="1970678" y="3693319"/>
                </a:cubicBezTo>
                <a:cubicBezTo>
                  <a:pt x="1651130" y="3658251"/>
                  <a:pt x="1603915" y="3693297"/>
                  <a:pt x="1418631" y="3693319"/>
                </a:cubicBezTo>
                <a:cubicBezTo>
                  <a:pt x="1233347" y="3693341"/>
                  <a:pt x="1051023" y="3665833"/>
                  <a:pt x="866585" y="3693319"/>
                </a:cubicBezTo>
                <a:cubicBezTo>
                  <a:pt x="682147" y="3720805"/>
                  <a:pt x="219327" y="3671822"/>
                  <a:pt x="0" y="3693319"/>
                </a:cubicBezTo>
                <a:cubicBezTo>
                  <a:pt x="-27971" y="3391007"/>
                  <a:pt x="-24525" y="3302646"/>
                  <a:pt x="0" y="3040833"/>
                </a:cubicBezTo>
                <a:cubicBezTo>
                  <a:pt x="24525" y="2779020"/>
                  <a:pt x="3527" y="2535607"/>
                  <a:pt x="0" y="2388346"/>
                </a:cubicBezTo>
                <a:cubicBezTo>
                  <a:pt x="-3527" y="2241085"/>
                  <a:pt x="-10192" y="2060685"/>
                  <a:pt x="0" y="1883593"/>
                </a:cubicBezTo>
                <a:cubicBezTo>
                  <a:pt x="10192" y="1706501"/>
                  <a:pt x="-8650" y="1397299"/>
                  <a:pt x="0" y="1268040"/>
                </a:cubicBezTo>
                <a:cubicBezTo>
                  <a:pt x="8650" y="1138781"/>
                  <a:pt x="8622" y="915328"/>
                  <a:pt x="0" y="615553"/>
                </a:cubicBezTo>
                <a:cubicBezTo>
                  <a:pt x="-8622" y="315778"/>
                  <a:pt x="21176" y="307464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44723" y="5059385"/>
            <a:ext cx="6350501" cy="1776730"/>
          </a:xfrm>
          <a:custGeom>
            <a:avLst/>
            <a:gdLst>
              <a:gd name="connsiteX0" fmla="*/ 0 w 6350501"/>
              <a:gd name="connsiteY0" fmla="*/ 0 h 1776730"/>
              <a:gd name="connsiteX1" fmla="*/ 508040 w 6350501"/>
              <a:gd name="connsiteY1" fmla="*/ 0 h 1776730"/>
              <a:gd name="connsiteX2" fmla="*/ 1016080 w 6350501"/>
              <a:gd name="connsiteY2" fmla="*/ 0 h 1776730"/>
              <a:gd name="connsiteX3" fmla="*/ 1524120 w 6350501"/>
              <a:gd name="connsiteY3" fmla="*/ 0 h 1776730"/>
              <a:gd name="connsiteX4" fmla="*/ 2286180 w 6350501"/>
              <a:gd name="connsiteY4" fmla="*/ 0 h 1776730"/>
              <a:gd name="connsiteX5" fmla="*/ 2857725 w 6350501"/>
              <a:gd name="connsiteY5" fmla="*/ 0 h 1776730"/>
              <a:gd name="connsiteX6" fmla="*/ 3302261 w 6350501"/>
              <a:gd name="connsiteY6" fmla="*/ 0 h 1776730"/>
              <a:gd name="connsiteX7" fmla="*/ 3810301 w 6350501"/>
              <a:gd name="connsiteY7" fmla="*/ 0 h 1776730"/>
              <a:gd name="connsiteX8" fmla="*/ 4318341 w 6350501"/>
              <a:gd name="connsiteY8" fmla="*/ 0 h 1776730"/>
              <a:gd name="connsiteX9" fmla="*/ 4889886 w 6350501"/>
              <a:gd name="connsiteY9" fmla="*/ 0 h 1776730"/>
              <a:gd name="connsiteX10" fmla="*/ 5588441 w 6350501"/>
              <a:gd name="connsiteY10" fmla="*/ 0 h 1776730"/>
              <a:gd name="connsiteX11" fmla="*/ 6350501 w 6350501"/>
              <a:gd name="connsiteY11" fmla="*/ 0 h 1776730"/>
              <a:gd name="connsiteX12" fmla="*/ 6350501 w 6350501"/>
              <a:gd name="connsiteY12" fmla="*/ 556709 h 1776730"/>
              <a:gd name="connsiteX13" fmla="*/ 6350501 w 6350501"/>
              <a:gd name="connsiteY13" fmla="*/ 1095650 h 1776730"/>
              <a:gd name="connsiteX14" fmla="*/ 6350501 w 6350501"/>
              <a:gd name="connsiteY14" fmla="*/ 1776730 h 1776730"/>
              <a:gd name="connsiteX15" fmla="*/ 5651946 w 6350501"/>
              <a:gd name="connsiteY15" fmla="*/ 1776730 h 1776730"/>
              <a:gd name="connsiteX16" fmla="*/ 5016896 w 6350501"/>
              <a:gd name="connsiteY16" fmla="*/ 1776730 h 1776730"/>
              <a:gd name="connsiteX17" fmla="*/ 4254836 w 6350501"/>
              <a:gd name="connsiteY17" fmla="*/ 1776730 h 1776730"/>
              <a:gd name="connsiteX18" fmla="*/ 3746796 w 6350501"/>
              <a:gd name="connsiteY18" fmla="*/ 1776730 h 1776730"/>
              <a:gd name="connsiteX19" fmla="*/ 3238756 w 6350501"/>
              <a:gd name="connsiteY19" fmla="*/ 1776730 h 1776730"/>
              <a:gd name="connsiteX20" fmla="*/ 2540200 w 6350501"/>
              <a:gd name="connsiteY20" fmla="*/ 1776730 h 1776730"/>
              <a:gd name="connsiteX21" fmla="*/ 1841645 w 6350501"/>
              <a:gd name="connsiteY21" fmla="*/ 1776730 h 1776730"/>
              <a:gd name="connsiteX22" fmla="*/ 1270100 w 6350501"/>
              <a:gd name="connsiteY22" fmla="*/ 1776730 h 1776730"/>
              <a:gd name="connsiteX23" fmla="*/ 571545 w 6350501"/>
              <a:gd name="connsiteY23" fmla="*/ 1776730 h 1776730"/>
              <a:gd name="connsiteX24" fmla="*/ 0 w 6350501"/>
              <a:gd name="connsiteY24" fmla="*/ 1776730 h 1776730"/>
              <a:gd name="connsiteX25" fmla="*/ 0 w 6350501"/>
              <a:gd name="connsiteY25" fmla="*/ 1166719 h 1776730"/>
              <a:gd name="connsiteX26" fmla="*/ 0 w 6350501"/>
              <a:gd name="connsiteY26" fmla="*/ 556709 h 1776730"/>
              <a:gd name="connsiteX27" fmla="*/ 0 w 6350501"/>
              <a:gd name="connsiteY27" fmla="*/ 0 h 1776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50501" h="1776730" extrusionOk="0">
                <a:moveTo>
                  <a:pt x="0" y="0"/>
                </a:moveTo>
                <a:cubicBezTo>
                  <a:pt x="187334" y="20816"/>
                  <a:pt x="391397" y="4764"/>
                  <a:pt x="508040" y="0"/>
                </a:cubicBezTo>
                <a:cubicBezTo>
                  <a:pt x="624683" y="-4764"/>
                  <a:pt x="831728" y="-21959"/>
                  <a:pt x="1016080" y="0"/>
                </a:cubicBezTo>
                <a:cubicBezTo>
                  <a:pt x="1200432" y="21959"/>
                  <a:pt x="1278486" y="-21119"/>
                  <a:pt x="1524120" y="0"/>
                </a:cubicBezTo>
                <a:cubicBezTo>
                  <a:pt x="1769754" y="21119"/>
                  <a:pt x="1977691" y="11116"/>
                  <a:pt x="2286180" y="0"/>
                </a:cubicBezTo>
                <a:cubicBezTo>
                  <a:pt x="2594669" y="-11116"/>
                  <a:pt x="2592247" y="-19378"/>
                  <a:pt x="2857725" y="0"/>
                </a:cubicBezTo>
                <a:cubicBezTo>
                  <a:pt x="3123204" y="19378"/>
                  <a:pt x="3133981" y="-18936"/>
                  <a:pt x="3302261" y="0"/>
                </a:cubicBezTo>
                <a:cubicBezTo>
                  <a:pt x="3470541" y="18936"/>
                  <a:pt x="3586652" y="22612"/>
                  <a:pt x="3810301" y="0"/>
                </a:cubicBezTo>
                <a:cubicBezTo>
                  <a:pt x="4033950" y="-22612"/>
                  <a:pt x="4095859" y="24496"/>
                  <a:pt x="4318341" y="0"/>
                </a:cubicBezTo>
                <a:cubicBezTo>
                  <a:pt x="4540823" y="-24496"/>
                  <a:pt x="4651829" y="14537"/>
                  <a:pt x="4889886" y="0"/>
                </a:cubicBezTo>
                <a:cubicBezTo>
                  <a:pt x="5127944" y="-14537"/>
                  <a:pt x="5415654" y="-11790"/>
                  <a:pt x="5588441" y="0"/>
                </a:cubicBezTo>
                <a:cubicBezTo>
                  <a:pt x="5761228" y="11790"/>
                  <a:pt x="6094235" y="-30309"/>
                  <a:pt x="6350501" y="0"/>
                </a:cubicBezTo>
                <a:cubicBezTo>
                  <a:pt x="6357223" y="266973"/>
                  <a:pt x="6341617" y="445261"/>
                  <a:pt x="6350501" y="556709"/>
                </a:cubicBezTo>
                <a:cubicBezTo>
                  <a:pt x="6359385" y="668157"/>
                  <a:pt x="6376780" y="893650"/>
                  <a:pt x="6350501" y="1095650"/>
                </a:cubicBezTo>
                <a:cubicBezTo>
                  <a:pt x="6324222" y="1297650"/>
                  <a:pt x="6371925" y="1548495"/>
                  <a:pt x="6350501" y="1776730"/>
                </a:cubicBezTo>
                <a:cubicBezTo>
                  <a:pt x="6181030" y="1780321"/>
                  <a:pt x="5795295" y="1783641"/>
                  <a:pt x="5651946" y="1776730"/>
                </a:cubicBezTo>
                <a:cubicBezTo>
                  <a:pt x="5508598" y="1769819"/>
                  <a:pt x="5156199" y="1797835"/>
                  <a:pt x="5016896" y="1776730"/>
                </a:cubicBezTo>
                <a:cubicBezTo>
                  <a:pt x="4877593" y="1755626"/>
                  <a:pt x="4442109" y="1749781"/>
                  <a:pt x="4254836" y="1776730"/>
                </a:cubicBezTo>
                <a:cubicBezTo>
                  <a:pt x="4067563" y="1803679"/>
                  <a:pt x="3864800" y="1766487"/>
                  <a:pt x="3746796" y="1776730"/>
                </a:cubicBezTo>
                <a:cubicBezTo>
                  <a:pt x="3628792" y="1786973"/>
                  <a:pt x="3416682" y="1781323"/>
                  <a:pt x="3238756" y="1776730"/>
                </a:cubicBezTo>
                <a:cubicBezTo>
                  <a:pt x="3060830" y="1772137"/>
                  <a:pt x="2721848" y="1761836"/>
                  <a:pt x="2540200" y="1776730"/>
                </a:cubicBezTo>
                <a:cubicBezTo>
                  <a:pt x="2358552" y="1791624"/>
                  <a:pt x="2188447" y="1789000"/>
                  <a:pt x="1841645" y="1776730"/>
                </a:cubicBezTo>
                <a:cubicBezTo>
                  <a:pt x="1494844" y="1764460"/>
                  <a:pt x="1400705" y="1784030"/>
                  <a:pt x="1270100" y="1776730"/>
                </a:cubicBezTo>
                <a:cubicBezTo>
                  <a:pt x="1139496" y="1769430"/>
                  <a:pt x="755644" y="1752035"/>
                  <a:pt x="571545" y="1776730"/>
                </a:cubicBezTo>
                <a:cubicBezTo>
                  <a:pt x="387447" y="1801425"/>
                  <a:pt x="170922" y="1775996"/>
                  <a:pt x="0" y="1776730"/>
                </a:cubicBezTo>
                <a:cubicBezTo>
                  <a:pt x="-26939" y="1602892"/>
                  <a:pt x="18439" y="1455252"/>
                  <a:pt x="0" y="1166719"/>
                </a:cubicBezTo>
                <a:cubicBezTo>
                  <a:pt x="-18439" y="878186"/>
                  <a:pt x="-21901" y="729808"/>
                  <a:pt x="0" y="556709"/>
                </a:cubicBezTo>
                <a:cubicBezTo>
                  <a:pt x="21901" y="383610"/>
                  <a:pt x="27711" y="224335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9530" y="1298895"/>
            <a:ext cx="12092940" cy="5074920"/>
          </a:xfrm>
        </p:spPr>
        <p:txBody>
          <a:bodyPr/>
          <a:lstStyle/>
          <a:p>
            <a:pPr marL="0" indent="-38100">
              <a:lnSpc>
                <a:spcPct val="150000"/>
              </a:lnSpc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Matrix-Game 3.0 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把视频生成模型改造成一个能接受动作、连续生成画面、记住之前见过的场景，并尽量实时运行的交互式世界模型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50000"/>
              </a:lnSpc>
              <a:buNone/>
            </a:pPr>
            <a:r>
              <a:rPr kumimoji="1" lang="zh-CN" altLang="en-US" sz="2000" dirty="0">
                <a:solidFill>
                  <a:srgbClr val="045499"/>
                </a:solidFill>
                <a:cs typeface="Times New Roman" panose="02020603050405020304" pitchFamily="18" charset="0"/>
              </a:rPr>
              <a:t>交互式世界模型则希望做到</a:t>
            </a:r>
            <a:endParaRPr kumimoji="1" lang="en-US" altLang="zh-CN" sz="2000" dirty="0">
              <a:solidFill>
                <a:srgbClr val="045499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777" y="1815388"/>
            <a:ext cx="6318885" cy="379460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1338" y="3404991"/>
            <a:ext cx="4138863" cy="153888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当前画面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用户动作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之前的观察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↓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预测下一段画面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↓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用户继续输入动作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……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云形 6"/>
          <p:cNvSpPr/>
          <p:nvPr/>
        </p:nvSpPr>
        <p:spPr>
          <a:xfrm>
            <a:off x="5120" y="2795051"/>
            <a:ext cx="4842878" cy="2516869"/>
          </a:xfrm>
          <a:prstGeom prst="cloud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8754" y="5405699"/>
            <a:ext cx="11674070" cy="1200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Relationship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 </a:t>
            </a:r>
            <a:r>
              <a:rPr kumimoji="1" lang="en-US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  Matrix-Game</a:t>
            </a:r>
            <a:endParaRPr kumimoji="1" lang="en-US" altLang="zh-CN" sz="2000" b="1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Wan2.2-TI2V-5B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提供视频生成的基础能力，论文的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5B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基础模型建立在 </a:t>
            </a: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Wan2.2-TI2V-5B </a:t>
            </a:r>
            <a:r>
              <a:rPr kumimoji="1" lang="zh-CN" altLang="en-US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架构上</a:t>
            </a:r>
            <a:endParaRPr kumimoji="1" lang="en-US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747775" y="6124897"/>
            <a:ext cx="9385004" cy="522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Related Work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93280" y="1824880"/>
          <a:ext cx="11805439" cy="2709136"/>
        </p:xfrm>
        <a:graphic>
          <a:graphicData uri="http://schemas.openxmlformats.org/drawingml/2006/table">
            <a:tbl>
              <a:tblPr/>
              <a:tblGrid>
                <a:gridCol w="2008720"/>
                <a:gridCol w="4036026"/>
                <a:gridCol w="5760693"/>
              </a:tblGrid>
              <a:tr h="471433">
                <a:tc>
                  <a:txBody>
                    <a:bodyPr/>
                    <a:lstStyle/>
                    <a:p>
                      <a:pPr marL="0" marR="0" indent="-3810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/>
                        <a:buNone/>
                      </a:pPr>
                      <a:r>
                        <a:rPr kumimoji="1" lang="zh-CN" altLang="en-US" sz="2000" b="1" i="0" u="none" strike="noStrike" kern="0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研究方向</a:t>
                      </a:r>
                      <a:endParaRPr kumimoji="1" lang="zh-CN" altLang="en-US" sz="2000" b="1" i="0" u="none" strike="noStrike" kern="0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3810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/>
                        <a:buNone/>
                      </a:pPr>
                      <a:r>
                        <a:rPr kumimoji="1" lang="zh-CN" altLang="en-US" sz="2000" b="1" i="0" u="none" strike="noStrike" kern="0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代表工作</a:t>
                      </a:r>
                      <a:endParaRPr kumimoji="1" lang="zh-CN" altLang="en-US" sz="2000" b="1" i="0" u="none" strike="noStrike" kern="0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38100" algn="ctr" defTabSz="914400" rtl="0" eaLnBrk="1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/>
                        <a:buNone/>
                      </a:pPr>
                      <a:r>
                        <a:rPr kumimoji="1" lang="zh-CN" altLang="en-US" sz="2000" b="1" i="0" u="none" strike="noStrike" kern="0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核心问题</a:t>
                      </a:r>
                      <a:endParaRPr kumimoji="1" lang="zh-CN" altLang="en-US" sz="2000" b="1" i="0" u="none" strike="noStrike" kern="0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559C"/>
                    </a:solidFill>
                  </a:tcPr>
                </a:tc>
              </a:tr>
              <a:tr h="442572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视频生成模型</a:t>
                      </a:r>
                      <a:endParaRPr lang="zh-CN" altLang="en-US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Wan / Magi / Sora / Kling</a:t>
                      </a:r>
                      <a:endParaRPr 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离线生成，无法实时交互，缺空间记忆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687475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长视频生成</a:t>
                      </a:r>
                      <a:endParaRPr lang="zh-CN" altLang="en-US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Diffusion Forcing / Self-Forcing</a:t>
                      </a:r>
                      <a:endParaRPr 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训练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-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推理不一致 → 误差累积、场景漂移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7656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交互式世界模型</a:t>
                      </a:r>
                      <a:endParaRPr lang="zh-CN" altLang="en-US" sz="18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Genie / OASIS / Matrix-Game 2.0 / </a:t>
                      </a:r>
                      <a:r>
                        <a:rPr lang="en-US" sz="1800" b="0" i="0" u="none" strike="noStrike" cap="none" spc="0" baseline="0" dirty="0" err="1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WorldPlay</a:t>
                      </a:r>
                      <a:r>
                        <a:rPr 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 / RELIC</a:t>
                      </a:r>
                      <a:endParaRPr 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各有所长，但高分辨率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+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长时一致 </a:t>
                      </a:r>
                      <a:r>
                        <a:rPr lang="en-US" altLang="zh-CN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+ </a:t>
                      </a:r>
                      <a:r>
                        <a:rPr lang="zh-CN" altLang="en-US" sz="18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实时交互难兼得</a:t>
                      </a:r>
                      <a:endParaRPr lang="zh-CN" altLang="en-US" sz="18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marL="12562" marR="12562" marT="12562" marB="12562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93280" y="4613514"/>
            <a:ext cx="10298257" cy="142295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可控性</a:t>
            </a:r>
            <a:r>
              <a:rPr kumimoji="1" lang="zh-CN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：按下前进键，场景应该向前移动；转动视角，画面也要正确响应</a:t>
            </a:r>
            <a:endParaRPr kumimoji="1" lang="zh-CN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长时一致性</a:t>
            </a:r>
            <a:r>
              <a:rPr kumimoji="1" lang="zh-CN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：用户离开某处再回来时，场景、物体和纹理应尽量保持一致</a:t>
            </a:r>
            <a:endParaRPr kumimoji="1" lang="zh-CN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1" lang="zh-CN" altLang="zh-CN" sz="2000" b="1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实时性</a:t>
            </a:r>
            <a:r>
              <a:rPr kumimoji="1" lang="zh-CN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：模型要足够快，能跟得上用户的交互</a:t>
            </a:r>
            <a:endParaRPr kumimoji="1" lang="zh-CN" altLang="zh-CN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75655" y="6231176"/>
            <a:ext cx="8608268" cy="30777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1" lang="en-US" altLang="zh-CN" sz="2000" dirty="0">
                <a:solidFill>
                  <a:srgbClr val="0454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real-time generation with long-horizon spatiotemporal consistency</a:t>
            </a:r>
            <a:endParaRPr kumimoji="1" lang="zh-CN" altLang="en-US" sz="2000" dirty="0">
              <a:solidFill>
                <a:srgbClr val="0454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方法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1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Error-aware interactive base model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把视频编码成 </a:t>
            </a:r>
            <a:r>
              <a:rPr lang="en-US" altLang="zh-CN" sz="1800" dirty="0"/>
              <a:t>latent </a:t>
            </a:r>
            <a:r>
              <a:rPr lang="zh-CN" altLang="en-US" sz="1800" dirty="0"/>
              <a:t>序列</a:t>
            </a: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其中前面一部分作为历史</a:t>
            </a: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剩余部分作为当前要预测的内容</a:t>
            </a: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训练阶段让模型见到带有“生成误差”的历史</a:t>
            </a: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112" y="1360239"/>
            <a:ext cx="6287106" cy="3095473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28225" y="1711736"/>
          <a:ext cx="533586" cy="505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3" imgW="251460" imgH="234950" progId="Equation.DSMT4">
                  <p:embed/>
                </p:oleObj>
              </mc:Choice>
              <mc:Fallback>
                <p:oleObj name="Equation" r:id="rId3" imgW="251460" imgH="234950" progId="Equation.DSMT4">
                  <p:embed/>
                  <p:pic>
                    <p:nvPicPr>
                      <p:cNvPr id="0" name="图片 133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28225" y="1711736"/>
                        <a:ext cx="533586" cy="505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41860" y="2591776"/>
          <a:ext cx="774540" cy="49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5" imgW="360680" imgH="234950" progId="Equation.DSMT4">
                  <p:embed/>
                </p:oleObj>
              </mc:Choice>
              <mc:Fallback>
                <p:oleObj name="Equation" r:id="rId5" imgW="360680" imgH="234950" progId="Equation.DSMT4">
                  <p:embed/>
                  <p:pic>
                    <p:nvPicPr>
                      <p:cNvPr id="0" name="图片 133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41860" y="2591776"/>
                        <a:ext cx="774540" cy="499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28089" y="2116131"/>
          <a:ext cx="533450" cy="564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7" imgW="226695" imgH="234950" progId="Equation.DSMT4">
                  <p:embed/>
                </p:oleObj>
              </mc:Choice>
              <mc:Fallback>
                <p:oleObj name="Equation" r:id="rId7" imgW="226695" imgH="234950" progId="Equation.DSMT4">
                  <p:embed/>
                  <p:pic>
                    <p:nvPicPr>
                      <p:cNvPr id="0" name="图片 133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8089" y="2116131"/>
                        <a:ext cx="533450" cy="564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1112272" y="2355601"/>
            <a:ext cx="981303" cy="1471460"/>
          </a:xfrm>
          <a:prstGeom prst="rect">
            <a:avLst/>
          </a:prstGeom>
          <a:noFill/>
          <a:ln w="28575" cap="flat">
            <a:solidFill>
              <a:srgbClr val="C00000"/>
            </a:solidFill>
            <a:prstDash val="lgDashDot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3722" y="4521407"/>
            <a:ext cx="1680047" cy="58436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829" y="5779632"/>
            <a:ext cx="6419389" cy="67231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9497" y="4955399"/>
            <a:ext cx="1848495" cy="630447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452383" y="4254959"/>
            <a:ext cx="6177356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真实历史 latent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+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过去模型曾经犯过的预测误差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↓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带误差的历史上下文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↓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训练模型从不完美历史中继续预测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08171" y="4035744"/>
            <a:ext cx="4378849" cy="2495685"/>
          </a:xfrm>
          <a:custGeom>
            <a:avLst/>
            <a:gdLst>
              <a:gd name="connsiteX0" fmla="*/ 0 w 4378849"/>
              <a:gd name="connsiteY0" fmla="*/ 0 h 2495685"/>
              <a:gd name="connsiteX1" fmla="*/ 4378849 w 4378849"/>
              <a:gd name="connsiteY1" fmla="*/ 0 h 2495685"/>
              <a:gd name="connsiteX2" fmla="*/ 4378849 w 4378849"/>
              <a:gd name="connsiteY2" fmla="*/ 2495685 h 2495685"/>
              <a:gd name="connsiteX3" fmla="*/ 0 w 4378849"/>
              <a:gd name="connsiteY3" fmla="*/ 2495685 h 2495685"/>
              <a:gd name="connsiteX4" fmla="*/ 0 w 4378849"/>
              <a:gd name="connsiteY4" fmla="*/ 0 h 2495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8849" h="2495685" extrusionOk="0">
                <a:moveTo>
                  <a:pt x="0" y="0"/>
                </a:moveTo>
                <a:cubicBezTo>
                  <a:pt x="437973" y="-70399"/>
                  <a:pt x="2771195" y="364"/>
                  <a:pt x="4378849" y="0"/>
                </a:cubicBezTo>
                <a:cubicBezTo>
                  <a:pt x="4322826" y="321803"/>
                  <a:pt x="4502462" y="1316911"/>
                  <a:pt x="4378849" y="2495685"/>
                </a:cubicBezTo>
                <a:cubicBezTo>
                  <a:pt x="3456204" y="2497470"/>
                  <a:pt x="1837797" y="2588638"/>
                  <a:pt x="0" y="2495685"/>
                </a:cubicBezTo>
                <a:cubicBezTo>
                  <a:pt x="-76455" y="2126343"/>
                  <a:pt x="-75926" y="357220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289" y="1209002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方法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2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Long-Horizon Memory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短期历史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vs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长期记忆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Past frames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：离当前最近的连续帧，主要保证短时间动作连续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3048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Memory frames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：从更早的视频历史中检索出来的帧，主要帮助模型回忆场景布局、物体位置和外观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1800" dirty="0">
                <a:solidFill>
                  <a:srgbClr val="045499"/>
                </a:solidFill>
                <a:cs typeface="Times New Roman" panose="02020603050405020304" pitchFamily="18" charset="0"/>
              </a:rPr>
              <a:t>检索记忆过程：</a:t>
            </a:r>
            <a:r>
              <a:rPr lang="zh-CN" altLang="en-US" sz="1800" dirty="0"/>
              <a:t>不是单纯按照时间顺序选最近的记忆，也不是只通过画面外观相似度检索，而是根据</a:t>
            </a:r>
            <a:r>
              <a:rPr lang="zh-CN" altLang="en-US" sz="1800" b="1" dirty="0"/>
              <a:t>相机位置、朝向和视野重叠</a:t>
            </a:r>
            <a:r>
              <a:rPr lang="zh-CN" altLang="en-US" sz="1800" dirty="0"/>
              <a:t>挑选与当前视角相关的历史帧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25996" y="4306831"/>
            <a:ext cx="5101388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当前相机视角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↓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在历史帧中寻找视野空间上最相关的相机视角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↓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取出对应的历史 latent 作为 memory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518" y="4058021"/>
            <a:ext cx="4922959" cy="1974192"/>
          </a:xfrm>
          <a:custGeom>
            <a:avLst/>
            <a:gdLst>
              <a:gd name="connsiteX0" fmla="*/ 0 w 4922959"/>
              <a:gd name="connsiteY0" fmla="*/ 0 h 1974192"/>
              <a:gd name="connsiteX1" fmla="*/ 4922959 w 4922959"/>
              <a:gd name="connsiteY1" fmla="*/ 0 h 1974192"/>
              <a:gd name="connsiteX2" fmla="*/ 4922959 w 4922959"/>
              <a:gd name="connsiteY2" fmla="*/ 1974192 h 1974192"/>
              <a:gd name="connsiteX3" fmla="*/ 0 w 4922959"/>
              <a:gd name="connsiteY3" fmla="*/ 1974192 h 1974192"/>
              <a:gd name="connsiteX4" fmla="*/ 0 w 4922959"/>
              <a:gd name="connsiteY4" fmla="*/ 0 h 197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2959" h="1974192" extrusionOk="0">
                <a:moveTo>
                  <a:pt x="0" y="0"/>
                </a:moveTo>
                <a:cubicBezTo>
                  <a:pt x="2113036" y="-5264"/>
                  <a:pt x="3573581" y="84467"/>
                  <a:pt x="4922959" y="0"/>
                </a:cubicBezTo>
                <a:cubicBezTo>
                  <a:pt x="4794786" y="924694"/>
                  <a:pt x="5052109" y="1536335"/>
                  <a:pt x="4922959" y="1974192"/>
                </a:cubicBezTo>
                <a:cubicBezTo>
                  <a:pt x="4304032" y="2080512"/>
                  <a:pt x="1140011" y="1966543"/>
                  <a:pt x="0" y="1974192"/>
                </a:cubicBezTo>
                <a:cubicBezTo>
                  <a:pt x="160128" y="1597637"/>
                  <a:pt x="25049" y="578817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598" y="3687265"/>
            <a:ext cx="7079402" cy="308691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502910"/>
          </a:xfrm>
        </p:spPr>
        <p:txBody>
          <a:bodyPr>
            <a:normAutofit/>
          </a:bodyPr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方法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3</a:t>
            </a:r>
            <a:r>
              <a:rPr kumimoji="1" lang="zh-CN" altLang="en-US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Training-Inference Aligned Few-step Distillation</a:t>
            </a:r>
            <a:endParaRPr kumimoji="1" lang="en-US" altLang="zh-CN" sz="2000" b="1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背景：如果训练 </a:t>
            </a:r>
            <a:r>
              <a:rPr lang="en-US" altLang="zh-CN" sz="1800" dirty="0"/>
              <a:t>student </a:t>
            </a:r>
            <a:r>
              <a:rPr lang="zh-CN" altLang="en-US" sz="1800" dirty="0"/>
              <a:t>时一直给它真实历史帧，而实际运行时给它模型自己生成的历史，训练和推理就不一致</a:t>
            </a: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r>
              <a:rPr lang="zh-CN" altLang="en-US" sz="1800" dirty="0"/>
              <a:t>运用 </a:t>
            </a:r>
            <a:r>
              <a:rPr lang="en-US" altLang="zh-CN" sz="1800" dirty="0"/>
              <a:t>Distribution Matching Distillation </a:t>
            </a:r>
            <a:r>
              <a:rPr lang="zh-CN" altLang="en-US" sz="1800" dirty="0"/>
              <a:t>方法进行</a:t>
            </a:r>
            <a:r>
              <a:rPr lang="zh-CN" altLang="en-US" sz="1800" b="1" dirty="0"/>
              <a:t>多段蒸馏</a:t>
            </a:r>
            <a:endParaRPr lang="en-US" altLang="zh-CN" sz="1800" b="1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  <a:p>
            <a:pPr marL="247650" indent="-285750">
              <a:lnSpc>
                <a:spcPct val="110000"/>
              </a:lnSpc>
            </a:pPr>
            <a:r>
              <a:rPr lang="en-US" altLang="zh-CN" sz="1800" dirty="0"/>
              <a:t>Cold start----600 </a:t>
            </a:r>
            <a:r>
              <a:rPr lang="zh-CN" altLang="en-US" sz="1800" dirty="0"/>
              <a:t>步：先在单段设置下训练，历史使用真实视频帧，让少步 </a:t>
            </a:r>
            <a:r>
              <a:rPr lang="en-US" altLang="zh-CN" sz="1800" dirty="0"/>
              <a:t>student </a:t>
            </a:r>
            <a:r>
              <a:rPr lang="zh-CN" altLang="en-US" sz="1800" dirty="0"/>
              <a:t>稳定下来</a:t>
            </a:r>
            <a:endParaRPr lang="en-US" altLang="zh-CN" sz="1800" dirty="0"/>
          </a:p>
          <a:p>
            <a:pPr marL="247650" indent="-285750">
              <a:lnSpc>
                <a:spcPct val="110000"/>
              </a:lnSpc>
            </a:pPr>
            <a:r>
              <a:rPr lang="en-US" altLang="zh-CN" sz="1800" dirty="0"/>
              <a:t>Multi-segment----2400 </a:t>
            </a:r>
            <a:r>
              <a:rPr lang="zh-CN" altLang="en-US" sz="1800" dirty="0"/>
              <a:t>步：改为随机生成 </a:t>
            </a:r>
            <a:r>
              <a:rPr lang="en-US" altLang="zh-CN" sz="1800" dirty="0"/>
              <a:t>1 </a:t>
            </a:r>
            <a:r>
              <a:rPr lang="zh-CN" altLang="en-US" sz="1800" dirty="0"/>
              <a:t>到 </a:t>
            </a:r>
            <a:r>
              <a:rPr lang="en-US" altLang="zh-CN" sz="1800" dirty="0"/>
              <a:t>6 </a:t>
            </a:r>
            <a:r>
              <a:rPr lang="zh-CN" altLang="en-US" sz="1800" dirty="0"/>
              <a:t>段，让训练过程更接近实际的连续流式推理</a:t>
            </a:r>
            <a:endParaRPr lang="en-US" altLang="zh-CN" sz="1800" dirty="0"/>
          </a:p>
          <a:p>
            <a:pPr marL="0" indent="-38100">
              <a:lnSpc>
                <a:spcPct val="110000"/>
              </a:lnSpc>
              <a:buNone/>
            </a:pPr>
            <a:endParaRPr lang="en-US" altLang="zh-CN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493" y="2642482"/>
            <a:ext cx="7254292" cy="297982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1861" y="3344797"/>
            <a:ext cx="4493986" cy="12464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近期历史：前一段生成结果的尾部</a:t>
            </a:r>
            <a:endParaRPr lang="en-US" altLang="zh-CN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长期记忆：从在线更新的 </a:t>
            </a:r>
            <a:r>
              <a:rPr lang="en-US" altLang="zh-CN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pool       </a:t>
            </a:r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里按视角检索出来的信息</a:t>
            </a:r>
            <a:endParaRPr lang="zh-CN" altLang="en-US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8425" y="3203838"/>
            <a:ext cx="4617422" cy="1491915"/>
          </a:xfrm>
          <a:custGeom>
            <a:avLst/>
            <a:gdLst>
              <a:gd name="connsiteX0" fmla="*/ 0 w 4617422"/>
              <a:gd name="connsiteY0" fmla="*/ 0 h 1491915"/>
              <a:gd name="connsiteX1" fmla="*/ 531004 w 4617422"/>
              <a:gd name="connsiteY1" fmla="*/ 0 h 1491915"/>
              <a:gd name="connsiteX2" fmla="*/ 1154356 w 4617422"/>
              <a:gd name="connsiteY2" fmla="*/ 0 h 1491915"/>
              <a:gd name="connsiteX3" fmla="*/ 1593011 w 4617422"/>
              <a:gd name="connsiteY3" fmla="*/ 0 h 1491915"/>
              <a:gd name="connsiteX4" fmla="*/ 2170188 w 4617422"/>
              <a:gd name="connsiteY4" fmla="*/ 0 h 1491915"/>
              <a:gd name="connsiteX5" fmla="*/ 2793540 w 4617422"/>
              <a:gd name="connsiteY5" fmla="*/ 0 h 1491915"/>
              <a:gd name="connsiteX6" fmla="*/ 3416892 w 4617422"/>
              <a:gd name="connsiteY6" fmla="*/ 0 h 1491915"/>
              <a:gd name="connsiteX7" fmla="*/ 3901722 w 4617422"/>
              <a:gd name="connsiteY7" fmla="*/ 0 h 1491915"/>
              <a:gd name="connsiteX8" fmla="*/ 4617422 w 4617422"/>
              <a:gd name="connsiteY8" fmla="*/ 0 h 1491915"/>
              <a:gd name="connsiteX9" fmla="*/ 4617422 w 4617422"/>
              <a:gd name="connsiteY9" fmla="*/ 527143 h 1491915"/>
              <a:gd name="connsiteX10" fmla="*/ 4617422 w 4617422"/>
              <a:gd name="connsiteY10" fmla="*/ 1039367 h 1491915"/>
              <a:gd name="connsiteX11" fmla="*/ 4617422 w 4617422"/>
              <a:gd name="connsiteY11" fmla="*/ 1491915 h 1491915"/>
              <a:gd name="connsiteX12" fmla="*/ 4178767 w 4617422"/>
              <a:gd name="connsiteY12" fmla="*/ 1491915 h 1491915"/>
              <a:gd name="connsiteX13" fmla="*/ 3509241 w 4617422"/>
              <a:gd name="connsiteY13" fmla="*/ 1491915 h 1491915"/>
              <a:gd name="connsiteX14" fmla="*/ 2885889 w 4617422"/>
              <a:gd name="connsiteY14" fmla="*/ 1491915 h 1491915"/>
              <a:gd name="connsiteX15" fmla="*/ 2401059 w 4617422"/>
              <a:gd name="connsiteY15" fmla="*/ 1491915 h 1491915"/>
              <a:gd name="connsiteX16" fmla="*/ 1731533 w 4617422"/>
              <a:gd name="connsiteY16" fmla="*/ 1491915 h 1491915"/>
              <a:gd name="connsiteX17" fmla="*/ 1246704 w 4617422"/>
              <a:gd name="connsiteY17" fmla="*/ 1491915 h 1491915"/>
              <a:gd name="connsiteX18" fmla="*/ 577178 w 4617422"/>
              <a:gd name="connsiteY18" fmla="*/ 1491915 h 1491915"/>
              <a:gd name="connsiteX19" fmla="*/ 0 w 4617422"/>
              <a:gd name="connsiteY19" fmla="*/ 1491915 h 1491915"/>
              <a:gd name="connsiteX20" fmla="*/ 0 w 4617422"/>
              <a:gd name="connsiteY20" fmla="*/ 979691 h 1491915"/>
              <a:gd name="connsiteX21" fmla="*/ 0 w 4617422"/>
              <a:gd name="connsiteY21" fmla="*/ 512224 h 1491915"/>
              <a:gd name="connsiteX22" fmla="*/ 0 w 4617422"/>
              <a:gd name="connsiteY22" fmla="*/ 0 h 1491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617422" h="1491915" extrusionOk="0">
                <a:moveTo>
                  <a:pt x="0" y="0"/>
                </a:moveTo>
                <a:cubicBezTo>
                  <a:pt x="175879" y="-55645"/>
                  <a:pt x="292552" y="30047"/>
                  <a:pt x="531004" y="0"/>
                </a:cubicBezTo>
                <a:cubicBezTo>
                  <a:pt x="769456" y="-30047"/>
                  <a:pt x="989646" y="42816"/>
                  <a:pt x="1154356" y="0"/>
                </a:cubicBezTo>
                <a:cubicBezTo>
                  <a:pt x="1319066" y="-42816"/>
                  <a:pt x="1478242" y="11186"/>
                  <a:pt x="1593011" y="0"/>
                </a:cubicBezTo>
                <a:cubicBezTo>
                  <a:pt x="1707780" y="-11186"/>
                  <a:pt x="1919213" y="55602"/>
                  <a:pt x="2170188" y="0"/>
                </a:cubicBezTo>
                <a:cubicBezTo>
                  <a:pt x="2421163" y="-55602"/>
                  <a:pt x="2646128" y="18798"/>
                  <a:pt x="2793540" y="0"/>
                </a:cubicBezTo>
                <a:cubicBezTo>
                  <a:pt x="2940952" y="-18798"/>
                  <a:pt x="3240333" y="18433"/>
                  <a:pt x="3416892" y="0"/>
                </a:cubicBezTo>
                <a:cubicBezTo>
                  <a:pt x="3593451" y="-18433"/>
                  <a:pt x="3781151" y="50692"/>
                  <a:pt x="3901722" y="0"/>
                </a:cubicBezTo>
                <a:cubicBezTo>
                  <a:pt x="4022293" y="-50692"/>
                  <a:pt x="4437667" y="63812"/>
                  <a:pt x="4617422" y="0"/>
                </a:cubicBezTo>
                <a:cubicBezTo>
                  <a:pt x="4658131" y="126485"/>
                  <a:pt x="4561469" y="376893"/>
                  <a:pt x="4617422" y="527143"/>
                </a:cubicBezTo>
                <a:cubicBezTo>
                  <a:pt x="4673375" y="677393"/>
                  <a:pt x="4571678" y="821464"/>
                  <a:pt x="4617422" y="1039367"/>
                </a:cubicBezTo>
                <a:cubicBezTo>
                  <a:pt x="4663166" y="1257270"/>
                  <a:pt x="4611975" y="1324749"/>
                  <a:pt x="4617422" y="1491915"/>
                </a:cubicBezTo>
                <a:cubicBezTo>
                  <a:pt x="4437725" y="1537740"/>
                  <a:pt x="4299945" y="1474419"/>
                  <a:pt x="4178767" y="1491915"/>
                </a:cubicBezTo>
                <a:cubicBezTo>
                  <a:pt x="4057589" y="1509411"/>
                  <a:pt x="3648858" y="1429052"/>
                  <a:pt x="3509241" y="1491915"/>
                </a:cubicBezTo>
                <a:cubicBezTo>
                  <a:pt x="3369624" y="1554778"/>
                  <a:pt x="3048255" y="1472444"/>
                  <a:pt x="2885889" y="1491915"/>
                </a:cubicBezTo>
                <a:cubicBezTo>
                  <a:pt x="2723523" y="1511386"/>
                  <a:pt x="2599122" y="1482857"/>
                  <a:pt x="2401059" y="1491915"/>
                </a:cubicBezTo>
                <a:cubicBezTo>
                  <a:pt x="2202996" y="1500973"/>
                  <a:pt x="2058498" y="1467245"/>
                  <a:pt x="1731533" y="1491915"/>
                </a:cubicBezTo>
                <a:cubicBezTo>
                  <a:pt x="1404568" y="1516585"/>
                  <a:pt x="1458895" y="1470313"/>
                  <a:pt x="1246704" y="1491915"/>
                </a:cubicBezTo>
                <a:cubicBezTo>
                  <a:pt x="1034513" y="1513517"/>
                  <a:pt x="776326" y="1469264"/>
                  <a:pt x="577178" y="1491915"/>
                </a:cubicBezTo>
                <a:cubicBezTo>
                  <a:pt x="378030" y="1514566"/>
                  <a:pt x="152322" y="1462321"/>
                  <a:pt x="0" y="1491915"/>
                </a:cubicBezTo>
                <a:cubicBezTo>
                  <a:pt x="-41720" y="1348892"/>
                  <a:pt x="32393" y="1182631"/>
                  <a:pt x="0" y="979691"/>
                </a:cubicBezTo>
                <a:cubicBezTo>
                  <a:pt x="-32393" y="776751"/>
                  <a:pt x="52402" y="687366"/>
                  <a:pt x="0" y="512224"/>
                </a:cubicBezTo>
                <a:cubicBezTo>
                  <a:pt x="-52402" y="337082"/>
                  <a:pt x="30603" y="241853"/>
                  <a:pt x="0" y="0"/>
                </a:cubicBezTo>
                <a:close/>
              </a:path>
            </a:pathLst>
          </a:custGeom>
          <a:noFill/>
          <a:ln w="28575" cap="flat">
            <a:solidFill>
              <a:schemeClr val="accent1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Matrix-Game 3.0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8425" y="1355090"/>
            <a:ext cx="12092940" cy="5074920"/>
          </a:xfrm>
        </p:spPr>
        <p:txBody>
          <a:bodyPr/>
          <a:lstStyle/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方法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4</a:t>
            </a:r>
            <a:r>
              <a:rPr kumimoji="1" lang="zh-CN" altLang="en-US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2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Real-Time Inference</a:t>
            </a:r>
            <a:endParaRPr kumimoji="1" lang="en-US" altLang="zh-CN" sz="20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0" indent="-38100">
              <a:lnSpc>
                <a:spcPct val="110000"/>
              </a:lnSpc>
              <a:buNone/>
            </a:pP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最终的高吞吐部署使用异步的</a:t>
            </a: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en-US" altLang="zh-CN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8+1 GPU </a:t>
            </a:r>
            <a:r>
              <a:rPr kumimoji="1" lang="zh-CN" altLang="en-US" sz="1800" b="1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配置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：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8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张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GPU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用于 </a:t>
            </a:r>
            <a:r>
              <a:rPr kumimoji="1" lang="en-US" altLang="zh-CN" sz="1800" kern="0" dirty="0" err="1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DiT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推理；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1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张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GPU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专门负责 </a:t>
            </a:r>
            <a:r>
              <a:rPr kumimoji="1" lang="en-US" altLang="zh-CN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VAE </a:t>
            </a:r>
            <a:r>
              <a:rPr kumimoji="1" lang="zh-CN" altLang="en-US" sz="18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</a:rPr>
              <a:t>解码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  <a:p>
            <a:pPr marL="2476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 err="1"/>
              <a:t>DiT</a:t>
            </a:r>
            <a:r>
              <a:rPr lang="en-US" altLang="zh-CN" sz="1800" b="1" dirty="0"/>
              <a:t> Attention </a:t>
            </a:r>
            <a:r>
              <a:rPr lang="zh-CN" altLang="en-US" sz="1800" b="1" dirty="0"/>
              <a:t>的 </a:t>
            </a:r>
            <a:r>
              <a:rPr lang="en-US" altLang="zh-CN" sz="1800" b="1" dirty="0"/>
              <a:t>INT8 </a:t>
            </a:r>
            <a:r>
              <a:rPr lang="zh-CN" altLang="en-US" sz="1800" b="1" dirty="0"/>
              <a:t>量化</a:t>
            </a:r>
            <a:endParaRPr lang="en-US" altLang="zh-CN" sz="18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1" dirty="0"/>
              <a:t>    </a:t>
            </a:r>
            <a:r>
              <a:rPr lang="zh-CN" altLang="en-US" sz="1800" dirty="0"/>
              <a:t>对 </a:t>
            </a:r>
            <a:r>
              <a:rPr lang="en-US" altLang="zh-CN" sz="1800" dirty="0" err="1"/>
              <a:t>DiT</a:t>
            </a:r>
            <a:r>
              <a:rPr lang="en-US" altLang="zh-CN" sz="1800" dirty="0"/>
              <a:t> </a:t>
            </a:r>
            <a:r>
              <a:rPr lang="zh-CN" altLang="en-US" sz="1800" dirty="0"/>
              <a:t>的 </a:t>
            </a:r>
            <a:r>
              <a:rPr lang="en-US" altLang="zh-CN" sz="1800" dirty="0"/>
              <a:t>Attention projection </a:t>
            </a:r>
            <a:r>
              <a:rPr lang="zh-CN" altLang="en-US" sz="1800" dirty="0"/>
              <a:t>层进行 </a:t>
            </a:r>
            <a:r>
              <a:rPr lang="en-US" altLang="zh-CN" sz="1800" dirty="0"/>
              <a:t>INT8 </a:t>
            </a:r>
            <a:r>
              <a:rPr lang="zh-CN" altLang="en-US" sz="1800" dirty="0"/>
              <a:t>量化；</a:t>
            </a:r>
            <a:r>
              <a:rPr lang="en-US" altLang="zh-CN" sz="1800" dirty="0"/>
              <a:t>FFN</a:t>
            </a:r>
            <a:r>
              <a:rPr lang="zh-CN" altLang="en-US" sz="1800" dirty="0"/>
              <a:t>、</a:t>
            </a:r>
            <a:r>
              <a:rPr lang="en-US" altLang="zh-CN" sz="1800" dirty="0"/>
              <a:t>VAE</a:t>
            </a:r>
            <a:r>
              <a:rPr lang="zh-CN" altLang="en-US" sz="1800" dirty="0"/>
              <a:t>、文本编码器等部分保持原精度</a:t>
            </a:r>
            <a:endParaRPr lang="en-US" altLang="zh-CN" sz="1800" dirty="0"/>
          </a:p>
          <a:p>
            <a:pPr marL="2476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/>
              <a:t>MG-</a:t>
            </a:r>
            <a:r>
              <a:rPr lang="en-US" altLang="zh-CN" sz="1800" b="1" dirty="0" err="1"/>
              <a:t>LightVAE</a:t>
            </a:r>
            <a:endParaRPr lang="en-US" altLang="zh-CN" sz="18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1" dirty="0"/>
              <a:t>    </a:t>
            </a:r>
            <a:r>
              <a:rPr lang="zh-CN" altLang="en-US" sz="1800" dirty="0"/>
              <a:t>作者训练了轻量版 </a:t>
            </a:r>
            <a:r>
              <a:rPr lang="en-US" altLang="zh-CN" sz="1800" dirty="0"/>
              <a:t>MG-</a:t>
            </a:r>
            <a:r>
              <a:rPr lang="en-US" altLang="zh-CN" sz="1800" dirty="0" err="1"/>
              <a:t>LightVAE</a:t>
            </a:r>
            <a:r>
              <a:rPr lang="zh-CN" altLang="en-US" sz="1800" dirty="0"/>
              <a:t>，通过缩小 </a:t>
            </a:r>
            <a:r>
              <a:rPr lang="en-US" altLang="zh-CN" sz="1800" dirty="0"/>
              <a:t>decoder </a:t>
            </a:r>
            <a:r>
              <a:rPr lang="zh-CN" altLang="en-US" sz="1800" dirty="0"/>
              <a:t>的 </a:t>
            </a:r>
            <a:r>
              <a:rPr lang="en-US" altLang="zh-CN" sz="1800" dirty="0"/>
              <a:t>hidden dimension </a:t>
            </a:r>
            <a:r>
              <a:rPr lang="zh-CN" altLang="en-US" sz="1800" dirty="0"/>
              <a:t>来加快解码</a:t>
            </a:r>
            <a:endParaRPr lang="en-US" altLang="zh-CN" sz="1800" dirty="0"/>
          </a:p>
          <a:p>
            <a:pPr marL="247650" indent="-28575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1800" b="1" dirty="0"/>
              <a:t>GPU </a:t>
            </a:r>
            <a:r>
              <a:rPr lang="zh-CN" altLang="en-US" sz="1800" b="1" dirty="0"/>
              <a:t>记忆检索</a:t>
            </a:r>
            <a:endParaRPr lang="en-US" altLang="zh-CN" sz="18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1800" b="1" dirty="0"/>
              <a:t>    </a:t>
            </a:r>
            <a:r>
              <a:rPr lang="zh-CN" altLang="en-US" sz="1800" dirty="0"/>
              <a:t>每一轮都需要在历史中找与当前视角几何重叠最大的视角，</a:t>
            </a:r>
            <a:r>
              <a:rPr lang="en-US" altLang="zh-CN" sz="1800" dirty="0"/>
              <a:t>GPU </a:t>
            </a:r>
            <a:r>
              <a:rPr lang="zh-CN" altLang="en-US" sz="1800" dirty="0"/>
              <a:t>版本通过采样点估算重叠比例，避免显式三维求交</a:t>
            </a:r>
            <a:endParaRPr kumimoji="1" lang="en-US" altLang="zh-CN" sz="1800" kern="0" dirty="0">
              <a:solidFill>
                <a:srgbClr val="045499"/>
              </a:solidFill>
              <a:uFillTx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333" y="4878626"/>
            <a:ext cx="4702630" cy="197937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425" y="83820"/>
            <a:ext cx="10515600" cy="1325563"/>
          </a:xfrm>
        </p:spPr>
        <p:txBody>
          <a:bodyPr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kumimoji="1" lang="en-US" altLang="zh-CN" sz="4000" kern="0" dirty="0">
                <a:solidFill>
                  <a:srgbClr val="045499"/>
                </a:solidFill>
                <a:uFillTx/>
                <a:cs typeface="Times New Roman" panose="02020603050405020304" pitchFamily="18" charset="0"/>
                <a:sym typeface="微软雅黑" panose="020B0503020204020204" pitchFamily="34" charset="-122"/>
              </a:rPr>
              <a:t>Summary</a:t>
            </a:r>
            <a:endParaRPr kumimoji="1" lang="en-US" altLang="zh-CN" sz="4000" kern="0" dirty="0">
              <a:solidFill>
                <a:srgbClr val="045499"/>
              </a:solidFill>
              <a:uFillTx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057" y="-1"/>
            <a:ext cx="2117444" cy="1419516"/>
          </a:xfrm>
          <a:prstGeom prst="rect">
            <a:avLst/>
          </a:prstGeom>
        </p:spPr>
      </p:pic>
      <p:graphicFrame>
        <p:nvGraphicFramePr>
          <p:cNvPr id="3" name="内容占位符 2"/>
          <p:cNvGraphicFramePr>
            <a:graphicFrameLocks noGrp="1"/>
          </p:cNvGraphicFramePr>
          <p:nvPr>
            <p:ph idx="1"/>
          </p:nvPr>
        </p:nvGraphicFramePr>
        <p:xfrm>
          <a:off x="31700" y="1802674"/>
          <a:ext cx="12160300" cy="3863627"/>
        </p:xfrm>
        <a:graphic>
          <a:graphicData uri="http://schemas.openxmlformats.org/drawingml/2006/table">
            <a:tbl>
              <a:tblPr/>
              <a:tblGrid>
                <a:gridCol w="1764896"/>
                <a:gridCol w="3304793"/>
                <a:gridCol w="2193185"/>
                <a:gridCol w="2502569"/>
                <a:gridCol w="2394857"/>
              </a:tblGrid>
              <a:tr h="616074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对比维度</a:t>
                      </a:r>
                      <a:endParaRPr lang="zh-CN" altLang="en-US" sz="18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Matrix-Game 3.0</a:t>
                      </a:r>
                      <a:endParaRPr lang="en-US" sz="18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Yume1.5</a:t>
                      </a:r>
                      <a:endParaRPr lang="en-US" sz="18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i="0" u="none" strike="noStrike" cap="none" spc="0" baseline="0" dirty="0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EVA</a:t>
                      </a:r>
                      <a:endParaRPr lang="en-US" sz="18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559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1" i="0" u="none" strike="noStrike" cap="none" spc="0" baseline="0" dirty="0" err="1">
                          <a:solidFill>
                            <a:schemeClr val="bg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BiWM</a:t>
                      </a:r>
                      <a:endParaRPr lang="en-US" sz="1800" b="1" i="0" u="none" strike="noStrike" cap="none" spc="0" baseline="0" dirty="0">
                        <a:solidFill>
                          <a:schemeClr val="bg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559C"/>
                    </a:solidFill>
                  </a:tcPr>
                </a:tc>
              </a:tr>
              <a:tr h="567319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核心目标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长时一致的交互式世界生成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文本和控制驱动的交互生成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面向规划的世界模型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将双向视频模型用于长时 </a:t>
                      </a:r>
                      <a:r>
                        <a:rPr lang="en-US" altLang="zh-CN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rollout</a:t>
                      </a:r>
                      <a:endParaRPr lang="en-US" altLang="zh-CN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</a:tr>
              <a:tr h="351953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主要控制方式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键盘、鼠标、相机动作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文本指令和控制信号</a:t>
                      </a:r>
                      <a:endParaRPr lang="zh-CN" altLang="en-US" sz="1600" b="0" i="0" u="none" strike="noStrike" cap="none" spc="0" baseline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规划动作或控制动作</a:t>
                      </a:r>
                      <a:endParaRPr lang="zh-CN" altLang="en-US" sz="1600" b="0" i="0" u="none" strike="noStrike" cap="none" spc="0" baseline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动作条件下的分块生成</a:t>
                      </a:r>
                      <a:endParaRPr lang="zh-CN" altLang="en-US" sz="1600" b="0" i="0" u="none" strike="noStrike" cap="none" spc="0" baseline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0551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记忆机制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显式的相机感知长期记忆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重点不在显式空间记忆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主要依赖模型状态和规划奖励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主要通过 </a:t>
                      </a: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chunk </a:t>
                      </a: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结构保持上下文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</a:tr>
              <a:tr h="359572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模型重点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Memory + Action + Real-time</a:t>
                      </a:r>
                      <a:endParaRPr 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Text Control + Long Rollout</a:t>
                      </a:r>
                      <a:endParaRPr 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World Model + Planning</a:t>
                      </a:r>
                      <a:endParaRPr 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Bidirectional Model + Chunk Generation</a:t>
                      </a:r>
                      <a:endParaRPr 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517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主要误差来源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长时记忆错误、历史帧误差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长序列控制偏差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规划动作与生成结果不匹配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分块之间的 </a:t>
                      </a:r>
                      <a:r>
                        <a:rPr 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rollout drift</a:t>
                      </a:r>
                      <a:endParaRPr 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典型应用</a:t>
                      </a:r>
                      <a:endParaRPr lang="zh-CN" altLang="en-US" sz="1600" b="1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游戏世界、交互式环境、实时导航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文本控制视频生成、可交互场景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机器人规划、视觉控制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i="0" u="none" strike="noStrike" cap="none" spc="0" baseline="0" dirty="0">
                          <a:solidFill>
                            <a:srgbClr val="162A4A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等线" panose="02010600030101010101" charset="-122"/>
                        </a:rPr>
                        <a:t>长视频生成、世界模型训练</a:t>
                      </a:r>
                      <a:endParaRPr lang="zh-CN" altLang="en-US" sz="1600" b="0" i="0" u="none" strike="noStrike" cap="none" spc="0" baseline="0" dirty="0">
                        <a:solidFill>
                          <a:srgbClr val="162A4A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等线" panose="02010600030101010101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REFERENCES  /  CORE MODELS</a:t>
            </a:r>
            <a:endParaRPr sz="1050" b="1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72390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Primary sources for Wan2.1 and Wan2.2</a:t>
            </a:r>
            <a:endParaRPr sz="28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97167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57275" y="197167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Wan: Open and Advanced Large-Scale Video Generative Models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57275" y="263842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arXiv: 2503.20314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9718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" y="297180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Wan2.1 — official implementation and checkpoints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57275" y="363855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9719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57275" y="397192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Wan2.2 — architecture, evaluation and deployment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57275" y="463867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91275" y="197167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38950" y="197167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Wan2.2 — expert selection in the T2V sampler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263842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5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91275" y="29718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297180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Wan2.2-TI2V-5B — official model card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38950" y="363855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Official model card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91275" y="39719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38950" y="397192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Wan2.2-TI2V-5B — unified text/image conditioning implementation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463867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7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1436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2769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12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Click the blue links to open primary sources.  Source snapshot: 10 September 2026.</a:t>
            </a:r>
            <a:endParaRPr sz="1125" b="0">
              <a:solidFill>
                <a:srgbClr val="5361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>
            <a:spLocks noGrp="1"/>
          </p:cNvSpPr>
          <p:nvPr/>
        </p:nvSpPr>
        <p:spPr>
          <a:xfrm>
            <a:off x="609600" y="257175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050" b="1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REFERENCES  /  WORLD MODELS</a:t>
            </a:r>
            <a:endParaRPr sz="1050" b="1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4675" y="163521"/>
            <a:ext cx="847725" cy="568307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09600" y="723900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28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Primary sources for the four world-model examples</a:t>
            </a:r>
            <a:endParaRPr sz="28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28750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428750"/>
            <a:ext cx="704850" cy="28575"/>
          </a:xfrm>
          <a:prstGeom prst="rect">
            <a:avLst/>
          </a:prstGeom>
          <a:solidFill>
            <a:srgbClr val="08559C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515100"/>
            <a:ext cx="10096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97167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57275" y="197167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Matrix-Game 3.0: Real-Time and Streaming Interactive World Model with Long-Horizon Memory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57275" y="263842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2"/>
              </a:rPr>
              <a:t>arXiv: 2604.08995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29718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57275" y="297180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Matrix-Game 3.0 — released model and lineage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57275" y="363855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3"/>
              </a:rPr>
              <a:t>Official model card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3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9600" y="39719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57275" y="397192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Yume-1.5: A Text-Controlled Interactive World Generation Model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57275" y="463867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4"/>
              </a:rPr>
              <a:t>arXiv: 2512.22096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4972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57275" y="497205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YUME — official implementation and releases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57275" y="563880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5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5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91275" y="197167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05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38950" y="197167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EVA: Aligning Video World Models with Executable Robot Actions via Inverse Dynamics Rewards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38950" y="263842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6"/>
              </a:rPr>
              <a:t>arXiv: 2603.17808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6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91275" y="297180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06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38950" y="297180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EVA — checkpoints and training instructions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38950" y="363855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7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7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91275" y="3971925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07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38950" y="3971925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BiWM: Advancing Open-Source Interactive Video World Models with Bidirectional Autoregression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838950" y="4638675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8"/>
              </a:rPr>
              <a:t>arXiv: 2606.10135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8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391275" y="4972050"/>
            <a:ext cx="3524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6A57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08</a:t>
            </a:r>
            <a:endParaRPr sz="1350" b="1">
              <a:solidFill>
                <a:srgbClr val="6A57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838950" y="4972050"/>
            <a:ext cx="463867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350" b="1">
                <a:solidFill>
                  <a:srgbClr val="16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BiWM — cross-backbone conversion framework</a:t>
            </a:r>
            <a:endParaRPr sz="1350" b="1">
              <a:solidFill>
                <a:srgbClr val="162A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38950" y="5638800"/>
            <a:ext cx="46386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200" b="0">
                <a:solidFill>
                  <a:srgbClr val="085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hlinkClick r:id="rId9"/>
              </a:rPr>
              <a:t>Official repository / implementation</a:t>
            </a:r>
            <a:endParaRPr sz="1200" b="0">
              <a:solidFill>
                <a:srgbClr val="0855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hlinkClick r:id="rId9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09600" y="6143625"/>
            <a:ext cx="10972800" cy="9525"/>
          </a:xfrm>
          <a:prstGeom prst="rect">
            <a:avLst/>
          </a:prstGeom>
          <a:solidFill>
            <a:srgbClr val="D9E1ED"/>
          </a:solidFill>
          <a:ln w="0">
            <a:noFill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6276975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defRPr sz="112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  <a:r>
              <a:rPr sz="1125" b="0">
                <a:solidFill>
                  <a:srgbClr val="53617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Click the blue links to open primary sources.  Source snapshot: 10 September 2026.</a:t>
            </a:r>
            <a:endParaRPr sz="1125" b="0">
              <a:solidFill>
                <a:srgbClr val="5361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477617" y="2767280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GB" altLang="zh-CN" sz="4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0" y="3851910"/>
            <a:ext cx="12200255" cy="3006090"/>
          </a:xfrm>
          <a:prstGeom prst="rect">
            <a:avLst/>
          </a:prstGeom>
        </p:spPr>
      </p:pic>
      <p:pic>
        <p:nvPicPr>
          <p:cNvPr id="5" name="图片 4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70" y="198915"/>
            <a:ext cx="3288660" cy="9706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7272</Words>
  <Application>WPS 演示</Application>
  <PresentationFormat>宽屏</PresentationFormat>
  <Paragraphs>769</Paragraphs>
  <Slides>35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24</vt:i4>
      </vt:variant>
      <vt:variant>
        <vt:lpstr>幻灯片标题</vt:lpstr>
      </vt:variant>
      <vt:variant>
        <vt:i4>35</vt:i4>
      </vt:variant>
    </vt:vector>
  </HeadingPairs>
  <TitlesOfParts>
    <vt:vector size="72" baseType="lpstr">
      <vt:lpstr>Arial</vt:lpstr>
      <vt:lpstr>宋体</vt:lpstr>
      <vt:lpstr>Wingdings</vt:lpstr>
      <vt:lpstr>等线</vt:lpstr>
      <vt:lpstr>微软雅黑</vt:lpstr>
      <vt:lpstr>等线 Light</vt:lpstr>
      <vt:lpstr>Arial</vt:lpstr>
      <vt:lpstr>Calibri</vt:lpstr>
      <vt:lpstr>Times New Roman</vt:lpstr>
      <vt:lpstr>Wingdings</vt:lpstr>
      <vt:lpstr>Arial Unicode MS</vt:lpstr>
      <vt:lpstr>Helvetica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Wan 大模型介绍</vt:lpstr>
      <vt:lpstr>前置基础知识</vt:lpstr>
      <vt:lpstr>前置基础知识</vt:lpstr>
      <vt:lpstr>Wan 模型家族</vt:lpstr>
      <vt:lpstr>数据处理 Pre-training</vt:lpstr>
      <vt:lpstr>数据处理 Pre-training and Post-training</vt:lpstr>
      <vt:lpstr>数据处理  Dense Video Caption</vt:lpstr>
      <vt:lpstr>Wan-VAE</vt:lpstr>
      <vt:lpstr>Wan-VAE</vt:lpstr>
      <vt:lpstr>Wan-VAE</vt:lpstr>
      <vt:lpstr>Wan Architecture</vt:lpstr>
      <vt:lpstr>Wan Training</vt:lpstr>
      <vt:lpstr>Wan Experiment</vt:lpstr>
      <vt:lpstr>PowerPoint 演示文稿</vt:lpstr>
      <vt:lpstr>Wan 2.2 </vt:lpstr>
      <vt:lpstr>Wan 2.2  Improvement</vt:lpstr>
      <vt:lpstr>Wan 2.2  Improvement</vt:lpstr>
      <vt:lpstr>Wan 2.2  Experiment</vt:lpstr>
      <vt:lpstr>Wan 2.2</vt:lpstr>
      <vt:lpstr>PowerPoint 演示文稿</vt:lpstr>
      <vt:lpstr>Wan--World Model</vt:lpstr>
      <vt:lpstr>为什么 Wan 适合生成式世界模型Backbone</vt:lpstr>
      <vt:lpstr>为什么 Wan 适合生成式世界模型Backbone</vt:lpstr>
      <vt:lpstr>Matrix-Game 3.0</vt:lpstr>
      <vt:lpstr>Matrix-Game 3.0</vt:lpstr>
      <vt:lpstr>Matrix-Game 3.0</vt:lpstr>
      <vt:lpstr>Matrix-Game 3.0</vt:lpstr>
      <vt:lpstr>Matrix-Game 3.0</vt:lpstr>
      <vt:lpstr>Matrix-Game 3.0</vt:lpstr>
      <vt:lpstr>Summary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1300116177@qq.com</dc:creator>
  <cp:lastModifiedBy>陈一鸣</cp:lastModifiedBy>
  <cp:revision>163</cp:revision>
  <dcterms:created xsi:type="dcterms:W3CDTF">2025-06-10T05:19:00Z</dcterms:created>
  <dcterms:modified xsi:type="dcterms:W3CDTF">2026-10-13T02:11:47Z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F0D2EAEAD2034E239DB467EB7AC8C86B_13</vt:lpwstr>
  </property>
</Properties>
</file>